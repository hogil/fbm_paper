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9611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8A929E"/>
                </a:solidFill>
                <a:latin typeface="맑은 고딕"/>
                <a:ea typeface="맑은 고딕"/>
              </a:rPr>
              <a:t>'26 AI Specialist 면접 심사 자료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35024"/>
            <a:ext cx="1060704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>
                <a:solidFill>
                  <a:srgbClr val="0F1E3D"/>
                </a:solidFill>
                <a:latin typeface="맑은 고딕"/>
                <a:ea typeface="맑은 고딕"/>
              </a:rPr>
              <a:t>AI Specialist 인증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6968" y="29260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>
                <a:solidFill>
                  <a:srgbClr val="475569"/>
                </a:solidFill>
                <a:latin typeface="맑은 고딕"/>
                <a:ea typeface="맑은 고딕"/>
              </a:rPr>
              <a:t>10년 제조품질 현장 경험을 바탕으로 데이터 처리 구조, viewer backend/frontend, AI model까지 직접 설계한 3개 과제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886968" y="4041648"/>
            <a:ext cx="3291840" cy="85953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86968" y="4041648"/>
            <a:ext cx="73152" cy="85953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6424" y="4041648"/>
            <a:ext cx="71323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96A0AD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9656" y="4041648"/>
            <a:ext cx="215798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Failbit Map 불량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4041648"/>
            <a:ext cx="3291840" cy="85953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4041648"/>
            <a:ext cx="73152" cy="85953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4041648"/>
            <a:ext cx="71323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96A0AD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528" y="4041648"/>
            <a:ext cx="215798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Chip multi-label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82712" y="4041648"/>
            <a:ext cx="3291840" cy="85953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82712" y="4041648"/>
            <a:ext cx="73152" cy="85953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4041648"/>
            <a:ext cx="713232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>
                <a:solidFill>
                  <a:srgbClr val="96A0AD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4041648"/>
            <a:ext cx="2157984" cy="8595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Trend anomaly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" y="4992624"/>
            <a:ext cx="3840480" cy="2032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5184648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E3D"/>
                </a:solidFill>
                <a:latin typeface="맑은 고딕"/>
                <a:ea typeface="맑은 고딕"/>
              </a:rPr>
              <a:t>최호길  |  메모리제조센터 QIE그룹 Data Science 파트</a:t>
            </a:r>
          </a:p>
          <a:p>
            <a:pPr algn="l"/>
            <a:r>
              <a:rPr sz="1250">
                <a:solidFill>
                  <a:srgbClr val="6B7280"/>
                </a:solidFill>
                <a:latin typeface="맑은 고딕"/>
                <a:ea typeface="맑은 고딕"/>
              </a:rPr>
              <a:t>메모리 Photo BBD/Overlay/CD 계측 분석 10년 + QIE AI 실무 3년, 13년차 / 연세대 인공지능 석사 병행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" y="5989320"/>
            <a:ext cx="10387584" cy="12700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6108192"/>
            <a:ext cx="77724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삼성전자 메모리제조센터 | QIE그룹 Data Science</a:t>
            </a:r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    AI Specialist 인증 사내 경연 발표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6108192"/>
            <a:ext cx="1673352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P1/P2/P3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3개 과제 핵심 요약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55648"/>
            <a:ext cx="3450336" cy="41696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55648"/>
            <a:ext cx="3450336" cy="566928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39112"/>
            <a:ext cx="3450336" cy="28346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847088"/>
            <a:ext cx="640080" cy="38404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755648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91056" y="1755648"/>
            <a:ext cx="23530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Failbit Map failure 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" y="2386584"/>
            <a:ext cx="3194304" cy="1591056"/>
          </a:xfrm>
          <a:prstGeom prst="roundRect">
            <a:avLst/>
          </a:prstGeom>
          <a:solidFill>
            <a:srgbClr val="E4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wafer_center_scr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160" y="2478024"/>
            <a:ext cx="1408176" cy="14081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" y="411480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411480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Known 고질불량 정확 파악, Unknown 신규불량 조기검출, 대량 UI 조회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60248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Approach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460248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좌표 보존 FBM + ultra-fast viewer + Known/Unknown AI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5017008"/>
            <a:ext cx="3230880" cy="3962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8" y="5017008"/>
            <a:ext cx="73152" cy="3962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9016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09016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[양산 운영] 일 2만 wafer/day, 공수 90%↓ + 수율 개선 사례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504688"/>
            <a:ext cx="3084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75"/>
                </a:solidFill>
                <a:latin typeface="맑은 고딕"/>
                <a:ea typeface="맑은 고딕"/>
              </a:rPr>
              <a:t>Stack: Cython / pyvips / Numba, ConvNeXtV2 / YOLO, contrastive / HDBSCAN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01312" y="1755648"/>
            <a:ext cx="3450336" cy="41696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01312" y="1755648"/>
            <a:ext cx="3450336" cy="566928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01312" y="2039112"/>
            <a:ext cx="3450336" cy="28346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02480" y="1847088"/>
            <a:ext cx="640080" cy="38404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02480" y="1755648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2288" y="1755648"/>
            <a:ext cx="23530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Chip multi-label classification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9328" y="2386584"/>
            <a:ext cx="3194304" cy="1591056"/>
          </a:xfrm>
          <a:prstGeom prst="roundRect">
            <a:avLst/>
          </a:prstGeom>
          <a:solidFill>
            <a:srgbClr val="E4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chip_eval_scratch_sel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2478024"/>
            <a:ext cx="1408176" cy="140817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584192" y="411480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Problem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98592" y="411480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measure value 한계 + 2-combo label 확보 불가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84192" y="460248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Approach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98592" y="460248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single source → FCM-PM supervision + val-margin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11040" y="5017008"/>
            <a:ext cx="3230880" cy="3962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11040" y="5017008"/>
            <a:ext cx="73152" cy="3962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84192" y="509016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Impact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98592" y="509016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[controlled synthetic] bit-F1 0.9927 / FAR 0.00%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84192" y="5504688"/>
            <a:ext cx="3084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75"/>
                </a:solidFill>
                <a:latin typeface="맑은 고딕"/>
                <a:ea typeface="맑은 고딕"/>
              </a:rPr>
              <a:t>Stack: PyTorch, FCM-PM / CutMix, NB reject / KD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62544" y="1755648"/>
            <a:ext cx="3450336" cy="416966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C4D0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62544" y="1755648"/>
            <a:ext cx="3450336" cy="566928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62544" y="2039112"/>
            <a:ext cx="3450336" cy="28346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363712" y="1847088"/>
            <a:ext cx="640080" cy="38404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63712" y="1755648"/>
            <a:ext cx="6400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13520" y="1755648"/>
            <a:ext cx="235305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맑은 고딕"/>
                <a:ea typeface="맑은 고딕"/>
              </a:rPr>
              <a:t>Trend anomaly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90560" y="2386584"/>
            <a:ext cx="3194304" cy="1591056"/>
          </a:xfrm>
          <a:prstGeom prst="roundRect">
            <a:avLst/>
          </a:prstGeom>
          <a:solidFill>
            <a:srgbClr val="E4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trend_spik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2464" y="2478024"/>
            <a:ext cx="2190496" cy="1408176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345424" y="411480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Problem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59824" y="411480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real abnormal label 부족, trend validation bottleneck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45424" y="460248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Approach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59824" y="460248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1A1F2E"/>
                </a:solidFill>
                <a:latin typeface="맑은 고딕"/>
                <a:ea typeface="맑은 고딕"/>
              </a:rPr>
              <a:t>domain-rule episode generator + binary validation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272272" y="5017008"/>
            <a:ext cx="3230880" cy="396240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72272" y="5017008"/>
            <a:ext cx="73152" cy="3962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45424" y="5090160"/>
            <a:ext cx="877824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259824" y="5090160"/>
            <a:ext cx="2170176" cy="2499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[synthetic trend PoC] benchmark 7,000, binary-F1 0.9967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45424" y="5504688"/>
            <a:ext cx="30845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6075"/>
                </a:solidFill>
                <a:latin typeface="맑은 고딕"/>
                <a:ea typeface="맑은 고딕"/>
              </a:rPr>
              <a:t>Stack: episode generator / binary classifier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384048"/>
            <a:ext cx="7863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AI Specialist 인증 | 3개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713232"/>
            <a:ext cx="457200" cy="279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77824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70432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문제 → 개발 → 성과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212848"/>
            <a:ext cx="146304" cy="150876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75688"/>
            <a:ext cx="2468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>
                <a:solidFill>
                  <a:srgbClr val="96A0AD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858767"/>
            <a:ext cx="118872" cy="118872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822191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P1  Failbit Map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142231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105655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P2  Chip multi-label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425695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389119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P3  Trend anomaly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97480"/>
            <a:ext cx="786384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E3D"/>
                </a:solidFill>
                <a:latin typeface="맑은 고딕"/>
                <a:ea typeface="맑은 고딕"/>
              </a:rPr>
              <a:t>Failbit Map
Known &amp; Unknown 분석</a:t>
            </a:r>
          </a:p>
          <a:p>
            <a:pPr algn="l"/>
            <a:r>
              <a:rPr sz="1600">
                <a:solidFill>
                  <a:srgbClr val="556075"/>
                </a:solidFill>
                <a:latin typeface="맑은 고딕"/>
                <a:ea typeface="맑은 고딕"/>
              </a:rPr>
              <a:t>Known 고질불량 분류, Unknown 신규불량 후보 검출, 대규모 Failbit Map 초고속 UI 조회를 운영 구조로 통합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4114800"/>
            <a:ext cx="7863840" cy="4114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0" y="4114800"/>
            <a:ext cx="82296" cy="41148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4114800"/>
            <a:ext cx="1143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현업 문제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114800"/>
            <a:ext cx="6355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>
                <a:solidFill>
                  <a:srgbClr val="1A1F2E"/>
                </a:solidFill>
                <a:latin typeface="맑은 고딕"/>
                <a:ea typeface="맑은 고딕"/>
              </a:rPr>
              <a:t>FBM 48매 조회 한계, 대량 이미지 초고속 검토와 고질 불량 정확 파악, 신규 불량 신속 확인 필요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4581144"/>
            <a:ext cx="7863840" cy="4114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0" y="4581144"/>
            <a:ext cx="82296" cy="411480"/>
          </a:xfrm>
          <a:prstGeom prst="rect">
            <a:avLst/>
          </a:prstGeom>
          <a:solidFill>
            <a:srgbClr val="556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4581144"/>
            <a:ext cx="1143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5"/>
                </a:solidFill>
                <a:latin typeface="맑은 고딕"/>
                <a:ea typeface="맑은 고딕"/>
              </a:rPr>
              <a:t>기술 문제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581144"/>
            <a:ext cx="6355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>
                <a:solidFill>
                  <a:srgbClr val="1A1F2E"/>
                </a:solidFill>
                <a:latin typeface="맑은 고딕"/>
                <a:ea typeface="맑은 고딕"/>
              </a:rPr>
              <a:t>raw log를 좌표 보존 이미지로 대량 변환, 초고속 viewer engine, Known 2-stage 분류, label 없는 Unknown 군집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010912"/>
            <a:ext cx="2331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5010912"/>
            <a:ext cx="82296" cy="62179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5" y="5010912"/>
            <a:ext cx="2057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E3D"/>
                </a:solidFill>
                <a:latin typeface="맑은 고딕"/>
                <a:ea typeface="맑은 고딕"/>
              </a:rPr>
              <a:t>본인 60%</a:t>
            </a:r>
          </a:p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직접 설계/구현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5742432"/>
            <a:ext cx="2331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5742432"/>
            <a:ext cx="82296" cy="62179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5" y="5742432"/>
            <a:ext cx="2057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E3D"/>
                </a:solidFill>
                <a:latin typeface="맑은 고딕"/>
                <a:ea typeface="맑은 고딕"/>
              </a:rPr>
              <a:t>양산 운영</a:t>
            </a:r>
          </a:p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viewer +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138928"/>
            <a:ext cx="1097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Key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5138928"/>
            <a:ext cx="6858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평가축: 기술 전문성 / 기술 리더십 / 기술성과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541264"/>
            <a:ext cx="2834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Before → After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0" y="5815584"/>
            <a:ext cx="361188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22192" y="5815584"/>
            <a:ext cx="328269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Before  </a:t>
            </a:r>
            <a:r>
              <a:rPr sz="1250" b="1">
                <a:solidFill>
                  <a:srgbClr val="1A1F2E"/>
                </a:solidFill>
                <a:latin typeface="맑은 고딕"/>
                <a:ea typeface="맑은 고딕"/>
              </a:rPr>
              <a:t>소량 수작업 검토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09560" y="5815584"/>
            <a:ext cx="3611880" cy="65836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09560" y="5815584"/>
            <a:ext cx="82296" cy="65836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74152" y="5815584"/>
            <a:ext cx="328269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After 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대량 image UI + AI 검증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7415784" y="6007608"/>
            <a:ext cx="347472" cy="274320"/>
          </a:xfrm>
          <a:prstGeom prst="rightArrow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13632" y="1170432"/>
            <a:ext cx="2395728" cy="113385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13632" y="1170432"/>
            <a:ext cx="2395728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13632" y="1426464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1E3D"/>
                </a:solidFill>
                <a:latin typeface="맑은 고딕"/>
                <a:ea typeface="맑은 고딕"/>
              </a:rPr>
              <a:t>문제·AI 필요성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59936" y="192024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Known/Unknown + 대량 UI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65392" y="1170432"/>
            <a:ext cx="2395728" cy="113385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65392" y="1170432"/>
            <a:ext cx="2395728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65392" y="1426464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1E3D"/>
                </a:solidFill>
                <a:latin typeface="맑은 고딕"/>
                <a:ea typeface="맑은 고딕"/>
              </a:rPr>
              <a:t>개발내용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11696" y="192024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pipeline·viewer·model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17152" y="1170432"/>
            <a:ext cx="2395728" cy="113385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17152" y="1170432"/>
            <a:ext cx="2395728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17152" y="1426464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1E3D"/>
                </a:solidFill>
                <a:latin typeface="맑은 고딕"/>
                <a:ea typeface="맑은 고딕"/>
              </a:rPr>
              <a:t>성과·확장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63456" y="192024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양산 운영·object-id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전체 아키텍처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좌표 보존 Failbit Map 운영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15287" y="1783080"/>
            <a:ext cx="8961120" cy="4754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15287" y="1783080"/>
            <a:ext cx="8961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EDS Test  (raw fail-map log)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86119" y="2286000"/>
            <a:ext cx="219456" cy="237744"/>
          </a:xfrm>
          <a:prstGeom prst="downArrow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1879" y="2258568"/>
            <a:ext cx="4023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Cython parsing + hourly batch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15287" y="2551176"/>
            <a:ext cx="8961120" cy="67665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287" y="2633472"/>
            <a:ext cx="8961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Failbit Map (32색 palette PNG) + chip annotation (FTN / QTN / BIN)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15287" y="2916936"/>
            <a:ext cx="8961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좌표 보존: 이미지, 좌표, 계측값을 같은 wafer 좌표계에 맞춰 저장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986119" y="3255264"/>
            <a:ext cx="219456" cy="237744"/>
          </a:xfrm>
          <a:prstGeom prst="downArrow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1879" y="3227832"/>
            <a:ext cx="4023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같은 자산을 Known 및 Unknown 두 경로가 공유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21127" y="3520440"/>
            <a:ext cx="3246120" cy="1097280"/>
          </a:xfrm>
          <a:prstGeom prst="roundRect">
            <a:avLst/>
          </a:prstGeom>
          <a:solidFill>
            <a:srgbClr val="F2F4F8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4007" y="3566160"/>
            <a:ext cx="2880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Known path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3735" y="3849624"/>
            <a:ext cx="282549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ConvNeXtV2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3735" y="4105656"/>
            <a:ext cx="282549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→ ROI-YOLO  (selective)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3735" y="4361688"/>
            <a:ext cx="282549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→ object-id map  [dev]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4447" y="3520440"/>
            <a:ext cx="3246120" cy="1097280"/>
          </a:xfrm>
          <a:prstGeom prst="roundRect">
            <a:avLst/>
          </a:prstGeom>
          <a:solidFill>
            <a:srgbClr val="F2F4F8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7327" y="3566160"/>
            <a:ext cx="288036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Unknown path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7055" y="3849624"/>
            <a:ext cx="282549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InfoNCE + grid36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7055" y="4105656"/>
            <a:ext cx="282549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→ HDBSCAN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7055" y="4361688"/>
            <a:ext cx="2825496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→ candidate groups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5986119" y="4645152"/>
            <a:ext cx="219456" cy="237744"/>
          </a:xfrm>
          <a:prstGeom prst="downArrow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1879" y="4617720"/>
            <a:ext cx="4023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두 경로 결과를 한 화면으로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615287" y="4910328"/>
            <a:ext cx="8961120" cy="67665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15287" y="4992624"/>
            <a:ext cx="8961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Analysis UI — fast view / overlay / labeling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5287" y="5276088"/>
            <a:ext cx="89611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운영 viewer (mapviewer): Numba composite + pyvips tile streaming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986119" y="5614416"/>
            <a:ext cx="219456" cy="237744"/>
          </a:xfrm>
          <a:prstGeom prst="downArrow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1879" y="5586984"/>
            <a:ext cx="402336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human-in-the-loop: register → label → retrain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615287" y="5879592"/>
            <a:ext cx="8961120" cy="4754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615287" y="5879592"/>
            <a:ext cx="89611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Organizational asset base  (image-measure aligned, multimodal-ready)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Concept + field constraint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이산 grade 공간 데이터 표현으로서의 Failbit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01952"/>
            <a:ext cx="5650992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lnSpc>
                <a:spcPct val="112000"/>
              </a:lnSpc>
              <a:spcAft>
                <a:spcPts val="1600"/>
              </a:spcAft>
            </a:pPr>
            <a:r>
              <a:rPr sz="162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Role</a:t>
            </a:r>
            <a:r>
              <a:rPr sz="1620">
                <a:solidFill>
                  <a:srgbClr val="1A1F2E"/>
                </a:solidFill>
                <a:latin typeface="맑은 고딕"/>
                <a:ea typeface="맑은 고딕"/>
              </a:rPr>
              <a:t> — Failbit Map은 공정 개발 결과를 확인하는 최종 map으로, 불량 정도와 위치, 형태를 확인해 현 개발 수준을 파악하고 공정 개선 방향을 결정</a:t>
            </a:r>
          </a:p>
          <a:p>
            <a:pPr marL="274320" indent="-274320">
              <a:lnSpc>
                <a:spcPct val="112000"/>
              </a:lnSpc>
              <a:spcAft>
                <a:spcPts val="1600"/>
              </a:spcAft>
            </a:pPr>
            <a:r>
              <a:rPr sz="162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Data</a:t>
            </a:r>
            <a:r>
              <a:rPr sz="1620">
                <a:solidFill>
                  <a:srgbClr val="1A1F2E"/>
                </a:solidFill>
                <a:latin typeface="맑은 고딕"/>
                <a:ea typeface="맑은 고딕"/>
              </a:rPr>
              <a:t> — EDS Failbit Map은 Memory Cell Block 단위 불량 정도를 Grade 0~7로 표현한 wafer-level data</a:t>
            </a:r>
          </a:p>
          <a:p>
            <a:pPr marL="274320" indent="-274320">
              <a:lnSpc>
                <a:spcPct val="112000"/>
              </a:lnSpc>
              <a:spcAft>
                <a:spcPts val="1600"/>
              </a:spcAft>
            </a:pPr>
            <a:r>
              <a:rPr sz="162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Scale</a:t>
            </a:r>
            <a:r>
              <a:rPr sz="1620">
                <a:solidFill>
                  <a:srgbClr val="1A1F2E"/>
                </a:solidFill>
                <a:latin typeface="맑은 고딕"/>
                <a:ea typeface="맑은 고딕"/>
              </a:rPr>
              <a:t> — wafer 1장은 약 1,000만 block 규모이며, chip당 1개, wafer 내 약 800개 수준의 Measure 값만으로는 불량 위치와 형상 분석에 한계</a:t>
            </a:r>
          </a:p>
          <a:p>
            <a:pPr marL="274320" indent="-274320">
              <a:lnSpc>
                <a:spcPct val="112000"/>
              </a:lnSpc>
              <a:spcAft>
                <a:spcPts val="1600"/>
              </a:spcAft>
            </a:pPr>
            <a:r>
              <a:rPr sz="162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Storage</a:t>
            </a:r>
            <a:r>
              <a:rPr sz="1620">
                <a:solidFill>
                  <a:srgbClr val="1A1F2E"/>
                </a:solidFill>
                <a:latin typeface="맑은 고딕"/>
                <a:ea typeface="맑은 고딕"/>
              </a:rPr>
              <a:t> — palette PNG는 grade index를 저장하고, positions JSON은 chip/block 좌표를 보존해 viewer overlay와 모델 입력을 같은 좌표계로 정렬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5412" y="1316736"/>
            <a:ext cx="4334256" cy="4681728"/>
          </a:xfrm>
          <a:prstGeom prst="roundRect">
            <a:avLst/>
          </a:prstGeom>
          <a:solidFill>
            <a:srgbClr val="F4F7FB"/>
          </a:solidFill>
          <a:ln w="15875">
            <a:solidFill>
              <a:srgbClr val="B9C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25412" y="1316736"/>
            <a:ext cx="4334256" cy="34747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90004" y="1316736"/>
            <a:ext cx="40050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wafer Failbit Map / Edge-Ring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5412" y="1664208"/>
            <a:ext cx="4334256" cy="4334256"/>
          </a:xfrm>
          <a:prstGeom prst="roundRect">
            <a:avLst/>
          </a:prstGeom>
          <a:solidFill>
            <a:srgbClr val="E4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afer_edge_ring_scratch_r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1716" y="1810512"/>
            <a:ext cx="4041648" cy="404164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76772" y="6053328"/>
            <a:ext cx="54315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2A384C"/>
                </a:solidFill>
                <a:latin typeface="맑은 고딕"/>
                <a:ea typeface="맑은 고딕"/>
              </a:rPr>
              <a:t>최외곽 chip에서 동일 scratch성 fail pattern이 반복되어 edge-ring 형태로 관찰됨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데이터 생성 (fail-map)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8단계 grade → palette PNG 무손실 저장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3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Motivation</a:t>
            </a:r>
            <a:r>
              <a:rPr sz="1350">
                <a:solidFill>
                  <a:srgbClr val="1A1F2E"/>
                </a:solidFill>
                <a:latin typeface="맑은 고딕"/>
                <a:ea typeface="맑은 고딕"/>
              </a:rPr>
              <a:t> — wafer 한 장 약 1,000만 test value, 하루 약 2만 장 누적. raw log는 대량 조회와 AI 입력에 부적합 → hex-to-grade는 Cython 가속, 8단계 grade 특성으로 palette PNG 저장량 약 75% 절감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615184"/>
            <a:ext cx="5303520" cy="3410712"/>
          </a:xfrm>
          <a:prstGeom prst="rect">
            <a:avLst/>
          </a:prstGeom>
          <a:solidFill>
            <a:srgbClr val="FFFFFF"/>
          </a:solidFill>
          <a:ln w="15875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4809744" cy="3154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Hex-to-grade conversion</a:t>
            </a:r>
          </a:p>
          <a:p>
            <a:pPr algn="l"/>
            <a:r>
              <a:rPr sz="50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Raw: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090B0C0D0E0F090A0B0C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Decoding: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"0C" -&gt; "C" -&gt; 12 (hex to decimal) -&gt; 3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Python: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interpreter-based loop execution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Cython: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compiled integer loop execution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Grade: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0 2 3 4 5 6 0 1 2 3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53328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Fig. 1. Hex-to-grade conversion accelerated by Cython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615184"/>
            <a:ext cx="5303520" cy="3410712"/>
          </a:xfrm>
          <a:prstGeom prst="rect">
            <a:avLst/>
          </a:prstGeom>
          <a:solidFill>
            <a:srgbClr val="FFFFFF"/>
          </a:solidFill>
          <a:ln w="15875">
            <a:solidFill>
              <a:srgbClr val="3337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743200"/>
            <a:ext cx="4809744" cy="3154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RGB PNG vs Palette-indexed PNG</a:t>
            </a:r>
          </a:p>
          <a:p>
            <a:pPr algn="l"/>
            <a:r>
              <a:rPr sz="50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RGB PNG: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[(123,54,24), (123,54,24), ..., (123,54,24)],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[(123,54,24), (123,54,24), ..., (123,54,24)]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Palette-indexed PNG: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P[3] = (123,54,24)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[(3), (3), ..., (3)],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[(3), (3), ..., (3)]</a:t>
            </a:r>
          </a:p>
          <a:p>
            <a:pPr algn="l"/>
            <a:r>
              <a:rPr sz="55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350" b="1" i="1">
                <a:solidFill>
                  <a:srgbClr val="0F1E3D"/>
                </a:solidFill>
                <a:latin typeface="Consolas"/>
                <a:ea typeface="Consolas"/>
              </a:rPr>
              <a:t>RGB_to_Palette:</a:t>
            </a:r>
          </a:p>
          <a:p>
            <a:pPr algn="l"/>
            <a:r>
              <a:rPr sz="1300">
                <a:solidFill>
                  <a:srgbClr val="1A1F2E"/>
                </a:solidFill>
                <a:latin typeface="Consolas"/>
                <a:ea typeface="Consolas"/>
              </a:rPr>
              <a:t>    (123,54,24) -&gt; (3)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6053328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Fig. 2. Palette-indexed PNG for failbit map compression.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viewer 처리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대용량 Failbit Map viewer를 위한 Numba와 pyvips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50">
                <a:solidFill>
                  <a:srgbClr val="1A1F2E"/>
                </a:solidFill>
                <a:latin typeface="맑은 고딕"/>
                <a:ea typeface="맑은 고딕"/>
              </a:rPr>
              <a:t>Numba는 메모리에 올라온 grade array의 composite 루프를 native code로 JIT 컴파일하고, pyvips는 대형 PNG를 필요한 stripe/tile만 decode해 viewer peak memory를 절감</a:t>
            </a:r>
          </a:p>
        </p:txBody>
      </p:sp>
      <p:sp>
        <p:nvSpPr>
          <p:cNvPr id="6" name="Rectangle 5"/>
          <p:cNvSpPr/>
          <p:nvPr/>
        </p:nvSpPr>
        <p:spPr>
          <a:xfrm>
            <a:off x="746150" y="2385303"/>
            <a:ext cx="5091379" cy="3848252"/>
          </a:xfrm>
          <a:prstGeom prst="rect">
            <a:avLst/>
          </a:prstGeom>
          <a:solidFill>
            <a:srgbClr val="F7F7F7"/>
          </a:solidFill>
          <a:ln w="1143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1773" y="2587843"/>
            <a:ext cx="4720132" cy="137726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64361" y="2709367"/>
            <a:ext cx="848563" cy="324063"/>
          </a:xfrm>
          <a:prstGeom prst="round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4361" y="2717468"/>
            <a:ext cx="848563" cy="3078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2030" y="2689113"/>
            <a:ext cx="2121408" cy="324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Interpreter overhead inside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52544" y="2709367"/>
            <a:ext cx="954633" cy="324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8A8A8A"/>
                </a:solidFill>
                <a:latin typeface="맑은 고딕"/>
                <a:ea typeface="맑은 고딕"/>
              </a:rPr>
              <a:t>N times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0879" y="3296732"/>
            <a:ext cx="450799" cy="344317"/>
          </a:xfrm>
          <a:prstGeom prst="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0879" y="3296732"/>
            <a:ext cx="450799" cy="3443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C1C1C"/>
                </a:solidFill>
                <a:latin typeface="Consolas"/>
                <a:ea typeface="Consolas"/>
              </a:rPr>
              <a:t>pixel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27301" y="3215716"/>
            <a:ext cx="556869" cy="506349"/>
          </a:xfrm>
          <a:prstGeom prst="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27301" y="3215716"/>
            <a:ext cx="556869" cy="5063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A8A8A"/>
                </a:solidFill>
                <a:latin typeface="Consolas"/>
                <a:ea typeface="Consolas"/>
              </a:rPr>
              <a:t>PY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96312" y="3296732"/>
            <a:ext cx="450799" cy="344317"/>
          </a:xfrm>
          <a:prstGeom prst="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96312" y="3296732"/>
            <a:ext cx="450799" cy="3443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C1C1C"/>
                </a:solidFill>
                <a:latin typeface="Consolas"/>
                <a:ea typeface="Consolas"/>
              </a:rPr>
              <a:t>pixel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2734" y="3215716"/>
            <a:ext cx="556869" cy="506349"/>
          </a:xfrm>
          <a:prstGeom prst="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32734" y="3215716"/>
            <a:ext cx="556869" cy="5063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A8A8A"/>
                </a:solidFill>
                <a:latin typeface="Consolas"/>
                <a:ea typeface="Consolas"/>
              </a:rPr>
              <a:t>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01744" y="3296732"/>
            <a:ext cx="450799" cy="344317"/>
          </a:xfrm>
          <a:prstGeom prst="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01744" y="3296732"/>
            <a:ext cx="450799" cy="34431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1C1C1C"/>
                </a:solidFill>
                <a:latin typeface="Consolas"/>
                <a:ea typeface="Consolas"/>
              </a:rPr>
              <a:t>...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38167" y="3215716"/>
            <a:ext cx="556869" cy="506349"/>
          </a:xfrm>
          <a:prstGeom prst="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38167" y="3215716"/>
            <a:ext cx="556869" cy="5063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8A8A8A"/>
                </a:solidFill>
                <a:latin typeface="Consolas"/>
                <a:ea typeface="Consolas"/>
              </a:rPr>
              <a:t>PY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552285" y="3389900"/>
            <a:ext cx="159105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ight Arrow 24"/>
          <p:cNvSpPr/>
          <p:nvPr/>
        </p:nvSpPr>
        <p:spPr>
          <a:xfrm>
            <a:off x="2294778" y="3389900"/>
            <a:ext cx="159105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2963021" y="3389900"/>
            <a:ext cx="159105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ight Arrow 26"/>
          <p:cNvSpPr/>
          <p:nvPr/>
        </p:nvSpPr>
        <p:spPr>
          <a:xfrm>
            <a:off x="3700211" y="3389900"/>
            <a:ext cx="159105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ight Arrow 27"/>
          <p:cNvSpPr/>
          <p:nvPr/>
        </p:nvSpPr>
        <p:spPr>
          <a:xfrm>
            <a:off x="4368454" y="3389900"/>
            <a:ext cx="159105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700784" y="3730166"/>
            <a:ext cx="3394252" cy="141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F5F5F"/>
                </a:solidFill>
                <a:latin typeface="맑은 고딕"/>
                <a:ea typeface="맑은 고딕"/>
              </a:rPr>
              <a:t>per-pixel interpreter dispatch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1773" y="4208160"/>
            <a:ext cx="4720132" cy="1741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1064361" y="4329684"/>
            <a:ext cx="848563" cy="324063"/>
          </a:xfrm>
          <a:prstGeom prst="roundRect">
            <a:avLst/>
          </a:prstGeom>
          <a:solidFill>
            <a:srgbClr val="E9E9E9"/>
          </a:solidFill>
          <a:ln w="1016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64361" y="4337785"/>
            <a:ext cx="848563" cy="3078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AFTER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45512" y="4309430"/>
            <a:ext cx="2227478" cy="324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First call JIT-compiles typed loop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914" y="4694255"/>
            <a:ext cx="981151" cy="283555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70432" y="4710458"/>
            <a:ext cx="928115" cy="25114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input dtype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2188707" y="4783372"/>
            <a:ext cx="212140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469794" y="4653747"/>
            <a:ext cx="928115" cy="364571"/>
          </a:xfrm>
          <a:prstGeom prst="rect">
            <a:avLst/>
          </a:prstGeom>
          <a:solidFill>
            <a:srgbClr val="E9E9E9"/>
          </a:solidFill>
          <a:ln w="1016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96312" y="4669950"/>
            <a:ext cx="875080" cy="32406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JIT
compile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3477463" y="4783372"/>
            <a:ext cx="212140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89603" y="4653747"/>
            <a:ext cx="1538020" cy="384825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42639" y="4669950"/>
            <a:ext cx="1431950" cy="35241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C1C1C"/>
                </a:solidFill>
                <a:latin typeface="맑은 고딕"/>
                <a:ea typeface="맑은 고딕"/>
              </a:rPr>
              <a:t>native loop
reused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37844" y="5281620"/>
            <a:ext cx="1087221" cy="303809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4361" y="5297823"/>
            <a:ext cx="1034186" cy="2714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input data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2188707" y="5366686"/>
            <a:ext cx="185623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310688" y="5139842"/>
            <a:ext cx="2280513" cy="587364"/>
          </a:xfrm>
          <a:prstGeom prst="rect">
            <a:avLst/>
          </a:prstGeom>
          <a:solidFill>
            <a:srgbClr val="5A5A5A"/>
          </a:solidFill>
          <a:ln w="10160">
            <a:solidFill>
              <a:srgbClr val="5A5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90241" y="5200604"/>
            <a:ext cx="2121408" cy="46584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</a:rPr>
              <a:t>native loop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4670755" y="5366686"/>
            <a:ext cx="212140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62448" y="5281620"/>
            <a:ext cx="530352" cy="303809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62448" y="5297823"/>
            <a:ext cx="530352" cy="27140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result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15430" y="2385303"/>
            <a:ext cx="5091379" cy="3848252"/>
          </a:xfrm>
          <a:prstGeom prst="rect">
            <a:avLst/>
          </a:prstGeom>
          <a:solidFill>
            <a:srgbClr val="F7F7F7"/>
          </a:solidFill>
          <a:ln w="11430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601053" y="2648605"/>
            <a:ext cx="4720132" cy="115447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733641" y="2770129"/>
            <a:ext cx="769010" cy="303809"/>
          </a:xfrm>
          <a:prstGeom prst="round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33641" y="2782281"/>
            <a:ext cx="769010" cy="27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PILLOW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61757" y="2790383"/>
            <a:ext cx="1193292" cy="24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F5F5F"/>
                </a:solidFill>
                <a:latin typeface="맑은 고딕"/>
                <a:ea typeface="맑은 고딕"/>
              </a:rPr>
              <a:t>full-frame buffer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813194" y="3203563"/>
            <a:ext cx="477316" cy="291657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82140" y="3260274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82140" y="3316986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882140" y="3373697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707124" y="3511424"/>
            <a:ext cx="689457" cy="162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FILE</a:t>
            </a:r>
          </a:p>
        </p:txBody>
      </p:sp>
      <p:sp>
        <p:nvSpPr>
          <p:cNvPr id="60" name="Right Arrow 59"/>
          <p:cNvSpPr/>
          <p:nvPr/>
        </p:nvSpPr>
        <p:spPr>
          <a:xfrm>
            <a:off x="7396581" y="3349392"/>
            <a:ext cx="185623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688275" y="3154954"/>
            <a:ext cx="769010" cy="405079"/>
          </a:xfrm>
          <a:prstGeom prst="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67828" y="3215716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7767828" y="3272427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767828" y="3329138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767828" y="3385849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767828" y="3442560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29169" y="3576236"/>
            <a:ext cx="1087221" cy="141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C1C1C"/>
                </a:solidFill>
                <a:latin typeface="맑은 고딕"/>
                <a:ea typeface="맑은 고딕"/>
              </a:rPr>
              <a:t>full RGB frame</a:t>
            </a:r>
          </a:p>
        </p:txBody>
      </p:sp>
      <p:sp>
        <p:nvSpPr>
          <p:cNvPr id="68" name="Right Arrow 67"/>
          <p:cNvSpPr/>
          <p:nvPr/>
        </p:nvSpPr>
        <p:spPr>
          <a:xfrm>
            <a:off x="8563356" y="3349392"/>
            <a:ext cx="185623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881567" y="3142801"/>
            <a:ext cx="1113739" cy="518501"/>
          </a:xfrm>
          <a:prstGeom prst="rect">
            <a:avLst/>
          </a:prstGeom>
          <a:solidFill>
            <a:srgbClr val="F1F1F1"/>
          </a:solidFill>
          <a:ln w="10160">
            <a:solidFill>
              <a:srgbClr val="8A8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08084" y="3171157"/>
            <a:ext cx="1060704" cy="13772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full-image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961120" y="3349392"/>
            <a:ext cx="954633" cy="267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F5F5F"/>
                </a:solidFill>
                <a:latin typeface="맑은 고딕"/>
                <a:ea typeface="맑은 고딕"/>
              </a:rPr>
              <a:t>decode
encode</a:t>
            </a:r>
          </a:p>
        </p:txBody>
      </p:sp>
      <p:sp>
        <p:nvSpPr>
          <p:cNvPr id="72" name="Right Arrow 71"/>
          <p:cNvSpPr/>
          <p:nvPr/>
        </p:nvSpPr>
        <p:spPr>
          <a:xfrm>
            <a:off x="10074859" y="3349392"/>
            <a:ext cx="185623" cy="129625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499140" y="3203563"/>
            <a:ext cx="477316" cy="291657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568086" y="3256224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0568086" y="3304833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0568086" y="3353443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0568086" y="3402052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366552" y="3511424"/>
            <a:ext cx="742492" cy="162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output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601053" y="4147398"/>
            <a:ext cx="4720132" cy="127599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6733641" y="4268922"/>
            <a:ext cx="848563" cy="303809"/>
          </a:xfrm>
          <a:prstGeom prst="roundRect">
            <a:avLst/>
          </a:prstGeom>
          <a:solidFill>
            <a:srgbClr val="E9E9E9"/>
          </a:solidFill>
          <a:ln w="1016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733641" y="4281074"/>
            <a:ext cx="848563" cy="27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LIBVIPS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661757" y="4289176"/>
            <a:ext cx="1193292" cy="24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5F5F5F"/>
                </a:solidFill>
                <a:latin typeface="맑은 고딕"/>
                <a:ea typeface="맑은 고딕"/>
              </a:rPr>
              <a:t>active-stripe buffer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813194" y="4759067"/>
            <a:ext cx="477316" cy="291657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882140" y="4815779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882140" y="4872490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82140" y="4929201"/>
            <a:ext cx="339425" cy="24304"/>
          </a:xfrm>
          <a:prstGeom prst="rect">
            <a:avLst/>
          </a:prstGeom>
          <a:solidFill>
            <a:srgbClr val="B8B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707124" y="5099334"/>
            <a:ext cx="689457" cy="162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FILE</a:t>
            </a:r>
          </a:p>
        </p:txBody>
      </p:sp>
      <p:sp>
        <p:nvSpPr>
          <p:cNvPr id="88" name="Right Arrow 87"/>
          <p:cNvSpPr/>
          <p:nvPr/>
        </p:nvSpPr>
        <p:spPr>
          <a:xfrm>
            <a:off x="7396581" y="4904896"/>
            <a:ext cx="185623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7688275" y="4702356"/>
            <a:ext cx="769010" cy="405079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767828" y="4763118"/>
            <a:ext cx="609904" cy="2835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7767828" y="4819829"/>
            <a:ext cx="609904" cy="2835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67828" y="4876540"/>
            <a:ext cx="609904" cy="28355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767828" y="4933252"/>
            <a:ext cx="609904" cy="2835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767828" y="4989963"/>
            <a:ext cx="609904" cy="28355"/>
          </a:xfrm>
          <a:prstGeom prst="rect">
            <a:avLst/>
          </a:prstGeom>
          <a:solidFill>
            <a:srgbClr val="D8D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608722" y="5123639"/>
            <a:ext cx="928115" cy="141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C1C1C"/>
                </a:solidFill>
                <a:latin typeface="맑은 고딕"/>
                <a:ea typeface="맑은 고딕"/>
              </a:rPr>
              <a:t>RGB stripe</a:t>
            </a:r>
          </a:p>
        </p:txBody>
      </p:sp>
      <p:sp>
        <p:nvSpPr>
          <p:cNvPr id="96" name="Right Arrow 95"/>
          <p:cNvSpPr/>
          <p:nvPr/>
        </p:nvSpPr>
        <p:spPr>
          <a:xfrm>
            <a:off x="8563356" y="4904896"/>
            <a:ext cx="185623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881567" y="4674001"/>
            <a:ext cx="1113739" cy="607618"/>
          </a:xfrm>
          <a:prstGeom prst="rect">
            <a:avLst/>
          </a:prstGeom>
          <a:solidFill>
            <a:srgbClr val="E9E9E9"/>
          </a:solidFill>
          <a:ln w="10160">
            <a:solidFill>
              <a:srgbClr val="A8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908084" y="4686153"/>
            <a:ext cx="1060704" cy="24304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C1C1C"/>
                </a:solidFill>
                <a:latin typeface="맑은 고딕"/>
                <a:ea typeface="맑은 고딕"/>
              </a:rPr>
              <a:t>streaming
C pipeline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934602" y="5026420"/>
            <a:ext cx="1060704" cy="162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5F5F5F"/>
                </a:solidFill>
                <a:latin typeface="맑은 고딕"/>
                <a:ea typeface="맑은 고딕"/>
              </a:rPr>
              <a:t>decode/encode</a:t>
            </a:r>
          </a:p>
        </p:txBody>
      </p:sp>
      <p:sp>
        <p:nvSpPr>
          <p:cNvPr id="100" name="Right Arrow 99"/>
          <p:cNvSpPr/>
          <p:nvPr/>
        </p:nvSpPr>
        <p:spPr>
          <a:xfrm>
            <a:off x="10074859" y="4904896"/>
            <a:ext cx="185623" cy="141777"/>
          </a:xfrm>
          <a:prstGeom prst="rightArrow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10499140" y="4759067"/>
            <a:ext cx="477316" cy="291657"/>
          </a:xfrm>
          <a:prstGeom prst="rect">
            <a:avLst/>
          </a:prstGeom>
          <a:solidFill>
            <a:srgbClr val="F4F4F4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0568086" y="4811728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0568086" y="4860337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10568086" y="4908947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10568086" y="4957556"/>
            <a:ext cx="339425" cy="24304"/>
          </a:xfrm>
          <a:prstGeom prst="rect">
            <a:avLst/>
          </a:prstGeom>
          <a:solidFill>
            <a:srgbClr val="6A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366552" y="5099334"/>
            <a:ext cx="742492" cy="1620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output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078370" y="5706953"/>
            <a:ext cx="3765499" cy="283555"/>
          </a:xfrm>
          <a:prstGeom prst="rect">
            <a:avLst/>
          </a:prstGeom>
          <a:solidFill>
            <a:srgbClr val="EAEAEA"/>
          </a:solidFill>
          <a:ln w="10160">
            <a:solidFill>
              <a:srgbClr val="D4D4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7078370" y="5731258"/>
            <a:ext cx="3765499" cy="23494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C1C1C"/>
                </a:solidFill>
                <a:latin typeface="맑은 고딕"/>
                <a:ea typeface="맑은 고딕"/>
              </a:rPr>
              <a:t>same output with bounded active rows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Known 2단계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Known 검증: CNN tuning과 ROI cascade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8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80" b="1">
                <a:solidFill>
                  <a:srgbClr val="0F1E3D"/>
                </a:solidFill>
                <a:latin typeface="맑은 고딕"/>
                <a:ea typeface="맑은 고딕"/>
              </a:rPr>
              <a:t>1-stage CNN (백본 선정)</a:t>
            </a:r>
            <a:r>
              <a:rPr sz="1480">
                <a:solidFill>
                  <a:srgbClr val="1A1F2E"/>
                </a:solidFill>
                <a:latin typeface="맑은 고딕"/>
                <a:ea typeface="맑은 고딕"/>
              </a:rPr>
              <a:t> — 불량이 국소 영역에 몰려 있어 그 외 배경까지 보는 Transformer보다 locality에 강한 CNN이 유리하다고 판단 (연세대 인공지능학과 전해곤 교수 자문). ConvNeXtV2는 MaxViT와 F1 0.87 동급이면서 더 가벼움</a:t>
            </a:r>
          </a:p>
          <a:p>
            <a:pPr marL="274320" indent="-274320">
              <a:spcAft>
                <a:spcPts val="500"/>
              </a:spcAft>
            </a:pPr>
            <a:r>
              <a:rPr sz="148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80" b="1">
                <a:solidFill>
                  <a:srgbClr val="0F1E3D"/>
                </a:solidFill>
                <a:latin typeface="맑은 고딕"/>
                <a:ea typeface="맑은 고딕"/>
              </a:rPr>
              <a:t>Tuning</a:t>
            </a:r>
            <a:r>
              <a:rPr sz="1480">
                <a:solidFill>
                  <a:srgbClr val="1A1F2E"/>
                </a:solidFill>
                <a:latin typeface="맑은 고딕"/>
                <a:ea typeface="맑은 고딕"/>
              </a:rPr>
              <a:t> — Optuna로 schedule, focal loss, class-imbalance, augmentation strength를 조정해 F1 0.92로 향상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800921"/>
            <a:ext cx="2571750" cy="2571750"/>
          </a:xfrm>
          <a:prstGeom prst="rect">
            <a:avLst/>
          </a:prstGeom>
          <a:solidFill>
            <a:srgbClr val="E4EAF4"/>
          </a:solidFill>
          <a:ln w="15875">
            <a:solidFill>
              <a:srgbClr val="B9C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afer_center_scr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00921"/>
            <a:ext cx="2571750" cy="2571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25780" y="5464111"/>
            <a:ext cx="280035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불량 A — center scratch</a:t>
            </a:r>
          </a:p>
        </p:txBody>
      </p:sp>
      <p:sp>
        <p:nvSpPr>
          <p:cNvPr id="9" name="Rectangle 8"/>
          <p:cNvSpPr/>
          <p:nvPr/>
        </p:nvSpPr>
        <p:spPr>
          <a:xfrm>
            <a:off x="3440430" y="2800921"/>
            <a:ext cx="2571750" cy="2571750"/>
          </a:xfrm>
          <a:prstGeom prst="rect">
            <a:avLst/>
          </a:prstGeom>
          <a:solidFill>
            <a:srgbClr val="E4EAF4"/>
          </a:solidFill>
          <a:ln w="15875">
            <a:solidFill>
              <a:srgbClr val="B9C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afer_center_bank_bound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0430" y="2800921"/>
            <a:ext cx="2571750" cy="25717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326130" y="5464111"/>
            <a:ext cx="280035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불량 B — center bank-boundary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0780" y="2800921"/>
            <a:ext cx="2571750" cy="2571750"/>
          </a:xfrm>
          <a:prstGeom prst="rect">
            <a:avLst/>
          </a:prstGeom>
          <a:solidFill>
            <a:srgbClr val="E4EAF4"/>
          </a:solidFill>
          <a:ln w="15875">
            <a:solidFill>
              <a:srgbClr val="B9C6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1_roi_crop_r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0780" y="2800921"/>
            <a:ext cx="2571750" cy="25717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26480" y="5464111"/>
            <a:ext cx="280035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low-confidence → ROI-YOLO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41130" y="2800921"/>
            <a:ext cx="2571750" cy="2571750"/>
          </a:xfrm>
          <a:prstGeom prst="rect">
            <a:avLst/>
          </a:prstGeom>
          <a:solidFill>
            <a:srgbClr val="E4EAF4"/>
          </a:solidFill>
          <a:ln w="24130">
            <a:solidFill>
              <a:srgbClr val="96A0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1_chip_yolo_box_r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1130" y="2800921"/>
            <a:ext cx="2571750" cy="257175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9114282" y="2874073"/>
            <a:ext cx="1024128" cy="29260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Detection 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26830" y="5464111"/>
            <a:ext cx="2800350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chip 분류 + ROI 내 배치 확인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618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>
                <a:solidFill>
                  <a:srgbClr val="3A485C"/>
                </a:solidFill>
                <a:latin typeface="맑은 고딕"/>
                <a:ea typeface="맑은 고딕"/>
              </a:rPr>
              <a:t>불량 A와 B는 wafer-level에서 비슷해 1-stage 신뢰도가 낮음. 이 경우만 ROI-YOLO로 chip class와 배치까지 확인해 구분. Optuna 0.92 → 2-stage 0.95.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P1 | Known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Known 16-class backbone 탐색과 단계별 개선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98448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20" b="1">
                <a:solidFill>
                  <a:srgbClr val="0F1E3D"/>
                </a:solidFill>
                <a:latin typeface="맑은 고딕"/>
                <a:ea typeface="맑은 고딕"/>
              </a:rPr>
              <a:t>[실전 현업 데이터 validation] 16 class / 1,500 labeled / 4:1 stratified split.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19072"/>
          <a:ext cx="10972800" cy="3346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095"/>
                <a:gridCol w="3477718"/>
                <a:gridCol w="1259173"/>
                <a:gridCol w="4856814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Stage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Configuration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Weighted F1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Decision / note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Baseline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ImageNet pretrained CNN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0.78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starting point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Backbone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ViT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0.81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Backbone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Swin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0.84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Backbone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EffNetV2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0.85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4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/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Backbone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MaxViT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0.87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119.5M params / 74.2G FLOPs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Backbone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ConvNeXtV2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0.87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selected: 88.6M / 45.1G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HPO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ConvNeXtV2 + Optuna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0.92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warmup→cosine, focal γ2, effective class-weight, aug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37719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Cascade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ConvNeXtV2 + Optuna + ROI-YOLO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low-confidence only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" y="5175504"/>
            <a:ext cx="10972800" cy="384048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5175504"/>
            <a:ext cx="82296" cy="38404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HPO recipe — </a:t>
            </a:r>
            <a:r>
              <a:rPr sz="1100">
                <a:solidFill>
                  <a:srgbClr val="4A5666"/>
                </a:solidFill>
                <a:latin typeface="맑은 고딕"/>
                <a:ea typeface="맑은 고딕"/>
              </a:rPr>
              <a:t>LR backbone 2e-5 / head 2e-4, weight decay 0.05, warmup 5ep→cosine, focal γ=2.0, effective-number class weighting, EMA 0.95, stochastic depth 0.05, label smoothing 0.02, rotation ±15°+affine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5705856"/>
            <a:ext cx="3401568" cy="71323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1248" y="5705856"/>
            <a:ext cx="3401568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5833872"/>
            <a:ext cx="3182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0.78 → 0.87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6144768"/>
            <a:ext cx="31821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backbone gain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5705856"/>
            <a:ext cx="3401568" cy="71323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5705856"/>
            <a:ext cx="3401568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5833872"/>
            <a:ext cx="3182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0.87 → 0.92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6144768"/>
            <a:ext cx="31821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Optuna HPO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02752" y="5705856"/>
            <a:ext cx="3401568" cy="71323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02752" y="5705856"/>
            <a:ext cx="3401568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5833872"/>
            <a:ext cx="318211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0.92 → 0.95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6144768"/>
            <a:ext cx="318211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ROI-YOLO cascade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칩 식별 지도 (후속 개발)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차세대 Stage-2: ROI detection → chip identity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3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Current Stage-2</a:t>
            </a:r>
            <a:r>
              <a:rPr sz="1350">
                <a:solidFill>
                  <a:srgbClr val="1A1F2E"/>
                </a:solidFill>
                <a:latin typeface="맑은 고딕"/>
                <a:ea typeface="맑은 고딕"/>
              </a:rPr>
              <a:t> — ROI-YOLO는 field-validated 구조지만, 선택된 ROI 안에서 box regression, classification, NMS를 수행하므로 class 확장과 detector annotation cost 부담이 남음</a:t>
            </a:r>
          </a:p>
          <a:p>
            <a:pPr marL="274320" indent="-274320">
              <a:spcAft>
                <a:spcPts val="500"/>
              </a:spcAft>
            </a:pPr>
            <a:r>
              <a:rPr sz="13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Object-id map</a:t>
            </a:r>
            <a:r>
              <a:rPr sz="1350">
                <a:solidFill>
                  <a:srgbClr val="1A1F2E"/>
                </a:solidFill>
                <a:latin typeface="맑은 고딕"/>
                <a:ea typeface="맑은 고딕"/>
              </a:rPr>
              <a:t> — 제품별 chip coordinate를 재사용해 fixed crop classification으로 바꾸고, chip별 class id를 32×32 wafer grid에 재배치</a:t>
            </a:r>
          </a:p>
          <a:p>
            <a:pPr marL="274320" indent="-274320">
              <a:spcAft>
                <a:spcPts val="500"/>
              </a:spcAft>
            </a:pPr>
            <a:r>
              <a:rPr sz="13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Metric</a:t>
            </a:r>
            <a:r>
              <a:rPr sz="1350">
                <a:solidFill>
                  <a:srgbClr val="1A1F2E"/>
                </a:solidFill>
                <a:latin typeface="맑은 고딕"/>
                <a:ea typeface="맑은 고딕"/>
              </a:rPr>
              <a:t> — selected obj-only: val F1 0.9946 / hold-out F1 0.9872. 별도 raw+obj-id 5-seed val F1 0.9838 ± 0.0092</a:t>
            </a:r>
          </a:p>
        </p:txBody>
      </p:sp>
      <p:pic>
        <p:nvPicPr>
          <p:cNvPr id="6" name="Picture 5" descr="AAN585_00P_18_20260501_010000_97.6_2_EE_NORMAL_ra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3200400"/>
            <a:ext cx="2340864" cy="234086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124712" y="3273552"/>
            <a:ext cx="566928" cy="274320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pair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" y="5541264"/>
            <a:ext cx="26791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Product A / raw intensity</a:t>
            </a:r>
          </a:p>
        </p:txBody>
      </p:sp>
      <p:pic>
        <p:nvPicPr>
          <p:cNvPr id="9" name="Picture 8" descr="AAN585_00P_18_20260501_010000_97.6_2_EE_NORMAL_obj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5616" y="3200400"/>
            <a:ext cx="2340864" cy="23408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803904" y="3273552"/>
            <a:ext cx="566928" cy="274320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pair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6452" y="5541264"/>
            <a:ext cx="26791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Product A / object-id grid</a:t>
            </a:r>
          </a:p>
        </p:txBody>
      </p:sp>
      <p:pic>
        <p:nvPicPr>
          <p:cNvPr id="12" name="Picture 11" descr="ACZ452_00P_14_20260501_010000_97.6_2_PT_NORMAL_ra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3200400"/>
            <a:ext cx="2340864" cy="234086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483096" y="3273552"/>
            <a:ext cx="566928" cy="274320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pair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5644" y="5541264"/>
            <a:ext cx="26791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Product B / raw intensity</a:t>
            </a:r>
          </a:p>
        </p:txBody>
      </p:sp>
      <p:pic>
        <p:nvPicPr>
          <p:cNvPr id="15" name="Picture 14" descr="ACZ452_00P_14_20260501_010000_97.6_2_PT_NORMAL_obji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3200400"/>
            <a:ext cx="2340864" cy="234086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162288" y="3273552"/>
            <a:ext cx="566928" cy="274320"/>
          </a:xfrm>
          <a:prstGeom prst="round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pair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74836" y="5541264"/>
            <a:ext cx="267919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Product B / object-id grid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9618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>
                <a:solidFill>
                  <a:srgbClr val="3A485C"/>
                </a:solidFill>
                <a:latin typeface="맑은 고딕"/>
                <a:ea typeface="맑은 고딕"/>
              </a:rPr>
              <a:t>Field-validated 대표 성과는 ROI-YOLO 2-stage F1 0.95이고, object-id map은 detector cost와 class 확장 부담을 줄이기 위한 차세대 Stage-2 구조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Unknown 탐색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Unknown 후보 발견 contrastive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Embedding</a:t>
            </a:r>
            <a:r>
              <a:rPr sz="1450">
                <a:solidFill>
                  <a:srgbClr val="1A1F2E"/>
                </a:solidFill>
                <a:latin typeface="맑은 고딕"/>
                <a:ea typeface="맑은 고딕"/>
              </a:rPr>
              <a:t> — same-wafer views를 alignment target으로 두고, other wafers를 contrastive reference로 사용</a:t>
            </a:r>
          </a:p>
          <a:p>
            <a:pPr marL="274320" indent="-274320">
              <a:spcAft>
                <a:spcPts val="500"/>
              </a:spcAft>
            </a:pPr>
            <a:r>
              <a:rPr sz="14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Review output</a:t>
            </a:r>
            <a:r>
              <a:rPr sz="1450">
                <a:solidFill>
                  <a:srgbClr val="1A1F2E"/>
                </a:solidFill>
                <a:latin typeface="맑은 고딕"/>
                <a:ea typeface="맑은 고딕"/>
              </a:rPr>
              <a:t> — HDBSCAN 결과는 자동 판정이 아니라 엔지니어가 검토할 신규 failure 후보 group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424" y="2606184"/>
            <a:ext cx="3017232" cy="3017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afer_center_bank_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" y="2615184"/>
            <a:ext cx="2999232" cy="29992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5820" y="5614416"/>
            <a:ext cx="3520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Center Bank-Boundary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864" y="2606184"/>
            <a:ext cx="3017232" cy="3017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wafer_broken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6864" y="2615184"/>
            <a:ext cx="2999232" cy="299923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66260" y="5614416"/>
            <a:ext cx="3520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BrokenRing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304" y="2606184"/>
            <a:ext cx="3017232" cy="3017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afer_crescentar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4" y="2615184"/>
            <a:ext cx="2999232" cy="299923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86700" y="5614416"/>
            <a:ext cx="35204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>
                <a:solidFill>
                  <a:srgbClr val="0F1E3D"/>
                </a:solidFill>
                <a:latin typeface="맑은 고딕"/>
                <a:ea typeface="맑은 고딕"/>
              </a:rPr>
              <a:t>CrescentArc (신규)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61888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>
                <a:solidFill>
                  <a:srgbClr val="3A485C"/>
                </a:solidFill>
                <a:latin typeface="맑은 고딕"/>
                <a:ea typeface="맑은 고딕"/>
              </a:rPr>
              <a:t>실제 현업 데이터 2,000장 review: 13개 후보 중 7개 신규 failure 확인. 화면 이미지는 후속 튜닝용 생성/개발 예시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Unknown 대조 학습: contrastive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false negative 억제 contrastive embedding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0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SimCLR</a:t>
            </a:r>
            <a:r>
              <a:rPr sz="1400">
                <a:solidFill>
                  <a:srgbClr val="1A1F2E"/>
                </a:solidFill>
                <a:latin typeface="맑은 고딕"/>
                <a:ea typeface="맑은 고딕"/>
              </a:rPr>
              <a:t> — positive-pair alignment와 in-batch negative contrast로 wafer pattern embedding을 학습</a:t>
            </a:r>
          </a:p>
          <a:p>
            <a:pPr marL="274320" indent="-274320">
              <a:spcAft>
                <a:spcPts val="500"/>
              </a:spcAft>
            </a:pPr>
            <a:r>
              <a:rPr sz="140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Negative similarity filter</a:t>
            </a:r>
            <a:r>
              <a:rPr sz="1400">
                <a:solidFill>
                  <a:srgbClr val="1A1F2E"/>
                </a:solidFill>
                <a:latin typeface="맑은 고딕"/>
                <a:ea typeface="맑은 고딕"/>
              </a:rPr>
              <a:t> — cosine similarity가 높은 near-positive candidate를 negative set에서 제외해 false-negative push를 방지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596896"/>
            <a:ext cx="5303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f_simclr_framework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065" y="2631186"/>
            <a:ext cx="2919548" cy="2263140"/>
          </a:xfrm>
          <a:prstGeom prst="rect">
            <a:avLst/>
          </a:prstGeom>
        </p:spPr>
      </p:pic>
      <p:pic>
        <p:nvPicPr>
          <p:cNvPr id="8" name="Picture 7" descr="ref_simclr_los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446" y="4962906"/>
            <a:ext cx="3236786" cy="9429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053328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SimCLR: positive-pair alignment with in-batch negative contrast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596896"/>
            <a:ext cx="530352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086039" y="2836926"/>
            <a:ext cx="0" cy="2948940"/>
          </a:xfrm>
          <a:prstGeom prst="line">
            <a:avLst/>
          </a:prstGeom>
          <a:ln w="12700">
            <a:solidFill>
              <a:srgbClr val="EAE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36200" y="2836926"/>
            <a:ext cx="0" cy="2948940"/>
          </a:xfrm>
          <a:prstGeom prst="line">
            <a:avLst/>
          </a:prstGeom>
          <a:ln w="12700">
            <a:solidFill>
              <a:srgbClr val="EAE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601053" y="4431411"/>
            <a:ext cx="4720133" cy="0"/>
          </a:xfrm>
          <a:prstGeom prst="line">
            <a:avLst/>
          </a:prstGeom>
          <a:ln w="12700">
            <a:solidFill>
              <a:srgbClr val="EAEE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94983" y="2836926"/>
            <a:ext cx="1431950" cy="2571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Positive</a:t>
            </a:r>
          </a:p>
        </p:txBody>
      </p:sp>
      <p:sp>
        <p:nvSpPr>
          <p:cNvPr id="15" name="Oval 14"/>
          <p:cNvSpPr/>
          <p:nvPr/>
        </p:nvSpPr>
        <p:spPr>
          <a:xfrm>
            <a:off x="6834938" y="3578733"/>
            <a:ext cx="265176" cy="265176"/>
          </a:xfrm>
          <a:prstGeom prst="ellipse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38708" y="3917061"/>
            <a:ext cx="371246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6181D"/>
                </a:solidFill>
                <a:latin typeface="Cambria Math"/>
                <a:ea typeface="Cambria Math"/>
              </a:rPr>
              <a:t>q</a:t>
            </a:r>
          </a:p>
        </p:txBody>
      </p:sp>
      <p:sp>
        <p:nvSpPr>
          <p:cNvPr id="17" name="Oval 16"/>
          <p:cNvSpPr/>
          <p:nvPr/>
        </p:nvSpPr>
        <p:spPr>
          <a:xfrm>
            <a:off x="7338243" y="3277896"/>
            <a:ext cx="318211" cy="318211"/>
          </a:xfrm>
          <a:prstGeom prst="ellipse">
            <a:avLst/>
          </a:prstGeom>
          <a:solidFill>
            <a:srgbClr val="FFFFFF"/>
          </a:solidFill>
          <a:ln w="13970">
            <a:solidFill>
              <a:srgbClr val="161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 flipH="1">
            <a:off x="6967526" y="3437001"/>
            <a:ext cx="529822" cy="274320"/>
          </a:xfrm>
          <a:prstGeom prst="line">
            <a:avLst/>
          </a:prstGeom>
          <a:ln w="19685">
            <a:solidFill>
              <a:srgbClr val="0F1E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667061" y="3179826"/>
            <a:ext cx="503834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6181D"/>
                </a:solidFill>
                <a:latin typeface="Cambria Math"/>
                <a:ea typeface="Cambria Math"/>
              </a:rPr>
              <a:t>p⁺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4983" y="4620006"/>
            <a:ext cx="1431950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0F1E3D"/>
                </a:solidFill>
                <a:latin typeface="Consolas"/>
                <a:ea typeface="Consolas"/>
              </a:rPr>
              <a:t>PULL TERM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4983" y="4877181"/>
            <a:ext cx="1431950" cy="240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16181D"/>
                </a:solidFill>
                <a:latin typeface="맑은 고딕"/>
                <a:ea typeface="맑은 고딕"/>
              </a:rPr>
              <a:t>similar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4983" y="5391531"/>
            <a:ext cx="143195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6181D"/>
                </a:solidFill>
                <a:latin typeface="맑은 고딕"/>
                <a:ea typeface="맑은 고딕"/>
              </a:rPr>
              <a:t>pull closer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5144" y="2836926"/>
            <a:ext cx="1431950" cy="2571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Negative</a:t>
            </a:r>
          </a:p>
        </p:txBody>
      </p:sp>
      <p:sp>
        <p:nvSpPr>
          <p:cNvPr id="24" name="Oval 23"/>
          <p:cNvSpPr/>
          <p:nvPr/>
        </p:nvSpPr>
        <p:spPr>
          <a:xfrm>
            <a:off x="8585100" y="3578733"/>
            <a:ext cx="265176" cy="265176"/>
          </a:xfrm>
          <a:prstGeom prst="ellipse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88870" y="3917061"/>
            <a:ext cx="371246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6181D"/>
                </a:solidFill>
                <a:latin typeface="Cambria Math"/>
                <a:ea typeface="Cambria Math"/>
              </a:rPr>
              <a:t>q</a:t>
            </a:r>
          </a:p>
        </p:txBody>
      </p:sp>
      <p:sp>
        <p:nvSpPr>
          <p:cNvPr id="26" name="Isosceles Triangle 25"/>
          <p:cNvSpPr/>
          <p:nvPr/>
        </p:nvSpPr>
        <p:spPr>
          <a:xfrm>
            <a:off x="9179625" y="3763259"/>
            <a:ext cx="307604" cy="307604"/>
          </a:xfrm>
          <a:prstGeom prst="triangl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8717688" y="3711321"/>
            <a:ext cx="615739" cy="205740"/>
          </a:xfrm>
          <a:prstGeom prst="line">
            <a:avLst/>
          </a:prstGeom>
          <a:ln w="12700">
            <a:solidFill>
              <a:srgbClr val="55607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9200839" y="4139946"/>
            <a:ext cx="503834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80" b="1">
                <a:solidFill>
                  <a:srgbClr val="0F1E3D"/>
                </a:solidFill>
                <a:latin typeface="Cambria Math"/>
                <a:ea typeface="Cambria Math"/>
              </a:rPr>
              <a:t>n⁻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5144" y="4620006"/>
            <a:ext cx="1431950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0F1E3D"/>
                </a:solidFill>
                <a:latin typeface="Consolas"/>
                <a:ea typeface="Consolas"/>
              </a:rPr>
              <a:t>PUSH TERM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45144" y="4877181"/>
            <a:ext cx="1431950" cy="240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16181D"/>
                </a:solidFill>
                <a:latin typeface="맑은 고딕"/>
                <a:ea typeface="맑은 고딕"/>
              </a:rPr>
              <a:t>far away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5144" y="5391531"/>
            <a:ext cx="143195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6181D"/>
                </a:solidFill>
                <a:latin typeface="맑은 고딕"/>
                <a:ea typeface="맑은 고딕"/>
              </a:rPr>
              <a:t>weak push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95306" y="2836926"/>
            <a:ext cx="1431950" cy="25717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0F1E3D"/>
                </a:solidFill>
                <a:latin typeface="맑은 고딕"/>
                <a:ea typeface="맑은 고딕"/>
              </a:rPr>
              <a:t>False negative risk</a:t>
            </a:r>
          </a:p>
        </p:txBody>
      </p:sp>
      <p:sp>
        <p:nvSpPr>
          <p:cNvPr id="33" name="Oval 32"/>
          <p:cNvSpPr/>
          <p:nvPr/>
        </p:nvSpPr>
        <p:spPr>
          <a:xfrm>
            <a:off x="10335262" y="3578733"/>
            <a:ext cx="265176" cy="265176"/>
          </a:xfrm>
          <a:prstGeom prst="ellipse">
            <a:avLst/>
          </a:prstGeom>
          <a:solidFill>
            <a:srgbClr val="16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39031" y="3917061"/>
            <a:ext cx="371246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16181D"/>
                </a:solidFill>
                <a:latin typeface="Cambria Math"/>
                <a:ea typeface="Cambria Math"/>
              </a:rPr>
              <a:t>q</a:t>
            </a:r>
          </a:p>
        </p:txBody>
      </p:sp>
      <p:sp>
        <p:nvSpPr>
          <p:cNvPr id="35" name="Oval 34"/>
          <p:cNvSpPr/>
          <p:nvPr/>
        </p:nvSpPr>
        <p:spPr>
          <a:xfrm>
            <a:off x="10724010" y="3449346"/>
            <a:ext cx="318211" cy="318211"/>
          </a:xfrm>
          <a:prstGeom prst="ellipse">
            <a:avLst/>
          </a:prstGeom>
          <a:solidFill>
            <a:srgbClr val="C5CBD6"/>
          </a:solidFill>
          <a:ln w="13970">
            <a:solidFill>
              <a:srgbClr val="161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10467850" y="3608451"/>
            <a:ext cx="415265" cy="102870"/>
          </a:xfrm>
          <a:prstGeom prst="line">
            <a:avLst/>
          </a:prstGeom>
          <a:ln w="20320">
            <a:solidFill>
              <a:srgbClr val="0F1E3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052828" y="3351275"/>
            <a:ext cx="530352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80" b="1">
                <a:solidFill>
                  <a:srgbClr val="0F1E3D"/>
                </a:solidFill>
                <a:latin typeface="Cambria Math"/>
                <a:ea typeface="Cambria Math"/>
              </a:rPr>
              <a:t>h⁻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95306" y="4620006"/>
            <a:ext cx="1431950" cy="2057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50" b="1">
                <a:solidFill>
                  <a:srgbClr val="0F1E3D"/>
                </a:solidFill>
                <a:latin typeface="Consolas"/>
                <a:ea typeface="Consolas"/>
              </a:rPr>
              <a:t>EXCLUDED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95306" y="4877181"/>
            <a:ext cx="1431950" cy="2400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20" b="1">
                <a:solidFill>
                  <a:srgbClr val="16181D"/>
                </a:solidFill>
                <a:latin typeface="맑은 고딕"/>
                <a:ea typeface="맑은 고딕"/>
              </a:rPr>
              <a:t>too close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95306" y="5391531"/>
            <a:ext cx="143195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6181D"/>
                </a:solidFill>
                <a:latin typeface="맑은 고딕"/>
                <a:ea typeface="맑은 고딕"/>
              </a:rPr>
              <a:t>protect cluster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6053328"/>
            <a:ext cx="53035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Negative similarity filter: potential false-negative exclusion preserves cluster compactness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Unknown 대조 학습: NeCo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NeCo: 결함 위치에 민감한 patch-neighbor 유사도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61872"/>
            <a:ext cx="1069848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3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핵심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 — patch 간 유사도 matrix는 결함의 공간 구조를 인코딩 → 결함 위치가 다르면 matrix가 완전히 다름 (CE 큼)</a:t>
            </a:r>
          </a:p>
          <a:p>
            <a:pPr marL="274320" indent="-274320">
              <a:spcAft>
                <a:spcPts val="3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대비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 — 단순 local 평균(grid)은 둔감, NeCo는 이 민감한 matrix를 같은 wafer 두 view에서 일치시켜 국소 구조 보존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672" y="1929528"/>
            <a:ext cx="1206720" cy="120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afer_center_scra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" y="1938528"/>
            <a:ext cx="1188720" cy="118872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121408" y="2103120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21408" y="210312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103120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10312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33472" y="2103120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210312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21408" y="2359152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21408" y="23591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2359152"/>
            <a:ext cx="256032" cy="256032"/>
          </a:xfrm>
          <a:prstGeom prst="rect">
            <a:avLst/>
          </a:prstGeom>
          <a:solidFill>
            <a:srgbClr val="96A0A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0" y="23591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33472" y="2359152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33472" y="23591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21408" y="2615184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21408" y="261518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2615184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261518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33472" y="2615184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33472" y="261518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54096" y="1993392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1993392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27832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401568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75304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749040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922776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096512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70248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443984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054096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27832" y="2167128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27832" y="2167128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01568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575304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49040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922776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096512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70248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443984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054096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27832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01568" y="2340864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01568" y="2340864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75304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749040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922776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096512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270248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443984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054096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27832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401568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575304" y="2514600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75304" y="2514600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749040" y="2514600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922776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096512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270248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443984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054096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227832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401568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575304" y="2688336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749040" y="2688336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49040" y="2688336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922776" y="2688336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096512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270248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443984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054096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3227832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401568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575304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749040" y="2862072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922776" y="2862072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922776" y="2862072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096512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270248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443984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054096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227832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401568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575304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749040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922776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096512" y="3035808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096512" y="3035808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270248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443984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3054096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3227832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3401568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575304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749040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3922776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096512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4270248" y="3209544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270248" y="3209544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443984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054096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3227832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3401568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3575304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3749040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3922776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4096512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4270248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4443984" y="3383280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4443984" y="3383280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04672" y="3236976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결함 A: 중앙 → p5 활성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681728" y="2441448"/>
            <a:ext cx="4114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96A0AD"/>
                </a:solidFill>
                <a:latin typeface="맑은 고딕"/>
                <a:ea typeface="맑은 고딕"/>
              </a:rPr>
              <a:t>≠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093352" y="1929528"/>
            <a:ext cx="1206720" cy="1206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9" name="Picture 118" descr="wafer_edge_top_scr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1938528"/>
            <a:ext cx="1188720" cy="118872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6419088" y="2103120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419088" y="210312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6675120" y="2103120"/>
            <a:ext cx="256032" cy="256032"/>
          </a:xfrm>
          <a:prstGeom prst="rect">
            <a:avLst/>
          </a:prstGeom>
          <a:solidFill>
            <a:srgbClr val="96A0A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6675120" y="210312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931152" y="2103120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931152" y="2103120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6419088" y="2359152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6419088" y="23591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p4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6675120" y="2359152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675120" y="23591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p5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931152" y="2359152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931152" y="2359152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p6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6419088" y="2615184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19088" y="261518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p7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6675120" y="2615184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675120" y="261518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p8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6931152" y="2615184"/>
            <a:ext cx="256032" cy="256032"/>
          </a:xfrm>
          <a:prstGeom prst="rect">
            <a:avLst/>
          </a:prstGeom>
          <a:solidFill>
            <a:srgbClr val="F1F3F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931152" y="2615184"/>
            <a:ext cx="256032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p9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7351776" y="1993392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7351776" y="1993392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25512" y="1993392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7699248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7872984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8046720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8220456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394192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567928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8741664" y="199339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7351776" y="2167128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525512" y="2167128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525512" y="2167128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7699248" y="2167128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7872984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8046720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220456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394192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8567928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8741664" y="216712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7351776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7525512" y="2340864"/>
            <a:ext cx="173736" cy="173736"/>
          </a:xfrm>
          <a:prstGeom prst="rect">
            <a:avLst/>
          </a:prstGeom>
          <a:solidFill>
            <a:srgbClr val="96A0AD"/>
          </a:solidFill>
          <a:ln w="63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7699248" y="2340864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7699248" y="2340864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7872984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046720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220456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8394192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8567928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8741664" y="234086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51776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525512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699248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872984" y="2514600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7872984" y="2514600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8046720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8220456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8394192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8567928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741664" y="251460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7351776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7525512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7699248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7872984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046720" y="2688336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TextBox 182"/>
          <p:cNvSpPr txBox="1"/>
          <p:nvPr/>
        </p:nvSpPr>
        <p:spPr>
          <a:xfrm>
            <a:off x="8046720" y="2688336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8220456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8394192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8567928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8741664" y="2688336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51776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7525512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7699248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7872984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8046720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8220456" y="2862072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8220456" y="2862072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8394192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8567928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8741664" y="2862072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7351776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7525512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7699248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7872984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8046720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8220456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8394192" y="3035808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394192" y="3035808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8567928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8741664" y="3035808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7351776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7525512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7699248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7872984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8046720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8220456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8394192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8567928" y="3209544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8567928" y="3209544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8741664" y="3209544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7351776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525512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699248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872984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8046720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8220456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8394192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8567928" y="3383280"/>
            <a:ext cx="173736" cy="173736"/>
          </a:xfrm>
          <a:prstGeom prst="rect">
            <a:avLst/>
          </a:prstGeom>
          <a:solidFill>
            <a:srgbClr val="FFFFFF"/>
          </a:solidFill>
          <a:ln w="5080">
            <a:solidFill>
              <a:srgbClr val="E3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8741664" y="3383280"/>
            <a:ext cx="173736" cy="173736"/>
          </a:xfrm>
          <a:prstGeom prst="rect">
            <a:avLst/>
          </a:prstGeom>
          <a:solidFill>
            <a:srgbClr val="ECEFF3"/>
          </a:solidFill>
          <a:ln w="508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TextBox 226"/>
          <p:cNvSpPr txBox="1"/>
          <p:nvPr/>
        </p:nvSpPr>
        <p:spPr>
          <a:xfrm>
            <a:off x="8741664" y="3383280"/>
            <a:ext cx="173736" cy="1737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−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5102352" y="3236976"/>
            <a:ext cx="35661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결함 B: 상단 → p2 활성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9006840" y="1956816"/>
            <a:ext cx="24688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9×9 같은 위치 element (A vs B)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9006840" y="2212848"/>
            <a:ext cx="2468880" cy="15179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[p5,p4] .85 vs .05 → .80</a:t>
            </a:r>
          </a:p>
          <a:p>
            <a:pPr algn="l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[p5,p6] .85 vs .05 → .80</a:t>
            </a:r>
          </a:p>
          <a:p>
            <a:pPr algn="l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[p2,p1] .05 vs .85 → .80</a:t>
            </a:r>
          </a:p>
          <a:p>
            <a:pPr algn="l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[p2,p3] .05 vs .85 → .80</a:t>
            </a:r>
          </a:p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… 활성쌍 8칸, 나머지 0</a:t>
            </a:r>
          </a:p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합 8×.80 = 6.4 (큼)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777240" y="3986784"/>
            <a:ext cx="106070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960120" y="4096512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local grid (patch별 활성, 관계 없음)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344168" y="4462272"/>
            <a:ext cx="38404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1783080" y="446227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TextBox 234"/>
          <p:cNvSpPr txBox="1"/>
          <p:nvPr/>
        </p:nvSpPr>
        <p:spPr>
          <a:xfrm>
            <a:off x="1783080" y="4462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236" name="Rectangle 235"/>
          <p:cNvSpPr/>
          <p:nvPr/>
        </p:nvSpPr>
        <p:spPr>
          <a:xfrm>
            <a:off x="2057400" y="446227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2057400" y="4462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2331720" y="446227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2331720" y="4462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240" name="Rectangle 239"/>
          <p:cNvSpPr/>
          <p:nvPr/>
        </p:nvSpPr>
        <p:spPr>
          <a:xfrm>
            <a:off x="1783080" y="473659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1783080" y="47365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p4</a:t>
            </a:r>
          </a:p>
        </p:txBody>
      </p:sp>
      <p:sp>
        <p:nvSpPr>
          <p:cNvPr id="242" name="Rectangle 241"/>
          <p:cNvSpPr/>
          <p:nvPr/>
        </p:nvSpPr>
        <p:spPr>
          <a:xfrm>
            <a:off x="2057400" y="4736592"/>
            <a:ext cx="274320" cy="274320"/>
          </a:xfrm>
          <a:prstGeom prst="rect">
            <a:avLst/>
          </a:prstGeom>
          <a:solidFill>
            <a:srgbClr val="96A0AD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2057400" y="47365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맑은 고딕"/>
                <a:ea typeface="맑은 고딕"/>
              </a:rPr>
              <a:t>p5</a:t>
            </a:r>
          </a:p>
        </p:txBody>
      </p:sp>
      <p:sp>
        <p:nvSpPr>
          <p:cNvPr id="244" name="Rectangle 243"/>
          <p:cNvSpPr/>
          <p:nvPr/>
        </p:nvSpPr>
        <p:spPr>
          <a:xfrm>
            <a:off x="2331720" y="473659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2331720" y="47365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p6</a:t>
            </a:r>
          </a:p>
        </p:txBody>
      </p:sp>
      <p:sp>
        <p:nvSpPr>
          <p:cNvPr id="246" name="Rectangle 245"/>
          <p:cNvSpPr/>
          <p:nvPr/>
        </p:nvSpPr>
        <p:spPr>
          <a:xfrm>
            <a:off x="1783080" y="501091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TextBox 246"/>
          <p:cNvSpPr txBox="1"/>
          <p:nvPr/>
        </p:nvSpPr>
        <p:spPr>
          <a:xfrm>
            <a:off x="1783080" y="5010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p7</a:t>
            </a:r>
          </a:p>
        </p:txBody>
      </p:sp>
      <p:sp>
        <p:nvSpPr>
          <p:cNvPr id="248" name="Rectangle 247"/>
          <p:cNvSpPr/>
          <p:nvPr/>
        </p:nvSpPr>
        <p:spPr>
          <a:xfrm>
            <a:off x="2057400" y="501091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2057400" y="5010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p8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2331720" y="501091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TextBox 250"/>
          <p:cNvSpPr txBox="1"/>
          <p:nvPr/>
        </p:nvSpPr>
        <p:spPr>
          <a:xfrm>
            <a:off x="2331720" y="5010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p9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3264408" y="4462272"/>
            <a:ext cx="38404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B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3703320" y="446227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3703320" y="4462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p1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3977640" y="4462272"/>
            <a:ext cx="274320" cy="274320"/>
          </a:xfrm>
          <a:prstGeom prst="rect">
            <a:avLst/>
          </a:prstGeom>
          <a:solidFill>
            <a:srgbClr val="96A0AD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3977640" y="4462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4251960" y="446227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4251960" y="446227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3703320" y="473659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3703320" y="47365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p4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3977640" y="473659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3977640" y="47365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p5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4251960" y="473659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4251960" y="473659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p6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3703320" y="501091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3703320" y="5010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p7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3977640" y="501091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3977640" y="5010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p8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4251960" y="5010912"/>
            <a:ext cx="27432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4251960" y="50109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p9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577840" y="4407408"/>
            <a:ext cx="566928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9칸 같은 위치 (A vs B):</a:t>
            </a:r>
          </a:p>
          <a:p>
            <a:pPr algn="l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p2 .05 vs .85 → .80,  p5 .85 vs .05 → .80,  나머지 7칸 → 0</a:t>
            </a:r>
          </a:p>
          <a:p>
            <a:pPr algn="l"/>
            <a:r>
              <a:rPr sz="1100" b="1">
                <a:solidFill>
                  <a:srgbClr val="556075"/>
                </a:solidFill>
                <a:latin typeface="맑은 고딕"/>
                <a:ea typeface="맑은 고딕"/>
              </a:rPr>
              <a:t>합 = 2 × .80 = 1.6 (작음, patch당 1칸 뿐)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960120" y="5504688"/>
            <a:ext cx="10241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NeCo는 활성 patch당 인접쌍으로 8칸 차이 누적(큼), local grid는 patch당 1칸 2칸 차이(작음) → 관계가 위치 구조에 더 민감 (수치 설명용)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P1 | Unknown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생성 평가셋 기반 contrastive recipe ablation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89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60" b="1">
                <a:solidFill>
                  <a:srgbClr val="0F1E3D"/>
                </a:solidFill>
                <a:latin typeface="맑은 고딕"/>
                <a:ea typeface="맑은 고딕"/>
              </a:rPr>
              <a:t>[생성 데이터 개발 지표] 실전 현업 review와 분리한 모델 개발용 ablation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737360"/>
          <a:ext cx="10899648" cy="3931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005"/>
                <a:gridCol w="5371489"/>
                <a:gridCol w="1342872"/>
                <a:gridCol w="1175013"/>
                <a:gridCol w="1622637"/>
                <a:gridCol w="917632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Recipe (per class 500, normal 2000)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M1 capture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M2 noise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M3 Completeness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Sil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Global InfoNCE only (baseline)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0.9337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15.78%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0.9468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0.582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+ Local DenseCL (LW=0.5)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0.9361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13.87%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0.9502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0.514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+ MoCo Queue 4096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0.9356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9.45%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0.9474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0.573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+ Neg-sim filter 0.72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0.9250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8.23%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0.9485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0.611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+ NeCo 0.2 (5-tool full)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0.9559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6.66%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0.9660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0.6104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Final recipe (Local DenseCL 제외 4-tool)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0.9559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6.66%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0.9660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0.781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51467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Final recipe + noise threshold τ=0.5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0.9619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0.00%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0.9679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0.781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49808" y="5833872"/>
            <a:ext cx="10744200" cy="310896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8" y="5833872"/>
            <a:ext cx="91440" cy="3108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815584"/>
            <a:ext cx="10378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Noise 15.78% → 0.00%  /  Capture 0.9337 → 0.9619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P1 | Result +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양산 운영과 모델 검증 단계 구분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146304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Production operation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1472184"/>
            <a:ext cx="2971800" cy="33832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472184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Processing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94376" y="1472184"/>
            <a:ext cx="2971800" cy="33832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94376" y="1472184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Production viewer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94192" y="1472184"/>
            <a:ext cx="2971800" cy="338328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1472184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Bulk wafer review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1384280" y="1522476"/>
            <a:ext cx="146304" cy="237744"/>
          </a:xfrm>
          <a:prstGeom prst="rightArrow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048256"/>
            <a:ext cx="146304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Model validation / deploy waiting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94560" y="2048256"/>
            <a:ext cx="2971800" cy="338328"/>
          </a:xfrm>
          <a:prstGeom prst="roundRect">
            <a:avLst/>
          </a:prstGeom>
          <a:solidFill>
            <a:srgbClr val="F4F6F8"/>
          </a:solidFill>
          <a:ln w="17780">
            <a:solidFill>
              <a:srgbClr val="96A0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94560" y="2048256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Known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94376" y="2048256"/>
            <a:ext cx="2971800" cy="338328"/>
          </a:xfrm>
          <a:prstGeom prst="roundRect">
            <a:avLst/>
          </a:prstGeom>
          <a:solidFill>
            <a:srgbClr val="F4F6F8"/>
          </a:solidFill>
          <a:ln w="17780">
            <a:solidFill>
              <a:srgbClr val="96A0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94376" y="2048256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Unknown review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4192" y="2048256"/>
            <a:ext cx="2971800" cy="338328"/>
          </a:xfrm>
          <a:prstGeom prst="roundRect">
            <a:avLst/>
          </a:prstGeom>
          <a:solidFill>
            <a:srgbClr val="E6EAEF"/>
          </a:solidFill>
          <a:ln w="17780">
            <a:solidFill>
              <a:srgbClr val="96A0A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2048256"/>
            <a:ext cx="2971800" cy="3383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GPU server → 2026.9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633472"/>
            <a:ext cx="5349240" cy="64008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2633472"/>
            <a:ext cx="4983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맑은 고딕"/>
                <a:ea typeface="맑은 고딕"/>
              </a:rPr>
              <a:t>양산 운영 중 — 처리 구조 + viewer (2025.5~)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273552"/>
            <a:ext cx="5349240" cy="277977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456432"/>
            <a:ext cx="4892040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DRAM D1a/b/c/d 전제품 분석 파트에서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매일 사용 중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, 일 2만 wafer 처리</a:t>
            </a:r>
          </a:p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분석 공수 절감과 P3WN 수율 개선 1건을 합산해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정량 산정 기여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를 창출</a:t>
            </a:r>
          </a:p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조회 48매 한계를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대량 조회 viewer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로 확장하고, 검토 방식을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Failbit Map 변환과 검색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 중심으로 재구성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68680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123억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정량 산정 기여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48128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48128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48128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공수 90%↓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48128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검토 시간 절감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27576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227576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27576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수율 +0.02%p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27576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P3WN 1건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2633472"/>
            <a:ext cx="5349240" cy="64008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2633472"/>
            <a:ext cx="49834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FFFFFF"/>
                </a:solidFill>
                <a:latin typeface="맑은 고딕"/>
                <a:ea typeface="맑은 고딕"/>
              </a:rPr>
              <a:t>모델 — validation 완료, 서버 배포 준비 단계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3273552"/>
            <a:ext cx="5349240" cy="277977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456432"/>
            <a:ext cx="4892040" cy="1536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Known validation 완료(실전 16종/1,500장), Unknown 현업 review 완료</a:t>
            </a:r>
          </a:p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classification model은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2026년 9월 GPU 서버 배포 검증 예정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이며, 서버 성능은 배포 환경에서 별도 검증</a:t>
            </a:r>
          </a:p>
          <a:p>
            <a:pPr marL="274320" indent="-274320">
              <a:lnSpc>
                <a:spcPct val="104000"/>
              </a:lnSpc>
              <a:spcAft>
                <a:spcPts val="400"/>
              </a:spcAft>
            </a:pPr>
            <a:r>
              <a:rPr sz="12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사내 인정: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'25 AI 센터 DS BP Good Challenger 수상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,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'26 MTC 제안 1등급 확정</a:t>
            </a:r>
            <a:r>
              <a:rPr sz="1250">
                <a:solidFill>
                  <a:srgbClr val="1A1F2E"/>
                </a:solidFill>
                <a:latin typeface="맑은 고딕"/>
                <a:ea typeface="맑은 고딕"/>
              </a:rPr>
              <a:t>,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'26 삼성 논문상 초록 통과</a:t>
            </a:r>
          </a:p>
          <a:p>
            <a:pPr marL="420624" indent="-420624" lvl="1">
              <a:lnSpc>
                <a:spcPct val="104000"/>
              </a:lnSpc>
              <a:spcAft>
                <a:spcPts val="400"/>
              </a:spcAft>
            </a:pPr>
            <a:r>
              <a:rPr sz="1150" b="0">
                <a:solidFill>
                  <a:srgbClr val="6E7B8E"/>
                </a:solidFill>
                <a:latin typeface="맑은 고딕"/>
                <a:ea typeface="맑은 고딕"/>
              </a:rPr>
              <a:t>–  </a:t>
            </a:r>
            <a:r>
              <a:rPr sz="1150">
                <a:solidFill>
                  <a:srgbClr val="4A5666"/>
                </a:solidFill>
                <a:latin typeface="맑은 고딕"/>
                <a:ea typeface="맑은 고딕"/>
              </a:rPr>
              <a:t>Unknown 13→7은 분류 성능 지표가 아니라 현업 후보 검토 결과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92240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validation 완료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Known real data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71688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71688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71688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현업 review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71688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Unknown candidate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51136" y="5212080"/>
            <a:ext cx="1533144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851136" y="5212080"/>
            <a:ext cx="1533144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51136" y="5321808"/>
            <a:ext cx="153314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2026.09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51136" y="5632704"/>
            <a:ext cx="1533144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GPU 배포 검증 예정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384048"/>
            <a:ext cx="7863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AI Specialist 인증 | 3개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713232"/>
            <a:ext cx="457200" cy="279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77824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70432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문제 → 개발 → 성과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212848"/>
            <a:ext cx="146304" cy="150876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75688"/>
            <a:ext cx="2468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>
                <a:solidFill>
                  <a:srgbClr val="96A0AD"/>
                </a:solidFill>
                <a:latin typeface="맑은 고딕"/>
                <a:ea typeface="맑은 고딕"/>
              </a:rPr>
              <a:t>P2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858767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822191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P1  Failbit Map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142231"/>
            <a:ext cx="118872" cy="118872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105655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P2  Chip multi-label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425695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389119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P3  Trend anomaly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97480"/>
            <a:ext cx="786384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E3D"/>
                </a:solidFill>
                <a:latin typeface="맑은 고딕"/>
                <a:ea typeface="맑은 고딕"/>
              </a:rPr>
              <a:t>Chip Multi-label
FCM-PM classification</a:t>
            </a:r>
          </a:p>
          <a:p>
            <a:pPr algn="l"/>
            <a:r>
              <a:rPr sz="1600">
                <a:solidFill>
                  <a:srgbClr val="556075"/>
                </a:solidFill>
                <a:latin typeface="맑은 고딕"/>
                <a:ea typeface="맑은 고딕"/>
              </a:rPr>
              <a:t>Measure value 한계와 2-combo label 불가를 image multi-label supervision으로 해결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4114800"/>
            <a:ext cx="7863840" cy="4114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0" y="4114800"/>
            <a:ext cx="82296" cy="41148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4114800"/>
            <a:ext cx="1143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현업 문제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114800"/>
            <a:ext cx="6355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>
                <a:solidFill>
                  <a:srgbClr val="1A1F2E"/>
                </a:solidFill>
                <a:latin typeface="맑은 고딕"/>
                <a:ea typeface="맑은 고딕"/>
              </a:rPr>
              <a:t>measure value로는 chip 내 중복 결함(2-combo)을 확인할 수 없음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4581144"/>
            <a:ext cx="7863840" cy="4114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0" y="4581144"/>
            <a:ext cx="82296" cy="411480"/>
          </a:xfrm>
          <a:prstGeom prst="rect">
            <a:avLst/>
          </a:prstGeom>
          <a:solidFill>
            <a:srgbClr val="556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4581144"/>
            <a:ext cx="1143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5"/>
                </a:solidFill>
                <a:latin typeface="맑은 고딕"/>
                <a:ea typeface="맑은 고딕"/>
              </a:rPr>
              <a:t>기술 문제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581144"/>
            <a:ext cx="6355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>
                <a:solidFill>
                  <a:srgbClr val="1A1F2E"/>
                </a:solidFill>
                <a:latin typeface="맑은 고딕"/>
                <a:ea typeface="맑은 고딕"/>
              </a:rPr>
              <a:t>single label도 부족, 2-combo label 수집 불가능, single source에서 FCM-PM으로 2-combo 합성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010912"/>
            <a:ext cx="2331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5010912"/>
            <a:ext cx="82296" cy="62179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5" y="5010912"/>
            <a:ext cx="2057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E3D"/>
                </a:solidFill>
                <a:latin typeface="맑은 고딕"/>
                <a:ea typeface="맑은 고딕"/>
              </a:rPr>
              <a:t>본인 80%</a:t>
            </a:r>
          </a:p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직접 설계/구현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5742432"/>
            <a:ext cx="2331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5742432"/>
            <a:ext cx="82296" cy="62179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5" y="5742432"/>
            <a:ext cx="2057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E3D"/>
                </a:solidFill>
                <a:latin typeface="맑은 고딕"/>
                <a:ea typeface="맑은 고딕"/>
              </a:rPr>
              <a:t>개발 중</a:t>
            </a:r>
          </a:p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GPU 배포 예정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138928"/>
            <a:ext cx="1097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Key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5138928"/>
            <a:ext cx="6858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평가축: 기술 전문성 / 기술 리더십 / 기술성과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541264"/>
            <a:ext cx="2834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Before → After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0" y="5815584"/>
            <a:ext cx="361188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22192" y="5815584"/>
            <a:ext cx="328269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Before  </a:t>
            </a:r>
            <a:r>
              <a:rPr sz="1250" b="1">
                <a:solidFill>
                  <a:srgbClr val="1A1F2E"/>
                </a:solidFill>
                <a:latin typeface="맑은 고딕"/>
                <a:ea typeface="맑은 고딕"/>
              </a:rPr>
              <a:t>measure value 한계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09560" y="5815584"/>
            <a:ext cx="3611880" cy="65836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09560" y="5815584"/>
            <a:ext cx="82296" cy="65836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74152" y="5815584"/>
            <a:ext cx="328269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After 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single source → 2-combo supervision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7415784" y="6007608"/>
            <a:ext cx="347472" cy="274320"/>
          </a:xfrm>
          <a:prstGeom prst="rightArrow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13632" y="1170432"/>
            <a:ext cx="2395728" cy="113385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13632" y="1170432"/>
            <a:ext cx="2395728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13632" y="1426464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1E3D"/>
                </a:solidFill>
                <a:latin typeface="맑은 고딕"/>
                <a:ea typeface="맑은 고딕"/>
              </a:rPr>
              <a:t>문제·AI 필요성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59936" y="192024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중복 failure 확인 한계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65392" y="1170432"/>
            <a:ext cx="2395728" cy="113385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65392" y="1170432"/>
            <a:ext cx="2395728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65392" y="1426464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1E3D"/>
                </a:solidFill>
                <a:latin typeface="맑은 고딕"/>
                <a:ea typeface="맑은 고딕"/>
              </a:rPr>
              <a:t>개발내용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11696" y="192024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FCM-PM·val-margin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17152" y="1170432"/>
            <a:ext cx="2395728" cy="113385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17152" y="1170432"/>
            <a:ext cx="2395728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17152" y="1426464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1E3D"/>
                </a:solidFill>
                <a:latin typeface="맑은 고딕"/>
                <a:ea typeface="맑은 고딕"/>
              </a:rPr>
              <a:t>성과·확장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63456" y="192024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bit-F1·FAR·KD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P2 | Chip multi-label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measure-value 한계에서 image multi-label supervision으로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664208"/>
            <a:ext cx="3154680" cy="446227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664208"/>
            <a:ext cx="91440" cy="446227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920240"/>
            <a:ext cx="2651760" cy="4050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E3D"/>
                </a:solidFill>
                <a:latin typeface="맑은 고딕"/>
                <a:ea typeface="맑은 고딕"/>
              </a:rPr>
              <a:t>Problem</a:t>
            </a:r>
          </a:p>
          <a:p>
            <a:pPr algn="l"/>
            <a:r>
              <a:rPr sz="1380" b="1">
                <a:solidFill>
                  <a:srgbClr val="0F1E3D"/>
                </a:solidFill>
                <a:latin typeface="맑은 고딕"/>
                <a:ea typeface="맑은 고딕"/>
              </a:rPr>
              <a:t>measure value만으로
중복 failure 확인 한계</a:t>
            </a:r>
          </a:p>
          <a:p>
            <a:pPr algn="l"/>
            <a:r>
              <a:rPr sz="40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500" b="1">
                <a:solidFill>
                  <a:srgbClr val="0F1E3D"/>
                </a:solidFill>
                <a:latin typeface="맑은 고딕"/>
                <a:ea typeface="맑은 고딕"/>
              </a:rPr>
              <a:t>Source</a:t>
            </a:r>
          </a:p>
          <a:p>
            <a:pPr algn="l"/>
            <a:r>
              <a:rPr sz="1280">
                <a:solidFill>
                  <a:srgbClr val="1A1F2E"/>
                </a:solidFill>
                <a:latin typeface="맑은 고딕"/>
                <a:ea typeface="맑은 고딕"/>
              </a:rPr>
              <a:t>2-combo label 확보는
현실적으로 불가능</a:t>
            </a:r>
          </a:p>
          <a:p>
            <a:pPr algn="l"/>
            <a:r>
              <a:rPr sz="400">
                <a:solidFill>
                  <a:srgbClr val="FFFFFF"/>
                </a:solidFill>
                <a:latin typeface="맑은 고딕"/>
                <a:ea typeface="맑은 고딕"/>
              </a:rPr>
              <a:t> </a:t>
            </a:r>
          </a:p>
          <a:p>
            <a:pPr algn="l"/>
            <a:r>
              <a:rPr sz="1500" b="1">
                <a:solidFill>
                  <a:srgbClr val="0F1E3D"/>
                </a:solidFill>
                <a:latin typeface="맑은 고딕"/>
                <a:ea typeface="맑은 고딕"/>
              </a:rPr>
              <a:t>Eval</a:t>
            </a:r>
          </a:p>
          <a:p>
            <a:pPr algn="l"/>
            <a:r>
              <a:rPr sz="1280">
                <a:solidFill>
                  <a:srgbClr val="1A1F2E"/>
                </a:solidFill>
                <a:latin typeface="맑은 고딕"/>
                <a:ea typeface="맑은 고딕"/>
              </a:rPr>
              <a:t>single source 기반
2-combo eval 구성</a:t>
            </a:r>
          </a:p>
        </p:txBody>
      </p:sp>
      <p:sp>
        <p:nvSpPr>
          <p:cNvPr id="8" name="Rectangle 7"/>
          <p:cNvSpPr/>
          <p:nvPr/>
        </p:nvSpPr>
        <p:spPr>
          <a:xfrm>
            <a:off x="4041648" y="1664208"/>
            <a:ext cx="7406640" cy="190195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41648" y="1664208"/>
            <a:ext cx="91440" cy="19019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1104" y="1810512"/>
            <a:ext cx="69677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40" b="1">
                <a:solidFill>
                  <a:srgbClr val="0F1E3D"/>
                </a:solidFill>
                <a:latin typeface="맑은 고딕"/>
                <a:ea typeface="맑은 고딕"/>
              </a:rPr>
              <a:t>Source bank: single-failure samples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104" y="2103120"/>
            <a:ext cx="6967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2-combo label 없이 train source 안에서 synthetic combination을 생성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359152"/>
            <a:ext cx="1280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chip_eval_bank_boundary_sel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414016"/>
            <a:ext cx="768096" cy="76809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17136" y="3209544"/>
            <a:ext cx="120700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bb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359152"/>
            <a:ext cx="1280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hip_eval_fork_sel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2414016"/>
            <a:ext cx="768096" cy="7680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071616" y="3209544"/>
            <a:ext cx="120700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fk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589520" y="2359152"/>
            <a:ext cx="1280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chip_eval_scratch_selec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2414016"/>
            <a:ext cx="768096" cy="76809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626096" y="3209544"/>
            <a:ext cx="120700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2359152"/>
            <a:ext cx="1280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hip_eval_scratch_rot_select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032" y="2414016"/>
            <a:ext cx="768096" cy="76809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180576" y="3209544"/>
            <a:ext cx="1207008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sr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6739128" y="3621024"/>
            <a:ext cx="1463040" cy="256032"/>
          </a:xfrm>
          <a:prstGeom prst="downArrow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7616" y="3611880"/>
            <a:ext cx="24688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image multi-label eval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41648" y="3968496"/>
            <a:ext cx="7406640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41648" y="3968496"/>
            <a:ext cx="91440" cy="2157984"/>
          </a:xfrm>
          <a:prstGeom prst="rect">
            <a:avLst/>
          </a:prstGeom>
          <a:solidFill>
            <a:srgbClr val="2B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1104" y="4114800"/>
            <a:ext cx="6967728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40" b="1">
                <a:solidFill>
                  <a:srgbClr val="0F1E3D"/>
                </a:solidFill>
                <a:latin typeface="맑은 고딕"/>
                <a:ea typeface="맑은 고딕"/>
              </a:rPr>
              <a:t>Eval target: 3,850-chip controlled benchmark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1104" y="4407408"/>
            <a:ext cx="69677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single 4 + 2-combo 6 + Normal/Invalid/OOD negative tail.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4718304"/>
            <a:ext cx="115214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chip_combo_bb_fork_select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17136" y="4773168"/>
            <a:ext cx="896112" cy="89611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425696" y="5696712"/>
            <a:ext cx="10789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bb+fk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96712" y="4718304"/>
            <a:ext cx="115214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chip_combo_bb_scratch_select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4728" y="4773168"/>
            <a:ext cx="896112" cy="89611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733288" y="5696712"/>
            <a:ext cx="10789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bb+sc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04304" y="4718304"/>
            <a:ext cx="115214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chip_combo_fork_scratch_rot_select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4773168"/>
            <a:ext cx="896112" cy="89611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040880" y="5696712"/>
            <a:ext cx="10789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fk+sr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11896" y="4718304"/>
            <a:ext cx="115214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chip_eval_normal_select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9912" y="4773168"/>
            <a:ext cx="896112" cy="89611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8348472" y="5696712"/>
            <a:ext cx="10789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normal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619488" y="4718304"/>
            <a:ext cx="1152144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chip_eval_invalid_select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47504" y="4773168"/>
            <a:ext cx="896112" cy="896112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656064" y="5696712"/>
            <a:ext cx="1078992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invalid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50392" y="5321808"/>
            <a:ext cx="2642616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6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5840" y="5376672"/>
            <a:ext cx="23317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Design implication: FCM-PM creates 2-combo supervision from single source.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P2 | FCM-PM 원리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FCM-PM: coverage 보존과 loss masking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89888"/>
            <a:ext cx="107442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20">
                <a:solidFill>
                  <a:srgbClr val="1A1F2E"/>
                </a:solidFill>
                <a:latin typeface="맑은 고딕"/>
                <a:ea typeface="맑은 고딕"/>
              </a:rPr>
              <a:t>Measure value로 중복 failure 확인이 어려워 image multi-label이 필요합니다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9344"/>
            <a:ext cx="107442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2-combo label 확보가 현실적으로 어려워 single-failure source에서 FCM-PM supervision을 구성 (자문: 연세대학교 인공지능학과 박은병 교수)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1810512"/>
            <a:ext cx="10771632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cm_pm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45" y="1920240"/>
            <a:ext cx="10155405" cy="188366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369551" y="1956816"/>
            <a:ext cx="1694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9551" y="2039112"/>
            <a:ext cx="1694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FCM mixed view 1  (A∪B)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34343" y="1956816"/>
            <a:ext cx="16942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34343" y="2039112"/>
            <a:ext cx="16942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FCM mixed view 2  (A∪B)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4133087"/>
            <a:ext cx="338328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4133087"/>
            <a:ext cx="82296" cy="96012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42815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>
                <a:solidFill>
                  <a:srgbClr val="0F1E3D"/>
                </a:solidFill>
                <a:latin typeface="맑은 고딕"/>
                <a:ea typeface="맑은 고딕"/>
              </a:rPr>
              <a:t>Normal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26279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40" b="0">
                <a:solidFill>
                  <a:srgbClr val="1A1F2E"/>
                </a:solidFill>
                <a:latin typeface="맑은 고딕"/>
                <a:ea typeface="맑은 고딕"/>
              </a:rPr>
              <a:t>2-combo pos. prob 낮음
FAR 낮지만 recall 약함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05656" y="4517135"/>
            <a:ext cx="182880" cy="182880"/>
          </a:xfrm>
          <a:prstGeom prst="rightArrow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4133087"/>
            <a:ext cx="338328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4133087"/>
            <a:ext cx="82296" cy="96012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98848" y="4242815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>
                <a:solidFill>
                  <a:srgbClr val="0F1E3D"/>
                </a:solidFill>
                <a:latin typeface="맑은 고딕"/>
                <a:ea typeface="맑은 고딕"/>
              </a:rPr>
              <a:t>FCM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98848" y="4526279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40" b="0">
                <a:solidFill>
                  <a:srgbClr val="1A1F2E"/>
                </a:solidFill>
                <a:latin typeface="맑은 고딕"/>
                <a:ea typeface="맑은 고딕"/>
              </a:rPr>
              <a:t>pos. prob 상승
FAR tail 동반 상승 가능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7690104" y="4517135"/>
            <a:ext cx="182880" cy="182880"/>
          </a:xfrm>
          <a:prstGeom prst="rightArrow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82128" y="4133087"/>
            <a:ext cx="338328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82128" y="4133087"/>
            <a:ext cx="82296" cy="96012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83296" y="4242815"/>
            <a:ext cx="3017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20" b="1">
                <a:solidFill>
                  <a:srgbClr val="0F1E3D"/>
                </a:solidFill>
                <a:latin typeface="맑은 고딕"/>
                <a:ea typeface="맑은 고딕"/>
              </a:rPr>
              <a:t>FCM-PM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3296" y="4526279"/>
            <a:ext cx="30175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40" b="1">
                <a:solidFill>
                  <a:srgbClr val="0F1E3D"/>
                </a:solidFill>
                <a:latin typeface="맑은 고딕"/>
                <a:ea typeface="맑은 고딕"/>
              </a:rPr>
              <a:t>2-combo signal 유지
pseudo-background loss 차단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" y="5266944"/>
            <a:ext cx="10259568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2688" y="5266944"/>
            <a:ext cx="91440" cy="694944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5376672"/>
            <a:ext cx="1426464" cy="1645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Formula + ablation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42032" y="5321808"/>
            <a:ext cx="8412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FCM mixed views: y_mixed = y_A ∪ y_B  (multi-label target)</a:t>
            </a:r>
          </a:p>
          <a:p>
            <a:pPr algn="l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Pair Mask views: y_masked ∈ {y_A,y_B}; L_total = L_BCE(mixed)+w·L_BCE(masked)</a:t>
            </a:r>
          </a:p>
          <a:p>
            <a:pPr algn="l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Pair Mask reduces synthetic-background FAR; final result is reported on the validation slide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P2 | selection + NB reject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val-margin 선택과 negative-tail 제어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27632"/>
            <a:ext cx="521208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91440" cy="45262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828800"/>
            <a:ext cx="47000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val-margin checkpoint selection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194560"/>
            <a:ext cx="4700016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Consolas"/>
                <a:ea typeface="Consolas"/>
              </a:rPr>
              <a:t>val_margin = mean(p_positive) - max(p_negative)</a:t>
            </a:r>
          </a:p>
        </p:txBody>
      </p:sp>
      <p:sp>
        <p:nvSpPr>
          <p:cNvPr id="9" name="Rectangle 8"/>
          <p:cNvSpPr/>
          <p:nvPr/>
        </p:nvSpPr>
        <p:spPr>
          <a:xfrm>
            <a:off x="1234440" y="2532888"/>
            <a:ext cx="182880" cy="182880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72184" y="2500884"/>
            <a:ext cx="93268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맑은 고딕"/>
                <a:ea typeface="맑은 고딕"/>
              </a:rPr>
              <a:t>val-F1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78024" y="2532888"/>
            <a:ext cx="182880" cy="182880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2500884"/>
            <a:ext cx="93268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맑은 고딕"/>
                <a:ea typeface="맑은 고딕"/>
              </a:rPr>
              <a:t>val-margin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21608" y="2532888"/>
            <a:ext cx="182880" cy="182880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9352" y="2500884"/>
            <a:ext cx="932688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F2E"/>
                </a:solidFill>
                <a:latin typeface="맑은 고딕"/>
                <a:ea typeface="맑은 고딕"/>
              </a:rPr>
              <a:t>eval-F1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52728" y="3949843"/>
            <a:ext cx="146304" cy="430133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453896" y="4195633"/>
            <a:ext cx="146304" cy="184343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55064" y="4175151"/>
            <a:ext cx="146304" cy="204825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4443984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epoch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65960" y="3847430"/>
            <a:ext cx="146304" cy="532546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67128" y="4103462"/>
            <a:ext cx="146304" cy="276514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368296" y="4072738"/>
            <a:ext cx="146304" cy="307238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47672" y="4443984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epoch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79192" y="3724535"/>
            <a:ext cx="146304" cy="655441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880360" y="3980567"/>
            <a:ext cx="146304" cy="399409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081528" y="3929360"/>
            <a:ext cx="146304" cy="450616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60904" y="4443984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epoch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92424" y="3499226"/>
            <a:ext cx="146304" cy="880750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593592" y="3826947"/>
            <a:ext cx="146304" cy="553029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94760" y="3796224"/>
            <a:ext cx="146304" cy="583752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74136" y="4443984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epoch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05656" y="3642604"/>
            <a:ext cx="146304" cy="737372"/>
          </a:xfrm>
          <a:prstGeom prst="rect">
            <a:avLst/>
          </a:prstGeom>
          <a:solidFill>
            <a:srgbClr val="B8C2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06824" y="3540192"/>
            <a:ext cx="146304" cy="839784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07992" y="3519709"/>
            <a:ext cx="146304" cy="860267"/>
          </a:xfrm>
          <a:prstGeom prst="rect">
            <a:avLst/>
          </a:prstGeom>
          <a:solidFill>
            <a:srgbClr val="78B8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87368" y="4443984"/>
            <a:ext cx="530352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epoch 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79576" y="4379976"/>
            <a:ext cx="3730752" cy="12700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72384" y="2743200"/>
            <a:ext cx="7863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7A8596"/>
                </a:solidFill>
                <a:latin typeface="맑은 고딕"/>
                <a:ea typeface="맑은 고딕"/>
              </a:rPr>
              <a:t>val-F1 max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41064" y="2779776"/>
            <a:ext cx="87782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F3A4F"/>
                </a:solidFill>
                <a:latin typeface="맑은 고딕"/>
                <a:ea typeface="맑은 고딕"/>
              </a:rPr>
              <a:t>margin max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0" y="3017520"/>
            <a:ext cx="1499616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margin 선택 시 eval 향상 (illustrative)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696" y="5029200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post-hoc check: correlation with held-out eval bit_F1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" y="5230368"/>
            <a:ext cx="2212848" cy="7315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0120" y="5230368"/>
            <a:ext cx="64008" cy="731520"/>
          </a:xfrm>
          <a:prstGeom prst="rect">
            <a:avLst/>
          </a:prstGeom>
          <a:solidFill>
            <a:srgbClr val="7A85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88136" y="5303520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val_f1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" y="5596128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Spearman -0.10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295144" y="5541264"/>
            <a:ext cx="749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7A8596"/>
                </a:solidFill>
                <a:latin typeface="맑은 고딕"/>
                <a:ea typeface="맑은 고딕"/>
              </a:rPr>
              <a:t>weak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01568" y="5230368"/>
            <a:ext cx="2212848" cy="731520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01568" y="5230368"/>
            <a:ext cx="64008" cy="731520"/>
          </a:xfrm>
          <a:prstGeom prst="rect">
            <a:avLst/>
          </a:prstGeom>
          <a:solidFill>
            <a:srgbClr val="2F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529584" y="5303520"/>
            <a:ext cx="10058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val_margin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529584" y="5596128"/>
            <a:ext cx="11887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Spearman +0.56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36592" y="5541264"/>
            <a:ext cx="74980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2F3A4F"/>
                </a:solidFill>
                <a:latin typeface="맑은 고딕"/>
                <a:ea typeface="맑은 고딕"/>
              </a:rPr>
              <a:t>selected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63640" y="1627632"/>
            <a:ext cx="521208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63640" y="1627632"/>
            <a:ext cx="91440" cy="4526280"/>
          </a:xfrm>
          <a:prstGeom prst="rect">
            <a:avLst/>
          </a:prstGeom>
          <a:solidFill>
            <a:srgbClr val="2B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19672" y="1828800"/>
            <a:ext cx="470001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E3D"/>
                </a:solidFill>
                <a:latin typeface="맑은 고딕"/>
                <a:ea typeface="맑은 고딕"/>
              </a:rPr>
              <a:t>NB reject: independent bit-likelihood profile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19672" y="2176272"/>
            <a:ext cx="4700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4 output bits independently checked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19672" y="2432304"/>
            <a:ext cx="47000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gray band = 99.7% range per bit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556248" y="2706624"/>
            <a:ext cx="1426464" cy="2267712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29400" y="2761488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known single bb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29400" y="3227832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2F67F6"/>
                </a:solidFill>
                <a:latin typeface="맑은 고딕"/>
                <a:ea typeface="맑은 고딕"/>
              </a:rPr>
              <a:t>bb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940296" y="3273552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7477963" y="3241548"/>
            <a:ext cx="331561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667792" y="3214116"/>
            <a:ext cx="14630" cy="118872"/>
          </a:xfrm>
          <a:prstGeom prst="rect">
            <a:avLst/>
          </a:prstGeom>
          <a:solidFill>
            <a:srgbClr val="2F6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651882" y="3232404"/>
            <a:ext cx="82296" cy="82296"/>
          </a:xfrm>
          <a:prstGeom prst="ellipse">
            <a:avLst/>
          </a:prstGeom>
          <a:solidFill>
            <a:srgbClr val="2F67F6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29400" y="3538728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8A97D"/>
                </a:solidFill>
                <a:latin typeface="맑은 고딕"/>
                <a:ea typeface="맑은 고딕"/>
              </a:rPr>
              <a:t>fk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940296" y="3584448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967179" y="3552444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7040514" y="3525012"/>
            <a:ext cx="14630" cy="118872"/>
          </a:xfrm>
          <a:prstGeom prst="rect">
            <a:avLst/>
          </a:prstGeom>
          <a:solidFill>
            <a:srgbClr val="18A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006681" y="3543300"/>
            <a:ext cx="82296" cy="82296"/>
          </a:xfrm>
          <a:prstGeom prst="ellipse">
            <a:avLst/>
          </a:prstGeom>
          <a:solidFill>
            <a:srgbClr val="18A97D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629400" y="3849624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F5A623"/>
                </a:solidFill>
                <a:latin typeface="맑은 고딕"/>
                <a:ea typeface="맑은 고딕"/>
              </a:rPr>
              <a:t>sc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940296" y="3895344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967179" y="3863340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040514" y="3835908"/>
            <a:ext cx="14630" cy="11887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7015642" y="3854196"/>
            <a:ext cx="82296" cy="82296"/>
          </a:xfrm>
          <a:prstGeom prst="ellipse">
            <a:avLst/>
          </a:prstGeom>
          <a:solidFill>
            <a:srgbClr val="F5A623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29400" y="4160520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D93A5A"/>
                </a:solidFill>
                <a:latin typeface="맑은 고딕"/>
                <a:ea typeface="맑은 고딕"/>
              </a:rPr>
              <a:t>sr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940296" y="4206240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67179" y="4174236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40514" y="4146804"/>
            <a:ext cx="14630" cy="118872"/>
          </a:xfrm>
          <a:prstGeom prst="rect">
            <a:avLst/>
          </a:prstGeom>
          <a:solidFill>
            <a:srgbClr val="D9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6997720" y="4165092"/>
            <a:ext cx="82296" cy="82296"/>
          </a:xfrm>
          <a:prstGeom prst="ellipse">
            <a:avLst/>
          </a:prstGeom>
          <a:solidFill>
            <a:srgbClr val="D93A5A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684264" y="4535424"/>
            <a:ext cx="1170432" cy="256032"/>
          </a:xfrm>
          <a:prstGeom prst="rect">
            <a:avLst/>
          </a:prstGeom>
          <a:solidFill>
            <a:srgbClr val="E8F5EE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739128" y="4562856"/>
            <a:ext cx="106070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BA66B"/>
                </a:solidFill>
                <a:latin typeface="맑은 고딕"/>
                <a:ea typeface="맑은 고딕"/>
              </a:rPr>
              <a:t>ACCEPT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665976" y="4782312"/>
            <a:ext cx="1207008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4 bit profile match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165592" y="2706624"/>
            <a:ext cx="1426464" cy="2267712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38744" y="2761488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known 2-combo bb+sc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238744" y="3227832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2F67F6"/>
                </a:solidFill>
                <a:latin typeface="맑은 고딕"/>
                <a:ea typeface="맑은 고딕"/>
              </a:rPr>
              <a:t>bb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49640" y="3273552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8908084" y="3241548"/>
            <a:ext cx="394289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097914" y="3214116"/>
            <a:ext cx="14630" cy="118872"/>
          </a:xfrm>
          <a:prstGeom prst="rect">
            <a:avLst/>
          </a:prstGeom>
          <a:solidFill>
            <a:srgbClr val="2F6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9064081" y="3232404"/>
            <a:ext cx="82296" cy="82296"/>
          </a:xfrm>
          <a:prstGeom prst="ellipse">
            <a:avLst/>
          </a:prstGeom>
          <a:solidFill>
            <a:srgbClr val="2F67F6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38744" y="3538728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8A97D"/>
                </a:solidFill>
                <a:latin typeface="맑은 고딕"/>
                <a:ea typeface="맑은 고딕"/>
              </a:rPr>
              <a:t>fk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549640" y="3584448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576523" y="3552444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649858" y="3525012"/>
            <a:ext cx="14630" cy="118872"/>
          </a:xfrm>
          <a:prstGeom prst="rect">
            <a:avLst/>
          </a:prstGeom>
          <a:solidFill>
            <a:srgbClr val="18A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8624986" y="3543300"/>
            <a:ext cx="82296" cy="82296"/>
          </a:xfrm>
          <a:prstGeom prst="ellipse">
            <a:avLst/>
          </a:prstGeom>
          <a:solidFill>
            <a:srgbClr val="18A97D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238744" y="3849624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F5A623"/>
                </a:solidFill>
                <a:latin typeface="맑은 고딕"/>
                <a:ea typeface="맑은 고딕"/>
              </a:rPr>
              <a:t>sc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549640" y="3895344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890162" y="3863340"/>
            <a:ext cx="394289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079992" y="3835908"/>
            <a:ext cx="14630" cy="11887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046159" y="3854196"/>
            <a:ext cx="82296" cy="82296"/>
          </a:xfrm>
          <a:prstGeom prst="ellipse">
            <a:avLst/>
          </a:prstGeom>
          <a:solidFill>
            <a:srgbClr val="F5A623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238744" y="4160520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D93A5A"/>
                </a:solidFill>
                <a:latin typeface="맑은 고딕"/>
                <a:ea typeface="맑은 고딕"/>
              </a:rPr>
              <a:t>sr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549640" y="4206240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576523" y="4174236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649858" y="4146804"/>
            <a:ext cx="14630" cy="118872"/>
          </a:xfrm>
          <a:prstGeom prst="rect">
            <a:avLst/>
          </a:prstGeom>
          <a:solidFill>
            <a:srgbClr val="D9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8616025" y="4165092"/>
            <a:ext cx="82296" cy="82296"/>
          </a:xfrm>
          <a:prstGeom prst="ellipse">
            <a:avLst/>
          </a:prstGeom>
          <a:solidFill>
            <a:srgbClr val="D93A5A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293608" y="4535424"/>
            <a:ext cx="1170432" cy="256032"/>
          </a:xfrm>
          <a:prstGeom prst="rect">
            <a:avLst/>
          </a:prstGeom>
          <a:solidFill>
            <a:srgbClr val="E8F5EE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348472" y="4562856"/>
            <a:ext cx="106070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BA66B"/>
                </a:solidFill>
                <a:latin typeface="맑은 고딕"/>
                <a:ea typeface="맑은 고딕"/>
              </a:rPr>
              <a:t>ACCEPT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275320" y="4782312"/>
            <a:ext cx="1207008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bit likelihoods align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774936" y="2706624"/>
            <a:ext cx="1426464" cy="2267712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848088" y="2761488"/>
            <a:ext cx="12801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tail/OOD on bb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848088" y="3227832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2F67F6"/>
                </a:solidFill>
                <a:latin typeface="맑은 고딕"/>
                <a:ea typeface="맑은 고딕"/>
              </a:rPr>
              <a:t>bb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158984" y="3273552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0696651" y="3241548"/>
            <a:ext cx="331561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0886480" y="3214116"/>
            <a:ext cx="14630" cy="118872"/>
          </a:xfrm>
          <a:prstGeom prst="rect">
            <a:avLst/>
          </a:prstGeom>
          <a:solidFill>
            <a:srgbClr val="2F6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10297058" y="3232404"/>
            <a:ext cx="82296" cy="82296"/>
          </a:xfrm>
          <a:prstGeom prst="ellipse">
            <a:avLst/>
          </a:prstGeom>
          <a:solidFill>
            <a:srgbClr val="CC3328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9848088" y="3538728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18A97D"/>
                </a:solidFill>
                <a:latin typeface="맑은 고딕"/>
                <a:ea typeface="맑은 고딕"/>
              </a:rPr>
              <a:t>fk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158984" y="3584448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0185867" y="3552444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10259202" y="3525012"/>
            <a:ext cx="14630" cy="118872"/>
          </a:xfrm>
          <a:prstGeom prst="rect">
            <a:avLst/>
          </a:prstGeom>
          <a:solidFill>
            <a:srgbClr val="18A9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10494203" y="3543300"/>
            <a:ext cx="82296" cy="82296"/>
          </a:xfrm>
          <a:prstGeom prst="ellipse">
            <a:avLst/>
          </a:prstGeom>
          <a:solidFill>
            <a:srgbClr val="CC3328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9848088" y="3849624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F5A623"/>
                </a:solidFill>
                <a:latin typeface="맑은 고딕"/>
                <a:ea typeface="맑은 고딕"/>
              </a:rPr>
              <a:t>sc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10158984" y="3895344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0185867" y="3863340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10259202" y="3835908"/>
            <a:ext cx="14630" cy="118872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10476280" y="3854196"/>
            <a:ext cx="82296" cy="82296"/>
          </a:xfrm>
          <a:prstGeom prst="ellipse">
            <a:avLst/>
          </a:prstGeom>
          <a:solidFill>
            <a:srgbClr val="CC3328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848088" y="4160520"/>
            <a:ext cx="256032" cy="137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D93A5A"/>
                </a:solidFill>
                <a:latin typeface="맑은 고딕"/>
                <a:ea typeface="맑은 고딕"/>
              </a:rPr>
              <a:t>sr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10158984" y="4206240"/>
            <a:ext cx="896112" cy="12700"/>
          </a:xfrm>
          <a:prstGeom prst="rect">
            <a:avLst/>
          </a:prstGeom>
          <a:solidFill>
            <a:srgbClr val="C7CF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185867" y="4174236"/>
            <a:ext cx="277794" cy="64008"/>
          </a:xfrm>
          <a:prstGeom prst="rect">
            <a:avLst/>
          </a:prstGeom>
          <a:solidFill>
            <a:srgbClr val="E1E7EF"/>
          </a:solidFill>
          <a:ln w="12700">
            <a:solidFill>
              <a:srgbClr val="C7CF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0259202" y="4146804"/>
            <a:ext cx="14630" cy="118872"/>
          </a:xfrm>
          <a:prstGeom prst="rect">
            <a:avLst/>
          </a:prstGeom>
          <a:solidFill>
            <a:srgbClr val="D9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0458358" y="4165092"/>
            <a:ext cx="82296" cy="82296"/>
          </a:xfrm>
          <a:prstGeom prst="ellipse">
            <a:avLst/>
          </a:prstGeom>
          <a:solidFill>
            <a:srgbClr val="CC3328"/>
          </a:solidFill>
          <a:ln w="889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902952" y="4535424"/>
            <a:ext cx="1170432" cy="256032"/>
          </a:xfrm>
          <a:prstGeom prst="rect">
            <a:avLst/>
          </a:prstGeom>
          <a:solidFill>
            <a:srgbClr val="FAE8E6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957816" y="4562856"/>
            <a:ext cx="1060704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CC3328"/>
                </a:solidFill>
                <a:latin typeface="맑은 고딕"/>
                <a:ea typeface="맑은 고딕"/>
              </a:rPr>
              <a:t>REJECT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884664" y="4782312"/>
            <a:ext cx="1207008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known-profile mismatch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6556248" y="5102352"/>
            <a:ext cx="4626864" cy="530352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665976" y="5175504"/>
            <a:ext cx="440740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One known profile matched → ACCEPT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665976" y="5413247"/>
            <a:ext cx="4407408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No profile matched → REJECT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6537960" y="5742432"/>
            <a:ext cx="2212848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537960" y="5742432"/>
            <a:ext cx="64008" cy="402336"/>
          </a:xfrm>
          <a:prstGeom prst="rect">
            <a:avLst/>
          </a:prstGeom>
          <a:solidFill>
            <a:srgbClr val="2B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665976" y="5779008"/>
            <a:ext cx="9601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NB profile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665976" y="5925312"/>
            <a:ext cx="1207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10 known classes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891272" y="5861304"/>
            <a:ext cx="71323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2BA66B"/>
                </a:solidFill>
                <a:latin typeface="맑은 고딕"/>
                <a:ea typeface="맑은 고딕"/>
              </a:rPr>
              <a:t>4 single + 6 combo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8979408" y="5742432"/>
            <a:ext cx="2212848" cy="402336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979408" y="5742432"/>
            <a:ext cx="64008" cy="402336"/>
          </a:xfrm>
          <a:prstGeom prst="rect">
            <a:avLst/>
          </a:prstGeom>
          <a:solidFill>
            <a:srgbClr val="2BA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9107424" y="5779008"/>
            <a:ext cx="96012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reject rule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9107424" y="5925312"/>
            <a:ext cx="120700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no profile passes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332720" y="5861304"/>
            <a:ext cx="713232" cy="1737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>
                <a:solidFill>
                  <a:srgbClr val="CC3328"/>
                </a:solidFill>
                <a:latin typeface="맑은 고딕"/>
                <a:ea typeface="맑은 고딕"/>
              </a:rPr>
              <a:t>reject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P2 | 검증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Multi-label recipe 성능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80160"/>
            <a:ext cx="10972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40" b="1">
                <a:solidFill>
                  <a:srgbClr val="0F1E3D"/>
                </a:solidFill>
                <a:latin typeface="맑은 고딕"/>
                <a:ea typeface="맑은 고딕"/>
              </a:rPr>
              <a:t>[controlled synthetic validation] 현업 single-failure 원천에서 생성한 평가셋. 단일 대표 모델은 FCM-PM + val_margin selection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64208"/>
          <a:ext cx="758952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156"/>
                <a:gridCol w="3031382"/>
                <a:gridCol w="774440"/>
                <a:gridCol w="685933"/>
                <a:gridCol w="774440"/>
                <a:gridCol w="641679"/>
                <a:gridCol w="1305490"/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#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Recipe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bit_F1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single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2combo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FAR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Role</a:t>
                      </a:r>
                    </a:p>
                  </a:txBody>
                  <a:tcPr anchor="ctr" marL="27432" marR="27432" marT="9144" marB="9144">
                    <a:solidFill>
                      <a:srgbClr val="0F1E3D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BCE + Label Smoothing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0.1093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0.1896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0.0668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99.47%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baseline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Sigmoid Focal Loss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0.7980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0.8724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0.7050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45.72%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loss trial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3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Asymmetric Loss (ASL)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0.6435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0.5379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0.7320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100%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FAR collapse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4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CutMix (random rectangle)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0.9359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0.9566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0.9070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42.05%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signal cut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5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CutMix + Pair Mask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0.9491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0.9728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0.9281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24.62%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FAR reduced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6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FCM-PM + val_f1 selection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0.9652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1.0000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0.9517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0.15%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selection ablation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7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FCM-PM + val_margin selection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0.9927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0.9996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0.9871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0.00%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selected single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main claim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8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vote_majority_bits Ensemble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0.9956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1.0000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0.9921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0.00%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champion</a:t>
                      </a:r>
                    </a:p>
                    <a:p>
                      <a:pPr algn="l"/>
                      <a:r>
                        <a:rPr sz="1100" b="1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cost 5x</a:t>
                      </a:r>
                    </a:p>
                  </a:txBody>
                  <a:tcPr anchor="ctr" marL="27432" marR="27432" marT="9144" marB="9144">
                    <a:solidFill>
                      <a:srgbClr val="FFFFFF"/>
                    </a:solidFill>
                  </a:tcPr>
                </a:tc>
              </a:tr>
              <a:tr h="47650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Knowledge Distillation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0.9799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1.0000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0.9638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0.00%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A1F2E"/>
                          </a:solidFill>
                          <a:latin typeface="맑은 고딕"/>
                          <a:ea typeface="맑은 고딕"/>
                        </a:rPr>
                        <a:t>1x candidate</a:t>
                      </a:r>
                    </a:p>
                  </a:txBody>
                  <a:tcPr anchor="ctr" marL="27432" marR="27432" marT="9144" marB="9144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412480" y="1664208"/>
            <a:ext cx="3310128" cy="36576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664208"/>
            <a:ext cx="31272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Negative-tail and deployment cost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0" y="2212848"/>
            <a:ext cx="3310128" cy="841248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12480" y="2212848"/>
            <a:ext cx="82296" cy="84124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77072" y="2304288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20" b="1">
                <a:solidFill>
                  <a:srgbClr val="0F1E3D"/>
                </a:solidFill>
                <a:latin typeface="맑은 고딕"/>
                <a:ea typeface="맑은 고딕"/>
              </a:rPr>
              <a:t>FCM-PM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29216" y="2304288"/>
            <a:ext cx="17007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NI/OOD FAR 0.00%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7072" y="2670048"/>
            <a:ext cx="98755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1x cost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670048"/>
            <a:ext cx="181051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selected single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3182112"/>
            <a:ext cx="3310128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12480" y="3182112"/>
            <a:ext cx="82296" cy="84124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77072" y="3273552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20" b="1">
                <a:solidFill>
                  <a:srgbClr val="0F1E3D"/>
                </a:solidFill>
                <a:latin typeface="맑은 고딕"/>
                <a:ea typeface="맑은 고딕"/>
              </a:rPr>
              <a:t>Ensemble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6" y="3273552"/>
            <a:ext cx="17007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best-F1 reference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77072" y="3639312"/>
            <a:ext cx="98755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5x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3639312"/>
            <a:ext cx="181051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upper-bound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4151376"/>
            <a:ext cx="3310128" cy="841248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0" y="4151376"/>
            <a:ext cx="82296" cy="84124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77072" y="4242816"/>
            <a:ext cx="1097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20" b="1">
                <a:solidFill>
                  <a:srgbClr val="0F1E3D"/>
                </a:solidFill>
                <a:latin typeface="맑은 고딕"/>
                <a:ea typeface="맑은 고딕"/>
              </a:rPr>
              <a:t>KD student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9216" y="4242816"/>
            <a:ext cx="1700784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single-student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4608576"/>
            <a:ext cx="98755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1x cost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4608576"/>
            <a:ext cx="1810512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deploy candidate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6120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0" y="384048"/>
            <a:ext cx="78638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AI Specialist 인증 | 3개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713232"/>
            <a:ext cx="457200" cy="279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77824"/>
            <a:ext cx="2331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70432"/>
            <a:ext cx="2331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문제 → 개발 → 성과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212848"/>
            <a:ext cx="146304" cy="150876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75688"/>
            <a:ext cx="24688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>
                <a:solidFill>
                  <a:srgbClr val="96A0AD"/>
                </a:solidFill>
                <a:latin typeface="맑은 고딕"/>
                <a:ea typeface="맑은 고딕"/>
              </a:rPr>
              <a:t>P3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858767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822191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P1  Failbit Map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142231"/>
            <a:ext cx="118872" cy="118872"/>
          </a:xfrm>
          <a:prstGeom prst="ellipse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4105655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맑은 고딕"/>
                <a:ea typeface="맑은 고딕"/>
              </a:rPr>
              <a:t>P2  Chip multi-label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425695"/>
            <a:ext cx="118872" cy="118872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389119"/>
            <a:ext cx="205740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P3  Trend anomaly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97480"/>
            <a:ext cx="786384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200" b="1">
                <a:solidFill>
                  <a:srgbClr val="0F1E3D"/>
                </a:solidFill>
                <a:latin typeface="맑은 고딕"/>
                <a:ea typeface="맑은 고딕"/>
              </a:rPr>
              <a:t>Trend Anomaly</a:t>
            </a:r>
          </a:p>
          <a:p>
            <a:pPr algn="l"/>
            <a:r>
              <a:rPr sz="1600">
                <a:solidFill>
                  <a:srgbClr val="556075"/>
                </a:solidFill>
                <a:latin typeface="맑은 고딕"/>
                <a:ea typeface="맑은 고딕"/>
              </a:rPr>
              <a:t>real abnormal label 부족을 domain-rule episode generator와 binary validation으로 해결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0" y="4114800"/>
            <a:ext cx="7863840" cy="4114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0" y="4114800"/>
            <a:ext cx="82296" cy="41148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0" y="4114800"/>
            <a:ext cx="1143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현업 문제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114800"/>
            <a:ext cx="6355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>
                <a:solidFill>
                  <a:srgbClr val="1A1F2E"/>
                </a:solidFill>
                <a:latin typeface="맑은 고딕"/>
                <a:ea typeface="맑은 고딕"/>
              </a:rPr>
              <a:t>BBD/Overlay/CD trend 수동 모니터링, 초보자 누락과 spec-in 사고 위험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4581144"/>
            <a:ext cx="7863840" cy="41148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0" y="4581144"/>
            <a:ext cx="82296" cy="411480"/>
          </a:xfrm>
          <a:prstGeom prst="rect">
            <a:avLst/>
          </a:prstGeom>
          <a:solidFill>
            <a:srgbClr val="556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4581144"/>
            <a:ext cx="11430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556075"/>
                </a:solidFill>
                <a:latin typeface="맑은 고딕"/>
                <a:ea typeface="맑은 고딕"/>
              </a:rPr>
              <a:t>기술 문제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581144"/>
            <a:ext cx="6355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50">
                <a:solidFill>
                  <a:srgbClr val="1A1F2E"/>
                </a:solidFill>
                <a:latin typeface="맑은 고딕"/>
                <a:ea typeface="맑은 고딕"/>
              </a:rPr>
              <a:t>실제 이상 label 희소, episode generator로 trend와 anomaly, noise 합성 후 binary gate 검증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5010912"/>
            <a:ext cx="2331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" y="5010912"/>
            <a:ext cx="82296" cy="62179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2415" y="5010912"/>
            <a:ext cx="2057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E3D"/>
                </a:solidFill>
                <a:latin typeface="맑은 고딕"/>
                <a:ea typeface="맑은 고딕"/>
              </a:rPr>
              <a:t>본인 70%</a:t>
            </a:r>
          </a:p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직접 설계/구현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5742432"/>
            <a:ext cx="23317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" y="5742432"/>
            <a:ext cx="82296" cy="62179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2415" y="5742432"/>
            <a:ext cx="20574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E3D"/>
                </a:solidFill>
                <a:latin typeface="맑은 고딕"/>
                <a:ea typeface="맑은 고딕"/>
              </a:rPr>
              <a:t>PoC</a:t>
            </a:r>
          </a:p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현업 검증 예정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5138928"/>
            <a:ext cx="10972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Key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5138928"/>
            <a:ext cx="685800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E3D"/>
                </a:solidFill>
                <a:latin typeface="맑은 고딕"/>
                <a:ea typeface="맑은 고딕"/>
              </a:rPr>
              <a:t>평가축: 기술 전문성 / 기술 리더십 / 기술성과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541264"/>
            <a:ext cx="28346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Before → After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0" y="5815584"/>
            <a:ext cx="3611880" cy="658368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22192" y="5815584"/>
            <a:ext cx="328269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Before  </a:t>
            </a:r>
            <a:r>
              <a:rPr sz="1250" b="1">
                <a:solidFill>
                  <a:srgbClr val="1A1F2E"/>
                </a:solidFill>
                <a:latin typeface="맑은 고딕"/>
                <a:ea typeface="맑은 고딕"/>
              </a:rPr>
              <a:t>real abnormal 부족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09560" y="5815584"/>
            <a:ext cx="3611880" cy="65836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09560" y="5815584"/>
            <a:ext cx="82296" cy="65836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74152" y="5815584"/>
            <a:ext cx="3282696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After  </a:t>
            </a:r>
            <a:r>
              <a:rPr sz="1250" b="1">
                <a:solidFill>
                  <a:srgbClr val="0F1E3D"/>
                </a:solidFill>
                <a:latin typeface="맑은 고딕"/>
                <a:ea typeface="맑은 고딕"/>
              </a:rPr>
              <a:t>generator + validation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7415784" y="6007608"/>
            <a:ext cx="347472" cy="274320"/>
          </a:xfrm>
          <a:prstGeom prst="rightArrow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913632" y="1170432"/>
            <a:ext cx="2395728" cy="113385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913632" y="1170432"/>
            <a:ext cx="2395728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13632" y="1426464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1E3D"/>
                </a:solidFill>
                <a:latin typeface="맑은 고딕"/>
                <a:ea typeface="맑은 고딕"/>
              </a:rPr>
              <a:t>문제·AI 필요성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59936" y="192024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abnormal label 부족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65392" y="1170432"/>
            <a:ext cx="2395728" cy="113385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65392" y="1170432"/>
            <a:ext cx="2395728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65392" y="1426464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1E3D"/>
                </a:solidFill>
                <a:latin typeface="맑은 고딕"/>
                <a:ea typeface="맑은 고딕"/>
              </a:rPr>
              <a:t>개발내용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11696" y="192024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rule-based generator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17152" y="1170432"/>
            <a:ext cx="2395728" cy="1133856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217152" y="1170432"/>
            <a:ext cx="2395728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17152" y="1426464"/>
            <a:ext cx="239572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0F1E3D"/>
                </a:solidFill>
                <a:latin typeface="맑은 고딕"/>
                <a:ea typeface="맑은 고딕"/>
              </a:rPr>
              <a:t>성과·확장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63456" y="1920240"/>
            <a:ext cx="21031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benchmark·binary validation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P3 | Trend anomaly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episode 생성과 binary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5321808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E3D"/>
                </a:solidFill>
                <a:latin typeface="맑은 고딕"/>
                <a:ea typeface="맑은 고딕"/>
              </a:rPr>
              <a:t>Core contribution — 판정 경험을 episode generation rule로 코드화하고, binary validation으로 검증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14600"/>
            <a:ext cx="4983480" cy="62179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514600"/>
            <a:ext cx="82296" cy="62179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6" y="2587752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현장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2514600"/>
            <a:ext cx="32278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A1F2E"/>
                </a:solidFill>
                <a:latin typeface="맑은 고딕"/>
                <a:ea typeface="맑은 고딕"/>
              </a:rPr>
              <a:t>BBD / Overlay / CD 10년 trend 판정 경험</a:t>
            </a:r>
          </a:p>
        </p:txBody>
      </p:sp>
      <p:sp>
        <p:nvSpPr>
          <p:cNvPr id="10" name="Down Arrow 9"/>
          <p:cNvSpPr/>
          <p:nvPr/>
        </p:nvSpPr>
        <p:spPr>
          <a:xfrm>
            <a:off x="3182112" y="3118104"/>
            <a:ext cx="219456" cy="201168"/>
          </a:xfrm>
          <a:prstGeom prst="downArrow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300984"/>
            <a:ext cx="4983480" cy="62179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3300984"/>
            <a:ext cx="82296" cy="62179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3374136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Episode 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3300984"/>
            <a:ext cx="32278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A1F2E"/>
                </a:solidFill>
                <a:latin typeface="맑은 고딕"/>
                <a:ea typeface="맑은 고딕"/>
              </a:rPr>
              <a:t>Region 5종 + Noise 3종 + Anomaly 5종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3182112" y="3904488"/>
            <a:ext cx="219456" cy="201168"/>
          </a:xfrm>
          <a:prstGeom prst="downArrow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4087368"/>
            <a:ext cx="4983480" cy="621792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087368"/>
            <a:ext cx="82296" cy="62179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4160520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Synthetic 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95728" y="4087368"/>
            <a:ext cx="32278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40" b="0">
                <a:solidFill>
                  <a:srgbClr val="1A1F2E"/>
                </a:solidFill>
                <a:latin typeface="맑은 고딕"/>
                <a:ea typeface="맑은 고딕"/>
              </a:rPr>
              <a:t>normal 3,500 + abnormal 3,500 = 7,000개</a:t>
            </a:r>
          </a:p>
        </p:txBody>
      </p:sp>
      <p:sp>
        <p:nvSpPr>
          <p:cNvPr id="20" name="Down Arrow 19"/>
          <p:cNvSpPr/>
          <p:nvPr/>
        </p:nvSpPr>
        <p:spPr>
          <a:xfrm>
            <a:off x="3182112" y="4690872"/>
            <a:ext cx="219456" cy="201168"/>
          </a:xfrm>
          <a:prstGeom prst="downArrow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" y="4873752"/>
            <a:ext cx="4983480" cy="621792"/>
          </a:xfrm>
          <a:prstGeom prst="rect">
            <a:avLst/>
          </a:prstGeom>
          <a:solidFill>
            <a:srgbClr val="E8ECF2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873752"/>
            <a:ext cx="82296" cy="62179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" y="4946904"/>
            <a:ext cx="13258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Binary validation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95728" y="4873752"/>
            <a:ext cx="32278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40" b="1">
                <a:solidFill>
                  <a:srgbClr val="0F1E3D"/>
                </a:solidFill>
                <a:latin typeface="맑은 고딕"/>
                <a:ea typeface="맑은 고딕"/>
              </a:rPr>
              <a:t>F1 0.9967 / abnormal recall 0.9987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874519"/>
            <a:ext cx="160020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63640" y="1874519"/>
            <a:ext cx="1600200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73368" y="2002535"/>
            <a:ext cx="1380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2313431"/>
            <a:ext cx="13807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domain coding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2532887"/>
            <a:ext cx="1380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region/noise/anomaly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1874519"/>
            <a:ext cx="160020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46720" y="1874519"/>
            <a:ext cx="1600200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56448" y="2002535"/>
            <a:ext cx="1380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Normal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6448" y="2313431"/>
            <a:ext cx="13807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baseline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2532887"/>
            <a:ext cx="1380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fleet-bound stats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829800" y="1874519"/>
            <a:ext cx="1600200" cy="96012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829800" y="1874519"/>
            <a:ext cx="1600200" cy="73152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39528" y="2002535"/>
            <a:ext cx="1380744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0F1E3D"/>
                </a:solidFill>
                <a:latin typeface="맑은 고딕"/>
                <a:ea typeface="맑은 고딕"/>
              </a:rPr>
              <a:t>Robust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39528" y="2313431"/>
            <a:ext cx="138074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1A1F2E"/>
                </a:solidFill>
                <a:latin typeface="맑은 고딕"/>
                <a:ea typeface="맑은 고딕"/>
              </a:rPr>
              <a:t>shortcut 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39528" y="2532887"/>
            <a:ext cx="138074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color/median/NT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054096"/>
            <a:ext cx="5166360" cy="2907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3054096"/>
            <a:ext cx="5166360" cy="365760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28232" y="3108960"/>
            <a:ext cx="484632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60" b="1">
                <a:solidFill>
                  <a:srgbClr val="FFFFFF"/>
                </a:solidFill>
                <a:latin typeface="맑은 고딕"/>
                <a:ea typeface="맑은 고딕"/>
              </a:rPr>
              <a:t>Stabilization and shortcut-control stack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64808" y="354787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64808" y="354787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0" y="361188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LR sweep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378561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3e-5/3e-4 stable
1e-4/1e-3 collapse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33688" y="354787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33688" y="354787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52560" y="361188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Label smoothing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0" y="378561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0.02 sweet spot
FN 4.6 -&gt; 0.8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64808" y="427939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64808" y="427939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0" y="434340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Stochastic depth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451713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0.05 regularization
FP 3.8 -&gt; 1.4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33688" y="427939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933688" y="427939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52560" y="434340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Focal + EMA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0" y="451713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gamma=2.0, EMA 0.95
hard-anomaly stability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64808" y="501091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64808" y="501091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83680" y="507492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Normal ratio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583680" y="524865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hard-normal 3,300
FP/FN balance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933688" y="5010912"/>
            <a:ext cx="2322576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933688" y="5010912"/>
            <a:ext cx="54864" cy="64008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52560" y="5074920"/>
            <a:ext cx="213969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Color + median + 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0" y="5248656"/>
            <a:ext cx="213969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color/smoothing check
val-F1 median, NT 0.9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P3 | episode generation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정상 baseline episode와 측정 noise 샘플링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44168"/>
            <a:ext cx="10607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80">
                <a:solidFill>
                  <a:srgbClr val="1A1F2E"/>
                </a:solidFill>
                <a:latin typeface="맑은 고딕"/>
                <a:ea typeface="맑은 고딕"/>
              </a:rPr>
              <a:t>정상 trend는 region별 baseline 위에 episode density와 noise family를 분리해 샘플링. anomaly injection은 다음 장에서 분리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664208"/>
            <a:ext cx="1074420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737360"/>
            <a:ext cx="7859816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60" b="1">
                <a:solidFill>
                  <a:srgbClr val="0F1E3D"/>
                </a:solidFill>
                <a:latin typeface="맑은 고딕"/>
                <a:ea typeface="맑은 고딕"/>
              </a:rPr>
              <a:t>(a) Normal baseline  -  sequential episodes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048256"/>
            <a:ext cx="7859816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gray = fleet/reference     blue = sampled observations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969264" y="2340864"/>
            <a:ext cx="7530632" cy="2651760"/>
          </a:xfrm>
          <a:prstGeom prst="rect">
            <a:avLst/>
          </a:prstGeom>
          <a:solidFill>
            <a:srgbClr val="FCFDFE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33856" y="4777740"/>
            <a:ext cx="7219736" cy="13716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33856" y="2523744"/>
            <a:ext cx="13716" cy="2267712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2596896"/>
            <a:ext cx="1422001" cy="2121408"/>
          </a:xfrm>
          <a:prstGeom prst="rect">
            <a:avLst/>
          </a:prstGeom>
          <a:solidFill>
            <a:srgbClr val="EAF0F8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2615184"/>
            <a:ext cx="1385425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Dense</a:t>
            </a:r>
          </a:p>
        </p:txBody>
      </p:sp>
      <p:sp>
        <p:nvSpPr>
          <p:cNvPr id="14" name="Oval 13"/>
          <p:cNvSpPr/>
          <p:nvPr/>
        </p:nvSpPr>
        <p:spPr>
          <a:xfrm>
            <a:off x="1658525" y="314237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075808" y="301188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929036" y="349991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19402" y="373581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93246" y="36130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334527" y="304229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786970" y="42673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403346" y="326284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45827" y="446851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981621" y="355149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490818" y="296885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340558" y="337330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429438" y="308736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638942" y="424953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475965" y="385923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060472" y="35110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944168" y="29958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1446" y="323409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113397" y="360293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646169" y="386582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823538" y="33902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258800" y="40546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556806" y="38472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915404" y="434774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175964" y="337052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495819" y="308781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778811" y="415137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439299" y="370506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295429" y="400338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220773" y="384496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362257" y="341347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132399" y="388048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985183" y="365055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16957" y="446347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850218" y="399662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322808" y="405876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070953" y="454405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293939" y="33649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737565" y="400411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74196" y="365968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459791" y="308620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320620" y="41698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416654" y="333460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740819" y="391687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356235" y="352275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937208" y="392804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271572" y="390993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601383" y="349112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700946" y="392879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443130" y="324434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474741" y="331998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545517" y="355614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986381" y="334872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61458" y="349452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1713935" y="363210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2437389" y="374799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1895142" y="367994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2094279" y="315387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2371016" y="383151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2340013" y="384822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742590" y="347588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384680" y="369553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333518" y="316633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1515068" y="325497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1677753" y="315254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1256675" y="324466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1382112" y="344287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287984" y="391959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017291" y="324213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1568963" y="342773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1707628" y="321813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2308321" y="403045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1833803" y="355509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1362807" y="319885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1680953" y="335060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2283438" y="325416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1285004" y="399114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1910960" y="324031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1929442" y="312871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1910777" y="401682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2326150" y="375331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1579939" y="344575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1463371" y="382401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1916332" y="383065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1664880" y="331166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2261946" y="402282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2312896" y="385588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2270399" y="379408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1537343" y="358664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1696971" y="313052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1291003" y="336428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1577534" y="374988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2441623" y="352092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2417468" y="402572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2439747" y="344383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1529565" y="331521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500128" y="329424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029679" y="394383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2297787" y="355102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2065504" y="384987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1361436" y="372007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2383709" y="383369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2185900" y="354967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1477596" y="384006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1668415" y="385097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2460386" y="347295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1753752" y="398723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2154499" y="326215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1413801" y="324456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2377607" y="385627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1437513" y="387495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2471103" y="371698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690583" y="361560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418690" y="311676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2459436" y="370989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1908883" y="397493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2610721" y="2596896"/>
            <a:ext cx="1422001" cy="2121408"/>
          </a:xfrm>
          <a:prstGeom prst="rect">
            <a:avLst/>
          </a:prstGeom>
          <a:solidFill>
            <a:srgbClr val="FBF4E5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2629009" y="2615184"/>
            <a:ext cx="1385425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Sparse</a:t>
            </a:r>
          </a:p>
        </p:txBody>
      </p:sp>
      <p:sp>
        <p:nvSpPr>
          <p:cNvPr id="132" name="Oval 131"/>
          <p:cNvSpPr/>
          <p:nvPr/>
        </p:nvSpPr>
        <p:spPr>
          <a:xfrm>
            <a:off x="3220823" y="434209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3721337" y="324255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2988678" y="337889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2974269" y="38672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2998284" y="358865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2834624" y="440579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3118735" y="365380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3411590" y="439627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3204008" y="441861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3307366" y="377640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3335249" y="292246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3228880" y="319606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2672430" y="422131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2887276" y="367932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592540" y="381742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083268" y="37539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3375989" y="41965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2802777" y="382378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2984417" y="335218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3652585" y="373627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3384010" y="415611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3831472" y="362899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3448813" y="373267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3320776" y="404418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3244470" y="37788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3277243" y="44581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3559404" y="435007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3869350" y="332334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3381184" y="44611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3738999" y="311955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2822566" y="36271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2759960" y="32918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2760693" y="40054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3667478" y="438417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2864441" y="40831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3509701" y="31292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3793641" y="450152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2947541" y="447649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3175469" y="370223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3930190" y="427669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2873395" y="360947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3325169" y="345569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2920938" y="360507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3573219" y="345281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3364922" y="366715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2700792" y="361167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3451508" y="370371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2758051" y="394444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3655264" y="393762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2808221" y="357810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2727441" y="383951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3013502" y="350886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3201611" y="390693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3693201" y="357456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2863471" y="391088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385423" y="379950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2789241" y="347218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3531156" y="365944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2768116" y="392064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3464534" y="385103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2782154" y="387883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2760940" y="3882170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3240667" y="361557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3363700" y="3914701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3010297" y="3508693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3331298" y="356429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4032722" y="2596896"/>
            <a:ext cx="1422001" cy="2121408"/>
          </a:xfrm>
          <a:prstGeom prst="rect">
            <a:avLst/>
          </a:prstGeom>
          <a:solidFill>
            <a:srgbClr val="F7F0E6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4051010" y="2615184"/>
            <a:ext cx="1385425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Very sparse</a:t>
            </a:r>
          </a:p>
        </p:txBody>
      </p:sp>
      <p:sp>
        <p:nvSpPr>
          <p:cNvPr id="200" name="Oval 199"/>
          <p:cNvSpPr/>
          <p:nvPr/>
        </p:nvSpPr>
        <p:spPr>
          <a:xfrm>
            <a:off x="4229041" y="316001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4153684" y="322711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4487422" y="33989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5058304" y="337388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4727376" y="318739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4532083" y="292156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4408911" y="291687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5024603" y="38083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4331104" y="368143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5281736" y="30682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5134108" y="361056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4720887" y="428030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4590873" y="373456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4966765" y="452631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4526602" y="42764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4990982" y="39497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4605686" y="34697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4158798" y="310737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4179635" y="41243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4415475" y="31630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4197192" y="42913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5199957" y="400725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4449076" y="32944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4463268" y="36559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4290379" y="363327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4425233" y="449194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5330187" y="380177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4401254" y="449840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4484304" y="348476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4090778" y="352643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694916" y="372803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345804" y="373131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4095730" y="333096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4203913" y="35562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4142569" y="292876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4477538" y="327877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4836441" y="377201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5046877" y="398562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5002805" y="435432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4586319" y="343408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5345630" y="314007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5013218" y="396178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4154646" y="368398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5205612" y="361340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5009719" y="3676157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4273006" y="357824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4725364" y="368386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5097480" y="368097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4824110" y="370351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4946577" y="363580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4385312" y="341104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4265306" y="3522904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4230392" y="368416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5454723" y="2596896"/>
            <a:ext cx="1422001" cy="2121408"/>
          </a:xfrm>
          <a:prstGeom prst="rect">
            <a:avLst/>
          </a:prstGeom>
          <a:solidFill>
            <a:srgbClr val="F2F4F7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5473011" y="2615184"/>
            <a:ext cx="1385425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Thin</a:t>
            </a:r>
          </a:p>
        </p:txBody>
      </p:sp>
      <p:sp>
        <p:nvSpPr>
          <p:cNvPr id="255" name="Oval 254"/>
          <p:cNvSpPr/>
          <p:nvPr/>
        </p:nvSpPr>
        <p:spPr>
          <a:xfrm>
            <a:off x="6223927" y="393606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6310291" y="402409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6135607" y="289684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6529036" y="41366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6153054" y="378201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6352482" y="30012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6451334" y="331103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5606391" y="333327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6441826" y="323285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6455213" y="45151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6141544" y="35279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6122487" y="40291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6489837" y="391810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6331386" y="302026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5699485" y="331394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6459536" y="33979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6235707" y="291208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5588801" y="33386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6368686" y="40432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6373414" y="337537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6170359" y="366462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6106323" y="30885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6651459" y="32229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Oval 277"/>
          <p:cNvSpPr/>
          <p:nvPr/>
        </p:nvSpPr>
        <p:spPr>
          <a:xfrm>
            <a:off x="6759208" y="44494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Oval 278"/>
          <p:cNvSpPr/>
          <p:nvPr/>
        </p:nvSpPr>
        <p:spPr>
          <a:xfrm>
            <a:off x="5533746" y="365515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Oval 279"/>
          <p:cNvSpPr/>
          <p:nvPr/>
        </p:nvSpPr>
        <p:spPr>
          <a:xfrm>
            <a:off x="6557357" y="450246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Oval 280"/>
          <p:cNvSpPr/>
          <p:nvPr/>
        </p:nvSpPr>
        <p:spPr>
          <a:xfrm>
            <a:off x="6084779" y="333843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Oval 281"/>
          <p:cNvSpPr/>
          <p:nvPr/>
        </p:nvSpPr>
        <p:spPr>
          <a:xfrm>
            <a:off x="5779104" y="44649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5780216" y="385902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5692234" y="376348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6726823" y="311201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6557764" y="373798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6642783" y="40618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5806591" y="43853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6131584" y="293266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5515996" y="370961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6086449" y="339384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Oval 291"/>
          <p:cNvSpPr/>
          <p:nvPr/>
        </p:nvSpPr>
        <p:spPr>
          <a:xfrm>
            <a:off x="5690915" y="34637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Oval 292"/>
          <p:cNvSpPr/>
          <p:nvPr/>
        </p:nvSpPr>
        <p:spPr>
          <a:xfrm>
            <a:off x="5914635" y="428965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Oval 293"/>
          <p:cNvSpPr/>
          <p:nvPr/>
        </p:nvSpPr>
        <p:spPr>
          <a:xfrm>
            <a:off x="5513637" y="414071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Oval 294"/>
          <p:cNvSpPr/>
          <p:nvPr/>
        </p:nvSpPr>
        <p:spPr>
          <a:xfrm>
            <a:off x="6581867" y="309110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Oval 295"/>
          <p:cNvSpPr/>
          <p:nvPr/>
        </p:nvSpPr>
        <p:spPr>
          <a:xfrm>
            <a:off x="6693220" y="407795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Oval 296"/>
          <p:cNvSpPr/>
          <p:nvPr/>
        </p:nvSpPr>
        <p:spPr>
          <a:xfrm>
            <a:off x="6639539" y="3626132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5983617" y="366111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6760013" y="3727736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5969351" y="367304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Oval 300"/>
          <p:cNvSpPr/>
          <p:nvPr/>
        </p:nvSpPr>
        <p:spPr>
          <a:xfrm>
            <a:off x="5863339" y="3544139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Oval 301"/>
          <p:cNvSpPr/>
          <p:nvPr/>
        </p:nvSpPr>
        <p:spPr>
          <a:xfrm>
            <a:off x="5648419" y="3811065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5876310" y="3845318"/>
            <a:ext cx="47548" cy="47548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6876724" y="2596896"/>
            <a:ext cx="1422004" cy="2121408"/>
          </a:xfrm>
          <a:prstGeom prst="rect">
            <a:avLst/>
          </a:prstGeom>
          <a:solidFill>
            <a:srgbClr val="FBECEA"/>
          </a:solidFill>
          <a:ln w="7620">
            <a:solidFill>
              <a:srgbClr val="E1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6895012" y="2615184"/>
            <a:ext cx="1385428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Missing</a:t>
            </a:r>
          </a:p>
        </p:txBody>
      </p:sp>
      <p:sp>
        <p:nvSpPr>
          <p:cNvPr id="306" name="Oval 305"/>
          <p:cNvSpPr/>
          <p:nvPr/>
        </p:nvSpPr>
        <p:spPr>
          <a:xfrm>
            <a:off x="7251480" y="33335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7585252" y="320728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7409698" y="448259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8061475" y="42426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7738250" y="441146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8133467" y="380536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7851375" y="297367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7867679" y="36416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7893595" y="396389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7298532" y="297284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8115706" y="31032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7535782" y="34632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7313284" y="412123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8178878" y="332430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7770270" y="339198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7644392" y="354764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7146883" y="316036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7198599" y="439903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7567536" y="325750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Oval 324"/>
          <p:cNvSpPr/>
          <p:nvPr/>
        </p:nvSpPr>
        <p:spPr>
          <a:xfrm>
            <a:off x="8089532" y="454967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Oval 325"/>
          <p:cNvSpPr/>
          <p:nvPr/>
        </p:nvSpPr>
        <p:spPr>
          <a:xfrm>
            <a:off x="7507431" y="312364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Oval 326"/>
          <p:cNvSpPr/>
          <p:nvPr/>
        </p:nvSpPr>
        <p:spPr>
          <a:xfrm>
            <a:off x="7178870" y="304230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Oval 327"/>
          <p:cNvSpPr/>
          <p:nvPr/>
        </p:nvSpPr>
        <p:spPr>
          <a:xfrm>
            <a:off x="7369649" y="30429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Oval 328"/>
          <p:cNvSpPr/>
          <p:nvPr/>
        </p:nvSpPr>
        <p:spPr>
          <a:xfrm>
            <a:off x="7238470" y="33212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Oval 329"/>
          <p:cNvSpPr/>
          <p:nvPr/>
        </p:nvSpPr>
        <p:spPr>
          <a:xfrm>
            <a:off x="7660078" y="436790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Oval 330"/>
          <p:cNvSpPr/>
          <p:nvPr/>
        </p:nvSpPr>
        <p:spPr>
          <a:xfrm>
            <a:off x="7889755" y="357828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2" name="Oval 331"/>
          <p:cNvSpPr/>
          <p:nvPr/>
        </p:nvSpPr>
        <p:spPr>
          <a:xfrm>
            <a:off x="7461408" y="376365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3" name="Oval 332"/>
          <p:cNvSpPr/>
          <p:nvPr/>
        </p:nvSpPr>
        <p:spPr>
          <a:xfrm>
            <a:off x="7414184" y="34541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Oval 333"/>
          <p:cNvSpPr/>
          <p:nvPr/>
        </p:nvSpPr>
        <p:spPr>
          <a:xfrm>
            <a:off x="7012586" y="335317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Oval 334"/>
          <p:cNvSpPr/>
          <p:nvPr/>
        </p:nvSpPr>
        <p:spPr>
          <a:xfrm>
            <a:off x="8167893" y="310081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Oval 335"/>
          <p:cNvSpPr/>
          <p:nvPr/>
        </p:nvSpPr>
        <p:spPr>
          <a:xfrm>
            <a:off x="7575598" y="393916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8034169" y="325074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7279158" y="330481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7443387" y="363333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8150362" y="430371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8046964" y="29276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6974550" y="407210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8076057" y="367894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7682478" y="28916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7432880" y="443376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7986621" y="431500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7" name="Oval 346"/>
          <p:cNvSpPr/>
          <p:nvPr/>
        </p:nvSpPr>
        <p:spPr>
          <a:xfrm>
            <a:off x="8173704" y="33048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6876724" y="3566160"/>
            <a:ext cx="1422004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CC3328"/>
                </a:solidFill>
                <a:latin typeface="맑은 고딕"/>
                <a:ea typeface="맑은 고딕"/>
              </a:rPr>
              <a:t>missing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8883944" y="1737360"/>
            <a:ext cx="2482048" cy="31089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(b) Measurement noise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8883944" y="2048256"/>
            <a:ext cx="2482048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6B7280"/>
                </a:solidFill>
                <a:latin typeface="맑은 고딕"/>
                <a:ea typeface="맑은 고딕"/>
              </a:rPr>
              <a:t>gray = fleet     color = sampled εₜ</a:t>
            </a:r>
          </a:p>
        </p:txBody>
      </p:sp>
      <p:sp>
        <p:nvSpPr>
          <p:cNvPr id="351" name="Rectangle 350"/>
          <p:cNvSpPr/>
          <p:nvPr/>
        </p:nvSpPr>
        <p:spPr>
          <a:xfrm>
            <a:off x="8883944" y="2304288"/>
            <a:ext cx="2482048" cy="859536"/>
          </a:xfrm>
          <a:prstGeom prst="rect">
            <a:avLst/>
          </a:prstGeom>
          <a:solidFill>
            <a:srgbClr val="FCFDFE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8975384" y="2331720"/>
            <a:ext cx="1439587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Gaussian iid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10373172" y="2331720"/>
            <a:ext cx="820386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Cambria Math"/>
                <a:ea typeface="Cambria Math"/>
              </a:rPr>
              <a:t>εₜ ~ N(0, σ²)</a:t>
            </a:r>
          </a:p>
        </p:txBody>
      </p:sp>
      <p:sp>
        <p:nvSpPr>
          <p:cNvPr id="354" name="Rectangle 353"/>
          <p:cNvSpPr/>
          <p:nvPr/>
        </p:nvSpPr>
        <p:spPr>
          <a:xfrm>
            <a:off x="9085112" y="3031236"/>
            <a:ext cx="2079712" cy="13716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9085112" y="2615184"/>
            <a:ext cx="13716" cy="429768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Oval 355"/>
          <p:cNvSpPr/>
          <p:nvPr/>
        </p:nvSpPr>
        <p:spPr>
          <a:xfrm>
            <a:off x="9295437" y="272385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7" name="Oval 356"/>
          <p:cNvSpPr/>
          <p:nvPr/>
        </p:nvSpPr>
        <p:spPr>
          <a:xfrm>
            <a:off x="10155023" y="289802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Oval 357"/>
          <p:cNvSpPr/>
          <p:nvPr/>
        </p:nvSpPr>
        <p:spPr>
          <a:xfrm>
            <a:off x="11026682" y="291111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Oval 358"/>
          <p:cNvSpPr/>
          <p:nvPr/>
        </p:nvSpPr>
        <p:spPr>
          <a:xfrm>
            <a:off x="10414950" y="292533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10019757" y="28549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9150897" y="29311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9552345" y="297653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10411119" y="277316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Oval 363"/>
          <p:cNvSpPr/>
          <p:nvPr/>
        </p:nvSpPr>
        <p:spPr>
          <a:xfrm>
            <a:off x="9334787" y="27560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Oval 364"/>
          <p:cNvSpPr/>
          <p:nvPr/>
        </p:nvSpPr>
        <p:spPr>
          <a:xfrm>
            <a:off x="10391955" y="290347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Oval 365"/>
          <p:cNvSpPr/>
          <p:nvPr/>
        </p:nvSpPr>
        <p:spPr>
          <a:xfrm>
            <a:off x="9301856" y="269612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Oval 366"/>
          <p:cNvSpPr/>
          <p:nvPr/>
        </p:nvSpPr>
        <p:spPr>
          <a:xfrm>
            <a:off x="10159330" y="286529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Oval 367"/>
          <p:cNvSpPr/>
          <p:nvPr/>
        </p:nvSpPr>
        <p:spPr>
          <a:xfrm>
            <a:off x="9875751" y="274669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Oval 368"/>
          <p:cNvSpPr/>
          <p:nvPr/>
        </p:nvSpPr>
        <p:spPr>
          <a:xfrm>
            <a:off x="10318686" y="267635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9695730" y="28249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1" name="Oval 370"/>
          <p:cNvSpPr/>
          <p:nvPr/>
        </p:nvSpPr>
        <p:spPr>
          <a:xfrm>
            <a:off x="11062971" y="288565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Oval 371"/>
          <p:cNvSpPr/>
          <p:nvPr/>
        </p:nvSpPr>
        <p:spPr>
          <a:xfrm>
            <a:off x="10906648" y="282978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3" name="Oval 372"/>
          <p:cNvSpPr/>
          <p:nvPr/>
        </p:nvSpPr>
        <p:spPr>
          <a:xfrm>
            <a:off x="9556903" y="27544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4" name="Oval 373"/>
          <p:cNvSpPr/>
          <p:nvPr/>
        </p:nvSpPr>
        <p:spPr>
          <a:xfrm>
            <a:off x="11066453" y="290548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5" name="Oval 374"/>
          <p:cNvSpPr/>
          <p:nvPr/>
        </p:nvSpPr>
        <p:spPr>
          <a:xfrm>
            <a:off x="9707951" y="268009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Oval 375"/>
          <p:cNvSpPr/>
          <p:nvPr/>
        </p:nvSpPr>
        <p:spPr>
          <a:xfrm>
            <a:off x="10104994" y="289551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9942165" y="275781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10456559" y="297826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9540302" y="268415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9771702" y="281171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10488195" y="273828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10726317" y="29168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10118654" y="274063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11085679" y="277578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10774026" y="274908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9529190" y="292390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9682028" y="298709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8" name="Oval 387"/>
          <p:cNvSpPr/>
          <p:nvPr/>
        </p:nvSpPr>
        <p:spPr>
          <a:xfrm>
            <a:off x="9116363" y="2878342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Oval 388"/>
          <p:cNvSpPr/>
          <p:nvPr/>
        </p:nvSpPr>
        <p:spPr>
          <a:xfrm>
            <a:off x="9231903" y="2826530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0" name="Oval 389"/>
          <p:cNvSpPr/>
          <p:nvPr/>
        </p:nvSpPr>
        <p:spPr>
          <a:xfrm>
            <a:off x="9347442" y="2814288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Oval 390"/>
          <p:cNvSpPr/>
          <p:nvPr/>
        </p:nvSpPr>
        <p:spPr>
          <a:xfrm>
            <a:off x="9462982" y="2747579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2" name="Oval 391"/>
          <p:cNvSpPr/>
          <p:nvPr/>
        </p:nvSpPr>
        <p:spPr>
          <a:xfrm>
            <a:off x="9578522" y="2924842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Oval 392"/>
          <p:cNvSpPr/>
          <p:nvPr/>
        </p:nvSpPr>
        <p:spPr>
          <a:xfrm>
            <a:off x="9694061" y="2992533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Oval 393"/>
          <p:cNvSpPr/>
          <p:nvPr/>
        </p:nvSpPr>
        <p:spPr>
          <a:xfrm>
            <a:off x="9809601" y="2780369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Oval 394"/>
          <p:cNvSpPr/>
          <p:nvPr/>
        </p:nvSpPr>
        <p:spPr>
          <a:xfrm>
            <a:off x="9925140" y="2765519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6" name="Oval 395"/>
          <p:cNvSpPr/>
          <p:nvPr/>
        </p:nvSpPr>
        <p:spPr>
          <a:xfrm>
            <a:off x="10040680" y="2778983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Oval 396"/>
          <p:cNvSpPr/>
          <p:nvPr/>
        </p:nvSpPr>
        <p:spPr>
          <a:xfrm>
            <a:off x="10156219" y="2631900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8" name="Oval 397"/>
          <p:cNvSpPr/>
          <p:nvPr/>
        </p:nvSpPr>
        <p:spPr>
          <a:xfrm>
            <a:off x="10271759" y="2811807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9" name="Oval 398"/>
          <p:cNvSpPr/>
          <p:nvPr/>
        </p:nvSpPr>
        <p:spPr>
          <a:xfrm>
            <a:off x="10387298" y="2807971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10502838" y="2755031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10618378" y="2798962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10733917" y="2697458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10849457" y="2924939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10964996" y="2857300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11080536" y="3023846"/>
            <a:ext cx="53035" cy="53035"/>
          </a:xfrm>
          <a:prstGeom prst="ellipse">
            <a:avLst/>
          </a:prstGeom>
          <a:solidFill>
            <a:srgbClr val="2D6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8883944" y="3255264"/>
            <a:ext cx="2482048" cy="859536"/>
          </a:xfrm>
          <a:prstGeom prst="rect">
            <a:avLst/>
          </a:prstGeom>
          <a:solidFill>
            <a:srgbClr val="FCFDFE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TextBox 406"/>
          <p:cNvSpPr txBox="1"/>
          <p:nvPr/>
        </p:nvSpPr>
        <p:spPr>
          <a:xfrm>
            <a:off x="8975384" y="3282696"/>
            <a:ext cx="1439587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Equip. correlated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10373172" y="3282696"/>
            <a:ext cx="820386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Cambria Math"/>
                <a:ea typeface="Cambria Math"/>
              </a:rPr>
              <a:t>εₜ = ρεₜ₋₁ + ηₜ</a:t>
            </a:r>
          </a:p>
        </p:txBody>
      </p:sp>
      <p:sp>
        <p:nvSpPr>
          <p:cNvPr id="409" name="Rectangle 408"/>
          <p:cNvSpPr/>
          <p:nvPr/>
        </p:nvSpPr>
        <p:spPr>
          <a:xfrm>
            <a:off x="9085112" y="3982212"/>
            <a:ext cx="2079712" cy="13716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9085112" y="3566160"/>
            <a:ext cx="13716" cy="429768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1" name="Oval 410"/>
          <p:cNvSpPr/>
          <p:nvPr/>
        </p:nvSpPr>
        <p:spPr>
          <a:xfrm>
            <a:off x="11006103" y="373254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2" name="Oval 411"/>
          <p:cNvSpPr/>
          <p:nvPr/>
        </p:nvSpPr>
        <p:spPr>
          <a:xfrm>
            <a:off x="9454464" y="393277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Oval 412"/>
          <p:cNvSpPr/>
          <p:nvPr/>
        </p:nvSpPr>
        <p:spPr>
          <a:xfrm>
            <a:off x="10620759" y="363440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10450475" y="37488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9846223" y="37333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6" name="Oval 415"/>
          <p:cNvSpPr/>
          <p:nvPr/>
        </p:nvSpPr>
        <p:spPr>
          <a:xfrm>
            <a:off x="9420667" y="36248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7" name="Oval 416"/>
          <p:cNvSpPr/>
          <p:nvPr/>
        </p:nvSpPr>
        <p:spPr>
          <a:xfrm>
            <a:off x="9650569" y="373988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8" name="Oval 417"/>
          <p:cNvSpPr/>
          <p:nvPr/>
        </p:nvSpPr>
        <p:spPr>
          <a:xfrm>
            <a:off x="11055848" y="36647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9" name="Oval 418"/>
          <p:cNvSpPr/>
          <p:nvPr/>
        </p:nvSpPr>
        <p:spPr>
          <a:xfrm>
            <a:off x="11074059" y="369233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0" name="Oval 419"/>
          <p:cNvSpPr/>
          <p:nvPr/>
        </p:nvSpPr>
        <p:spPr>
          <a:xfrm>
            <a:off x="9810339" y="38950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1" name="Oval 420"/>
          <p:cNvSpPr/>
          <p:nvPr/>
        </p:nvSpPr>
        <p:spPr>
          <a:xfrm>
            <a:off x="10778192" y="376661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Oval 421"/>
          <p:cNvSpPr/>
          <p:nvPr/>
        </p:nvSpPr>
        <p:spPr>
          <a:xfrm>
            <a:off x="9171094" y="378015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Oval 422"/>
          <p:cNvSpPr/>
          <p:nvPr/>
        </p:nvSpPr>
        <p:spPr>
          <a:xfrm>
            <a:off x="9843791" y="392737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4" name="Oval 423"/>
          <p:cNvSpPr/>
          <p:nvPr/>
        </p:nvSpPr>
        <p:spPr>
          <a:xfrm>
            <a:off x="9470091" y="37441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5" name="Oval 424"/>
          <p:cNvSpPr/>
          <p:nvPr/>
        </p:nvSpPr>
        <p:spPr>
          <a:xfrm>
            <a:off x="10934140" y="363387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6" name="Oval 425"/>
          <p:cNvSpPr/>
          <p:nvPr/>
        </p:nvSpPr>
        <p:spPr>
          <a:xfrm>
            <a:off x="9923002" y="389182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7" name="Oval 426"/>
          <p:cNvSpPr/>
          <p:nvPr/>
        </p:nvSpPr>
        <p:spPr>
          <a:xfrm>
            <a:off x="10663101" y="363729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9141140" y="364453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10982147" y="370870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10622794" y="39204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9773819" y="371375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2" name="Oval 431"/>
          <p:cNvSpPr/>
          <p:nvPr/>
        </p:nvSpPr>
        <p:spPr>
          <a:xfrm>
            <a:off x="11060371" y="382751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3" name="Oval 432"/>
          <p:cNvSpPr/>
          <p:nvPr/>
        </p:nvSpPr>
        <p:spPr>
          <a:xfrm>
            <a:off x="9613896" y="386041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Oval 433"/>
          <p:cNvSpPr/>
          <p:nvPr/>
        </p:nvSpPr>
        <p:spPr>
          <a:xfrm>
            <a:off x="9726847" y="371485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Oval 434"/>
          <p:cNvSpPr/>
          <p:nvPr/>
        </p:nvSpPr>
        <p:spPr>
          <a:xfrm>
            <a:off x="9076496" y="387328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6" name="Oval 435"/>
          <p:cNvSpPr/>
          <p:nvPr/>
        </p:nvSpPr>
        <p:spPr>
          <a:xfrm>
            <a:off x="10974625" y="383312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7" name="Oval 436"/>
          <p:cNvSpPr/>
          <p:nvPr/>
        </p:nvSpPr>
        <p:spPr>
          <a:xfrm>
            <a:off x="11030341" y="363188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9555027" y="378071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11058474" y="393872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9872492" y="370673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9962800" y="378675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10998832" y="368425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9110586" y="3902912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9214572" y="3886990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9318558" y="3839374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9422543" y="3825071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9526529" y="3788003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8" name="Oval 447"/>
          <p:cNvSpPr/>
          <p:nvPr/>
        </p:nvSpPr>
        <p:spPr>
          <a:xfrm>
            <a:off x="9630514" y="3756048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9" name="Oval 448"/>
          <p:cNvSpPr/>
          <p:nvPr/>
        </p:nvSpPr>
        <p:spPr>
          <a:xfrm>
            <a:off x="9734500" y="3723985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Oval 449"/>
          <p:cNvSpPr/>
          <p:nvPr/>
        </p:nvSpPr>
        <p:spPr>
          <a:xfrm>
            <a:off x="9838486" y="3683945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Oval 450"/>
          <p:cNvSpPr/>
          <p:nvPr/>
        </p:nvSpPr>
        <p:spPr>
          <a:xfrm>
            <a:off x="9942471" y="3685430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Oval 451"/>
          <p:cNvSpPr/>
          <p:nvPr/>
        </p:nvSpPr>
        <p:spPr>
          <a:xfrm>
            <a:off x="10046457" y="3721896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3" name="Oval 452"/>
          <p:cNvSpPr/>
          <p:nvPr/>
        </p:nvSpPr>
        <p:spPr>
          <a:xfrm>
            <a:off x="10150442" y="3748108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Oval 453"/>
          <p:cNvSpPr/>
          <p:nvPr/>
        </p:nvSpPr>
        <p:spPr>
          <a:xfrm>
            <a:off x="10254428" y="3773621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Oval 454"/>
          <p:cNvSpPr/>
          <p:nvPr/>
        </p:nvSpPr>
        <p:spPr>
          <a:xfrm>
            <a:off x="10358414" y="3817999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Oval 455"/>
          <p:cNvSpPr/>
          <p:nvPr/>
        </p:nvSpPr>
        <p:spPr>
          <a:xfrm>
            <a:off x="10462399" y="3848408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7" name="Oval 456"/>
          <p:cNvSpPr/>
          <p:nvPr/>
        </p:nvSpPr>
        <p:spPr>
          <a:xfrm>
            <a:off x="10566385" y="3842099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8" name="Oval 457"/>
          <p:cNvSpPr/>
          <p:nvPr/>
        </p:nvSpPr>
        <p:spPr>
          <a:xfrm>
            <a:off x="10670370" y="3820235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9" name="Oval 458"/>
          <p:cNvSpPr/>
          <p:nvPr/>
        </p:nvSpPr>
        <p:spPr>
          <a:xfrm>
            <a:off x="10774356" y="3802558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10878342" y="3746429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Oval 460"/>
          <p:cNvSpPr/>
          <p:nvPr/>
        </p:nvSpPr>
        <p:spPr>
          <a:xfrm>
            <a:off x="10982327" y="3719584"/>
            <a:ext cx="53035" cy="53035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Oval 461"/>
          <p:cNvSpPr/>
          <p:nvPr/>
        </p:nvSpPr>
        <p:spPr>
          <a:xfrm>
            <a:off x="11086313" y="3720980"/>
            <a:ext cx="53035" cy="53035"/>
          </a:xfrm>
          <a:prstGeom prst="ellipse">
            <a:avLst/>
          </a:prstGeom>
          <a:solidFill>
            <a:srgbClr val="12B5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3" name="Rectangle 462"/>
          <p:cNvSpPr/>
          <p:nvPr/>
        </p:nvSpPr>
        <p:spPr>
          <a:xfrm>
            <a:off x="8883944" y="4206240"/>
            <a:ext cx="2482048" cy="859536"/>
          </a:xfrm>
          <a:prstGeom prst="rect">
            <a:avLst/>
          </a:prstGeom>
          <a:solidFill>
            <a:srgbClr val="FCFDFE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TextBox 463"/>
          <p:cNvSpPr txBox="1"/>
          <p:nvPr/>
        </p:nvSpPr>
        <p:spPr>
          <a:xfrm>
            <a:off x="8975384" y="4233672"/>
            <a:ext cx="1439587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Laplacian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10373172" y="4233672"/>
            <a:ext cx="820386" cy="18288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r"/>
            <a:r>
              <a:rPr sz="1100" b="1">
                <a:solidFill>
                  <a:srgbClr val="6B7280"/>
                </a:solidFill>
                <a:latin typeface="Cambria Math"/>
                <a:ea typeface="Cambria Math"/>
              </a:rPr>
              <a:t>εₜ ~ Laplace(0, b)</a:t>
            </a:r>
          </a:p>
        </p:txBody>
      </p:sp>
      <p:sp>
        <p:nvSpPr>
          <p:cNvPr id="466" name="Rectangle 465"/>
          <p:cNvSpPr/>
          <p:nvPr/>
        </p:nvSpPr>
        <p:spPr>
          <a:xfrm>
            <a:off x="9085112" y="4933188"/>
            <a:ext cx="2079712" cy="13716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7" name="Rectangle 466"/>
          <p:cNvSpPr/>
          <p:nvPr/>
        </p:nvSpPr>
        <p:spPr>
          <a:xfrm>
            <a:off x="9085112" y="4517136"/>
            <a:ext cx="13716" cy="429768"/>
          </a:xfrm>
          <a:prstGeom prst="rect">
            <a:avLst/>
          </a:prstGeom>
          <a:solidFill>
            <a:srgbClr val="D4D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Oval 467"/>
          <p:cNvSpPr/>
          <p:nvPr/>
        </p:nvSpPr>
        <p:spPr>
          <a:xfrm>
            <a:off x="9619550" y="460260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Oval 468"/>
          <p:cNvSpPr/>
          <p:nvPr/>
        </p:nvSpPr>
        <p:spPr>
          <a:xfrm>
            <a:off x="9269184" y="473938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Oval 469"/>
          <p:cNvSpPr/>
          <p:nvPr/>
        </p:nvSpPr>
        <p:spPr>
          <a:xfrm>
            <a:off x="10544772" y="47223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Oval 470"/>
          <p:cNvSpPr/>
          <p:nvPr/>
        </p:nvSpPr>
        <p:spPr>
          <a:xfrm>
            <a:off x="9555713" y="471243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2" name="Oval 471"/>
          <p:cNvSpPr/>
          <p:nvPr/>
        </p:nvSpPr>
        <p:spPr>
          <a:xfrm>
            <a:off x="10358714" y="479735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3" name="Oval 472"/>
          <p:cNvSpPr/>
          <p:nvPr/>
        </p:nvSpPr>
        <p:spPr>
          <a:xfrm>
            <a:off x="10624229" y="485441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4" name="Oval 473"/>
          <p:cNvSpPr/>
          <p:nvPr/>
        </p:nvSpPr>
        <p:spPr>
          <a:xfrm>
            <a:off x="10450466" y="461484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5" name="Oval 474"/>
          <p:cNvSpPr/>
          <p:nvPr/>
        </p:nvSpPr>
        <p:spPr>
          <a:xfrm>
            <a:off x="10817422" y="467182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6" name="Oval 475"/>
          <p:cNvSpPr/>
          <p:nvPr/>
        </p:nvSpPr>
        <p:spPr>
          <a:xfrm>
            <a:off x="10247608" y="469795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Oval 476"/>
          <p:cNvSpPr/>
          <p:nvPr/>
        </p:nvSpPr>
        <p:spPr>
          <a:xfrm>
            <a:off x="10603620" y="464059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Oval 477"/>
          <p:cNvSpPr/>
          <p:nvPr/>
        </p:nvSpPr>
        <p:spPr>
          <a:xfrm>
            <a:off x="9583234" y="465583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Oval 478"/>
          <p:cNvSpPr/>
          <p:nvPr/>
        </p:nvSpPr>
        <p:spPr>
          <a:xfrm>
            <a:off x="9387519" y="486668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0" name="Oval 479"/>
          <p:cNvSpPr/>
          <p:nvPr/>
        </p:nvSpPr>
        <p:spPr>
          <a:xfrm>
            <a:off x="10271310" y="468256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Oval 480"/>
          <p:cNvSpPr/>
          <p:nvPr/>
        </p:nvSpPr>
        <p:spPr>
          <a:xfrm>
            <a:off x="9892363" y="490242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Oval 481"/>
          <p:cNvSpPr/>
          <p:nvPr/>
        </p:nvSpPr>
        <p:spPr>
          <a:xfrm>
            <a:off x="10123741" y="465122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Oval 482"/>
          <p:cNvSpPr/>
          <p:nvPr/>
        </p:nvSpPr>
        <p:spPr>
          <a:xfrm>
            <a:off x="10749981" y="4790491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Oval 483"/>
          <p:cNvSpPr/>
          <p:nvPr/>
        </p:nvSpPr>
        <p:spPr>
          <a:xfrm>
            <a:off x="11129555" y="460863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Oval 484"/>
          <p:cNvSpPr/>
          <p:nvPr/>
        </p:nvSpPr>
        <p:spPr>
          <a:xfrm>
            <a:off x="10056022" y="484520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6" name="Oval 485"/>
          <p:cNvSpPr/>
          <p:nvPr/>
        </p:nvSpPr>
        <p:spPr>
          <a:xfrm>
            <a:off x="10816768" y="487665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7" name="Oval 486"/>
          <p:cNvSpPr/>
          <p:nvPr/>
        </p:nvSpPr>
        <p:spPr>
          <a:xfrm>
            <a:off x="9152594" y="467178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8" name="Oval 487"/>
          <p:cNvSpPr/>
          <p:nvPr/>
        </p:nvSpPr>
        <p:spPr>
          <a:xfrm>
            <a:off x="9316589" y="463742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9" name="Oval 488"/>
          <p:cNvSpPr/>
          <p:nvPr/>
        </p:nvSpPr>
        <p:spPr>
          <a:xfrm>
            <a:off x="11092140" y="4767343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0" name="Oval 489"/>
          <p:cNvSpPr/>
          <p:nvPr/>
        </p:nvSpPr>
        <p:spPr>
          <a:xfrm>
            <a:off x="11003146" y="4697715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10869948" y="472308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9609270" y="4831567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11035440" y="4609768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10308467" y="4779474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5" name="Oval 494"/>
          <p:cNvSpPr/>
          <p:nvPr/>
        </p:nvSpPr>
        <p:spPr>
          <a:xfrm>
            <a:off x="9521292" y="4696550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6" name="Oval 495"/>
          <p:cNvSpPr/>
          <p:nvPr/>
        </p:nvSpPr>
        <p:spPr>
          <a:xfrm>
            <a:off x="9362660" y="464217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7" name="Oval 496"/>
          <p:cNvSpPr/>
          <p:nvPr/>
        </p:nvSpPr>
        <p:spPr>
          <a:xfrm>
            <a:off x="9598800" y="4772699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8" name="Oval 497"/>
          <p:cNvSpPr/>
          <p:nvPr/>
        </p:nvSpPr>
        <p:spPr>
          <a:xfrm>
            <a:off x="10423882" y="4642002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9" name="Oval 498"/>
          <p:cNvSpPr/>
          <p:nvPr/>
        </p:nvSpPr>
        <p:spPr>
          <a:xfrm>
            <a:off x="9092319" y="4682866"/>
            <a:ext cx="32918" cy="32918"/>
          </a:xfrm>
          <a:prstGeom prst="ellipse">
            <a:avLst/>
          </a:prstGeom>
          <a:solidFill>
            <a:srgbClr val="A7AD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0" name="Oval 499"/>
          <p:cNvSpPr/>
          <p:nvPr/>
        </p:nvSpPr>
        <p:spPr>
          <a:xfrm>
            <a:off x="9116363" y="4737295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9231903" y="4745274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2" name="Oval 501"/>
          <p:cNvSpPr/>
          <p:nvPr/>
        </p:nvSpPr>
        <p:spPr>
          <a:xfrm>
            <a:off x="9347442" y="4736714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Oval 502"/>
          <p:cNvSpPr/>
          <p:nvPr/>
        </p:nvSpPr>
        <p:spPr>
          <a:xfrm>
            <a:off x="9462982" y="4713103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Oval 503"/>
          <p:cNvSpPr/>
          <p:nvPr/>
        </p:nvSpPr>
        <p:spPr>
          <a:xfrm>
            <a:off x="9578522" y="4720339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Oval 504"/>
          <p:cNvSpPr/>
          <p:nvPr/>
        </p:nvSpPr>
        <p:spPr>
          <a:xfrm>
            <a:off x="9694061" y="4762264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Oval 505"/>
          <p:cNvSpPr/>
          <p:nvPr/>
        </p:nvSpPr>
        <p:spPr>
          <a:xfrm>
            <a:off x="9809601" y="4718392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7" name="Oval 506"/>
          <p:cNvSpPr/>
          <p:nvPr/>
        </p:nvSpPr>
        <p:spPr>
          <a:xfrm>
            <a:off x="9925140" y="4725025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8" name="Oval 507"/>
          <p:cNvSpPr/>
          <p:nvPr/>
        </p:nvSpPr>
        <p:spPr>
          <a:xfrm>
            <a:off x="10040680" y="4756647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9" name="Oval 508"/>
          <p:cNvSpPr/>
          <p:nvPr/>
        </p:nvSpPr>
        <p:spPr>
          <a:xfrm>
            <a:off x="10156219" y="4709100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0" name="Oval 509"/>
          <p:cNvSpPr/>
          <p:nvPr/>
        </p:nvSpPr>
        <p:spPr>
          <a:xfrm>
            <a:off x="10271759" y="4737345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1" name="Oval 510"/>
          <p:cNvSpPr/>
          <p:nvPr/>
        </p:nvSpPr>
        <p:spPr>
          <a:xfrm>
            <a:off x="10387298" y="4738820"/>
            <a:ext cx="53035" cy="53035"/>
          </a:xfrm>
          <a:prstGeom prst="ellipse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Oval 511"/>
          <p:cNvSpPr/>
          <p:nvPr/>
        </p:nvSpPr>
        <p:spPr>
          <a:xfrm>
            <a:off x="10502838" y="4556544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Oval 512"/>
          <p:cNvSpPr/>
          <p:nvPr/>
        </p:nvSpPr>
        <p:spPr>
          <a:xfrm>
            <a:off x="10618378" y="4894855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10733917" y="4581298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5" name="Oval 514"/>
          <p:cNvSpPr/>
          <p:nvPr/>
        </p:nvSpPr>
        <p:spPr>
          <a:xfrm>
            <a:off x="10849457" y="4870100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Oval 515"/>
          <p:cNvSpPr/>
          <p:nvPr/>
        </p:nvSpPr>
        <p:spPr>
          <a:xfrm>
            <a:off x="10964996" y="4544166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Oval 516"/>
          <p:cNvSpPr/>
          <p:nvPr/>
        </p:nvSpPr>
        <p:spPr>
          <a:xfrm>
            <a:off x="11080536" y="4911358"/>
            <a:ext cx="53035" cy="53035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Rectangle 517"/>
          <p:cNvSpPr/>
          <p:nvPr/>
        </p:nvSpPr>
        <p:spPr>
          <a:xfrm>
            <a:off x="713232" y="5230368"/>
            <a:ext cx="26334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Rectangle 518"/>
          <p:cNvSpPr/>
          <p:nvPr/>
        </p:nvSpPr>
        <p:spPr>
          <a:xfrm>
            <a:off x="713232" y="5230368"/>
            <a:ext cx="2633472" cy="23774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TextBox 519"/>
          <p:cNvSpPr txBox="1"/>
          <p:nvPr/>
        </p:nvSpPr>
        <p:spPr>
          <a:xfrm>
            <a:off x="804672" y="5230368"/>
            <a:ext cx="24505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Episode</a:t>
            </a:r>
          </a:p>
        </p:txBody>
      </p:sp>
      <p:sp>
        <p:nvSpPr>
          <p:cNvPr id="521" name="TextBox 520"/>
          <p:cNvSpPr txBox="1"/>
          <p:nvPr/>
        </p:nvSpPr>
        <p:spPr>
          <a:xfrm>
            <a:off x="804672" y="5541264"/>
            <a:ext cx="2450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K ~ U(Kmin,Kmax),  L_k ~ U(Lmin,Lmax)</a:t>
            </a:r>
          </a:p>
        </p:txBody>
      </p:sp>
      <p:sp>
        <p:nvSpPr>
          <p:cNvPr id="522" name="TextBox 521"/>
          <p:cNvSpPr txBox="1"/>
          <p:nvPr/>
        </p:nvSpPr>
        <p:spPr>
          <a:xfrm>
            <a:off x="841248" y="5797296"/>
            <a:ext cx="2377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구간 개수와 길이를 먼저 결정</a:t>
            </a:r>
          </a:p>
        </p:txBody>
      </p:sp>
      <p:sp>
        <p:nvSpPr>
          <p:cNvPr id="523" name="Rectangle 522"/>
          <p:cNvSpPr/>
          <p:nvPr/>
        </p:nvSpPr>
        <p:spPr>
          <a:xfrm>
            <a:off x="3511296" y="5230368"/>
            <a:ext cx="26334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Rectangle 523"/>
          <p:cNvSpPr/>
          <p:nvPr/>
        </p:nvSpPr>
        <p:spPr>
          <a:xfrm>
            <a:off x="3511296" y="5230368"/>
            <a:ext cx="2633472" cy="23774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TextBox 524"/>
          <p:cNvSpPr txBox="1"/>
          <p:nvPr/>
        </p:nvSpPr>
        <p:spPr>
          <a:xfrm>
            <a:off x="3602736" y="5230368"/>
            <a:ext cx="24505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Density</a:t>
            </a:r>
          </a:p>
        </p:txBody>
      </p:sp>
      <p:sp>
        <p:nvSpPr>
          <p:cNvPr id="526" name="TextBox 525"/>
          <p:cNvSpPr txBox="1"/>
          <p:nvPr/>
        </p:nvSpPr>
        <p:spPr>
          <a:xfrm>
            <a:off x="3602736" y="5541264"/>
            <a:ext cx="2450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m_k ~ Cat(5 density types)</a:t>
            </a:r>
          </a:p>
        </p:txBody>
      </p:sp>
      <p:sp>
        <p:nvSpPr>
          <p:cNvPr id="527" name="TextBox 526"/>
          <p:cNvSpPr txBox="1"/>
          <p:nvPr/>
        </p:nvSpPr>
        <p:spPr>
          <a:xfrm>
            <a:off x="3639312" y="5797296"/>
            <a:ext cx="2377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구간별 관측 point 수를 결정</a:t>
            </a:r>
          </a:p>
        </p:txBody>
      </p:sp>
      <p:sp>
        <p:nvSpPr>
          <p:cNvPr id="528" name="Rectangle 527"/>
          <p:cNvSpPr/>
          <p:nvPr/>
        </p:nvSpPr>
        <p:spPr>
          <a:xfrm>
            <a:off x="6309360" y="5230368"/>
            <a:ext cx="26334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Rectangle 528"/>
          <p:cNvSpPr/>
          <p:nvPr/>
        </p:nvSpPr>
        <p:spPr>
          <a:xfrm>
            <a:off x="6309360" y="5230368"/>
            <a:ext cx="2633472" cy="23774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TextBox 529"/>
          <p:cNvSpPr txBox="1"/>
          <p:nvPr/>
        </p:nvSpPr>
        <p:spPr>
          <a:xfrm>
            <a:off x="6400800" y="5230368"/>
            <a:ext cx="24505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Noise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6400800" y="5541264"/>
            <a:ext cx="2450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ε_t ~ N / AR(1) / Laplace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6437376" y="5797296"/>
            <a:ext cx="2377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측정 산포 family를 episode별 부여</a:t>
            </a:r>
          </a:p>
        </p:txBody>
      </p:sp>
      <p:sp>
        <p:nvSpPr>
          <p:cNvPr id="533" name="Rectangle 532"/>
          <p:cNvSpPr/>
          <p:nvPr/>
        </p:nvSpPr>
        <p:spPr>
          <a:xfrm>
            <a:off x="9107424" y="5230368"/>
            <a:ext cx="2633472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Rectangle 533"/>
          <p:cNvSpPr/>
          <p:nvPr/>
        </p:nvSpPr>
        <p:spPr>
          <a:xfrm>
            <a:off x="9107424" y="5230368"/>
            <a:ext cx="2633472" cy="237744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TextBox 534"/>
          <p:cNvSpPr txBox="1"/>
          <p:nvPr/>
        </p:nvSpPr>
        <p:spPr>
          <a:xfrm>
            <a:off x="9198864" y="5230368"/>
            <a:ext cx="2450592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Output</a:t>
            </a:r>
          </a:p>
        </p:txBody>
      </p:sp>
      <p:sp>
        <p:nvSpPr>
          <p:cNvPr id="536" name="TextBox 535"/>
          <p:cNvSpPr txBox="1"/>
          <p:nvPr/>
        </p:nvSpPr>
        <p:spPr>
          <a:xfrm>
            <a:off x="9198864" y="5541264"/>
            <a:ext cx="24505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Cambria Math"/>
                <a:ea typeface="Cambria Math"/>
              </a:rPr>
              <a:t>y_t = μ_region(t) + ε_t</a:t>
            </a:r>
          </a:p>
        </p:txBody>
      </p:sp>
      <p:sp>
        <p:nvSpPr>
          <p:cNvPr id="537" name="TextBox 536"/>
          <p:cNvSpPr txBox="1"/>
          <p:nvPr/>
        </p:nvSpPr>
        <p:spPr>
          <a:xfrm>
            <a:off x="9235440" y="5797296"/>
            <a:ext cx="23774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1A1F2E"/>
                </a:solidFill>
                <a:latin typeface="맑은 고딕"/>
                <a:ea typeface="맑은 고딕"/>
              </a:rPr>
              <a:t>active 구간만 연결</a:t>
            </a:r>
          </a:p>
        </p:txBody>
      </p:sp>
      <p:sp>
        <p:nvSpPr>
          <p:cNvPr id="538" name="TextBox 537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539" name="TextBox 538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75488"/>
            <a:ext cx="109728" cy="658368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38912"/>
            <a:ext cx="108813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A929E"/>
                </a:solidFill>
                <a:latin typeface="맑은 고딕"/>
                <a:ea typeface="맑은 고딕"/>
              </a:rPr>
              <a:t>P3 | binary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658368"/>
            <a:ext cx="1088136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50" b="1">
                <a:solidFill>
                  <a:srgbClr val="0F1E3D"/>
                </a:solidFill>
                <a:latin typeface="맑은 고딕"/>
                <a:ea typeface="맑은 고딕"/>
              </a:rPr>
              <a:t>anomaly 주입 규칙과 binary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515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20">
                <a:solidFill>
                  <a:srgbClr val="1A1F2E"/>
                </a:solidFill>
                <a:latin typeface="맑은 고딕"/>
                <a:ea typeface="맑은 고딕"/>
              </a:rPr>
              <a:t>Normal baseline에 5가지 anomaly injection rule을 더해 normal/abnormal binary validation을 수행</a:t>
            </a:r>
          </a:p>
        </p:txBody>
      </p:sp>
      <p:sp>
        <p:nvSpPr>
          <p:cNvPr id="6" name="Rectangle 5"/>
          <p:cNvSpPr/>
          <p:nvPr/>
        </p:nvSpPr>
        <p:spPr>
          <a:xfrm>
            <a:off x="1051560" y="1700784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end_mean_shift_view.png"/>
          <p:cNvPicPr>
            <a:picLocks noChangeAspect="1"/>
          </p:cNvPicPr>
          <p:nvPr/>
        </p:nvPicPr>
        <p:blipFill>
          <a:blip r:embed="rId2"/>
          <a:srcRect t="18971" b="18971"/>
          <a:stretch>
            <a:fillRect/>
          </a:stretch>
        </p:blipFill>
        <p:spPr>
          <a:xfrm>
            <a:off x="1106424" y="1755648"/>
            <a:ext cx="3136392" cy="1627632"/>
          </a:xfrm>
          <a:prstGeom prst="rect">
            <a:avLst/>
          </a:prstGeom>
          <a:effectLst/>
        </p:spPr>
      </p:pic>
      <p:sp>
        <p:nvSpPr>
          <p:cNvPr id="8" name="Rectangle 7"/>
          <p:cNvSpPr/>
          <p:nvPr/>
        </p:nvSpPr>
        <p:spPr>
          <a:xfrm>
            <a:off x="1161288" y="1810512"/>
            <a:ext cx="10789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97864" y="1819656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Mean shift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62272" y="1700784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rend_standard_deviation_view.png"/>
          <p:cNvPicPr>
            <a:picLocks noChangeAspect="1"/>
          </p:cNvPicPr>
          <p:nvPr/>
        </p:nvPicPr>
        <p:blipFill>
          <a:blip r:embed="rId3"/>
          <a:srcRect t="18971" b="18971"/>
          <a:stretch>
            <a:fillRect/>
          </a:stretch>
        </p:blipFill>
        <p:spPr>
          <a:xfrm>
            <a:off x="4517136" y="1755648"/>
            <a:ext cx="3136392" cy="1627632"/>
          </a:xfrm>
          <a:prstGeom prst="rect">
            <a:avLst/>
          </a:prstGeom>
          <a:effectLst/>
        </p:spPr>
      </p:pic>
      <p:sp>
        <p:nvSpPr>
          <p:cNvPr id="12" name="Rectangle 11"/>
          <p:cNvSpPr/>
          <p:nvPr/>
        </p:nvSpPr>
        <p:spPr>
          <a:xfrm>
            <a:off x="4572000" y="1810512"/>
            <a:ext cx="10789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1819656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Std change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72984" y="1700784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rend_spike_view.png"/>
          <p:cNvPicPr>
            <a:picLocks noChangeAspect="1"/>
          </p:cNvPicPr>
          <p:nvPr/>
        </p:nvPicPr>
        <p:blipFill>
          <a:blip r:embed="rId4"/>
          <a:srcRect t="18971" b="18971"/>
          <a:stretch>
            <a:fillRect/>
          </a:stretch>
        </p:blipFill>
        <p:spPr>
          <a:xfrm>
            <a:off x="7927848" y="1755648"/>
            <a:ext cx="3136392" cy="1627632"/>
          </a:xfrm>
          <a:prstGeom prst="rect">
            <a:avLst/>
          </a:prstGeom>
          <a:effectLst/>
        </p:spPr>
      </p:pic>
      <p:sp>
        <p:nvSpPr>
          <p:cNvPr id="16" name="Rectangle 15"/>
          <p:cNvSpPr/>
          <p:nvPr/>
        </p:nvSpPr>
        <p:spPr>
          <a:xfrm>
            <a:off x="7982712" y="1810512"/>
            <a:ext cx="10789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19288" y="1819656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Spike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3566160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trend_drift_view.png"/>
          <p:cNvPicPr>
            <a:picLocks noChangeAspect="1"/>
          </p:cNvPicPr>
          <p:nvPr/>
        </p:nvPicPr>
        <p:blipFill>
          <a:blip r:embed="rId5"/>
          <a:srcRect t="18971" b="18971"/>
          <a:stretch>
            <a:fillRect/>
          </a:stretch>
        </p:blipFill>
        <p:spPr>
          <a:xfrm>
            <a:off x="1106424" y="3621024"/>
            <a:ext cx="3136392" cy="1627632"/>
          </a:xfrm>
          <a:prstGeom prst="rect">
            <a:avLst/>
          </a:prstGeom>
          <a:effectLst/>
        </p:spPr>
      </p:pic>
      <p:sp>
        <p:nvSpPr>
          <p:cNvPr id="20" name="Rectangle 19"/>
          <p:cNvSpPr/>
          <p:nvPr/>
        </p:nvSpPr>
        <p:spPr>
          <a:xfrm>
            <a:off x="1161288" y="3675888"/>
            <a:ext cx="10789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97864" y="36850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Drift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62272" y="3566160"/>
            <a:ext cx="32461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trend_context_view.png"/>
          <p:cNvPicPr>
            <a:picLocks noChangeAspect="1"/>
          </p:cNvPicPr>
          <p:nvPr/>
        </p:nvPicPr>
        <p:blipFill>
          <a:blip r:embed="rId6"/>
          <a:srcRect t="18971" b="18971"/>
          <a:stretch>
            <a:fillRect/>
          </a:stretch>
        </p:blipFill>
        <p:spPr>
          <a:xfrm>
            <a:off x="4517136" y="3621024"/>
            <a:ext cx="3136392" cy="1627632"/>
          </a:xfrm>
          <a:prstGeom prst="rect">
            <a:avLst/>
          </a:prstGeom>
          <a:effectLst/>
        </p:spPr>
      </p:pic>
      <p:sp>
        <p:nvSpPr>
          <p:cNvPr id="24" name="Rectangle 23"/>
          <p:cNvSpPr/>
          <p:nvPr/>
        </p:nvSpPr>
        <p:spPr>
          <a:xfrm>
            <a:off x="4572000" y="3675888"/>
            <a:ext cx="1078992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08576" y="3685032"/>
            <a:ext cx="1005840" cy="2011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Context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72984" y="3566160"/>
            <a:ext cx="3246120" cy="173736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872984" y="3566160"/>
            <a:ext cx="91440" cy="1737360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3712464"/>
            <a:ext cx="2862072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Injection equations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10728" y="4005072"/>
            <a:ext cx="2770632" cy="12070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mean:  y_t = x_t + δ</a:t>
            </a:r>
          </a:p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scale: y_t = μ + A(x_t - μ)</a:t>
            </a:r>
          </a:p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spike: y_t = x_t + Σ A_i 1(t=t_i)</a:t>
            </a:r>
          </a:p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drift: y_t = x_t + r(t-s)</a:t>
            </a:r>
          </a:p>
          <a:p>
            <a:pPr algn="l"/>
            <a:r>
              <a:rPr sz="1100">
                <a:solidFill>
                  <a:srgbClr val="1A1F2E"/>
                </a:solidFill>
                <a:latin typeface="Consolas"/>
                <a:ea typeface="Consolas"/>
              </a:rPr>
              <a:t>context: fleet/reference-relative shift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321808"/>
            <a:ext cx="10561320" cy="640080"/>
          </a:xfrm>
          <a:prstGeom prst="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431536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Test 1,500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112" y="5687568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normal 750 / abnormal 750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35224" y="5404104"/>
            <a:ext cx="12700" cy="475488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08376" y="5431536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F1 0.9967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08376" y="5687568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TN746 / FP4 / FN1 / TP749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47488" y="5404104"/>
            <a:ext cx="12700" cy="475488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5431536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2BA66B"/>
                </a:solidFill>
                <a:latin typeface="맑은 고딕"/>
                <a:ea typeface="맑은 고딕"/>
              </a:rPr>
              <a:t>Recall 0.9987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20640" y="5687568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abnormal class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59752" y="5404104"/>
            <a:ext cx="12700" cy="475488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32904" y="5431536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2BA66B"/>
                </a:solidFill>
                <a:latin typeface="맑은 고딕"/>
                <a:ea typeface="맑은 고딕"/>
              </a:rPr>
              <a:t>5-seed best 0.9987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32904" y="5687568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TN748 / FP2 / FN0 / TP750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72016" y="5404104"/>
            <a:ext cx="12700" cy="475488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45168" y="5431536"/>
            <a:ext cx="1965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threshold 0.9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45168" y="5687568"/>
            <a:ext cx="196596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p(normal) ≥ 0.9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P3 | robustness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robustness와 입력 민감도 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74320" indent="-274320">
              <a:spcAft>
                <a:spcPts val="500"/>
              </a:spcAft>
            </a:pPr>
            <a:r>
              <a:rPr sz="1450" b="0">
                <a:solidFill>
                  <a:srgbClr val="96A0AD"/>
                </a:solidFill>
                <a:latin typeface="맑은 고딕"/>
                <a:ea typeface="맑은 고딕"/>
              </a:rPr>
              <a:t>●  </a:t>
            </a:r>
            <a:r>
              <a:rPr sz="1450">
                <a:solidFill>
                  <a:srgbClr val="1A1F2E"/>
                </a:solidFill>
                <a:latin typeface="맑은 고딕"/>
                <a:ea typeface="맑은 고딕"/>
              </a:rPr>
              <a:t>입력 표현과 checkpoint 선택 민감도 확인 장. main claim은 binary-F1 0.9967</a:t>
            </a:r>
          </a:p>
        </p:txBody>
      </p:sp>
      <p:sp>
        <p:nvSpPr>
          <p:cNvPr id="6" name="Rectangle 5"/>
          <p:cNvSpPr/>
          <p:nvPr/>
        </p:nvSpPr>
        <p:spPr>
          <a:xfrm>
            <a:off x="1517904" y="2377440"/>
            <a:ext cx="447141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63640" y="2377440"/>
            <a:ext cx="447141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17904" y="4434840"/>
            <a:ext cx="447141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4434840"/>
            <a:ext cx="4471416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9344" y="2432304"/>
            <a:ext cx="4288536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Validation option ablation — binary F1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04060" y="3443370"/>
            <a:ext cx="713232" cy="113646"/>
          </a:xfrm>
          <a:prstGeom prst="rect">
            <a:avLst/>
          </a:prstGeom>
          <a:solidFill>
            <a:srgbClr val="AEB4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64208" y="3205626"/>
            <a:ext cx="139293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0.9967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584448"/>
            <a:ext cx="139293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Main claim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3785616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FN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3959352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FP 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6996" y="3329723"/>
            <a:ext cx="713232" cy="227293"/>
          </a:xfrm>
          <a:prstGeom prst="rect">
            <a:avLst/>
          </a:prstGeom>
          <a:solidFill>
            <a:srgbClr val="3A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7144" y="3091979"/>
            <a:ext cx="139293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0.9971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7144" y="3584448"/>
            <a:ext cx="139293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Base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7144" y="3785616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FN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57144" y="3959352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FP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89932" y="2875135"/>
            <a:ext cx="713232" cy="681881"/>
          </a:xfrm>
          <a:prstGeom prst="rect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50080" y="2637391"/>
            <a:ext cx="139293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0.9987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0080" y="3584448"/>
            <a:ext cx="139293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5-seed best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0080" y="3785616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FN 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0080" y="3959352"/>
            <a:ext cx="1392936" cy="1737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6B7280"/>
                </a:solidFill>
                <a:latin typeface="맑은 고딕"/>
                <a:ea typeface="맑은 고딕"/>
              </a:rPr>
              <a:t>FP 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664208" y="3557016"/>
            <a:ext cx="4178808" cy="0"/>
          </a:xfrm>
          <a:prstGeom prst="line">
            <a:avLst/>
          </a:prstGeom>
          <a:ln w="1397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55080" y="2432304"/>
            <a:ext cx="4288536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5-seed robustness — summary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9944" y="2944368"/>
            <a:ext cx="2034540" cy="1115568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83096" y="3072384"/>
            <a:ext cx="188823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6B7280"/>
                </a:solidFill>
                <a:latin typeface="맑은 고딕"/>
                <a:ea typeface="맑은 고딕"/>
              </a:rPr>
              <a:t>5-seed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3096" y="3328416"/>
            <a:ext cx="1888236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F1E3D"/>
                </a:solidFill>
                <a:latin typeface="맑은 고딕"/>
                <a:ea typeface="맑은 고딕"/>
              </a:rPr>
              <a:t>일관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3703320"/>
            <a:ext cx="188823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mean 0.9967 / best 0.9987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54212" y="2944368"/>
            <a:ext cx="2034540" cy="1115568"/>
          </a:xfrm>
          <a:prstGeom prst="rect">
            <a:avLst/>
          </a:prstGeom>
          <a:solidFill>
            <a:srgbClr val="F4F7FB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27364" y="3072384"/>
            <a:ext cx="188823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6B7280"/>
                </a:solidFill>
                <a:latin typeface="맑은 고딕"/>
                <a:ea typeface="맑은 고딕"/>
              </a:rPr>
              <a:t>Test split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27364" y="3328416"/>
            <a:ext cx="1888236" cy="34747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0F1E3D"/>
                </a:solidFill>
                <a:latin typeface="맑은 고딕"/>
                <a:ea typeface="맑은 고딕"/>
              </a:rPr>
              <a:t>1,500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27364" y="3703320"/>
            <a:ext cx="188823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750 / 750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9344" y="4489704"/>
            <a:ext cx="4288536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Smoothing — 후속 3-epoch median best 선택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9344" y="4727448"/>
            <a:ext cx="1097280" cy="16459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val F1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929384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7718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066053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634388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02723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771057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339392" y="4892040"/>
            <a:ext cx="0" cy="868680"/>
          </a:xfrm>
          <a:prstGeom prst="line">
            <a:avLst/>
          </a:prstGeom>
          <a:ln w="10160">
            <a:solidFill>
              <a:srgbClr val="ECEFF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929384" y="5471159"/>
            <a:ext cx="284167" cy="124098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213551" y="5388428"/>
            <a:ext cx="284167" cy="82731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497718" y="5326380"/>
            <a:ext cx="284168" cy="62048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781886" y="4954088"/>
            <a:ext cx="284167" cy="372292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66053" y="4954088"/>
            <a:ext cx="284167" cy="496389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350220" y="5305697"/>
            <a:ext cx="284168" cy="144780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634388" y="5243648"/>
            <a:ext cx="284167" cy="62049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918555" y="5202282"/>
            <a:ext cx="284168" cy="41366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4202723" y="5160917"/>
            <a:ext cx="284167" cy="41365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486890" y="5150575"/>
            <a:ext cx="284167" cy="10342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4771057" y="5140234"/>
            <a:ext cx="284168" cy="10341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055225" y="5129892"/>
            <a:ext cx="284167" cy="10342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339392" y="5129892"/>
            <a:ext cx="284168" cy="10342"/>
          </a:xfrm>
          <a:prstGeom prst="line">
            <a:avLst/>
          </a:prstGeom>
          <a:ln w="19050">
            <a:solidFill>
              <a:srgbClr val="AEB4B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929384" y="5388428"/>
            <a:ext cx="284167" cy="82731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2213551" y="5326380"/>
            <a:ext cx="284167" cy="62048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497718" y="5326380"/>
            <a:ext cx="284168" cy="0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2781886" y="5305697"/>
            <a:ext cx="284167" cy="20683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3066053" y="5305697"/>
            <a:ext cx="284167" cy="0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350220" y="5243648"/>
            <a:ext cx="284168" cy="62049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634388" y="5202282"/>
            <a:ext cx="284167" cy="41366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8555" y="5160917"/>
            <a:ext cx="284168" cy="41365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4202723" y="5150575"/>
            <a:ext cx="284167" cy="10342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486890" y="5140234"/>
            <a:ext cx="284167" cy="10341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771057" y="5140234"/>
            <a:ext cx="284168" cy="0"/>
          </a:xfrm>
          <a:prstGeom prst="line">
            <a:avLst/>
          </a:prstGeom>
          <a:ln w="35560">
            <a:solidFill>
              <a:srgbClr val="3A6FD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3015761" y="4903796"/>
            <a:ext cx="100584" cy="100584"/>
          </a:xfrm>
          <a:prstGeom prst="ellipse">
            <a:avLst/>
          </a:prstGeom>
          <a:solidFill>
            <a:srgbClr val="CC3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Diamond 69"/>
          <p:cNvSpPr/>
          <p:nvPr/>
        </p:nvSpPr>
        <p:spPr>
          <a:xfrm>
            <a:off x="4702477" y="5071654"/>
            <a:ext cx="137160" cy="137160"/>
          </a:xfrm>
          <a:prstGeom prst="diamond">
            <a:avLst/>
          </a:prstGeom>
          <a:solidFill>
            <a:srgbClr val="0F1E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" name="Connector 70"/>
          <p:cNvCxnSpPr/>
          <p:nvPr/>
        </p:nvCxnSpPr>
        <p:spPr>
          <a:xfrm>
            <a:off x="1929384" y="5760720"/>
            <a:ext cx="3694176" cy="0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929384" y="4855464"/>
            <a:ext cx="0" cy="90525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1929384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1728216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2497718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2296550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3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3066053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/>
          <p:cNvSpPr txBox="1"/>
          <p:nvPr/>
        </p:nvSpPr>
        <p:spPr>
          <a:xfrm>
            <a:off x="2864885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5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3634388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3433220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7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4202723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4001555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9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4771057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4569889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11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5339392" y="5760720"/>
            <a:ext cx="0" cy="36576"/>
          </a:xfrm>
          <a:prstGeom prst="line">
            <a:avLst/>
          </a:prstGeom>
          <a:ln w="12700">
            <a:solidFill>
              <a:srgbClr val="C7CDD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5138224" y="5797296"/>
            <a:ext cx="402336" cy="13716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13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700784" y="5934456"/>
            <a:ext cx="4151376" cy="12801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epoch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609344" y="6067044"/>
            <a:ext cx="4288536" cy="15544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>
                <a:solidFill>
                  <a:srgbClr val="CC3328"/>
                </a:solidFill>
                <a:latin typeface="맑은 고딕"/>
                <a:ea typeface="맑은 고딕"/>
              </a:rPr>
              <a:t>● single-epoch spike    </a:t>
            </a:r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◆ median best → test 0.9987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355080" y="4480560"/>
            <a:ext cx="4288536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Rendering sensitivity check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355080" y="4718304"/>
            <a:ext cx="4288536" cy="21945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same train/val/test color policy; label-independent</a:t>
            </a:r>
          </a:p>
        </p:txBody>
      </p:sp>
      <p:pic>
        <p:nvPicPr>
          <p:cNvPr id="91" name="Picture 90" descr="p3r_color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2340" y="4965192"/>
            <a:ext cx="996696" cy="996696"/>
          </a:xfrm>
          <a:prstGeom prst="rect">
            <a:avLst/>
          </a:prstGeom>
        </p:spPr>
      </p:pic>
      <p:sp>
        <p:nvSpPr>
          <p:cNvPr id="92" name="TextBox 91"/>
          <p:cNvSpPr txBox="1"/>
          <p:nvPr/>
        </p:nvSpPr>
        <p:spPr>
          <a:xfrm>
            <a:off x="7155180" y="5989320"/>
            <a:ext cx="127101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Before (파랑)</a:t>
            </a:r>
          </a:p>
        </p:txBody>
      </p:sp>
      <p:pic>
        <p:nvPicPr>
          <p:cNvPr id="93" name="Picture 92" descr="p3r_color_c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9660" y="4965192"/>
            <a:ext cx="996696" cy="996696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8572500" y="5989320"/>
            <a:ext cx="1271016" cy="201168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After (빨강)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02920"/>
            <a:ext cx="123444" cy="768096"/>
          </a:xfrm>
          <a:prstGeom prst="rect">
            <a:avLst/>
          </a:prstGeom>
          <a:solidFill>
            <a:srgbClr val="CFD4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32688" y="448056"/>
            <a:ext cx="108813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8A929E"/>
                </a:solidFill>
                <a:latin typeface="맑은 고딕"/>
                <a:ea typeface="맑은 고딕"/>
              </a:rPr>
              <a:t>로드맵 | 완료 시기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32688" y="704088"/>
            <a:ext cx="108813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완료 시기 및 현장 적용 로드맵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41080" y="603504"/>
            <a:ext cx="1325880" cy="402336"/>
          </a:xfrm>
          <a:prstGeom prst="round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F1E3D"/>
                </a:solidFill>
                <a:latin typeface="맑은 고딕"/>
                <a:ea typeface="맑은 고딕"/>
              </a:rPr>
              <a:t>완료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104120" y="603504"/>
            <a:ext cx="1325880" cy="402336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6B7280"/>
                </a:solidFill>
                <a:latin typeface="맑은 고딕"/>
                <a:ea typeface="맑은 고딕"/>
              </a:rPr>
              <a:t>예정 2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3730752"/>
            <a:ext cx="9902952" cy="38100"/>
          </a:xfrm>
          <a:prstGeom prst="rect">
            <a:avLst/>
          </a:prstGeom>
          <a:solidFill>
            <a:srgbClr val="D7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1570" y="3127248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6696" y="3603498"/>
            <a:ext cx="292608" cy="292608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4320" y="2084831"/>
            <a:ext cx="2286000" cy="1060704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084831"/>
            <a:ext cx="2286000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84831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2024.10</a:t>
            </a:r>
          </a:p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P1 착수</a:t>
            </a:r>
          </a:p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파이프라인과 viewer 설계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12160" y="3877056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77286" y="3603498"/>
            <a:ext cx="292608" cy="292608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80590" y="4206240"/>
            <a:ext cx="2286000" cy="1060704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80590" y="4206240"/>
            <a:ext cx="2286000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72030" y="4206240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2025.03</a:t>
            </a:r>
          </a:p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P2 모델 개발</a:t>
            </a:r>
          </a:p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FCM-PM, val-margin 검증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2750" y="3127248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57876" y="3603498"/>
            <a:ext cx="292608" cy="292608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961180" y="2084831"/>
            <a:ext cx="2286000" cy="1060704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61180" y="2084831"/>
            <a:ext cx="2286000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52620" y="2084831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2025.05</a:t>
            </a:r>
          </a:p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P1 viewer 양산 개시</a:t>
            </a:r>
          </a:p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DRAM 전제품, 일 2만 wafer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073340" y="3877056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938466" y="3603498"/>
            <a:ext cx="292608" cy="292608"/>
          </a:xfrm>
          <a:prstGeom prst="ellipse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1770" y="4206240"/>
            <a:ext cx="2286000" cy="1060704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1770" y="4206240"/>
            <a:ext cx="2286000" cy="64008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3210" y="4206240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2026.01</a:t>
            </a:r>
          </a:p>
          <a:p>
            <a:pPr algn="ctr"/>
            <a:r>
              <a:rPr sz="1150" b="1">
                <a:solidFill>
                  <a:srgbClr val="0F1E3D"/>
                </a:solidFill>
                <a:latin typeface="맑은 고딕"/>
                <a:ea typeface="맑은 고딕"/>
              </a:rPr>
              <a:t>P3 Trend anomaly PoC</a:t>
            </a:r>
          </a:p>
          <a:p>
            <a:pPr algn="ct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episode generation, binary validation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3930" y="3127248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19056" y="3603498"/>
            <a:ext cx="292608" cy="29260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96A0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22360" y="2084831"/>
            <a:ext cx="2286000" cy="1060704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922360" y="2084831"/>
            <a:ext cx="2286000" cy="64008"/>
          </a:xfrm>
          <a:prstGeom prst="rect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3800" y="2084831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6B7280"/>
                </a:solidFill>
                <a:latin typeface="맑은 고딕"/>
                <a:ea typeface="맑은 고딕"/>
              </a:rPr>
              <a:t>2026.09</a:t>
            </a:r>
          </a:p>
          <a:p>
            <a:pPr algn="ctr"/>
            <a:r>
              <a:rPr sz="1150" b="1">
                <a:solidFill>
                  <a:srgbClr val="5A6474"/>
                </a:solidFill>
                <a:latin typeface="맑은 고딕"/>
                <a:ea typeface="맑은 고딕"/>
              </a:rPr>
              <a:t>P1/P2 모델 배포 검증</a:t>
            </a:r>
          </a:p>
          <a:p>
            <a:pPr algn="ctr"/>
            <a:r>
              <a:rPr sz="1100">
                <a:solidFill>
                  <a:srgbClr val="737D8C"/>
                </a:solidFill>
                <a:latin typeface="맑은 고딕"/>
                <a:ea typeface="맑은 고딕"/>
              </a:rPr>
              <a:t>GPU 할당 후 양산 적용 검증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034520" y="3877056"/>
            <a:ext cx="22860" cy="457200"/>
          </a:xfrm>
          <a:prstGeom prst="rect">
            <a:avLst/>
          </a:prstGeom>
          <a:solidFill>
            <a:srgbClr val="C7C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899646" y="3603498"/>
            <a:ext cx="292608" cy="292608"/>
          </a:xfrm>
          <a:prstGeom prst="ellipse">
            <a:avLst/>
          </a:prstGeom>
          <a:solidFill>
            <a:srgbClr val="FFFFFF"/>
          </a:solidFill>
          <a:ln w="28575">
            <a:solidFill>
              <a:srgbClr val="96A0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400032" y="4206240"/>
            <a:ext cx="2286000" cy="1060704"/>
          </a:xfrm>
          <a:prstGeom prst="round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400032" y="4206240"/>
            <a:ext cx="2286000" cy="64008"/>
          </a:xfrm>
          <a:prstGeom prst="rect">
            <a:avLst/>
          </a:prstGeom>
          <a:solidFill>
            <a:srgbClr val="C2CC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91472" y="4206240"/>
            <a:ext cx="2103120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6B7280"/>
                </a:solidFill>
                <a:latin typeface="맑은 고딕"/>
                <a:ea typeface="맑은 고딕"/>
              </a:rPr>
              <a:t>2026.12</a:t>
            </a:r>
          </a:p>
          <a:p>
            <a:pPr algn="ctr"/>
            <a:r>
              <a:rPr sz="1150" b="1">
                <a:solidFill>
                  <a:srgbClr val="5A6474"/>
                </a:solidFill>
                <a:latin typeface="맑은 고딕"/>
                <a:ea typeface="맑은 고딕"/>
              </a:rPr>
              <a:t>P3 Trend anomaly 현업 검증</a:t>
            </a:r>
          </a:p>
          <a:p>
            <a:pPr algn="ctr"/>
            <a:r>
              <a:rPr sz="1100">
                <a:solidFill>
                  <a:srgbClr val="737D8C"/>
                </a:solidFill>
                <a:latin typeface="맑은 고딕"/>
                <a:ea typeface="맑은 고딕"/>
              </a:rPr>
              <a:t>real trend 기준 검증 완료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440680"/>
            <a:ext cx="11091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운영 유지보수 (재학습/모니터링) — </a:t>
            </a:r>
            <a:r>
              <a:rPr sz="1100">
                <a:solidFill>
                  <a:srgbClr val="3A485C"/>
                </a:solidFill>
                <a:latin typeface="맑은 고딕"/>
                <a:ea typeface="맑은 고딕"/>
              </a:rPr>
              <a:t>현업 CSV predict-검토-fine-tune 재학습 wrapper (P3), NT sweep FN/FP 모니터링, viewer label-retrain 루프 (P1) (트리거: NT 임계 초과/신규 label 누적)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769864"/>
            <a:ext cx="110916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확장 계획 (타 공정/제품) — </a:t>
            </a:r>
            <a:r>
              <a:rPr sz="1100">
                <a:solidFill>
                  <a:srgbClr val="3A485C"/>
                </a:solidFill>
                <a:latin typeface="맑은 고딕"/>
                <a:ea typeface="맑은 고딕"/>
              </a:rPr>
              <a:t>episode generator config 재현으로 타 공정 복제 (P3), obj-id map Stage-2 [개발 중], image+measure multimodal (P1)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144768"/>
            <a:ext cx="566928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확산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15568" y="6144768"/>
            <a:ext cx="1423416" cy="27432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52144" y="6144768"/>
            <a:ext cx="1350264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현업 viewer 도입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38984" y="6144768"/>
            <a:ext cx="219456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758440" y="6144768"/>
            <a:ext cx="1423416" cy="27432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795016" y="6144768"/>
            <a:ext cx="1350264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Confluence 문서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81856" y="6144768"/>
            <a:ext cx="219456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96A0AD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01312" y="6144768"/>
            <a:ext cx="1423416" cy="274320"/>
          </a:xfrm>
          <a:prstGeom prst="roundRect">
            <a:avLst/>
          </a:prstGeom>
          <a:solidFill>
            <a:srgbClr val="F4F6F8"/>
          </a:solidFill>
          <a:ln w="9525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37888" y="6144768"/>
            <a:ext cx="1350264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E3D"/>
                </a:solidFill>
                <a:latin typeface="맑은 고딕"/>
                <a:ea typeface="맑은 고딕"/>
              </a:rPr>
              <a:t>세미나/코드 교육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9320" y="6144768"/>
            <a:ext cx="565099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P1/P2 = 2026.09 GPU 배포 검증, P3 = 2026.12 현업 검증 예정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100584" cy="25603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결론 | 평가 항목 대응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123444" cy="768096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060704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평가 항목별 핵심 근거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901952"/>
            <a:ext cx="3407664" cy="384048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901952"/>
            <a:ext cx="3407664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157984"/>
            <a:ext cx="28956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E3D"/>
                </a:solidFill>
                <a:latin typeface="맑은 고딕"/>
                <a:ea typeface="맑은 고딕"/>
              </a:rPr>
              <a:t>기술 전문성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9264" y="2615184"/>
            <a:ext cx="28956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2416" y="2615184"/>
            <a:ext cx="274929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문제정의 · 모델 ·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" y="3145536"/>
            <a:ext cx="2895600" cy="4572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9264" y="3145536"/>
            <a:ext cx="73152" cy="45720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3856" y="3145536"/>
            <a:ext cx="26395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F2E"/>
                </a:solidFill>
                <a:latin typeface="맑은 고딕"/>
                <a:ea typeface="맑은 고딕"/>
              </a:rPr>
              <a:t>P1: FBM 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" y="3749040"/>
            <a:ext cx="2895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69264" y="3749040"/>
            <a:ext cx="73152" cy="45720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3749040"/>
            <a:ext cx="26395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A1F2E"/>
                </a:solidFill>
                <a:latin typeface="맑은 고딕"/>
                <a:ea typeface="맑은 고딕"/>
              </a:rPr>
              <a:t>P2: FCM-PM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9264" y="4352544"/>
            <a:ext cx="2895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9264" y="4352544"/>
            <a:ext cx="73152" cy="45720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" y="4352544"/>
            <a:ext cx="26395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A1F2E"/>
                </a:solidFill>
                <a:latin typeface="맑은 고딕"/>
                <a:ea typeface="맑은 고딕"/>
              </a:rPr>
              <a:t>P3: generator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95216" y="1901952"/>
            <a:ext cx="3407664" cy="384048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95216" y="1901952"/>
            <a:ext cx="3407664" cy="91440"/>
          </a:xfrm>
          <a:prstGeom prst="rect">
            <a:avLst/>
          </a:prstGeom>
          <a:solidFill>
            <a:srgbClr val="4B6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51248" y="2157984"/>
            <a:ext cx="28956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E3D"/>
                </a:solidFill>
                <a:latin typeface="맑은 고딕"/>
                <a:ea typeface="맑은 고딕"/>
              </a:rPr>
              <a:t>기술 리더십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51248" y="2615184"/>
            <a:ext cx="28956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24400" y="2615184"/>
            <a:ext cx="274929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협업 · 의사결정 · 확산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51248" y="3145536"/>
            <a:ext cx="2895600" cy="4572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51248" y="3145536"/>
            <a:ext cx="73152" cy="457200"/>
          </a:xfrm>
          <a:prstGeom prst="rect">
            <a:avLst/>
          </a:prstGeom>
          <a:solidFill>
            <a:srgbClr val="4B6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15840" y="3145536"/>
            <a:ext cx="26395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F2E"/>
                </a:solidFill>
                <a:latin typeface="맑은 고딕"/>
                <a:ea typeface="맑은 고딕"/>
              </a:rPr>
              <a:t>현업/관리자와 운영·검증 flow 주도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51248" y="3749040"/>
            <a:ext cx="2895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51248" y="3749040"/>
            <a:ext cx="73152" cy="457200"/>
          </a:xfrm>
          <a:prstGeom prst="rect">
            <a:avLst/>
          </a:prstGeom>
          <a:solidFill>
            <a:srgbClr val="4B6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15840" y="3749040"/>
            <a:ext cx="26395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A1F2E"/>
                </a:solidFill>
                <a:latin typeface="맑은 고딕"/>
                <a:ea typeface="맑은 고딕"/>
              </a:rPr>
              <a:t>교수 자문 기반 기술 선택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51248" y="4352544"/>
            <a:ext cx="2895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651248" y="4352544"/>
            <a:ext cx="73152" cy="457200"/>
          </a:xfrm>
          <a:prstGeom prst="rect">
            <a:avLst/>
          </a:prstGeom>
          <a:solidFill>
            <a:srgbClr val="4B6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15840" y="4352544"/>
            <a:ext cx="26395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A1F2E"/>
                </a:solidFill>
                <a:latin typeface="맑은 고딕"/>
                <a:ea typeface="맑은 고딕"/>
              </a:rPr>
              <a:t>세미나·문서·코드 교육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77200" y="1901952"/>
            <a:ext cx="3407664" cy="3840480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77200" y="1901952"/>
            <a:ext cx="3407664" cy="91440"/>
          </a:xfrm>
          <a:prstGeom prst="rect">
            <a:avLst/>
          </a:prstGeom>
          <a:solidFill>
            <a:srgbClr val="2E7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33232" y="2157984"/>
            <a:ext cx="28956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E3D"/>
                </a:solidFill>
                <a:latin typeface="맑은 고딕"/>
                <a:ea typeface="맑은 고딕"/>
              </a:rPr>
              <a:t>기술성과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33232" y="2615184"/>
            <a:ext cx="2895600" cy="329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06384" y="2615184"/>
            <a:ext cx="2749296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20" b="1">
                <a:solidFill>
                  <a:srgbClr val="0F1E3D"/>
                </a:solidFill>
                <a:latin typeface="맑은 고딕"/>
                <a:ea typeface="맑은 고딕"/>
              </a:rPr>
              <a:t>양산 · KPI · 확장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33232" y="3145536"/>
            <a:ext cx="2895600" cy="4572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333232" y="3145536"/>
            <a:ext cx="73152" cy="457200"/>
          </a:xfrm>
          <a:prstGeom prst="rect">
            <a:avLst/>
          </a:prstGeom>
          <a:solidFill>
            <a:srgbClr val="2E7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97824" y="3145536"/>
            <a:ext cx="26395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1A1F2E"/>
                </a:solidFill>
                <a:latin typeface="맑은 고딕"/>
                <a:ea typeface="맑은 고딕"/>
              </a:rPr>
              <a:t>P1 viewer 양산 운영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33232" y="3749040"/>
            <a:ext cx="2895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33232" y="3749040"/>
            <a:ext cx="73152" cy="457200"/>
          </a:xfrm>
          <a:prstGeom prst="rect">
            <a:avLst/>
          </a:prstGeom>
          <a:solidFill>
            <a:srgbClr val="2E7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497824" y="3749040"/>
            <a:ext cx="26395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A1F2E"/>
                </a:solidFill>
                <a:latin typeface="맑은 고딕"/>
                <a:ea typeface="맑은 고딕"/>
              </a:rPr>
              <a:t>공수 90%↓, 수율 +0.02%p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33232" y="4352544"/>
            <a:ext cx="2895600" cy="45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333232" y="4352544"/>
            <a:ext cx="73152" cy="457200"/>
          </a:xfrm>
          <a:prstGeom prst="rect">
            <a:avLst/>
          </a:prstGeom>
          <a:solidFill>
            <a:srgbClr val="2E7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97824" y="4352544"/>
            <a:ext cx="263956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0">
                <a:solidFill>
                  <a:srgbClr val="1A1F2E"/>
                </a:solidFill>
                <a:latin typeface="맑은 고딕"/>
                <a:ea typeface="맑은 고딕"/>
              </a:rPr>
              <a:t>object-id map·multimodal 확장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58368"/>
            <a:ext cx="100584" cy="256032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64008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>
                <a:solidFill>
                  <a:srgbClr val="96A0AD"/>
                </a:solidFill>
                <a:latin typeface="맑은 고딕"/>
                <a:ea typeface="맑은 고딕"/>
              </a:rPr>
              <a:t>결론 | 프로젝트별 양식 대응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24128"/>
            <a:ext cx="123444" cy="768096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060704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100" b="1">
                <a:solidFill>
                  <a:srgbClr val="0F1E3D"/>
                </a:solidFill>
                <a:latin typeface="맑은 고딕"/>
                <a:ea typeface="맑은 고딕"/>
              </a:rPr>
              <a:t>프로젝트별 공식 양식 대응표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83664"/>
            <a:ext cx="10771632" cy="3675888"/>
          </a:xfrm>
          <a:prstGeom prst="roundRect">
            <a:avLst/>
          </a:prstGeom>
          <a:solidFill>
            <a:srgbClr val="F2F5FA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" y="1883664"/>
            <a:ext cx="10771632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3232" y="1883664"/>
            <a:ext cx="1078992" cy="566928"/>
          </a:xfrm>
          <a:prstGeom prst="rect">
            <a:avLst/>
          </a:prstGeom>
          <a:solidFill>
            <a:srgbClr val="ECF1F7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883664"/>
            <a:ext cx="1078992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96A0AD"/>
                </a:solidFill>
                <a:latin typeface="맑은 고딕"/>
                <a:ea typeface="맑은 고딕"/>
              </a:rPr>
              <a:t>양식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92224" y="1883664"/>
            <a:ext cx="3230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92224" y="1883664"/>
            <a:ext cx="3230880" cy="9144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83664" y="1883664"/>
            <a:ext cx="3048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80" b="1">
                <a:solidFill>
                  <a:srgbClr val="0F1E3D"/>
                </a:solidFill>
                <a:latin typeface="맑은 고딕"/>
                <a:ea typeface="맑은 고딕"/>
              </a:rPr>
              <a:t>P1  Failbit 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3104" y="1883664"/>
            <a:ext cx="3230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3104" y="1883664"/>
            <a:ext cx="3230880" cy="91440"/>
          </a:xfrm>
          <a:prstGeom prst="rect">
            <a:avLst/>
          </a:prstGeom>
          <a:solidFill>
            <a:srgbClr val="4B63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14544" y="1883664"/>
            <a:ext cx="3048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80" b="1">
                <a:solidFill>
                  <a:srgbClr val="0F1E3D"/>
                </a:solidFill>
                <a:latin typeface="맑은 고딕"/>
                <a:ea typeface="맑은 고딕"/>
              </a:rPr>
              <a:t>P2  Chip Multi-label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53984" y="1883664"/>
            <a:ext cx="3230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53984" y="1883664"/>
            <a:ext cx="3230880" cy="91440"/>
          </a:xfrm>
          <a:prstGeom prst="rect">
            <a:avLst/>
          </a:prstGeom>
          <a:solidFill>
            <a:srgbClr val="2E7D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5424" y="1883664"/>
            <a:ext cx="3048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80" b="1">
                <a:solidFill>
                  <a:srgbClr val="0F1E3D"/>
                </a:solidFill>
                <a:latin typeface="맑은 고딕"/>
                <a:ea typeface="맑은 고딕"/>
              </a:rPr>
              <a:t>P3  Trend Anomaly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2450592"/>
            <a:ext cx="1078992" cy="621792"/>
          </a:xfrm>
          <a:prstGeom prst="rect">
            <a:avLst/>
          </a:prstGeom>
          <a:solidFill>
            <a:srgbClr val="ECF1F7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2450592"/>
            <a:ext cx="96926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96A0AD"/>
                </a:solidFill>
                <a:latin typeface="맑은 고딕"/>
                <a:ea typeface="맑은 고딕"/>
              </a:rPr>
              <a:t>2 소개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92224" y="2450592"/>
            <a:ext cx="3230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01952" y="2450592"/>
            <a:ext cx="301142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70" b="1">
                <a:solidFill>
                  <a:srgbClr val="1A1F2E"/>
                </a:solidFill>
                <a:latin typeface="맑은 고딕"/>
                <a:ea typeface="맑은 고딕"/>
              </a:rPr>
              <a:t>고질불량 · 신규 후보 · 대량 조회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3104" y="2450592"/>
            <a:ext cx="3230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2832" y="2450592"/>
            <a:ext cx="301142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70" b="1">
                <a:solidFill>
                  <a:srgbClr val="1A1F2E"/>
                </a:solidFill>
                <a:latin typeface="맑은 고딕"/>
                <a:ea typeface="맑은 고딕"/>
              </a:rPr>
              <a:t>계측값 한계 · 중복 라벨 부족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53984" y="2450592"/>
            <a:ext cx="3230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3712" y="2450592"/>
            <a:ext cx="301142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70" b="1">
                <a:solidFill>
                  <a:srgbClr val="1A1F2E"/>
                </a:solidFill>
                <a:latin typeface="맑은 고딕"/>
                <a:ea typeface="맑은 고딕"/>
              </a:rPr>
              <a:t>이상 라벨 부족 · 검증 병목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2" y="3072384"/>
            <a:ext cx="1078992" cy="621792"/>
          </a:xfrm>
          <a:prstGeom prst="rect">
            <a:avLst/>
          </a:prstGeom>
          <a:solidFill>
            <a:srgbClr val="ECF1F7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8096" y="3072384"/>
            <a:ext cx="96926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96A0AD"/>
                </a:solidFill>
                <a:latin typeface="맑은 고딕"/>
                <a:ea typeface="맑은 고딕"/>
              </a:rPr>
              <a:t>3 개발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92224" y="3072384"/>
            <a:ext cx="3230880" cy="621792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01952" y="3072384"/>
            <a:ext cx="301142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70" b="0">
                <a:solidFill>
                  <a:srgbClr val="1A1F2E"/>
                </a:solidFill>
                <a:latin typeface="맑은 고딕"/>
                <a:ea typeface="맑은 고딕"/>
              </a:rPr>
              <a:t>map 생성 · viewer · AI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3104" y="3072384"/>
            <a:ext cx="3230880" cy="621792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32832" y="3072384"/>
            <a:ext cx="301142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70" b="0">
                <a:solidFill>
                  <a:srgbClr val="1A1F2E"/>
                </a:solidFill>
                <a:latin typeface="맑은 고딕"/>
                <a:ea typeface="맑은 고딕"/>
              </a:rPr>
              <a:t>FCM-PM · val-margin · NB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53984" y="3072384"/>
            <a:ext cx="3230880" cy="621792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363712" y="3072384"/>
            <a:ext cx="301142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70" b="0">
                <a:solidFill>
                  <a:srgbClr val="1A1F2E"/>
                </a:solidFill>
                <a:latin typeface="맑은 고딕"/>
                <a:ea typeface="맑은 고딕"/>
              </a:rPr>
              <a:t>rule generator · binary 검증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2" y="3694176"/>
            <a:ext cx="1078992" cy="621792"/>
          </a:xfrm>
          <a:prstGeom prst="rect">
            <a:avLst/>
          </a:prstGeom>
          <a:solidFill>
            <a:srgbClr val="ECF1F7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" y="3694176"/>
            <a:ext cx="96926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96A0AD"/>
                </a:solidFill>
                <a:latin typeface="맑은 고딕"/>
                <a:ea typeface="맑은 고딕"/>
              </a:rPr>
              <a:t>4 성과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92224" y="3694176"/>
            <a:ext cx="3230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01952" y="3694176"/>
            <a:ext cx="301142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70" b="0">
                <a:solidFill>
                  <a:srgbClr val="1A1F2E"/>
                </a:solidFill>
                <a:latin typeface="맑은 고딕"/>
                <a:ea typeface="맑은 고딕"/>
              </a:rPr>
              <a:t>일 2만 wafer, 공수 90%↓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3104" y="3694176"/>
            <a:ext cx="3230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32832" y="3694176"/>
            <a:ext cx="301142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70" b="0">
                <a:solidFill>
                  <a:srgbClr val="1A1F2E"/>
                </a:solidFill>
                <a:latin typeface="맑은 고딕"/>
                <a:ea typeface="맑은 고딕"/>
              </a:rPr>
              <a:t>bit-F1 0.9927 · FAR 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53984" y="3694176"/>
            <a:ext cx="3230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3712" y="3694176"/>
            <a:ext cx="301142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70" b="0">
                <a:solidFill>
                  <a:srgbClr val="1A1F2E"/>
                </a:solidFill>
                <a:latin typeface="맑은 고딕"/>
                <a:ea typeface="맑은 고딕"/>
              </a:rPr>
              <a:t>7,000 benchmark · F1 0.9967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13232" y="4315968"/>
            <a:ext cx="1078992" cy="621792"/>
          </a:xfrm>
          <a:prstGeom prst="rect">
            <a:avLst/>
          </a:prstGeom>
          <a:solidFill>
            <a:srgbClr val="ECF1F7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" y="4315968"/>
            <a:ext cx="96926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96A0AD"/>
                </a:solidFill>
                <a:latin typeface="맑은 고딕"/>
                <a:ea typeface="맑은 고딕"/>
              </a:rPr>
              <a:t>5 확장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92224" y="4315968"/>
            <a:ext cx="3230880" cy="621792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01952" y="4315968"/>
            <a:ext cx="301142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70" b="0">
                <a:solidFill>
                  <a:srgbClr val="1A1F2E"/>
                </a:solidFill>
                <a:latin typeface="맑은 고딕"/>
                <a:ea typeface="맑은 고딕"/>
              </a:rPr>
              <a:t>chip map · 영상+수치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23104" y="4315968"/>
            <a:ext cx="3230880" cy="621792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32832" y="4315968"/>
            <a:ext cx="301142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70" b="0">
                <a:solidFill>
                  <a:srgbClr val="1A1F2E"/>
                </a:solidFill>
                <a:latin typeface="맑은 고딕"/>
                <a:ea typeface="맑은 고딕"/>
              </a:rPr>
              <a:t>KD · threshold · 1x 후보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53984" y="4315968"/>
            <a:ext cx="3230880" cy="621792"/>
          </a:xfrm>
          <a:prstGeom prst="rect">
            <a:avLst/>
          </a:prstGeom>
          <a:solidFill>
            <a:srgbClr val="F7F9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63712" y="4315968"/>
            <a:ext cx="301142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70" b="0">
                <a:solidFill>
                  <a:srgbClr val="1A1F2E"/>
                </a:solidFill>
                <a:latin typeface="맑은 고딕"/>
                <a:ea typeface="맑은 고딕"/>
              </a:rPr>
              <a:t>real trend · L1 monitoring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3232" y="4937760"/>
            <a:ext cx="1078992" cy="621792"/>
          </a:xfrm>
          <a:prstGeom prst="rect">
            <a:avLst/>
          </a:prstGeom>
          <a:solidFill>
            <a:srgbClr val="ECF1F7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8096" y="4937760"/>
            <a:ext cx="96926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80" b="1">
                <a:solidFill>
                  <a:srgbClr val="96A0AD"/>
                </a:solidFill>
                <a:latin typeface="맑은 고딕"/>
                <a:ea typeface="맑은 고딕"/>
              </a:rPr>
              <a:t>6 기여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92224" y="4937760"/>
            <a:ext cx="3230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901952" y="4937760"/>
            <a:ext cx="301142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70" b="0">
                <a:solidFill>
                  <a:srgbClr val="1A1F2E"/>
                </a:solidFill>
                <a:latin typeface="맑은 고딕"/>
                <a:ea typeface="맑은 고딕"/>
              </a:rPr>
              <a:t>설계·구현 60%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023104" y="4937760"/>
            <a:ext cx="3230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32832" y="4937760"/>
            <a:ext cx="301142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70" b="0">
                <a:solidFill>
                  <a:srgbClr val="1A1F2E"/>
                </a:solidFill>
                <a:latin typeface="맑은 고딕"/>
                <a:ea typeface="맑은 고딕"/>
              </a:rPr>
              <a:t>설계·검증 80%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253984" y="4937760"/>
            <a:ext cx="32308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63712" y="4937760"/>
            <a:ext cx="3011424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70" b="0">
                <a:solidFill>
                  <a:srgbClr val="1A1F2E"/>
                </a:solidFill>
                <a:latin typeface="맑은 고딕"/>
                <a:ea typeface="맑은 고딕"/>
              </a:rPr>
              <a:t>rule 코드화 70%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13232" y="5998464"/>
            <a:ext cx="10771632" cy="457200"/>
          </a:xfrm>
          <a:prstGeom prst="roundRect">
            <a:avLst/>
          </a:prstGeom>
          <a:solidFill>
            <a:srgbClr val="ECF1F7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13232" y="5998464"/>
            <a:ext cx="91440" cy="457200"/>
          </a:xfrm>
          <a:prstGeom prst="rect">
            <a:avLst/>
          </a:prstGeom>
          <a:solidFill>
            <a:srgbClr val="96A0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9264" y="5998464"/>
            <a:ext cx="1031443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E3D"/>
                </a:solidFill>
                <a:latin typeface="맑은 고딕"/>
                <a:ea typeface="맑은 고딕"/>
              </a:rPr>
              <a:t>채점표 대응 — 기술 전문성 · 기술 리더십 · 기술성과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6437376"/>
            <a:ext cx="822960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최호길 | QIE Data Science | AI Specialist 인증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72800" y="6437376"/>
            <a:ext cx="758952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100">
                <a:solidFill>
                  <a:srgbClr val="6B7280"/>
                </a:solidFill>
                <a:latin typeface="맑은 고딕"/>
                <a:ea typeface="맑은 고딕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