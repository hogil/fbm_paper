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5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'26 AI Specialist 면접 심사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AI Specialist 인증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>
                <a:solidFill>
                  <a:srgbClr val="475569"/>
                </a:solidFill>
                <a:latin typeface="맑은 고딕"/>
                <a:ea typeface="맑은 고딕"/>
              </a:rPr>
              <a:t>14년 제조 경력(계측/품질 10년)을 바탕으로 데이터 처리 구조, viewer backend/frontend, AI model까지 직접 설계한 3개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DSM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DSM 파트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커리어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반도체 계측 도메인에서 제조품질 AI로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35024"/>
            <a:ext cx="10972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DSM 파트, 14년차  |  연세대학교 인공지능학과 석사 (야간, '25.09~ 재학)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2013.07 입사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Photo 기술팀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BBD / Overlay / CD 계측 분석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86684" y="2075688"/>
            <a:ext cx="237744" cy="237744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61004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61004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25596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2016 ~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596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DX 제작 / 강사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5596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SQL/Spotfire/VBA, HTML/JS web tool 운영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07608" y="2075688"/>
            <a:ext cx="237744" cy="237744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8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81928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2021 ~ 2023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D1b 신제품 TF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BBD / Overlay 담당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828532" y="2075688"/>
            <a:ext cx="237744" cy="237744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02852" y="1737360"/>
            <a:ext cx="2510028" cy="914400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02852" y="1737360"/>
            <a:ext cx="2510028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67444" y="1847088"/>
            <a:ext cx="218084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2023.03 ~ 현재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7444" y="2066544"/>
            <a:ext cx="218084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QIE그룹 DSM 파트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7444" y="2331720"/>
            <a:ext cx="2180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556075"/>
                </a:solidFill>
                <a:latin typeface="맑은 고딕"/>
                <a:ea typeface="맑은 고딕"/>
              </a:rPr>
              <a:t>QIE 전배, P1/P2/P3 AI 직접 설계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2788920"/>
            <a:ext cx="5257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3232" y="2862072"/>
            <a:ext cx="5111496" cy="2084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2862072"/>
            <a:ext cx="5111496" cy="201168"/>
          </a:xfrm>
          <a:prstGeom prst="rect">
            <a:avLst/>
          </a:prstGeom>
          <a:solidFill>
            <a:srgbClr val="E9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04672" y="2930652"/>
            <a:ext cx="64008" cy="64008"/>
          </a:xfrm>
          <a:prstGeom prst="ellipse">
            <a:avLst/>
          </a:prstGeom>
          <a:solidFill>
            <a:srgbClr val="E06C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23544" y="2930652"/>
            <a:ext cx="64008" cy="64008"/>
          </a:xfrm>
          <a:prstGeom prst="ellipse">
            <a:avLst/>
          </a:prstGeom>
          <a:solidFill>
            <a:srgbClr val="E6B5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42416" y="2930652"/>
            <a:ext cx="64008" cy="64008"/>
          </a:xfrm>
          <a:prstGeom prst="ellipse">
            <a:avLst/>
          </a:prstGeom>
          <a:solidFill>
            <a:srgbClr val="5CB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207008" y="2930652"/>
            <a:ext cx="4507992" cy="91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3232" y="3063240"/>
            <a:ext cx="5111496" cy="219456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12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2984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7556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2848" y="3136392"/>
            <a:ext cx="347472" cy="731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822960" y="3392424"/>
            <a:ext cx="1600200" cy="548640"/>
          </a:xfrm>
          <a:prstGeom prst="roundRect">
            <a:avLst/>
          </a:prstGeom>
          <a:solidFill>
            <a:srgbClr val="EE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468880" y="3392424"/>
            <a:ext cx="1600200" cy="548640"/>
          </a:xfrm>
          <a:prstGeom prst="roundRect">
            <a:avLst/>
          </a:prstGeom>
          <a:solidFill>
            <a:srgbClr val="EE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14800" y="3392424"/>
            <a:ext cx="1600200" cy="548640"/>
          </a:xfrm>
          <a:prstGeom prst="roundRect">
            <a:avLst/>
          </a:prstGeom>
          <a:solidFill>
            <a:srgbClr val="EE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2960" y="4087368"/>
            <a:ext cx="4892040" cy="155448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22960" y="4334256"/>
            <a:ext cx="4892040" cy="15544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2960" y="4581144"/>
            <a:ext cx="4892040" cy="155448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" y="4983480"/>
            <a:ext cx="5257800" cy="2743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983480"/>
            <a:ext cx="5257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DX web tool 홈페이지 (HTML / JS, Bootstrap)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2788920"/>
            <a:ext cx="5257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2C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564" y="2862072"/>
            <a:ext cx="2084832" cy="2084832"/>
          </a:xfrm>
          <a:prstGeom prst="rect">
            <a:avLst/>
          </a:prstGeom>
        </p:spPr>
      </p:pic>
      <p:sp>
        <p:nvSpPr>
          <p:cNvPr id="51" name="Rectangle 50"/>
          <p:cNvSpPr/>
          <p:nvPr/>
        </p:nvSpPr>
        <p:spPr>
          <a:xfrm>
            <a:off x="6355080" y="4983480"/>
            <a:ext cx="5257800" cy="27432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5080" y="4983480"/>
            <a:ext cx="5257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D1b TF BBD / Overlay wafer map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400"/>
            <a:ext cx="10972800" cy="84124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40080" y="5486400"/>
            <a:ext cx="82296" cy="8412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" y="5541264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수상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874519" y="5541264"/>
            <a:ext cx="9555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Challenger, '26 MTC 제안 1등급, '26 삼성 논문상 초록 통과, '26 메모리사업부 PEER AWARD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" y="5943600"/>
            <a:ext cx="11430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강사 / 교육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74519" y="5943600"/>
            <a:ext cx="95554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'21 하반기 메모리사업부 우수강사, '23 메모리제조센터 우수강사, '24 DS Data Scientist 교육 수료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P1/P2/P3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3개 과제 핵심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Failbit Map failure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478024"/>
            <a:ext cx="1408176" cy="1408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고질불량 발생 wafer/물량 선별, 신규 불량 조기 포착, 대량 Failbit Map 조회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접근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Failbit Map 생성 + 대용량 viewer + Known/Unknown 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성과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[양산 운영] 일 2만 wafer/day, 공수 90%↓ + 수율 개선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Cython / pyvips / Numba, ConvNeXtV2 / YOLO11, contrastive / HDBSCAN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01312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01312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01312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02480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2480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2288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Chip multi-label classification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9328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hip_eval_scratch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478024"/>
            <a:ext cx="1408176" cy="140817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84192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8592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measure value 한계 + 2-combo label 확보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4192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접근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98592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single source → FCM-PM supervision + val-margin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1040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11040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84192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성과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8592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[controlled synthetic] bit-F1 0.9927 / FAR 0.00%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4192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PyTorch, FCM-PM / CutMix, Naive Bayes reject / KD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62544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62544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62544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63712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63712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13520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90560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464" y="2478024"/>
            <a:ext cx="2190496" cy="140817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345424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문제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9824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real abnormal label 부족, trend validation bottleneck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5424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접근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9824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domain-rule episode generator + binary validation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2272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72272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45424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성과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59824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[synthetic trend PoC] benchmark 7,000, binary-F1 0.9967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45424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episode generator / binary classifier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841248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" cy="13716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05072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968496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97680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261104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590288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553712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436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943600"/>
            <a:ext cx="82296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운영 상태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mapviewer D1a/b/c/d 운영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75488"/>
            <a:ext cx="8458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1E3D"/>
                </a:solidFill>
                <a:latin typeface="맑은 고딕"/>
                <a:ea typeface="맑은 고딕"/>
              </a:rPr>
              <a:t>Failbit Map  Known &amp; Unknown 분석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1481328"/>
            <a:ext cx="8458200" cy="512064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1481328"/>
            <a:ext cx="91440" cy="5120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1481328"/>
            <a:ext cx="1097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배경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81328"/>
            <a:ext cx="7040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>
                <a:solidFill>
                  <a:srgbClr val="0F1E3D"/>
                </a:solidFill>
                <a:latin typeface="맑은 고딕"/>
                <a:ea typeface="맑은 고딕"/>
              </a:rPr>
              <a:t>Failbit Map은 EDS test 결과를 wafer에 나타낸 공정개발 최종 결과 map으로, 불량 정도, 위치, 형태로 개발 수준과 공정 개선 방향을 판단합니다 (wafer당 약 1,000만 point)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문제 / AI 필요성</a:t>
            </a:r>
          </a:p>
        </p:txBody>
      </p:sp>
      <p:sp>
        <p:nvSpPr>
          <p:cNvPr id="27" name="Oval 26"/>
          <p:cNvSpPr/>
          <p:nvPr/>
        </p:nvSpPr>
        <p:spPr>
          <a:xfrm>
            <a:off x="3557016" y="3296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3118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48매 조회 / 수작업으로 대량 확인 한계</a:t>
            </a:r>
          </a:p>
        </p:txBody>
      </p:sp>
      <p:sp>
        <p:nvSpPr>
          <p:cNvPr id="29" name="Oval 28"/>
          <p:cNvSpPr/>
          <p:nvPr/>
        </p:nvSpPr>
        <p:spPr>
          <a:xfrm>
            <a:off x="3557016" y="37536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6472" y="35753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고질불량 발생 wafer 선별</a:t>
            </a:r>
          </a:p>
        </p:txBody>
      </p:sp>
      <p:sp>
        <p:nvSpPr>
          <p:cNvPr id="31" name="Oval 30"/>
          <p:cNvSpPr/>
          <p:nvPr/>
        </p:nvSpPr>
        <p:spPr>
          <a:xfrm>
            <a:off x="3557016" y="4210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4032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신규불량 조기 검출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949696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7168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7168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7168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336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개발 내용</a:t>
            </a:r>
          </a:p>
        </p:txBody>
      </p:sp>
      <p:sp>
        <p:nvSpPr>
          <p:cNvPr id="38" name="Oval 37"/>
          <p:cNvSpPr/>
          <p:nvPr/>
        </p:nvSpPr>
        <p:spPr>
          <a:xfrm>
            <a:off x="6516624" y="3067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6080" y="2889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이미지 데이터 파이프라인</a:t>
            </a:r>
          </a:p>
        </p:txBody>
      </p:sp>
      <p:sp>
        <p:nvSpPr>
          <p:cNvPr id="40" name="Oval 39"/>
          <p:cNvSpPr/>
          <p:nvPr/>
        </p:nvSpPr>
        <p:spPr>
          <a:xfrm>
            <a:off x="6516624" y="35250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36080" y="33467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대용량 이미지 조회 / 라벨링 web app</a:t>
            </a:r>
          </a:p>
        </p:txBody>
      </p:sp>
      <p:sp>
        <p:nvSpPr>
          <p:cNvPr id="42" name="Oval 41"/>
          <p:cNvSpPr/>
          <p:nvPr/>
        </p:nvSpPr>
        <p:spPr>
          <a:xfrm>
            <a:off x="6516624" y="39822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6080" y="38039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CNN 2-stage 분류</a:t>
            </a:r>
          </a:p>
        </p:txBody>
      </p:sp>
      <p:sp>
        <p:nvSpPr>
          <p:cNvPr id="44" name="Oval 43"/>
          <p:cNvSpPr/>
          <p:nvPr/>
        </p:nvSpPr>
        <p:spPr>
          <a:xfrm>
            <a:off x="6516624" y="4439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6080" y="4261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self-supervised 표현학습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909304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56776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56776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56776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7944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성과 / 확장</a:t>
            </a:r>
          </a:p>
        </p:txBody>
      </p:sp>
      <p:sp>
        <p:nvSpPr>
          <p:cNvPr id="51" name="Oval 50"/>
          <p:cNvSpPr/>
          <p:nvPr/>
        </p:nvSpPr>
        <p:spPr>
          <a:xfrm>
            <a:off x="9476232" y="2861157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5688" y="2688336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분류 F1 0.95</a:t>
            </a:r>
          </a:p>
        </p:txBody>
      </p:sp>
      <p:sp>
        <p:nvSpPr>
          <p:cNvPr id="53" name="Oval 52"/>
          <p:cNvSpPr/>
          <p:nvPr/>
        </p:nvSpPr>
        <p:spPr>
          <a:xfrm>
            <a:off x="9476232" y="3307384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5688" y="3134563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이상 검출 7/13</a:t>
            </a:r>
          </a:p>
        </p:txBody>
      </p:sp>
      <p:sp>
        <p:nvSpPr>
          <p:cNvPr id="55" name="Oval 54"/>
          <p:cNvSpPr/>
          <p:nvPr/>
        </p:nvSpPr>
        <p:spPr>
          <a:xfrm>
            <a:off x="9476232" y="3753611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95688" y="3580790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일 2만 wafer 양산 운영</a:t>
            </a:r>
          </a:p>
        </p:txBody>
      </p:sp>
      <p:sp>
        <p:nvSpPr>
          <p:cNvPr id="57" name="Oval 56"/>
          <p:cNvSpPr/>
          <p:nvPr/>
        </p:nvSpPr>
        <p:spPr>
          <a:xfrm>
            <a:off x="9476232" y="4199838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5688" y="4027017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정량 사업 기여 창출</a:t>
            </a:r>
          </a:p>
        </p:txBody>
      </p:sp>
      <p:sp>
        <p:nvSpPr>
          <p:cNvPr id="59" name="Oval 58"/>
          <p:cNvSpPr/>
          <p:nvPr/>
        </p:nvSpPr>
        <p:spPr>
          <a:xfrm>
            <a:off x="9476232" y="4646065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5688" y="4473244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object-id map 차세대 모델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37560" y="5175504"/>
            <a:ext cx="8458200" cy="43891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37560" y="5175504"/>
            <a:ext cx="82296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8728" y="5175504"/>
            <a:ext cx="1463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본인 기여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175504"/>
            <a:ext cx="6629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데이터 파이프라인 / 대용량 이미지 web app / AI 모델 전 영역 직접 설계, 구현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5650992"/>
            <a:ext cx="8458200" cy="4023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7560" y="5650992"/>
            <a:ext cx="82296" cy="40233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38728" y="5650992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기술 stack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83480" y="5650992"/>
            <a:ext cx="6629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1E3D"/>
                </a:solidFill>
                <a:latin typeface="맑은 고딕"/>
                <a:ea typeface="맑은 고딕"/>
              </a:rPr>
              <a:t>Cython / pyvips / Numba, ConvNeXtV2 / YOLO11, contrastive / HDBSCAN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좌표 보존 Failbit Map 운영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15287" y="1737360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5287" y="1737360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EDS Test  (raw fail-map log)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240280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1879" y="2212848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Cython parsing + hourly batch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287" y="2432304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2514600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(32색 palette PNG) + chip annotation (FTN / QTN / BIN)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798064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좌표 보존: 이미지, 좌표, 계측값을 같은 wafer 좌표계에 맞춰 저장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6119" y="3136392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79" y="3108960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같은 자산을 Known 및 Unknown 두 경로가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1127" y="3328416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4007" y="3374136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Known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3735" y="3657600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ConvNeXtV2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735" y="3913632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ROI-YOLO  (selective)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3735" y="416966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object-id map  [dev]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328416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3374136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Unknown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7055" y="3657600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InfoNCE + grid36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7055" y="3913632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HDBSCAN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7055" y="416966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candidate groups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986119" y="4453128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1879" y="4425696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두 경로 결과를 한 화면으로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5287" y="4645152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5287" y="4727448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Analysis UI — fast view / overlay / labeling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5287" y="5010912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운영 viewer (mapviewer): Numba composite + pyvips tile streaming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6119" y="5349240"/>
            <a:ext cx="219456" cy="164592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1879" y="5321808"/>
            <a:ext cx="402336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human-in-the-loop: register → label → retrain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15287" y="5541264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5287" y="5541264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Organizational asset base  (image-measure aligned, multimodal-ready)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ConvNeXt V2 (Woo et al., 2023)    YOLO11 (Jocher &amp; Qiu, 2024)    InfoNCE (van den Oord et al., 2018)    HDBSCAN (Campello et al., 2013)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Concept + field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이산 grade 공간 데이터 표현으로서의 Failbit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5650992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Role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Failbit Map은 공정 개발 결과를 확인하는 최종 map으로, 불량 정도와 위치, 형태를 확인해 현 개발 수준을 파악하고 공정 개선 방향을 결정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Data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EDS Failbit Map은 Memory Cell Block 단위 불량 정도를 Grade 0~7로 표현한 wafer-level data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Scale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wafer 1장은 약 1,000만 block 규모이며, chip당 1개, wafer 내 약 800개 수준의 Measure 값만으로는 불량 위치와 형상 분석에 한계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Storage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palette PNG는 grade index를 저장하고, positions JSON은 chip/block 좌표를 보존해 viewer overlay와 모델 입력을 같은 좌표계로 정렬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5412" y="1316736"/>
            <a:ext cx="4334256" cy="4681728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5412" y="1316736"/>
            <a:ext cx="4334256" cy="34747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90004" y="1316736"/>
            <a:ext cx="40050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wafer Failbit Map / Edge-Ring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5412" y="1664208"/>
            <a:ext cx="4334256" cy="43342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810512"/>
            <a:ext cx="4041648" cy="4041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6772" y="6053328"/>
            <a:ext cx="5431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A384C"/>
                </a:solidFill>
                <a:latin typeface="맑은 고딕"/>
                <a:ea typeface="맑은 고딕"/>
              </a:rPr>
              <a:t>최외곽 chip에서 동일 scratch성 fail pattern이 반복되어 edge-ring 형태로 관찰됨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데이터 생성 (fail-map)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8단계 grade → palette PNG 무손실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raw log는 대량 조회/AI 입력에 부적합 → hex-to-grade Cython 가속 + 8단계 palette PNG로 저장량 약 75%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303520" cy="4197096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56816"/>
            <a:ext cx="4809744" cy="3941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Hex-to-grade conversion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Raw: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090B0C0D0E0F090A0B0C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Decoding: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"0C" -&gt; "C" -&gt; 12 (hex to decimal) -&gt; 3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interpreter-based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Cython: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compiled integer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Grade: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0 2 3 4 5 6 0 1 2 3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1. Hex-to-grade conversion accelerated by Cython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828800"/>
            <a:ext cx="5303520" cy="4197096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956816"/>
            <a:ext cx="4809744" cy="3941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RGB PNG vs Palette-indexed PNG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Palette-indexed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P[3] = (123,54,24)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RGB_to_Palette: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(123,54,24) -&gt; (3)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2. Palette-indexed PNG for failbit map compression.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viewer 처리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대용량 Failbit Map viewer를 위한 Numba와 pyvips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대용량 palette PNG를 운영 viewer가 즉시 띄우기 어려움(메모리/속도) → Numba JIT + pyvips tile decode로 peak memory/로드 시간 절감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Numba는 메모리에 올라온 grade array의 composite 루프를 native code로 JIT 컴파일하고, pyvips는 대형 PNG를 필요한 stripe/tile만 decode해 viewer peak memory를 절감</a:t>
            </a:r>
          </a:p>
        </p:txBody>
      </p:sp>
      <p:sp>
        <p:nvSpPr>
          <p:cNvPr id="7" name="Rectangle 6"/>
          <p:cNvSpPr/>
          <p:nvPr/>
        </p:nvSpPr>
        <p:spPr>
          <a:xfrm>
            <a:off x="74615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31773" y="2587843"/>
            <a:ext cx="4720132" cy="137726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64361" y="2709367"/>
            <a:ext cx="848563" cy="324063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4361" y="2717468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2030" y="2689113"/>
            <a:ext cx="212140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Interpreter overhead inside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52544" y="2709367"/>
            <a:ext cx="954633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A8A8A"/>
                </a:solidFill>
                <a:latin typeface="맑은 고딕"/>
                <a:ea typeface="맑은 고딕"/>
              </a:rPr>
              <a:t>N times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552285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2294778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296302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370021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368454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00784" y="3730166"/>
            <a:ext cx="3394252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per-pixel interpreter dispatch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1773" y="4208160"/>
            <a:ext cx="4720132" cy="174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64361" y="4329684"/>
            <a:ext cx="848563" cy="324063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4361" y="4337785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AFTER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45512" y="4309430"/>
            <a:ext cx="222747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First call JIT-compiles typed loop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914" y="4694255"/>
            <a:ext cx="981151" cy="28355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70432" y="4710458"/>
            <a:ext cx="928115" cy="251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dtype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188707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69794" y="4653747"/>
            <a:ext cx="928115" cy="364571"/>
          </a:xfrm>
          <a:prstGeom prst="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496312" y="4669950"/>
            <a:ext cx="875080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JIT
compile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3477463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89603" y="4653747"/>
            <a:ext cx="1538020" cy="38482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2639" y="4669950"/>
            <a:ext cx="1431950" cy="35241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C1C1C"/>
                </a:solidFill>
                <a:latin typeface="맑은 고딕"/>
                <a:ea typeface="맑은 고딕"/>
              </a:rPr>
              <a:t>native loop
reused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7844" y="5281620"/>
            <a:ext cx="1087221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64361" y="5297823"/>
            <a:ext cx="1034186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data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188707" y="5366686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10688" y="5139842"/>
            <a:ext cx="2280513" cy="587364"/>
          </a:xfrm>
          <a:prstGeom prst="rect">
            <a:avLst/>
          </a:prstGeom>
          <a:solidFill>
            <a:srgbClr val="5A5A5A"/>
          </a:solidFill>
          <a:ln w="10160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90241" y="5200604"/>
            <a:ext cx="2121408" cy="4658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native loop</a:t>
            </a:r>
          </a:p>
        </p:txBody>
      </p:sp>
      <p:sp>
        <p:nvSpPr>
          <p:cNvPr id="48" name="Right Arrow 47"/>
          <p:cNvSpPr/>
          <p:nvPr/>
        </p:nvSpPr>
        <p:spPr>
          <a:xfrm>
            <a:off x="4670755" y="5366686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962448" y="5281620"/>
            <a:ext cx="530352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962448" y="5297823"/>
            <a:ext cx="530352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1543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601053" y="2648605"/>
            <a:ext cx="4720132" cy="115447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733641" y="2770129"/>
            <a:ext cx="769010" cy="303809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33641" y="2782281"/>
            <a:ext cx="769010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PILLOW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61757" y="2790383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full-frame buffer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13194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82140" y="3260274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82140" y="3316986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882140" y="3373697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07124" y="351142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7396581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688275" y="3154954"/>
            <a:ext cx="769010" cy="40507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67828" y="3215716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67828" y="3272427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67828" y="3329138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67828" y="3385849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67828" y="344256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529169" y="3576236"/>
            <a:ext cx="1087221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full RGB frame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8563356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881567" y="3142801"/>
            <a:ext cx="1113739" cy="518501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908084" y="3171157"/>
            <a:ext cx="1060704" cy="1377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full-image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61120" y="3349392"/>
            <a:ext cx="954633" cy="267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10074859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499140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568086" y="3256224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568086" y="330483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568086" y="335344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568086" y="3402052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366552" y="351142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601053" y="4147398"/>
            <a:ext cx="4720132" cy="127599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6733641" y="4268922"/>
            <a:ext cx="848563" cy="303809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733641" y="4281074"/>
            <a:ext cx="848563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LIBVIPS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61757" y="4289176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active-stripe buffer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813194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82140" y="4815779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882140" y="4872490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882140" y="4929201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707124" y="509933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7396581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688275" y="4702356"/>
            <a:ext cx="769010" cy="40507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67828" y="4763118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67828" y="4819829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67828" y="487654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67828" y="4933252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767828" y="4989963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608722" y="5123639"/>
            <a:ext cx="928115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RGB stripe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8563356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881567" y="4674001"/>
            <a:ext cx="1113739" cy="607618"/>
          </a:xfrm>
          <a:prstGeom prst="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908084" y="4686153"/>
            <a:ext cx="1060704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streaming
C pipeline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34602" y="5026420"/>
            <a:ext cx="1060704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F5F5F"/>
                </a:solidFill>
                <a:latin typeface="맑은 고딕"/>
                <a:ea typeface="맑은 고딕"/>
              </a:rPr>
              <a:t>decode/encode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10074859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499140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8086" y="4811728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8086" y="486033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8086" y="490894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568086" y="4957556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366552" y="509933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78370" y="5706953"/>
            <a:ext cx="3765499" cy="283555"/>
          </a:xfrm>
          <a:prstGeom prst="rect">
            <a:avLst/>
          </a:prstGeom>
          <a:solidFill>
            <a:srgbClr val="EAEAEA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078370" y="5731258"/>
            <a:ext cx="3765499" cy="2349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same output with bounded active rows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Known 2단계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Known 검증: CNN tuning과 ROI cascade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35024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전체 성능은 CNN이 높지만, 같은 위치의 유사 불량은 ROI-YOLO가 root cause 구분에 유리했습니다.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low-confidence sample만 2차 분류해 F1 0.92 → 0.95로 개선했습니다.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1-stage CNN (백본 선정)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불량이 특정 영역에 몰려 나타나, 넓게 보는 Transformer보다 좁은 영역을 잘 보는 CNN이 더 적합하다고 판단 (연세대 인공지능학과 전해곤 교수 자문). ConvNeXtV2는 MaxViT와 F1 0.87 동급이면서 더 가벼워 채택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Tuning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Optuna로 schedule, focal loss, class-imbalance, augmentation strength를 조정해 F1 0.92로 향상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ROI cascade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선택된 ROI 안에서 chip class와 ROI 내 배치까지 재확인하는 selective 2-stage 구조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66085"/>
            <a:ext cx="2571750" cy="2571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578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A — center scratch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043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wafer_center_bank_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430" y="2966085"/>
            <a:ext cx="2571750" cy="25717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2613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B — center bank-boundary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078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_roi_crop_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780" y="2966085"/>
            <a:ext cx="2571750" cy="25717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2648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low-confidence → ROI-YOLO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41130" y="2966085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1_chip_yolo_box_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1130" y="2966085"/>
            <a:ext cx="2571750" cy="25717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26830" y="5537835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chip 분류 + ROI 내 배치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불량 A와 B는 wafer-level에서 비슷해 1-stage로 구분이 어려운 예시.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Known 16-class backbone 탐색과 단계별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[실전 현업 데이터 validation] 16 class / 1,500 labeled / 4:1 stratified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82496"/>
          <a:ext cx="1097280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095"/>
                <a:gridCol w="3477718"/>
                <a:gridCol w="1259173"/>
                <a:gridCol w="485681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Stage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Configuration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Weighted 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Decision / note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ImageNet pretrained CNN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starting point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Swin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EffNetV2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MaxViT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119.5M params / 74.2G FLOPs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selected: 88.6M / 45.1G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HPO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warmup→cosine, focal γ2, effective class-weight, aug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4975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Cascade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 + ROI-YOLO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low-confidence only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4919472"/>
            <a:ext cx="10972800" cy="3840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4919472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919472"/>
            <a:ext cx="10698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HPO recipe — </a:t>
            </a:r>
            <a:r>
              <a:rPr sz="1100">
                <a:solidFill>
                  <a:srgbClr val="4A5666"/>
                </a:solidFill>
                <a:latin typeface="맑은 고딕"/>
                <a:ea typeface="맑은 고딕"/>
              </a:rPr>
              <a:t>LR backbone 2e-5 / head 2e-4, weight decay 0.05, warmup 5ep→cosine, focal γ=2.0, effective-number class weighting, EMA 0.95, stochastic depth 0.05, label smoothing 0.02, rotation ±15°+affine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5431536"/>
            <a:ext cx="3401568" cy="58521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43153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55955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0.78 → 0.87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587044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backbone gain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5431536"/>
            <a:ext cx="3401568" cy="58521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543153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555955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0.87 → 0.92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587044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Optuna HPO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752" y="5431536"/>
            <a:ext cx="3401568" cy="58521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543153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555955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0.92 → 0.95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587044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ROI-YOLO cascade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ConvNeXt V2 (Woo et al., 2023)    Optuna (Akiba et al., 2019)    Focal Loss (Lin et al., 2017)    YOLO11 (Jocher &amp; Qiu, 2024)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칩 식별 지도 (후속 개발)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차세대 Stage-2: ROI detection → chip identity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ROI-YOLO는 검증됐으나 class 확장/annotation cost 부담 → chip 좌표 재사용한 object-id map으로 fixed-crop 분류 전환 (개발 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Current Stage-2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ROI-YOLO는 field-validated 구조지만, 선택된 ROI 안에서 box regression, classification, NMS를 수행하므로 class 확장과 detector annotation cost 부담이 남음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Object-id map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제품별 chip coordinate를 재사용해 fixed crop classification으로 바꾸고, chip별 class id를 32×32 wafer grid에 재배치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Metric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selected obj-only: val F1 0.9946 / hold-out F1 0.9872. 별도 raw+obj-id 5-seed val F1 0.9838 ± 0.0092</a:t>
            </a:r>
          </a:p>
        </p:txBody>
      </p:sp>
      <p:pic>
        <p:nvPicPr>
          <p:cNvPr id="7" name="Picture 6" descr="AAN585_00P_18_20260501_010000_97.6_2_EE_NORMAL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200400"/>
            <a:ext cx="2340864" cy="234086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124712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7260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raw intensity</a:t>
            </a:r>
          </a:p>
        </p:txBody>
      </p:sp>
      <p:pic>
        <p:nvPicPr>
          <p:cNvPr id="10" name="Picture 9" descr="AAN585_00P_18_20260501_010000_97.6_2_EE_NORMAL_obj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3200400"/>
            <a:ext cx="2340864" cy="23408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803904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6452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object-id grid</a:t>
            </a:r>
          </a:p>
        </p:txBody>
      </p:sp>
      <p:pic>
        <p:nvPicPr>
          <p:cNvPr id="13" name="Picture 12" descr="ACZ452_00P_14_20260501_010000_97.6_2_PT_NORMAL_r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200400"/>
            <a:ext cx="2340864" cy="23408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483096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5644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raw intensity</a:t>
            </a:r>
          </a:p>
        </p:txBody>
      </p:sp>
      <p:pic>
        <p:nvPicPr>
          <p:cNvPr id="16" name="Picture 15" descr="ACZ452_00P_14_20260501_010000_97.6_2_PT_NORMAL_obj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00400"/>
            <a:ext cx="2340864" cy="2340864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162288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4836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object-id 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Field-validated 대표 성과는 ROI-YOLO 2-stage F1 0.95이고, object-id map은 detector cost와 class 확장 부담을 줄이기 위한 차세대 Stage-2 구조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Unknown 후보: embedding 후 group으로 압축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신규 불량은 정답 label이 없어 지도학습 불가 → wafer image를 embedding으로 바꾸고, 가까운 패턴끼리 묶어 검토 후보를 줄임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74519"/>
            <a:ext cx="3063240" cy="4187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3063240" cy="402336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203703"/>
            <a:ext cx="3063240" cy="73152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2104" y="1929383"/>
            <a:ext cx="2770632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1. wafer image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350007"/>
            <a:ext cx="273405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>
                <a:solidFill>
                  <a:srgbClr val="6B7280"/>
                </a:solidFill>
                <a:latin typeface="맑은 고딕"/>
                <a:ea typeface="맑은 고딕"/>
              </a:rPr>
              <a:t>label 없는 신규 불량 후보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1874519"/>
            <a:ext cx="3977639" cy="4187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50208" y="1874519"/>
            <a:ext cx="3977639" cy="402336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50208" y="2203703"/>
            <a:ext cx="3977639" cy="73152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96512" y="1929383"/>
            <a:ext cx="3685031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2. embedding space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350007"/>
            <a:ext cx="36484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>
                <a:solidFill>
                  <a:srgbClr val="6B7280"/>
                </a:solidFill>
                <a:latin typeface="맑은 고딕"/>
                <a:ea typeface="맑은 고딕"/>
              </a:rPr>
              <a:t>비슷한 wafer pattern은 가까운 점으로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5" y="1874519"/>
            <a:ext cx="3273552" cy="41879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29015" y="1874519"/>
            <a:ext cx="3273552" cy="402336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29015" y="2203703"/>
            <a:ext cx="3273552" cy="73152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1929383"/>
            <a:ext cx="29809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맑은 고딕"/>
                <a:ea typeface="맑은 고딕"/>
              </a:rPr>
              <a:t>3. HDBSCAN grouping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7" y="2350007"/>
            <a:ext cx="294436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>
                <a:solidFill>
                  <a:srgbClr val="6B7280"/>
                </a:solidFill>
                <a:latin typeface="맑은 고딕"/>
                <a:ea typeface="맑은 고딕"/>
              </a:rPr>
              <a:t>검토할 후보 group만 남김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2660903"/>
            <a:ext cx="84124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wafer_center_bank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697479"/>
            <a:ext cx="768096" cy="76809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1399032" y="2715767"/>
            <a:ext cx="219456" cy="18288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99032" y="2715767"/>
            <a:ext cx="21945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2660903"/>
            <a:ext cx="84124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wafer_broken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9656" y="2697479"/>
            <a:ext cx="768096" cy="768096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2313432" y="2715767"/>
            <a:ext cx="219456" cy="18288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13432" y="2715767"/>
            <a:ext cx="21945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97480" y="2660903"/>
            <a:ext cx="84124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wafer_crescent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056" y="2697479"/>
            <a:ext cx="768096" cy="768096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3227832" y="2715767"/>
            <a:ext cx="219456" cy="18288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27832" y="2715767"/>
            <a:ext cx="219456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3721607"/>
            <a:ext cx="2606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same-wafer view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는 positive</a:t>
            </a:r>
          </a:p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other wafer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는 비교 대상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4636007"/>
            <a:ext cx="2606040" cy="621792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9848" y="4727447"/>
            <a:ext cx="229514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image → vector</a:t>
            </a:r>
          </a:p>
          <a:p>
            <a:pPr algn="ctr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각 wafer를 하나의 embedding으로 변환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61104" y="2679191"/>
            <a:ext cx="3355847" cy="2761488"/>
          </a:xfrm>
          <a:prstGeom prst="rect">
            <a:avLst/>
          </a:prstGeom>
          <a:solidFill>
            <a:srgbClr val="FAFBFD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697364" y="3259103"/>
            <a:ext cx="872520" cy="717986"/>
          </a:xfrm>
          <a:prstGeom prst="ellipse">
            <a:avLst/>
          </a:prstGeom>
          <a:noFill/>
          <a:ln w="12700">
            <a:solidFill>
              <a:srgbClr val="C6D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106819" y="3480022"/>
            <a:ext cx="872520" cy="717986"/>
          </a:xfrm>
          <a:prstGeom prst="ellipse">
            <a:avLst/>
          </a:prstGeom>
          <a:noFill/>
          <a:ln w="12700">
            <a:solidFill>
              <a:srgbClr val="C6D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502767" y="4363698"/>
            <a:ext cx="872520" cy="717986"/>
          </a:xfrm>
          <a:prstGeom prst="ellipse">
            <a:avLst/>
          </a:prstGeom>
          <a:noFill/>
          <a:ln w="12700">
            <a:solidFill>
              <a:srgbClr val="C6D0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967386" y="3503248"/>
            <a:ext cx="64008" cy="64008"/>
          </a:xfrm>
          <a:prstGeom prst="ellipse">
            <a:avLst/>
          </a:prstGeom>
          <a:solidFill>
            <a:srgbClr val="2E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135178" y="3475633"/>
            <a:ext cx="64008" cy="64008"/>
          </a:xfrm>
          <a:prstGeom prst="ellipse">
            <a:avLst/>
          </a:prstGeom>
          <a:solidFill>
            <a:srgbClr val="2E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235854" y="3668937"/>
            <a:ext cx="64008" cy="64008"/>
          </a:xfrm>
          <a:prstGeom prst="ellipse">
            <a:avLst/>
          </a:prstGeom>
          <a:solidFill>
            <a:srgbClr val="2E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034503" y="3779397"/>
            <a:ext cx="64008" cy="64008"/>
          </a:xfrm>
          <a:prstGeom prst="ellipse">
            <a:avLst/>
          </a:prstGeom>
          <a:solidFill>
            <a:srgbClr val="2E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370087" y="3530863"/>
            <a:ext cx="64008" cy="64008"/>
          </a:xfrm>
          <a:prstGeom prst="ellipse">
            <a:avLst/>
          </a:prstGeom>
          <a:solidFill>
            <a:srgbClr val="2E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866710" y="3668937"/>
            <a:ext cx="64008" cy="64008"/>
          </a:xfrm>
          <a:prstGeom prst="ellipse">
            <a:avLst/>
          </a:prstGeom>
          <a:solidFill>
            <a:srgbClr val="2E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343283" y="3696552"/>
            <a:ext cx="64008" cy="64008"/>
          </a:xfrm>
          <a:prstGeom prst="ellipse">
            <a:avLst/>
          </a:prstGeom>
          <a:solidFill>
            <a:srgbClr val="2F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511075" y="3641322"/>
            <a:ext cx="64008" cy="64008"/>
          </a:xfrm>
          <a:prstGeom prst="ellipse">
            <a:avLst/>
          </a:prstGeom>
          <a:solidFill>
            <a:srgbClr val="2F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678868" y="3834626"/>
            <a:ext cx="64008" cy="64008"/>
          </a:xfrm>
          <a:prstGeom prst="ellipse">
            <a:avLst/>
          </a:prstGeom>
          <a:solidFill>
            <a:srgbClr val="2F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443959" y="3972701"/>
            <a:ext cx="64008" cy="64008"/>
          </a:xfrm>
          <a:prstGeom prst="ellipse">
            <a:avLst/>
          </a:prstGeom>
          <a:solidFill>
            <a:srgbClr val="2F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779543" y="4000316"/>
            <a:ext cx="64008" cy="64008"/>
          </a:xfrm>
          <a:prstGeom prst="ellipse">
            <a:avLst/>
          </a:prstGeom>
          <a:solidFill>
            <a:srgbClr val="2F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242608" y="3889856"/>
            <a:ext cx="64008" cy="64008"/>
          </a:xfrm>
          <a:prstGeom prst="ellipse">
            <a:avLst/>
          </a:prstGeom>
          <a:solidFill>
            <a:srgbClr val="2F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739231" y="4580228"/>
            <a:ext cx="64008" cy="64008"/>
          </a:xfrm>
          <a:prstGeom prst="ellipse">
            <a:avLst/>
          </a:prstGeom>
          <a:solidFill>
            <a:srgbClr val="C48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974140" y="4552613"/>
            <a:ext cx="64008" cy="64008"/>
          </a:xfrm>
          <a:prstGeom prst="ellipse">
            <a:avLst/>
          </a:prstGeom>
          <a:solidFill>
            <a:srgbClr val="C48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108374" y="4745917"/>
            <a:ext cx="64008" cy="64008"/>
          </a:xfrm>
          <a:prstGeom prst="ellipse">
            <a:avLst/>
          </a:prstGeom>
          <a:solidFill>
            <a:srgbClr val="C48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839906" y="4856377"/>
            <a:ext cx="64008" cy="64008"/>
          </a:xfrm>
          <a:prstGeom prst="ellipse">
            <a:avLst/>
          </a:prstGeom>
          <a:solidFill>
            <a:srgbClr val="C48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571438" y="4773532"/>
            <a:ext cx="64008" cy="64008"/>
          </a:xfrm>
          <a:prstGeom prst="ellipse">
            <a:avLst/>
          </a:prstGeom>
          <a:solidFill>
            <a:srgbClr val="C48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75491" y="4966836"/>
            <a:ext cx="64008" cy="64008"/>
          </a:xfrm>
          <a:prstGeom prst="ellipse">
            <a:avLst/>
          </a:prstGeom>
          <a:solidFill>
            <a:srgbClr val="C48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708062" y="4644602"/>
            <a:ext cx="45720" cy="45720"/>
          </a:xfrm>
          <a:prstGeom prst="ellipse">
            <a:avLst/>
          </a:prstGeom>
          <a:solidFill>
            <a:srgbClr val="A8B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124272" y="3319088"/>
            <a:ext cx="45720" cy="45720"/>
          </a:xfrm>
          <a:prstGeom prst="ellipse">
            <a:avLst/>
          </a:prstGeom>
          <a:solidFill>
            <a:srgbClr val="A8B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990038" y="4810291"/>
            <a:ext cx="45720" cy="45720"/>
          </a:xfrm>
          <a:prstGeom prst="ellipse">
            <a:avLst/>
          </a:prstGeom>
          <a:solidFill>
            <a:srgbClr val="A8B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5479907" y="3153398"/>
            <a:ext cx="45720" cy="45720"/>
          </a:xfrm>
          <a:prstGeom prst="ellipse">
            <a:avLst/>
          </a:prstGeom>
          <a:solidFill>
            <a:srgbClr val="A8B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607387" y="3125783"/>
            <a:ext cx="45720" cy="45720"/>
          </a:xfrm>
          <a:prstGeom prst="ellipse">
            <a:avLst/>
          </a:prstGeom>
          <a:solidFill>
            <a:srgbClr val="A8B1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34256" y="5568695"/>
            <a:ext cx="320954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embedding distance가 가까운 wafer끼리 후보 group 형성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385047" y="2715767"/>
            <a:ext cx="1207008" cy="859536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85047" y="2807207"/>
            <a:ext cx="12070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0F1E3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85047" y="3191255"/>
            <a:ext cx="1207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A1F2E"/>
                </a:solidFill>
                <a:latin typeface="맑은 고딕"/>
                <a:ea typeface="맑은 고딕"/>
              </a:rPr>
              <a:t>후보 group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866375" y="2715767"/>
            <a:ext cx="1207008" cy="859536"/>
          </a:xfrm>
          <a:prstGeom prst="roundRect">
            <a:avLst/>
          </a:prstGeom>
          <a:solidFill>
            <a:srgbClr val="E9F2E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66375" y="2807207"/>
            <a:ext cx="12070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2E866E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66375" y="3191255"/>
            <a:ext cx="12070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A1F2E"/>
                </a:solidFill>
                <a:latin typeface="맑은 고딕"/>
                <a:ea typeface="맑은 고딕"/>
              </a:rPr>
              <a:t>신규 failure 확인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439911" y="3867911"/>
            <a:ext cx="265176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586215" y="3986783"/>
            <a:ext cx="164592" cy="164592"/>
          </a:xfrm>
          <a:prstGeom prst="ellipse">
            <a:avLst/>
          </a:prstGeom>
          <a:solidFill>
            <a:srgbClr val="2E8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842247" y="3941063"/>
            <a:ext cx="5303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G03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363455" y="3941063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>
                <a:solidFill>
                  <a:srgbClr val="1A1F2E"/>
                </a:solidFill>
                <a:latin typeface="맑은 고딕"/>
                <a:ea typeface="맑은 고딕"/>
              </a:rPr>
              <a:t>Center pattern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439911" y="4434839"/>
            <a:ext cx="265176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586215" y="4553711"/>
            <a:ext cx="164592" cy="164592"/>
          </a:xfrm>
          <a:prstGeom prst="ellipse">
            <a:avLst/>
          </a:prstGeom>
          <a:solidFill>
            <a:srgbClr val="2F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842247" y="4507991"/>
            <a:ext cx="5303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G07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363455" y="4507991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>
                <a:solidFill>
                  <a:srgbClr val="1A1F2E"/>
                </a:solidFill>
                <a:latin typeface="맑은 고딕"/>
                <a:ea typeface="맑은 고딕"/>
              </a:rPr>
              <a:t>Ring pattern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439911" y="5001767"/>
            <a:ext cx="265176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586215" y="5120639"/>
            <a:ext cx="164592" cy="164592"/>
          </a:xfrm>
          <a:prstGeom prst="ellipse">
            <a:avLst/>
          </a:prstGeom>
          <a:solidFill>
            <a:srgbClr val="C48B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42247" y="5074919"/>
            <a:ext cx="53035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G12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363455" y="5074919"/>
            <a:ext cx="1645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>
                <a:solidFill>
                  <a:srgbClr val="1A1F2E"/>
                </a:solidFill>
                <a:latin typeface="맑은 고딕"/>
                <a:ea typeface="맑은 고딕"/>
              </a:rPr>
              <a:t>Crescent pattern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439911" y="5714999"/>
            <a:ext cx="2651760" cy="310896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13063" y="5769863"/>
            <a:ext cx="25054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자동 판정이 아니라 engineer review queue</a:t>
            </a:r>
          </a:p>
        </p:txBody>
      </p:sp>
      <p:sp>
        <p:nvSpPr>
          <p:cNvPr id="84" name="Right Arrow 83"/>
          <p:cNvSpPr/>
          <p:nvPr/>
        </p:nvSpPr>
        <p:spPr>
          <a:xfrm>
            <a:off x="3785616" y="3959350"/>
            <a:ext cx="329184" cy="256032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ight Arrow 84"/>
          <p:cNvSpPr/>
          <p:nvPr/>
        </p:nvSpPr>
        <p:spPr>
          <a:xfrm>
            <a:off x="7964423" y="3959350"/>
            <a:ext cx="329184" cy="256032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77240" y="6144768"/>
            <a:ext cx="10652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20">
                <a:solidFill>
                  <a:srgbClr val="3A485C"/>
                </a:solidFill>
                <a:latin typeface="맑은 고딕"/>
                <a:ea typeface="맑은 고딕"/>
              </a:rPr>
              <a:t>실제 현업 데이터 2,000장 review: 13개 후보 중 7개 신규 failure 확인. 화면 이미지는 후속 튜닝용 생성/개발 예시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contrastive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false negative 억제 contrastive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near-positive를 negative로 밀면 같은 불량이 흩어짐(false negative) → similarity filter로 near-positive 제외해 cluster 응집 유지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SimCLR (Chen et al., 2020)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positive-pair alignment와 in-batch negative contrast로 wafer pattern embedding을 학습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NV-Retriever negative-similarity filter (Moreira et al., 2024)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cosine similarity가 높은 near-positive candidate를 negative set에서 제외해 false-negative push를 방지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f_simclr_framework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065" y="2631186"/>
            <a:ext cx="2919548" cy="2263140"/>
          </a:xfrm>
          <a:prstGeom prst="rect">
            <a:avLst/>
          </a:prstGeom>
        </p:spPr>
      </p:pic>
      <p:pic>
        <p:nvPicPr>
          <p:cNvPr id="9" name="Picture 8" descr="ref_simclr_los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46" y="4962906"/>
            <a:ext cx="3236786" cy="9429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SimCLR (Chen et al., 2020): positive-pair alignment with in-batch negative contrast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086039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836200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601053" y="4431411"/>
            <a:ext cx="4720133" cy="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94983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Positive</a:t>
            </a:r>
          </a:p>
        </p:txBody>
      </p:sp>
      <p:sp>
        <p:nvSpPr>
          <p:cNvPr id="16" name="Oval 15"/>
          <p:cNvSpPr/>
          <p:nvPr/>
        </p:nvSpPr>
        <p:spPr>
          <a:xfrm>
            <a:off x="6834938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38708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18" name="Oval 17"/>
          <p:cNvSpPr/>
          <p:nvPr/>
        </p:nvSpPr>
        <p:spPr>
          <a:xfrm>
            <a:off x="7338243" y="3277896"/>
            <a:ext cx="318211" cy="318211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H="1">
            <a:off x="6967526" y="3437001"/>
            <a:ext cx="529822" cy="274320"/>
          </a:xfrm>
          <a:prstGeom prst="line">
            <a:avLst/>
          </a:prstGeom>
          <a:ln w="19685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667061" y="317982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p⁺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4983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PULL TERM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4983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similar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4983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pull closer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5144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Negative</a:t>
            </a:r>
          </a:p>
        </p:txBody>
      </p:sp>
      <p:sp>
        <p:nvSpPr>
          <p:cNvPr id="25" name="Oval 24"/>
          <p:cNvSpPr/>
          <p:nvPr/>
        </p:nvSpPr>
        <p:spPr>
          <a:xfrm>
            <a:off x="8585100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8870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27" name="Isosceles Triangle 26"/>
          <p:cNvSpPr/>
          <p:nvPr/>
        </p:nvSpPr>
        <p:spPr>
          <a:xfrm>
            <a:off x="9179625" y="3763259"/>
            <a:ext cx="307604" cy="307604"/>
          </a:xfrm>
          <a:prstGeom prst="triangl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17688" y="3711321"/>
            <a:ext cx="615739" cy="205740"/>
          </a:xfrm>
          <a:prstGeom prst="line">
            <a:avLst/>
          </a:prstGeom>
          <a:ln w="12700">
            <a:solidFill>
              <a:srgbClr val="5560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00839" y="413994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n⁻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5144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PUSH TERM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5144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far away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5144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weak push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95306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False negative risk</a:t>
            </a:r>
          </a:p>
        </p:txBody>
      </p:sp>
      <p:sp>
        <p:nvSpPr>
          <p:cNvPr id="34" name="Oval 33"/>
          <p:cNvSpPr/>
          <p:nvPr/>
        </p:nvSpPr>
        <p:spPr>
          <a:xfrm>
            <a:off x="10335262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139031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36" name="Oval 35"/>
          <p:cNvSpPr/>
          <p:nvPr/>
        </p:nvSpPr>
        <p:spPr>
          <a:xfrm>
            <a:off x="10724010" y="3449346"/>
            <a:ext cx="318211" cy="318211"/>
          </a:xfrm>
          <a:prstGeom prst="ellipse">
            <a:avLst/>
          </a:prstGeom>
          <a:solidFill>
            <a:srgbClr val="C5CBD6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10467850" y="3608451"/>
            <a:ext cx="415265" cy="102870"/>
          </a:xfrm>
          <a:prstGeom prst="line">
            <a:avLst/>
          </a:prstGeom>
          <a:ln w="2032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1052828" y="3351275"/>
            <a:ext cx="530352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h⁻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5306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EXCLUDED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5306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too close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95306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protect cluster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NV-Retriever neg-sim filter (Moreira et al., 2024): potential false-negative exclusion preserves cluster compactness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NeCo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NeCo: 결함 위치에 민감한 patch-neighbor 유사도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61872"/>
            <a:ext cx="106984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핵심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patch 간 유사도 matrix는 결함의 공간 구조를 인코딩 → 결함 위치가 다르면 matrix가 완전히 다름 (CE 큼)</a:t>
            </a:r>
          </a:p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대비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단순 local 평균(grid)은 둔감, NeCo는 이 민감한 matrix를 같은 wafer 두 view에서 일치시켜 국소 구조 보존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67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38528"/>
            <a:ext cx="1188720" cy="1188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0156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7530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4904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2277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9651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0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43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5409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0156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7530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904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277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9651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7024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43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5409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2783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7530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4904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22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651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7024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43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5409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2783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156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49040" y="2514600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22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96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70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4398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5409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2783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40156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575304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22776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096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70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43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05409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2783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0156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57530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49040" y="286207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96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270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43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5409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22783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0156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57530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74904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2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70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43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05409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2783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0156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57530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74904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922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096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443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05409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2783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40156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7530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74904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922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96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270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A: 중앙 → p5 활성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81728" y="2441448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96A0AD"/>
                </a:solidFill>
                <a:latin typeface="맑은 고딕"/>
                <a:ea typeface="맑은 고딕"/>
              </a:rPr>
              <a:t>≠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9335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wafer_edge_top_scr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938528"/>
            <a:ext cx="1188720" cy="1188720"/>
          </a:xfrm>
          <a:prstGeom prst="rect">
            <a:avLst/>
          </a:prstGeom>
        </p:spPr>
      </p:pic>
      <p:sp>
        <p:nvSpPr>
          <p:cNvPr id="120" name="Rectangle 119"/>
          <p:cNvSpPr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25512" y="199339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699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872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04672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22045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39419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856792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74166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351776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699248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872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22045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839419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56792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74166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351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525512" y="2340864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872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04672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22045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39419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56792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74166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351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525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699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046720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22045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9419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56792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74166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35177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525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699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2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2045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39419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56792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74166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5177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525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699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2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046720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39419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56792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74166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351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52551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699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2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04672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22045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56792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74166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351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525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9924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2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04672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045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9419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74166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351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525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699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298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04672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22045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839419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856792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0235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B: 상단 → p2 활성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9006840" y="1956816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9×9 같은 위치 element (A vs B)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006840" y="2212848"/>
            <a:ext cx="2468880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[p5,p4]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[p5,p6]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[p2,p1] .05 vs .85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[p2,p3] .05 vs .85 → .80</a:t>
            </a:r>
          </a:p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… 활성쌍 8칸, 나머지 0</a:t>
            </a:r>
          </a:p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합 8×.80 = 6.4 (큼)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77240" y="3986784"/>
            <a:ext cx="106070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960120" y="4096512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local grid (patch별 활성, 관계 없음)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34416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26440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577840" y="4407408"/>
            <a:ext cx="56692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9칸 같은 위치 (A vs B):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p2 .05 vs .85 → .80,  p5 .85 vs .05 → .80,  나머지 7칸 → 0</a:t>
            </a:r>
          </a:p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합 = 2 × .80 = 1.6 (작음, patch당 1칸 뿐)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960120" y="5504688"/>
            <a:ext cx="10241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NeCo는 활성 patch당 인접쌍으로 8칸 차이 누적(큼), local grid는 patch당 1칸 2칸 차이(작음) → 관계가 위치 구조에 더 민감 (수치 설명용)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MoCo (He et al., 2020)    NeCo (Pariza et al., 2024)    InfoNCE (van den Oord et al., 2018)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Unknown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생성 평가셋 기반 contrastive recipe 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[생성 데이터 개발 지표] 실전 현업 review와 분리한 모델 개발용 ablation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99648" cy="3931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005"/>
                <a:gridCol w="5371489"/>
                <a:gridCol w="1342872"/>
                <a:gridCol w="1175013"/>
                <a:gridCol w="1622637"/>
                <a:gridCol w="91763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 (per class 500, normal 2000)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M1 capture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M2 noise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M3 Completeness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Sil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Global InfoNCE only (baseline)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0.9337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15.78%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0.582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Local DenseCL (LW=0.5)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0.9361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13.87%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0.9502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0.514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MoCo Queue 4096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9.45%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0.9474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0.573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Neg-sim filter 0.72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8.23%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NeCo 0.2 (5-tool full)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0.6104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(Local DenseCL 제외 4-tool)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+ noise threshold τ=0.5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0.9619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8" y="5833872"/>
            <a:ext cx="10744200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5833872"/>
            <a:ext cx="91440" cy="3108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10378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Noise 15.78% → 0.00%  /  Capture 0.9337 → 0.9619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InfoNCE (van den Oord et al., 2018)    DenseCL (Wang et al., 2021)    MoCo (He et al., 2020)    NeCo (Pariza et al., 2024)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Result +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양산 운영과 모델 검증 단계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Production operation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Processing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94376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4376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Production 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94192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Bulk wafer review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384280" y="1522476"/>
            <a:ext cx="146304" cy="237744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48256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Model validation / deploy waiting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4376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94376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Unknown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048256"/>
            <a:ext cx="2971800" cy="338328"/>
          </a:xfrm>
          <a:prstGeom prst="roundRect">
            <a:avLst/>
          </a:prstGeom>
          <a:solidFill>
            <a:srgbClr val="E6EAEF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GPU server → 2026.9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양산 운영 중 — 처리 구조 + viewer (2025.5~)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DRAM D1a/b/c/d 전제품 분석 파트 사용, 일 2만 wafer 처리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분석 공수 절감과 P3WN 수율 개선 1건을 합산해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정량 산정 기여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를 창출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조회 48매 한계를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조회 viewer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로 확장하고, 검토 방식을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변환과 검색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중심으로 재구성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123억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정량 산정 기여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812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812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4812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공수 90%↓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812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검토 시간 절감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757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757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757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수율 +0.02%p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757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P3WN 1건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validation 완료, 서버 배포 준비 단계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Known validation 완료(실전 16종/1,500장), Unknown 현업 review 완료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classification model은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2026년 9월 GPU 서버 배포 검증 예정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이며, 서버 성능은 배포 환경에서 별도 검증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사내 인정: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 수상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MTC 제안 1등급 확정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삼성 논문상 초록 통과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Unknown 13→7은 분류 성능 지표가 아니라 현업 후보 검토 결과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validation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Known real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168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168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168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현업 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168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Unknown candidate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113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5113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5113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113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GPU 배포 검증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841248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" cy="13716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05072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968496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97680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261104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P2  Chip multi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590288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553712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436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943600"/>
            <a:ext cx="82296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운영 상태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controlled synthetic 검증 단계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75488"/>
            <a:ext cx="8458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1E3D"/>
                </a:solidFill>
                <a:latin typeface="맑은 고딕"/>
                <a:ea typeface="맑은 고딕"/>
              </a:rPr>
              <a:t>Chip Multi-label  FCM-PM classification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1481328"/>
            <a:ext cx="8458200" cy="512064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1481328"/>
            <a:ext cx="91440" cy="5120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1481328"/>
            <a:ext cx="1097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배경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81328"/>
            <a:ext cx="7040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>
                <a:solidFill>
                  <a:srgbClr val="0F1E3D"/>
                </a:solidFill>
                <a:latin typeface="맑은 고딕"/>
                <a:ea typeface="맑은 고딕"/>
              </a:rPr>
              <a:t>chip 불량 분석은 표준적으로 chip별 measure value 중심으로 수행되나, 중복 failure는 chip 내부 fail bit 분포 image로만 구분할 수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문제 / AI 필요성</a:t>
            </a:r>
          </a:p>
        </p:txBody>
      </p:sp>
      <p:sp>
        <p:nvSpPr>
          <p:cNvPr id="27" name="Oval 26"/>
          <p:cNvSpPr/>
          <p:nvPr/>
        </p:nvSpPr>
        <p:spPr>
          <a:xfrm>
            <a:off x="3557016" y="3296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3118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measure value로 중복 failure 구분 한계</a:t>
            </a:r>
          </a:p>
        </p:txBody>
      </p:sp>
      <p:sp>
        <p:nvSpPr>
          <p:cNvPr id="29" name="Oval 28"/>
          <p:cNvSpPr/>
          <p:nvPr/>
        </p:nvSpPr>
        <p:spPr>
          <a:xfrm>
            <a:off x="3557016" y="37536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6472" y="35753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2-combo label 대량 확보 불가</a:t>
            </a:r>
          </a:p>
        </p:txBody>
      </p:sp>
      <p:sp>
        <p:nvSpPr>
          <p:cNvPr id="31" name="Oval 30"/>
          <p:cNvSpPr/>
          <p:nvPr/>
        </p:nvSpPr>
        <p:spPr>
          <a:xfrm>
            <a:off x="3557016" y="4210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4032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single source 기반 multi-label 학습 필요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949696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7168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7168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7168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336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개발 내용</a:t>
            </a:r>
          </a:p>
        </p:txBody>
      </p:sp>
      <p:sp>
        <p:nvSpPr>
          <p:cNvPr id="38" name="Oval 37"/>
          <p:cNvSpPr/>
          <p:nvPr/>
        </p:nvSpPr>
        <p:spPr>
          <a:xfrm>
            <a:off x="6516624" y="3067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6080" y="2889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FCM-PM으로 2-combo 학습 신호 생성</a:t>
            </a:r>
          </a:p>
        </p:txBody>
      </p:sp>
      <p:sp>
        <p:nvSpPr>
          <p:cNvPr id="40" name="Oval 39"/>
          <p:cNvSpPr/>
          <p:nvPr/>
        </p:nvSpPr>
        <p:spPr>
          <a:xfrm>
            <a:off x="6516624" y="35250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36080" y="33467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Pair Mask로 background 오학습 차단</a:t>
            </a:r>
          </a:p>
        </p:txBody>
      </p:sp>
      <p:sp>
        <p:nvSpPr>
          <p:cNvPr id="42" name="Oval 41"/>
          <p:cNvSpPr/>
          <p:nvPr/>
        </p:nvSpPr>
        <p:spPr>
          <a:xfrm>
            <a:off x="6516624" y="39822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6080" y="38039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val-margin으로 checkpoint 선택</a:t>
            </a:r>
          </a:p>
        </p:txBody>
      </p:sp>
      <p:sp>
        <p:nvSpPr>
          <p:cNvPr id="44" name="Oval 43"/>
          <p:cNvSpPr/>
          <p:nvPr/>
        </p:nvSpPr>
        <p:spPr>
          <a:xfrm>
            <a:off x="6516624" y="4439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6080" y="4261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Naive Bayes reject로 false alarm 제어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909304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56776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56776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56776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7944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성과 / 확장</a:t>
            </a:r>
          </a:p>
        </p:txBody>
      </p:sp>
      <p:sp>
        <p:nvSpPr>
          <p:cNvPr id="51" name="Oval 50"/>
          <p:cNvSpPr/>
          <p:nvPr/>
        </p:nvSpPr>
        <p:spPr>
          <a:xfrm>
            <a:off x="9476232" y="2861157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5688" y="2688336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multi-label F1 0.9927</a:t>
            </a:r>
          </a:p>
        </p:txBody>
      </p:sp>
      <p:sp>
        <p:nvSpPr>
          <p:cNvPr id="53" name="Oval 52"/>
          <p:cNvSpPr/>
          <p:nvPr/>
        </p:nvSpPr>
        <p:spPr>
          <a:xfrm>
            <a:off x="9476232" y="3307384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5688" y="3134563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false alarm 0%</a:t>
            </a:r>
          </a:p>
        </p:txBody>
      </p:sp>
      <p:sp>
        <p:nvSpPr>
          <p:cNvPr id="55" name="Oval 54"/>
          <p:cNvSpPr/>
          <p:nvPr/>
        </p:nvSpPr>
        <p:spPr>
          <a:xfrm>
            <a:off x="9476232" y="3753611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95688" y="3580790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single + 2-combo 동시 검출</a:t>
            </a:r>
          </a:p>
        </p:txBody>
      </p:sp>
      <p:sp>
        <p:nvSpPr>
          <p:cNvPr id="57" name="Oval 56"/>
          <p:cNvSpPr/>
          <p:nvPr/>
        </p:nvSpPr>
        <p:spPr>
          <a:xfrm>
            <a:off x="9476232" y="4199838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5688" y="4027017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ensemble robustness 확보</a:t>
            </a:r>
          </a:p>
        </p:txBody>
      </p:sp>
      <p:sp>
        <p:nvSpPr>
          <p:cNvPr id="59" name="Oval 58"/>
          <p:cNvSpPr/>
          <p:nvPr/>
        </p:nvSpPr>
        <p:spPr>
          <a:xfrm>
            <a:off x="9476232" y="4646065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5688" y="4473244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KD 단일 모델 생산성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37560" y="5175504"/>
            <a:ext cx="8458200" cy="43891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37560" y="5175504"/>
            <a:ext cx="82296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8728" y="5175504"/>
            <a:ext cx="1463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본인 기여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175504"/>
            <a:ext cx="6629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데이터 합성 / multi-label 분류 / 모델 선택 / false alarm 제어 전 영역 직접 설계, 구현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5650992"/>
            <a:ext cx="8458200" cy="4023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7560" y="5650992"/>
            <a:ext cx="82296" cy="40233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38728" y="5650992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기술 stack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83480" y="5650992"/>
            <a:ext cx="6629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1E3D"/>
                </a:solidFill>
                <a:latin typeface="맑은 고딕"/>
                <a:ea typeface="맑은 고딕"/>
              </a:rPr>
              <a:t>PyTorch, FCM-PM, label smoothing / ASL, Naive Bayes reject, KD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measure-value 한계에서 image multi-label supervision으로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3154680" cy="44622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64208"/>
            <a:ext cx="91440" cy="44622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20240"/>
            <a:ext cx="2651760" cy="4050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Problem</a:t>
            </a:r>
          </a:p>
          <a:p>
            <a:pPr algn="l"/>
            <a:r>
              <a:rPr sz="1380" b="1">
                <a:solidFill>
                  <a:srgbClr val="0F1E3D"/>
                </a:solidFill>
                <a:latin typeface="맑은 고딕"/>
                <a:ea typeface="맑은 고딕"/>
              </a:rPr>
              <a:t>measure value만으로
중복 failure 확인 한계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Source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2-combo label 확보는
현실적으로 불가능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Eval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single source 기반
2-combo eval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664208"/>
            <a:ext cx="74066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41648" y="1664208"/>
            <a:ext cx="91440" cy="19019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1810512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Source bank: single-failure 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103120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2-combo label 없이 train source 안에서 synthetic combination을 생성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eval_bank_boundary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414016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1713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ip_eval_fork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414016"/>
            <a:ext cx="768096" cy="7680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7161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eval_scratch_sel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414016"/>
            <a:ext cx="768096" cy="7680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609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_eval_scratch_rot_sele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2414016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739128" y="3621024"/>
            <a:ext cx="1463040" cy="256032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3611880"/>
            <a:ext cx="2468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image multi-label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3968496"/>
            <a:ext cx="740664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41648" y="3968496"/>
            <a:ext cx="91440" cy="2157984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1104" y="4114800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Eval target: 3,850-chip controlled 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4407408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single 4 + 2-combo 6 + Normal/Invalid/OOD negative tail.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ip_combo_bb_fork_selec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773168"/>
            <a:ext cx="896112" cy="896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25696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bb+fk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6712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ip_combo_bb_scratch_select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4728" y="4773168"/>
            <a:ext cx="896112" cy="8961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33288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bb+sc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4304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hip_combo_fork_scratch_rot_selec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773168"/>
            <a:ext cx="896112" cy="8961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0880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fk+sr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1896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ip_eval_normal_select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773168"/>
            <a:ext cx="896112" cy="8961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48472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9488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hip_eval_invalid_select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504" y="4773168"/>
            <a:ext cx="896112" cy="8961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656064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invalid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" y="5321808"/>
            <a:ext cx="2642616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37667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Design implication: FCM-PM creates 2-combo supervision from single source.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FCM-PM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FCM-PM: coverage 보존과 loss masking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744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2-combo label은 부족하지만 실제 중복 불량은 발생 → single source를 FCM-PM으로 합성해 학습 신호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9344"/>
            <a:ext cx="10744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Mixup은 pixel이 섞여 noise, Diffusion은 대량 label/compute 부담 → label 의미를 보존하는 CutMix 계열 선택 (자문: 연세대학교 인공지능학과 박은병 교수)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10512"/>
            <a:ext cx="107716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cm_pm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345" y="1920240"/>
            <a:ext cx="10155405" cy="18836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9551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9551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1  (A∪B)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4343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343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2  (A∪B)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Normal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2-combo pos. prob 낮음
FAR 낮지만 recall 약함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pos. prob 상승
FAR tail 동반 상승 가능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690104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8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82128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2-combo signal 유지
pseudo-background loss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266944"/>
            <a:ext cx="10259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" y="5266944"/>
            <a:ext cx="91440" cy="69494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5376672"/>
            <a:ext cx="14264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Formula + ablation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5321808"/>
            <a:ext cx="8412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FCM mixed views: y_mixed = y_A ∪ y_B  (multi-label target)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views: y_masked ∈ {y_A,y_B}; L_total = L_BCE(mixed)+w·L_BCE(masked)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reduces synthetic-background FAR; final result is reported on the validation slide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CutMix (Yun et al., 2019)    Mixup (Zhang et al., 2018)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selection + Naive Bayes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val-margin 선택과 negative-tail 제어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9844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val-F1만으로는 negative tail이 안정적인 checkpoint를 고르기 어려움 → positive/negative score margin으로 선택, FAR 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82496"/>
            <a:ext cx="5212080" cy="44988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82496"/>
            <a:ext cx="91440" cy="44988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883664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val-margin checkpoint 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249424"/>
            <a:ext cx="47000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Consolas"/>
                <a:ea typeface="Consolas"/>
              </a:rPr>
              <a:t>val_margin = mean(p_positive) - max(p_negative)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34440" y="2587752"/>
            <a:ext cx="182880" cy="18288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72184" y="2555748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val-F1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78024" y="2587752"/>
            <a:ext cx="182880" cy="18288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2555748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21608" y="2587752"/>
            <a:ext cx="182880" cy="182880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59352" y="2555748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eval-F1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52728" y="4004707"/>
            <a:ext cx="146304" cy="430133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53896" y="4250497"/>
            <a:ext cx="146304" cy="184343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55064" y="4230015"/>
            <a:ext cx="146304" cy="204825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65960" y="3902294"/>
            <a:ext cx="146304" cy="532546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67128" y="4158326"/>
            <a:ext cx="146304" cy="27651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68296" y="4127602"/>
            <a:ext cx="146304" cy="307238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47672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9192" y="3779399"/>
            <a:ext cx="146304" cy="655441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80360" y="4035431"/>
            <a:ext cx="146304" cy="39940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081528" y="3984224"/>
            <a:ext cx="146304" cy="450616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0904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92424" y="3554090"/>
            <a:ext cx="146304" cy="88075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93592" y="3881811"/>
            <a:ext cx="146304" cy="55302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94760" y="3851088"/>
            <a:ext cx="146304" cy="583752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74136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05656" y="3697468"/>
            <a:ext cx="146304" cy="737372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06824" y="3595056"/>
            <a:ext cx="146304" cy="83978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07992" y="3574573"/>
            <a:ext cx="146304" cy="860267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87368" y="4498848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79576" y="4434840"/>
            <a:ext cx="3730752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072384" y="2798064"/>
            <a:ext cx="7863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val-F1 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41064" y="2834640"/>
            <a:ext cx="8778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margin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74720" y="3072384"/>
            <a:ext cx="14996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margin 선택 시 eval 향상 (illustrative)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" y="5084064"/>
            <a:ext cx="45902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post-hoc check: correlation with held-out eval bit_F1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" y="5285232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0120" y="5285232"/>
            <a:ext cx="64008" cy="731520"/>
          </a:xfrm>
          <a:prstGeom prst="rect">
            <a:avLst/>
          </a:prstGeom>
          <a:solidFill>
            <a:srgbClr val="7A8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88136" y="53583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val_f1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" y="5650992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-0.10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95144" y="5596128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weak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01568" y="5285232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01568" y="5285232"/>
            <a:ext cx="64008" cy="73152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29584" y="53583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val_margin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29584" y="5650992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+0.56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36592" y="5596128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selected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1682496"/>
            <a:ext cx="5212080" cy="44988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63640" y="1682496"/>
            <a:ext cx="91440" cy="4498848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19672" y="1883664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Naive Bayes reject: class profile 불일치 제거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9672" y="2231136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class별 출력 bit 확률 분포 저장 (bit 독립, Naive Bayes)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19672" y="2487168"/>
            <a:ext cx="4700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band = 저장 분포 99.7% 범위 (±3σ)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556248" y="2761488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29400" y="2816352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single bb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29400" y="3282696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940296" y="33284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477963" y="3296412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667792" y="32689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651882" y="3287268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29400" y="359359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940296" y="36393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967179" y="36073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040514" y="35798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006681" y="3598164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629400" y="390448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940296" y="39502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967179" y="391820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040514" y="38907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015642" y="3909060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29400" y="421538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940296" y="42611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967179" y="42291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40514" y="42016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997720" y="4219956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684264" y="4590288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739128" y="46177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665976" y="4837176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4 bit profile match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165592" y="2761488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38744" y="2816352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2-combo bb+sc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38744" y="3282696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49640" y="33284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908084" y="3296412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097914" y="32689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064081" y="3287268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38744" y="359359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49640" y="36393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576523" y="36073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649858" y="35798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624986" y="3598164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38744" y="390448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549640" y="39502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890162" y="3918204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079992" y="38907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9046159" y="3909060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238744" y="421538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549640" y="42611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76523" y="42291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49858" y="42016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616025" y="4219956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293608" y="4590288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348472" y="46177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275320" y="4837176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bit likelihoods align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774936" y="2761488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848088" y="2816352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tail/OOD on bb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848088" y="3282696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58984" y="3328416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696651" y="3296412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0886480" y="3268980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0297058" y="3287268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848088" y="359359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158984" y="363931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185867" y="3607308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259202" y="3579876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0494203" y="3598164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848088" y="390448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158984" y="395020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85867" y="391820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59202" y="3890772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0476280" y="3909060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848088" y="421538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158984" y="426110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185867" y="422910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259202" y="4201668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458358" y="4219956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902952" y="4590288"/>
            <a:ext cx="1170432" cy="256032"/>
          </a:xfrm>
          <a:prstGeom prst="rect">
            <a:avLst/>
          </a:prstGeom>
          <a:solidFill>
            <a:srgbClr val="FAE8E6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957816" y="46177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884664" y="4837176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known-profile mismatch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556248" y="5157216"/>
            <a:ext cx="4626864" cy="530352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665976" y="5230368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최고 일치 class likelihood ≥ 임계 → ACCEPT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665976" y="5468111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모든 class 임계 미달 → REJECT (OOD/tail)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537960" y="5797296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537960" y="5797296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665976" y="5833872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NB profile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665976" y="5980176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10 known classes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891272" y="5916168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4 single + 6 combo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979408" y="5797296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8979408" y="5797296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07424" y="5833872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reject rule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07424" y="5980176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 profile passes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332720" y="5916168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Multi-label recipe 성능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[controlled synthetic validation] 현업 single-failure 원천에서 생성한 평가셋. 단일 대표 모델은 FCM-PM + val_margin selection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64208"/>
          <a:ext cx="75895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56"/>
                <a:gridCol w="3031382"/>
                <a:gridCol w="774440"/>
                <a:gridCol w="685933"/>
                <a:gridCol w="774440"/>
                <a:gridCol w="641679"/>
                <a:gridCol w="130549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bit_F1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single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2combo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Role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BCE + Label Smoothing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0.1093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0.1896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0.0668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99.47%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Sigmoid Focal Loss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0.7980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0.8724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0.7050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45.72%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loss trial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Asymmetric Loss (ASL)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0.6435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0.5379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0.7320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collapse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(random rectangle)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0.9566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0.9070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42.05%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signal cut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+ Pair Mask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0.9491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0.9728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24.62%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reduced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val_f1 selection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0.9652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0.9517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selection ablation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 selection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0.9871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 single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main claim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 Ensemble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0.9956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champion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0.9799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0.9638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0" y="1664208"/>
            <a:ext cx="3310128" cy="3657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664208"/>
            <a:ext cx="3127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추론 비용 / 배포 선택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2212848"/>
            <a:ext cx="3310128" cy="8046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2212848"/>
            <a:ext cx="82296" cy="8046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2313432"/>
            <a:ext cx="1920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0" y="2313432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651760"/>
            <a:ext cx="29443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대표 single model / bit-F1 0.9927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3145536"/>
            <a:ext cx="3310128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3145536"/>
            <a:ext cx="82296" cy="8046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0" y="3246120"/>
            <a:ext cx="1920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Ensemble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3246120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5x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584448"/>
            <a:ext cx="29443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성능 상한 / bit-F1 0.9956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4078224"/>
            <a:ext cx="3310128" cy="8046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4078224"/>
            <a:ext cx="82296" cy="8046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4178808"/>
            <a:ext cx="1920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KD student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4178808"/>
            <a:ext cx="12984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4517136"/>
            <a:ext cx="2944368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>
                <a:solidFill>
                  <a:srgbClr val="1A1F2E"/>
                </a:solidFill>
                <a:latin typeface="맑은 고딕"/>
                <a:ea typeface="맑은 고딕"/>
              </a:rPr>
              <a:t>운영 후보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5047488"/>
            <a:ext cx="3310128" cy="768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Ensemble로 성능 상한을 확인하고, KD로 그 성능을 1x 단일 모델에 압축해 운영 비용을 낮춥니다.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Focal Loss (Lin et al., 2017)    Asymmetric Loss (Ben-Baruch et al., 2021)    CutMix (Yun et al., 2019)    Knowledge Distillation (Hinton et al., 2015)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92608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841248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" cy="13716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1828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8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05072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968496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97680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24712" y="4261104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590288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24712" y="4553712"/>
            <a:ext cx="17830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P3  Trend 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943600"/>
            <a:ext cx="2103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943600"/>
            <a:ext cx="82296" cy="45720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5943600"/>
            <a:ext cx="1828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운영 상태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synthetic trend PoC, 현업 검증 예정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475488"/>
            <a:ext cx="84582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37560" y="1481328"/>
            <a:ext cx="8458200" cy="512064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1481328"/>
            <a:ext cx="91440" cy="5120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7016" y="1481328"/>
            <a:ext cx="1097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배경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1481328"/>
            <a:ext cx="70408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>
                <a:solidFill>
                  <a:srgbClr val="0F1E3D"/>
                </a:solidFill>
                <a:latin typeface="맑은 고딕"/>
                <a:ea typeface="맑은 고딕"/>
              </a:rPr>
              <a:t>Thickness / Overlay / CD 등 제품 계측 trend(시계열)를 담당자가 chart로 보고 정상 산포 대비 이상 여부를 판정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337560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337560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8728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문제 / AI 필요성</a:t>
            </a:r>
          </a:p>
        </p:txBody>
      </p:sp>
      <p:sp>
        <p:nvSpPr>
          <p:cNvPr id="27" name="Oval 26"/>
          <p:cNvSpPr/>
          <p:nvPr/>
        </p:nvSpPr>
        <p:spPr>
          <a:xfrm>
            <a:off x="3557016" y="3296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3118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수작업 판정 → 누락 / spec-in 위험</a:t>
            </a:r>
          </a:p>
        </p:txBody>
      </p:sp>
      <p:sp>
        <p:nvSpPr>
          <p:cNvPr id="29" name="Oval 28"/>
          <p:cNvSpPr/>
          <p:nvPr/>
        </p:nvSpPr>
        <p:spPr>
          <a:xfrm>
            <a:off x="3557016" y="37536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76472" y="35753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실제 이상 label 희소</a:t>
            </a:r>
          </a:p>
        </p:txBody>
      </p:sp>
      <p:sp>
        <p:nvSpPr>
          <p:cNvPr id="31" name="Oval 30"/>
          <p:cNvSpPr/>
          <p:nvPr/>
        </p:nvSpPr>
        <p:spPr>
          <a:xfrm>
            <a:off x="3557016" y="4210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76472" y="4032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검증 데이터 부족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949696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7168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97168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7168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8336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개발 내용</a:t>
            </a:r>
          </a:p>
        </p:txBody>
      </p:sp>
      <p:sp>
        <p:nvSpPr>
          <p:cNvPr id="38" name="Oval 37"/>
          <p:cNvSpPr/>
          <p:nvPr/>
        </p:nvSpPr>
        <p:spPr>
          <a:xfrm>
            <a:off x="6516624" y="30678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36080" y="28895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도메인 규칙 기반 시계열 합성</a:t>
            </a:r>
          </a:p>
        </p:txBody>
      </p:sp>
      <p:sp>
        <p:nvSpPr>
          <p:cNvPr id="40" name="Oval 39"/>
          <p:cNvSpPr/>
          <p:nvPr/>
        </p:nvSpPr>
        <p:spPr>
          <a:xfrm>
            <a:off x="6516624" y="35250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36080" y="33467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노이즈, 5MA smoothing, 판정 기준 튜닝</a:t>
            </a:r>
          </a:p>
        </p:txBody>
      </p:sp>
      <p:sp>
        <p:nvSpPr>
          <p:cNvPr id="42" name="Oval 41"/>
          <p:cNvSpPr/>
          <p:nvPr/>
        </p:nvSpPr>
        <p:spPr>
          <a:xfrm>
            <a:off x="6516624" y="39822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36080" y="38039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이상 패턴 주입</a:t>
            </a:r>
          </a:p>
        </p:txBody>
      </p:sp>
      <p:sp>
        <p:nvSpPr>
          <p:cNvPr id="44" name="Oval 43"/>
          <p:cNvSpPr/>
          <p:nvPr/>
        </p:nvSpPr>
        <p:spPr>
          <a:xfrm>
            <a:off x="6516624" y="4439412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36080" y="4261104"/>
            <a:ext cx="195376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binary 분류 검증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8909304" y="3483864"/>
            <a:ext cx="274320" cy="274320"/>
          </a:xfrm>
          <a:prstGeom prst="rightArrow">
            <a:avLst/>
          </a:prstGeom>
          <a:solidFill>
            <a:srgbClr val="B7C0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256776" y="2212848"/>
            <a:ext cx="2538984" cy="28163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256776" y="2212848"/>
            <a:ext cx="2538984" cy="365760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56776" y="2395728"/>
            <a:ext cx="2538984" cy="18288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457944" y="2212848"/>
            <a:ext cx="219151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성과 / 확장</a:t>
            </a:r>
          </a:p>
        </p:txBody>
      </p:sp>
      <p:sp>
        <p:nvSpPr>
          <p:cNvPr id="51" name="Oval 50"/>
          <p:cNvSpPr/>
          <p:nvPr/>
        </p:nvSpPr>
        <p:spPr>
          <a:xfrm>
            <a:off x="9476232" y="2861157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95688" y="2688336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benchmark 7,000 구성</a:t>
            </a:r>
          </a:p>
        </p:txBody>
      </p:sp>
      <p:sp>
        <p:nvSpPr>
          <p:cNvPr id="53" name="Oval 52"/>
          <p:cNvSpPr/>
          <p:nvPr/>
        </p:nvSpPr>
        <p:spPr>
          <a:xfrm>
            <a:off x="9476232" y="3307384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95688" y="3134563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binary F1 0.9967</a:t>
            </a:r>
          </a:p>
        </p:txBody>
      </p:sp>
      <p:sp>
        <p:nvSpPr>
          <p:cNvPr id="55" name="Oval 54"/>
          <p:cNvSpPr/>
          <p:nvPr/>
        </p:nvSpPr>
        <p:spPr>
          <a:xfrm>
            <a:off x="9476232" y="3753611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95688" y="3580790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abnormal recall 0.9987</a:t>
            </a:r>
          </a:p>
        </p:txBody>
      </p:sp>
      <p:sp>
        <p:nvSpPr>
          <p:cNvPr id="57" name="Oval 56"/>
          <p:cNvSpPr/>
          <p:nvPr/>
        </p:nvSpPr>
        <p:spPr>
          <a:xfrm>
            <a:off x="9476232" y="4199838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5688" y="4027017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현업 trend 검증 예정</a:t>
            </a:r>
          </a:p>
        </p:txBody>
      </p:sp>
      <p:sp>
        <p:nvSpPr>
          <p:cNvPr id="59" name="Oval 58"/>
          <p:cNvSpPr/>
          <p:nvPr/>
        </p:nvSpPr>
        <p:spPr>
          <a:xfrm>
            <a:off x="9476232" y="4646065"/>
            <a:ext cx="100584" cy="100584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95688" y="4473244"/>
            <a:ext cx="1953768" cy="446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anomaly type 분류 확장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337560" y="5175504"/>
            <a:ext cx="8458200" cy="438912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337560" y="5175504"/>
            <a:ext cx="82296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8728" y="5175504"/>
            <a:ext cx="146304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본인 기여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83480" y="5175504"/>
            <a:ext cx="6629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BBD / Overlay / CD 계측 경험 기반 데이터 합성 / 이상 검출 / 검증 체계 직접 설계, 구현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5650992"/>
            <a:ext cx="8458200" cy="4023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37560" y="5650992"/>
            <a:ext cx="82296" cy="40233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538728" y="5650992"/>
            <a:ext cx="14630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기술 stack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983480" y="5650992"/>
            <a:ext cx="66294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0F1E3D"/>
                </a:solidFill>
                <a:latin typeface="맑은 고딕"/>
                <a:ea typeface="맑은 고딕"/>
              </a:rPr>
              <a:t>config 기반 episode generator, binary classifier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episode 생성과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53218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Core contribution — 판정 경험을 episode generation rule로 코드화하고, binary validation으로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587752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현장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514600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BBD / Overlay / CD 10년 trend 판정 경험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82112" y="3118104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00984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00984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374136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300984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Region 5종 + Noise 3종 + Anomaly 5종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82112" y="3904488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87368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87368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6052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Synthetic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087368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 = 7,000개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182112" y="4690872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73752"/>
            <a:ext cx="4983480" cy="621792"/>
          </a:xfrm>
          <a:prstGeom prst="rect">
            <a:avLst/>
          </a:prstGeom>
          <a:solidFill>
            <a:srgbClr val="E8ECF2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873752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946904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Binary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4873752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F1 0.9967 / abnormal recall 0.9987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domain coding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region/noise/anomaly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baseline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fleet-bound stats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2980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952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Robust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shortcut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color/median/NT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054096"/>
            <a:ext cx="516636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054096"/>
            <a:ext cx="5166360" cy="36576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310896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맑은 고딕"/>
                <a:ea typeface="맑은 고딕"/>
              </a:rPr>
              <a:t>Stabilization and shortcut-control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6480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6480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LR sweep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3e-5/3e-4 stable
1e-4/1e-3 collapse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5256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Label smoothing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0.02 sweet spot
FN 4.6 -&gt; 0.8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6480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6480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Stochastic depth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0.05 regularization
FP 3.8 -&gt; 1.4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368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5256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Focal + EMA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gamma=2.0, EMA 0.95
hard-anomaly stability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6480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480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 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hard-normal 3,300
FP/FN balance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3368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Color + median + 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color/smoothing check
val-F1 median, NT 0.9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episode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정상 baseline episode와 측정 noise 샘플링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44168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실제 정상 데이터로는 다양한 패턴 확보가 어려움 → region/noise/density를 분리 샘플링해 정상 baseline 생성 (anomaly는 다음 장)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664208"/>
            <a:ext cx="1074420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7859816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48256"/>
            <a:ext cx="785981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2340864"/>
            <a:ext cx="7530632" cy="26517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3856" y="4777740"/>
            <a:ext cx="7219736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3856" y="2523744"/>
            <a:ext cx="13716" cy="22677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2596896"/>
            <a:ext cx="1422001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658525" y="31423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08" y="30118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9036" y="34999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9402" y="3735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93246" y="361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34527" y="30422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6970" y="42673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03346" y="3262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45827" y="44685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81621" y="3551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0818" y="2968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40558" y="33733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29438" y="3087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38942" y="424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965" y="3859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0472" y="35110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44168" y="2995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1446" y="32340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13397" y="36029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46169" y="3865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23538" y="3390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58800" y="40546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556806" y="3847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15404" y="43477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175964" y="33705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95819" y="30878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778811" y="41513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39299" y="3705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95429" y="4003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20773" y="3844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62257" y="3413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32399" y="38804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985183" y="3650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16957" y="44634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50218" y="3996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22808" y="4058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70953" y="45440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293939" y="33649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737565" y="40041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74196" y="36596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59791" y="30862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20620" y="4169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16654" y="3334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740819" y="39168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56235" y="35227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7208" y="39280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71572" y="39099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601383" y="34911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700946" y="39287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443130" y="3244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74741" y="3319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545517" y="35561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86381" y="3348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61458" y="34945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713935" y="3632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37389" y="37479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95142" y="36799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094279" y="31538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71016" y="38315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340013" y="3848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42590" y="34758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384680" y="36955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33518" y="31663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515068" y="32549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77753" y="31525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256675" y="32446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82112" y="34428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87984" y="39195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17291" y="32421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68963" y="34277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07628" y="32181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308321" y="40304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833803" y="35550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362807" y="31988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680953" y="3350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283438" y="32541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285004" y="39911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910960" y="32403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929442" y="31287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910777" y="40168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6150" y="3753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579939" y="3445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463371" y="3824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916332" y="3830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64880" y="33116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61946" y="402282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312896" y="3855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270399" y="379408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7343" y="3586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696971" y="31305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291003" y="33642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577534" y="374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441623" y="35209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17468" y="4025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439747" y="34438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29565" y="33152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500128" y="3294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29679" y="39438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297787" y="3551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065504" y="38498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361436" y="37200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383709" y="383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85900" y="35496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77596" y="3840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8415" y="38509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460386" y="3472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53752" y="39872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154499" y="3262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413801" y="32445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77607" y="3856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437513" y="38749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471103" y="37169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90583" y="3615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18690" y="31167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59436" y="3709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908883" y="39749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10721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29009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220823" y="43420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21337" y="32425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88678" y="33788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974269" y="38672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98284" y="3588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834624" y="44057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118735" y="3653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411590" y="4396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204008" y="44186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07366" y="37764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335249" y="29224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28880" y="31960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672430" y="422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887276" y="36793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92540" y="38174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83268" y="37539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75989" y="41965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802777" y="38237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984417" y="33521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52585" y="37362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84010" y="41561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831472" y="3628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448813" y="3732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320776" y="40441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244470" y="3778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77243" y="44581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59404" y="435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69350" y="3323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81184" y="4461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738999" y="3119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822566" y="36271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759960" y="32918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760693" y="400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67478" y="4384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864441" y="40831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509701" y="3129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93641" y="4501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947541" y="44764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175469" y="3702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930190" y="42766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73395" y="36094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325169" y="34556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920938" y="36050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73219" y="34528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364922" y="3667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700792" y="3611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451508" y="37037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758051" y="39444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55264" y="39376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808221" y="35781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727441" y="38395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3013502" y="35088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201611" y="39069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93201" y="357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863471" y="3910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85423" y="37995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789241" y="34721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1156" y="36594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768116" y="392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64534" y="3851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782154" y="3878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760940" y="38821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240667" y="36155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363700" y="39147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010297" y="3508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331298" y="35642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032722" y="2596896"/>
            <a:ext cx="1422001" cy="2121408"/>
          </a:xfrm>
          <a:prstGeom prst="rect">
            <a:avLst/>
          </a:prstGeom>
          <a:solidFill>
            <a:srgbClr val="F7F0E6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51010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Very sparse</a:t>
            </a:r>
          </a:p>
        </p:txBody>
      </p:sp>
      <p:sp>
        <p:nvSpPr>
          <p:cNvPr id="200" name="Oval 199"/>
          <p:cNvSpPr/>
          <p:nvPr/>
        </p:nvSpPr>
        <p:spPr>
          <a:xfrm>
            <a:off x="4229041" y="31600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53684" y="32271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87422" y="33989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58304" y="33738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27376" y="3187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32083" y="29215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408911" y="29168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24603" y="38083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31104" y="3681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281736" y="3068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34108" y="3610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20887" y="42803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90873" y="3734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66765" y="4526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26602" y="42764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0982" y="3949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605686" y="346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58798" y="3107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79635" y="4124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415475" y="316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97192" y="4291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199957" y="40072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49076" y="3294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63268" y="3655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90379" y="36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25233" y="44919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30187" y="3801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01254" y="4498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84304" y="34847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90778" y="35264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94916" y="37280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45804" y="373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95730" y="3330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203913" y="35562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42569" y="2928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77538" y="3278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6441" y="37720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46877" y="3985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2805" y="43543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86319" y="3434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45630" y="314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3218" y="396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54646" y="36839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205612" y="36134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009719" y="36761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273006" y="35782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725364" y="36838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097480" y="36809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824110" y="3703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946577" y="36358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385312" y="3411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265306" y="3522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230392" y="36841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454723" y="2596896"/>
            <a:ext cx="1422001" cy="2121408"/>
          </a:xfrm>
          <a:prstGeom prst="rect">
            <a:avLst/>
          </a:prstGeom>
          <a:solidFill>
            <a:srgbClr val="F2F4F7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473011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255" name="Oval 254"/>
          <p:cNvSpPr/>
          <p:nvPr/>
        </p:nvSpPr>
        <p:spPr>
          <a:xfrm>
            <a:off x="6223927" y="39360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310291" y="40240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135607" y="28968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529036" y="4136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153054" y="37820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352482" y="30012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51334" y="3311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606391" y="33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6441826" y="32328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455213" y="45151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141544" y="35279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22487" y="40291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489837" y="3918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331386" y="30202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699485" y="33139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6459536" y="33979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235707" y="2912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5588801" y="3338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6368686" y="40432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373414" y="3375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170359" y="366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106323" y="3088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651459" y="32229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59208" y="4449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5533746" y="3655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6557357" y="45024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084779" y="33384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779104" y="44649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780216" y="38590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692234" y="3763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6726823" y="3112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557764" y="37379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42783" y="4061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806591" y="43853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6131584" y="29326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5996" y="370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6086449" y="33938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690915" y="3463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914635" y="42896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513637" y="41407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6581867" y="3091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93220" y="40779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39539" y="362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983617" y="36611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760013" y="37277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5969351" y="3673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863339" y="35441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648419" y="38110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876310" y="38453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6876724" y="2596896"/>
            <a:ext cx="1422004" cy="2121408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895012" y="2615184"/>
            <a:ext cx="1385428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06" name="Oval 305"/>
          <p:cNvSpPr/>
          <p:nvPr/>
        </p:nvSpPr>
        <p:spPr>
          <a:xfrm>
            <a:off x="7251480" y="33335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7585252" y="32072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7409698" y="44825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8061475" y="42426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7738250" y="4411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8133467" y="38053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7851375" y="29736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867679" y="3641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893595" y="3963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298532" y="29728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8115706" y="31032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7535782" y="3463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313284" y="4121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8178878" y="3324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770270" y="3391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644392" y="35476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146883" y="3160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198599" y="43990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567536" y="32575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8089532" y="4549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507431" y="3123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178870" y="30423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369649" y="30429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238470" y="3321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660078" y="4367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889755" y="35782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461408" y="3763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414184" y="34541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012586" y="33531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8167893" y="3100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7575598" y="39391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8034169" y="32507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7279158" y="3304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443387" y="3633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8150362" y="4303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046964" y="2927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6974550" y="4072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8076057" y="36789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7682478" y="2891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432880" y="44337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986621" y="43150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73704" y="3304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876724" y="3566160"/>
            <a:ext cx="1422004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8883944" y="1737360"/>
            <a:ext cx="24820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8883944" y="2048256"/>
            <a:ext cx="24820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883944" y="2304288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75384" y="2331720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373172" y="2331720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9085112" y="3031236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085112" y="2615184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9295437" y="2723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10155023" y="2898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11026682" y="2911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10414950" y="2925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10019757" y="28549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9150897" y="29311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9552345" y="29765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0411119" y="2773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9334787" y="2756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0391955" y="2903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9301856" y="26961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10159330" y="28652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9875751" y="27466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0318686" y="26763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9695730" y="2824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11062971" y="2885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10906648" y="2829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9556903" y="27544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1066453" y="29054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9707951" y="26800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0104994" y="28955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9942165" y="27578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10456559" y="29782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540302" y="26841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9771702" y="28117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10488195" y="2738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10726317" y="2916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10118654" y="27406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11085679" y="27757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0774026" y="27490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9529190" y="2923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682028" y="29870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116363" y="28783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9231903" y="28265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9347442" y="281428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9462982" y="274757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9578522" y="29248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9694061" y="299253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9809601" y="278036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9925140" y="276551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040680" y="27789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0156219" y="26319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0271759" y="281180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10387298" y="280797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10502838" y="275503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10618378" y="279896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10733917" y="26974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10849457" y="292493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10964996" y="28573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11080536" y="302384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883944" y="3255264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75384" y="3282696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Equip. correlated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10373172" y="3282696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085112" y="3982212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9085112" y="3566160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11006103" y="37325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9454464" y="39327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10620759" y="3634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10450475" y="3748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846223" y="3733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420667" y="3624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9650569" y="3739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1055848" y="3664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74059" y="3692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9810339" y="38950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0778192" y="37666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9171094" y="37801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9843791" y="3927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9470091" y="37441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0934140" y="36338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9923002" y="3891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10663101" y="36372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9141140" y="364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10982147" y="3708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622794" y="3920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9773819" y="37137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11060371" y="3827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9613896" y="3860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726847" y="37148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076496" y="38732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10974625" y="38331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11030341" y="3631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9555027" y="3780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11058474" y="39387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872492" y="37067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9962800" y="3786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10998832" y="3684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110586" y="390291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214572" y="38869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9318558" y="383937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9422543" y="382507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9526529" y="378800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9630514" y="37560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34500" y="372398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838486" y="368394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9942471" y="368543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46457" y="372189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150442" y="37481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254428" y="37736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0358414" y="3817999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462399" y="38484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566385" y="384209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10670370" y="38202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10774356" y="380255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0878342" y="374642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0982327" y="371958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1086313" y="372098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8883944" y="4206240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8975384" y="4233672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10373172" y="4233672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9085112" y="4933188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9085112" y="4517136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619550" y="46026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269184" y="47393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544772" y="4722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9555713" y="47124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358714" y="47973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624229" y="4854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450466" y="4614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17422" y="4671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247608" y="46979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0603620" y="46405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9583234" y="4655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9387519" y="4866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0271310" y="46825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9892363" y="49024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0123741" y="46512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0749981" y="4790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1129555" y="4608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056022" y="4845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10816768" y="48766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9152594" y="46717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16589" y="4637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1092140" y="47673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1003146" y="46977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869948" y="4723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9609270" y="48315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035440" y="46097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0308467" y="4779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521292" y="46965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362660" y="46421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598800" y="47726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423882" y="46420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092319" y="46828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116363" y="473729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231903" y="474527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9347442" y="473671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462982" y="471310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578522" y="472033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694061" y="476226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809601" y="47183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925140" y="472502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040680" y="475664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10156219" y="470910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271759" y="473734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387298" y="473882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502838" y="455654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618378" y="4894855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733917" y="458129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849457" y="487010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964996" y="454416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1080536" y="491135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713232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713232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TextBox 519"/>
          <p:cNvSpPr txBox="1"/>
          <p:nvPr/>
        </p:nvSpPr>
        <p:spPr>
          <a:xfrm>
            <a:off x="804672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Episode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804672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K ~ U(Kmin,Kmax),  L_k ~ U(Lmin,Lmax)</a:t>
            </a:r>
          </a:p>
        </p:txBody>
      </p:sp>
      <p:sp>
        <p:nvSpPr>
          <p:cNvPr id="522" name="TextBox 521"/>
          <p:cNvSpPr txBox="1"/>
          <p:nvPr/>
        </p:nvSpPr>
        <p:spPr>
          <a:xfrm>
            <a:off x="841248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 개수와 길이를 먼저 결정</a:t>
            </a:r>
          </a:p>
        </p:txBody>
      </p:sp>
      <p:sp>
        <p:nvSpPr>
          <p:cNvPr id="523" name="Rectangle 522"/>
          <p:cNvSpPr/>
          <p:nvPr/>
        </p:nvSpPr>
        <p:spPr>
          <a:xfrm>
            <a:off x="3511296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3511296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TextBox 524"/>
          <p:cNvSpPr txBox="1"/>
          <p:nvPr/>
        </p:nvSpPr>
        <p:spPr>
          <a:xfrm>
            <a:off x="3602736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Density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3602736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m_k ~ Cat(5 density types)</a:t>
            </a:r>
          </a:p>
        </p:txBody>
      </p:sp>
      <p:sp>
        <p:nvSpPr>
          <p:cNvPr id="527" name="TextBox 526"/>
          <p:cNvSpPr txBox="1"/>
          <p:nvPr/>
        </p:nvSpPr>
        <p:spPr>
          <a:xfrm>
            <a:off x="3639312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구간별 관측 point 수를 결정</a:t>
            </a:r>
          </a:p>
        </p:txBody>
      </p:sp>
      <p:sp>
        <p:nvSpPr>
          <p:cNvPr id="528" name="Rectangle 527"/>
          <p:cNvSpPr/>
          <p:nvPr/>
        </p:nvSpPr>
        <p:spPr>
          <a:xfrm>
            <a:off x="6309360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6309360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TextBox 529"/>
          <p:cNvSpPr txBox="1"/>
          <p:nvPr/>
        </p:nvSpPr>
        <p:spPr>
          <a:xfrm>
            <a:off x="6400800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Noise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6400800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ε_t ~ N / AR(1) / Laplace</a:t>
            </a:r>
          </a:p>
        </p:txBody>
      </p:sp>
      <p:sp>
        <p:nvSpPr>
          <p:cNvPr id="532" name="TextBox 531"/>
          <p:cNvSpPr txBox="1"/>
          <p:nvPr/>
        </p:nvSpPr>
        <p:spPr>
          <a:xfrm>
            <a:off x="6437376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측정 산포 family를 episode별 부여</a:t>
            </a:r>
          </a:p>
        </p:txBody>
      </p:sp>
      <p:sp>
        <p:nvSpPr>
          <p:cNvPr id="533" name="Rectangle 532"/>
          <p:cNvSpPr/>
          <p:nvPr/>
        </p:nvSpPr>
        <p:spPr>
          <a:xfrm>
            <a:off x="9107424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9107424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TextBox 534"/>
          <p:cNvSpPr txBox="1"/>
          <p:nvPr/>
        </p:nvSpPr>
        <p:spPr>
          <a:xfrm>
            <a:off x="9198864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536" name="TextBox 535"/>
          <p:cNvSpPr txBox="1"/>
          <p:nvPr/>
        </p:nvSpPr>
        <p:spPr>
          <a:xfrm>
            <a:off x="9198864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y_t = μ_region(t) + ε_t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9235440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active 구간만 연결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binary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anomaly 주입 규칙과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20">
                <a:solidFill>
                  <a:srgbClr val="1A1F2E"/>
                </a:solidFill>
                <a:latin typeface="맑은 고딕"/>
                <a:ea typeface="맑은 고딕"/>
              </a:rPr>
              <a:t>Normal baseline에 5가지 anomaly injection rule을 더해 normal/abnormal binary validation을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_view.png"/>
          <p:cNvPicPr>
            <a:picLocks noChangeAspect="1"/>
          </p:cNvPicPr>
          <p:nvPr/>
        </p:nvPicPr>
        <p:blipFill>
          <a:blip r:embed="rId2"/>
          <a:srcRect t="18971" b="18971"/>
          <a:stretch>
            <a:fillRect/>
          </a:stretch>
        </p:blipFill>
        <p:spPr>
          <a:xfrm>
            <a:off x="1106424" y="1755648"/>
            <a:ext cx="3136392" cy="1627632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1161288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Mean shift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_standard_deviation_view.png"/>
          <p:cNvPicPr>
            <a:picLocks noChangeAspect="1"/>
          </p:cNvPicPr>
          <p:nvPr/>
        </p:nvPicPr>
        <p:blipFill>
          <a:blip r:embed="rId3"/>
          <a:srcRect t="18971" b="18971"/>
          <a:stretch>
            <a:fillRect/>
          </a:stretch>
        </p:blipFill>
        <p:spPr>
          <a:xfrm>
            <a:off x="4517136" y="1755648"/>
            <a:ext cx="3136392" cy="1627632"/>
          </a:xfrm>
          <a:prstGeom prst="rect">
            <a:avLst/>
          </a:prstGeom>
          <a:effectLst/>
        </p:spPr>
      </p:pic>
      <p:sp>
        <p:nvSpPr>
          <p:cNvPr id="12" name="Rectangle 11"/>
          <p:cNvSpPr/>
          <p:nvPr/>
        </p:nvSpPr>
        <p:spPr>
          <a:xfrm>
            <a:off x="4572000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Std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72984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end_spike_view.png"/>
          <p:cNvPicPr>
            <a:picLocks noChangeAspect="1"/>
          </p:cNvPicPr>
          <p:nvPr/>
        </p:nvPicPr>
        <p:blipFill>
          <a:blip r:embed="rId4"/>
          <a:srcRect t="18971" b="18971"/>
          <a:stretch>
            <a:fillRect/>
          </a:stretch>
        </p:blipFill>
        <p:spPr>
          <a:xfrm>
            <a:off x="7927848" y="1755648"/>
            <a:ext cx="3136392" cy="1627632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982712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_drift_view.png"/>
          <p:cNvPicPr>
            <a:picLocks noChangeAspect="1"/>
          </p:cNvPicPr>
          <p:nvPr/>
        </p:nvPicPr>
        <p:blipFill>
          <a:blip r:embed="rId5"/>
          <a:srcRect t="18971" b="18971"/>
          <a:stretch>
            <a:fillRect/>
          </a:stretch>
        </p:blipFill>
        <p:spPr>
          <a:xfrm>
            <a:off x="1106424" y="3621024"/>
            <a:ext cx="3136392" cy="1627632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1161288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7864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rend_context_view.png"/>
          <p:cNvPicPr>
            <a:picLocks noChangeAspect="1"/>
          </p:cNvPicPr>
          <p:nvPr/>
        </p:nvPicPr>
        <p:blipFill>
          <a:blip r:embed="rId6"/>
          <a:srcRect t="18971" b="18971"/>
          <a:stretch>
            <a:fillRect/>
          </a:stretch>
        </p:blipFill>
        <p:spPr>
          <a:xfrm>
            <a:off x="4517136" y="3621024"/>
            <a:ext cx="3136392" cy="1627632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4572000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4" y="3566160"/>
            <a:ext cx="3246120" cy="17373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984" y="3566160"/>
            <a:ext cx="91440" cy="173736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712464"/>
            <a:ext cx="28620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Injection equations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005072"/>
            <a:ext cx="2770632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mean:  y_t = x_t + δ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scale: y_t = μ + A(x_t - μ)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spike: y_t = x_t + Σ A_i 1(t=t_i)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drift: y_t = x_t + r(t-s)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context: fleet/reference-relative shift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21808"/>
            <a:ext cx="10561320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Test 1,500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normal 750 / abnormal 750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TN746 / FP4 / FN1 / TP749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7488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abnormal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2904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5-seed best 0.9987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TN748 / FP2 / FN0 / TP750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2016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168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threshold 0.9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p(normal) ≥ 0.9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6163056"/>
            <a:ext cx="10881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8A929E"/>
                </a:solidFill>
                <a:latin typeface="맑은 고딕"/>
                <a:ea typeface="맑은 고딕"/>
              </a:rPr>
              <a:t>참고 문헌   </a:t>
            </a:r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Focal Loss (Lin et al., 2017)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robustness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robustness와 입력 민감도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적용 이유 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입력 표현/checkpoint 선택에 성능이 흔들릴 위험 → 민감도 점검으로 binary-F1 0.9967 안정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입력 표현과 checkpoint 선택 민감도 확인 장. main claim은 binary-F1 0.9967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Validation option ablation — binary F1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4060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64208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Main 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6996" y="3329723"/>
            <a:ext cx="713232" cy="227293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7144" y="3091979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71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71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571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89932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50080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0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5-seed best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00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5-seed robustness — summary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9944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5-seed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일관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83096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mean 0.9967 / best 0.9987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54212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7364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Test split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7364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1,500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27364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750 / 750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929384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249771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06605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63438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0272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771057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339392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929384" y="5471159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213551" y="5388428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497718" y="5326380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781886" y="4954088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066053" y="4954088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350220" y="5305697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634388" y="5243648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918555" y="5202282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202723" y="5160917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486890" y="5150575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4771057" y="5140234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055225" y="5129892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339392" y="5129892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1929384" y="5388428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2213551" y="5326380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497718" y="5326380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2781886" y="5305697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066053" y="5305697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350220" y="5243648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634388" y="5202282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3918555" y="5160917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202723" y="5150575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4486890" y="5140234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771057" y="5140234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3015761" y="490379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Diamond 70"/>
          <p:cNvSpPr/>
          <p:nvPr/>
        </p:nvSpPr>
        <p:spPr>
          <a:xfrm>
            <a:off x="4702477" y="507165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1929384" y="5760720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29384" y="4855464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1929384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728216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249771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29655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306605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286488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63438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343322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20272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00155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4771057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4569889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339392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5138224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00784" y="5934456"/>
            <a:ext cx="4151376" cy="12801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09344" y="6067044"/>
            <a:ext cx="428853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single-epoch spike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Rendering sensitivity check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same train/val/test color policy; label-independent</a:t>
            </a:r>
          </a:p>
        </p:txBody>
      </p:sp>
      <p:pic>
        <p:nvPicPr>
          <p:cNvPr id="92" name="Picture 91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4" name="Picture 93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로드맵 | 완료 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완료 시기 및 현장 적용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603504"/>
            <a:ext cx="1325880" cy="402336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완료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603504"/>
            <a:ext cx="1325880" cy="402336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예정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730752"/>
            <a:ext cx="9902952" cy="381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157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2024.10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착수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파이프라인과 viewer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1216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728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8059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059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203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2025.03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P2 모델 개발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FCM-PM, val-margin 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275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787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6118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118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5262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2025.05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viewer 양산 개시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DRAM 전제품, 일 2만 wafer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334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93846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177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177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321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2026.01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P3 Trend anomaly PoC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episode generation, binary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393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1905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2360" y="2084831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2360" y="2084831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380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2026.09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P1/P2 모델 배포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GPU 할당 후 양산 적용 검증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3452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89964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0032" y="4206240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4206240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2026.12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P3 Trend anomaly 현업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real trend 기준 검증 완료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340096"/>
            <a:ext cx="3575304" cy="73152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5340096"/>
            <a:ext cx="3575304" cy="548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5413248"/>
            <a:ext cx="33192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현재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5660136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P1 viewer label-feedback 루프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" y="5852160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batch 성공/적재량/응답, engineer review/label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06824" y="5340096"/>
            <a:ext cx="3575304" cy="73152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06824" y="5340096"/>
            <a:ext cx="3575304" cy="548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34840" y="5413248"/>
            <a:ext cx="33192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모델 배포 후 (설계)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4840" y="5660136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confidence/FAR/drift 모니터링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852160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threshold 재조정, version 등록/rollback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65008" y="5340096"/>
            <a:ext cx="3575304" cy="731520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65008" y="5340096"/>
            <a:ext cx="3575304" cy="54864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93024" y="5413248"/>
            <a:ext cx="331927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확장 (타 공정/제품)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93024" y="5660136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object-id map Stage-2, image+measure multimodal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193024" y="5852160"/>
            <a:ext cx="333756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445264"/>
                </a:solidFill>
                <a:latin typeface="맑은 고딕"/>
                <a:ea typeface="맑은 고딕"/>
              </a:rPr>
              <a:t>generator config로 타 공정 재현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144768"/>
            <a:ext cx="11091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P1/P2 = 2026.09 GPU 배포 검증, P3 = 2026.12 현업 검증 예정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프로젝트별 평가 항목 대응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P1/P2/P3 핵심 근거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28800"/>
            <a:ext cx="3407664" cy="44439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28800"/>
            <a:ext cx="3407664" cy="91440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41832" y="2029968"/>
            <a:ext cx="295046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1_roi_crop_real.png"/>
          <p:cNvPicPr>
            <a:picLocks noChangeAspect="1"/>
          </p:cNvPicPr>
          <p:nvPr/>
        </p:nvPicPr>
        <p:blipFill>
          <a:blip r:embed="rId2"/>
          <a:srcRect t="38242" b="38242"/>
          <a:stretch>
            <a:fillRect/>
          </a:stretch>
        </p:blipFill>
        <p:spPr>
          <a:xfrm>
            <a:off x="978408" y="2066544"/>
            <a:ext cx="2877312" cy="676656"/>
          </a:xfrm>
          <a:prstGeom prst="rect">
            <a:avLst/>
          </a:prstGeom>
          <a:effectLst/>
        </p:spPr>
      </p:pic>
      <p:sp>
        <p:nvSpPr>
          <p:cNvPr id="10" name="TextBox 9"/>
          <p:cNvSpPr txBox="1"/>
          <p:nvPr/>
        </p:nvSpPr>
        <p:spPr>
          <a:xfrm>
            <a:off x="969264" y="2889504"/>
            <a:ext cx="2895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P1 | Failbit Map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3273552"/>
            <a:ext cx="28956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273552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대량 FBM 조회와 Known/Unknown 분석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9264" y="3785616"/>
            <a:ext cx="28956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9264" y="3785616"/>
            <a:ext cx="73152" cy="713232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856" y="3840480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7D66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4059936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1">
                <a:solidFill>
                  <a:srgbClr val="1A1F2E"/>
                </a:solidFill>
                <a:latin typeface="맑은 고딕"/>
                <a:ea typeface="맑은 고딕"/>
              </a:rPr>
              <a:t>Cython 변환, palette PNG, pyvips/Numba viewer, CNN→YOLO, contrastive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" y="4553712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9264" y="4553712"/>
            <a:ext cx="73152" cy="713232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4608576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7D66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4828032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DRAM YE에게 FBM 판독법 학습, label/FP/FN 검증 수행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" y="5321808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9264" y="5321808"/>
            <a:ext cx="73152" cy="713232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5376672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2E7D66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" y="5596128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Known F1 0.95, Unknown 13→7, D1a/b/c/d 사용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5216" y="1828800"/>
            <a:ext cx="3407664" cy="44439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95216" y="1828800"/>
            <a:ext cx="3407664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623816" y="2029968"/>
            <a:ext cx="295046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cm_pm_panel.png"/>
          <p:cNvPicPr>
            <a:picLocks noChangeAspect="1"/>
          </p:cNvPicPr>
          <p:nvPr/>
        </p:nvPicPr>
        <p:blipFill>
          <a:blip r:embed="rId3"/>
          <a:srcRect l="10564" r="10564"/>
          <a:stretch>
            <a:fillRect/>
          </a:stretch>
        </p:blipFill>
        <p:spPr>
          <a:xfrm>
            <a:off x="4660392" y="2066544"/>
            <a:ext cx="2877312" cy="676656"/>
          </a:xfrm>
          <a:prstGeom prst="rect">
            <a:avLst/>
          </a:prstGeom>
          <a:effectLst/>
        </p:spPr>
      </p:pic>
      <p:sp>
        <p:nvSpPr>
          <p:cNvPr id="29" name="TextBox 28"/>
          <p:cNvSpPr txBox="1"/>
          <p:nvPr/>
        </p:nvSpPr>
        <p:spPr>
          <a:xfrm>
            <a:off x="4651248" y="2889504"/>
            <a:ext cx="2895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51248" y="3273552"/>
            <a:ext cx="28956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24400" y="3273552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measure value 한계 → image supervision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651248" y="3785616"/>
            <a:ext cx="28956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651248" y="3785616"/>
            <a:ext cx="73152" cy="7132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15840" y="3840480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96A0AD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5840" y="4059936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1">
                <a:solidFill>
                  <a:srgbClr val="1A1F2E"/>
                </a:solidFill>
                <a:latin typeface="맑은 고딕"/>
                <a:ea typeface="맑은 고딕"/>
              </a:rPr>
              <a:t>image multi-label, FCM-PM, Pair Mask, val_margin, NB reject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51248" y="4553712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51248" y="4553712"/>
            <a:ext cx="73152" cy="7132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15840" y="4608576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96A0AD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15840" y="4828032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P1 판독 기준으로 현업 유사 chip image와 2-combo rule 설계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51248" y="5321808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651248" y="5321808"/>
            <a:ext cx="73152" cy="7132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15840" y="5376672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96A0AD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5840" y="5596128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controlled validation bit-F1 0.9927, FAR 0.00%, KD 후보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77200" y="1828800"/>
            <a:ext cx="3407664" cy="44439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077200" y="1828800"/>
            <a:ext cx="3407664" cy="91440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305800" y="2029968"/>
            <a:ext cx="2950464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trend_spike_view.png"/>
          <p:cNvPicPr>
            <a:picLocks noChangeAspect="1"/>
          </p:cNvPicPr>
          <p:nvPr/>
        </p:nvPicPr>
        <p:blipFill>
          <a:blip r:embed="rId4"/>
          <a:srcRect t="35939" b="35939"/>
          <a:stretch>
            <a:fillRect/>
          </a:stretch>
        </p:blipFill>
        <p:spPr>
          <a:xfrm>
            <a:off x="8342376" y="2066544"/>
            <a:ext cx="2877312" cy="676656"/>
          </a:xfrm>
          <a:prstGeom prst="rect">
            <a:avLst/>
          </a:prstGeom>
          <a:effectLst/>
        </p:spPr>
      </p:pic>
      <p:sp>
        <p:nvSpPr>
          <p:cNvPr id="48" name="TextBox 47"/>
          <p:cNvSpPr txBox="1"/>
          <p:nvPr/>
        </p:nvSpPr>
        <p:spPr>
          <a:xfrm>
            <a:off x="8333232" y="2889504"/>
            <a:ext cx="2895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33232" y="3273552"/>
            <a:ext cx="289560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6384" y="3273552"/>
            <a:ext cx="2749296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abnormal label 부족 → synthetic validation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33232" y="3785616"/>
            <a:ext cx="2895600" cy="713232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333232" y="3785616"/>
            <a:ext cx="73152" cy="713232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97824" y="3840480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4B6388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97824" y="4059936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1">
                <a:solidFill>
                  <a:srgbClr val="1A1F2E"/>
                </a:solidFill>
                <a:latin typeface="맑은 고딕"/>
                <a:ea typeface="맑은 고딕"/>
              </a:rPr>
              <a:t>Region, Noise, Anomaly generator와 5MA smoothing, 정상/이상 판정 기준 튜닝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33232" y="4553712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3232" y="4553712"/>
            <a:ext cx="73152" cy="713232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97824" y="4608576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4B6388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97824" y="4828032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BBD/Overlay/CD 판정 경험을 generator rule로 코드화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33232" y="5321808"/>
            <a:ext cx="289560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333232" y="5321808"/>
            <a:ext cx="73152" cy="713232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97824" y="5376672"/>
            <a:ext cx="262128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4B6388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97824" y="5596128"/>
            <a:ext cx="262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60" b="0">
                <a:solidFill>
                  <a:srgbClr val="1A1F2E"/>
                </a:solidFill>
                <a:latin typeface="맑은 고딕"/>
                <a:ea typeface="맑은 고딕"/>
              </a:rPr>
              <a:t>7,000 trend benchmark, binary-F1 0.9967, 타 item 확장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QIE그룹 DSM 파트 | AI Specialist 인증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