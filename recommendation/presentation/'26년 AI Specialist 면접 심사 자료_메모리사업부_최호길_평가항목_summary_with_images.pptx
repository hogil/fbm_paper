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10년 제조품질 현장 경험을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메모리 Photo BBD/Overlay/CD 계측 분석 10년 + QIE AI 실무 3년, 13년차 / 연세대 인공지능 석사 병행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Known 고질불량 정확 파악, Unknown 신규불량 조기검출, 대량 UI 조회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좌표 보존 FBM + ultra-fast viewer + Known/Unknown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Cython / pyvips / Numba, ConvNeXtV2 / YOLO, contrastive / HDBSCAN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4192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8592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measure value 한계 + 2-combo label 확보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192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8592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supervision + val-margin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040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11040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192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8592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4192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PyTorch, FCM-PM / CutMix, NB reject / KD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45424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abnormal label 부족, trend validation bottleneck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5424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9824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domain-rule episode generator + binary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2272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2272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5424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9824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episode generator / binary classifier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Failbit Map
Known &amp; Unknown 분석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Known 고질불량 분류, Unknown 신규불량 후보 검출, 대규모 Failbit Map 초고속 UI 조회를 운영 구조로 통합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14800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14800"/>
            <a:ext cx="82296" cy="4114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114800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현업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14800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FBM 48매 조회 한계, 대량 이미지 초고속 검토와 고질 불량 정확 파악, 신규 불량 신속 확인 필요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81144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4581144"/>
            <a:ext cx="82296" cy="411480"/>
          </a:xfrm>
          <a:prstGeom prst="rect">
            <a:avLst/>
          </a:prstGeom>
          <a:solidFill>
            <a:srgbClr val="556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4581144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기술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581144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raw log를 좌표 보존 이미지로 대량 변환, 초고속 viewer engine, Known 2-stage 분류, label 없는 Unknown 군집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본인 60%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직접 설계/구현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양산 운영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viewer +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소량 수작업 검토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image UI + AI 검증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Known/Unknown + 대량 UI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pipeline·viewer·model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양산 운영·object-id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8308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8308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86000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58568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551176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633472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916936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255264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227832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645152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617720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910328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992624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276088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614416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586984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879592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879592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Motivation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wafer 한 장 약 1,000만 test value, 하루 약 2만 장 누적. raw log는 대량 조회와 AI 입력에 부적합 → hex-to-grade는 Cython 가속, 8단계 grade 특성으로 palette PNG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불량이 국소 영역에 몰려 있어 그 외 배경까지 보는 Transformer보다 locality에 강한 CNN이 유리하다고 판단 (연세대 인공지능학과 전해곤 교수 자문). ConvNeXtV2는 MaxViT와 F1 0.87 동급이면서 더 가벼움</a:t>
            </a:r>
          </a:p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00921"/>
            <a:ext cx="2571750" cy="257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57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043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800921"/>
            <a:ext cx="2571750" cy="25717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261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07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800921"/>
            <a:ext cx="2571750" cy="2571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41130" y="2800921"/>
            <a:ext cx="2571750" cy="2571750"/>
          </a:xfrm>
          <a:prstGeom prst="rect">
            <a:avLst/>
          </a:prstGeom>
          <a:solidFill>
            <a:srgbClr val="E4EAF4"/>
          </a:solidFill>
          <a:ln w="24130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800921"/>
            <a:ext cx="2571750" cy="257175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14282" y="2874073"/>
            <a:ext cx="1024128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Detection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8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 신뢰도가 낮음. 이 경우만 ROI-YOLO로 chip class와 배치까지 확인해 구분. Optuna 0.92 → 2-stage 0.95.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19072"/>
          <a:ext cx="1097280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175504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175504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6" name="Picture 5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9" name="Picture 8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2" name="Picture 11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5" name="Picture 14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 발견 contrastive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8" name="Picture 7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SimCLR: positive-pair alignment with in-batch negative contrast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5" name="Oval 14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7" name="Oval 16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4" name="Oval 23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3" name="Oval 32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5" name="Oval 34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filter: potential false-negative exclusion preserves cluster compactness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파트에서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매일 사용 중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Chip Multi-label
FCM-PM classification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Measure value 한계와 2-combo label 불가를 image multi-label supervision으로 해결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14800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14800"/>
            <a:ext cx="82296" cy="4114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114800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현업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14800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measure value로는 chip 내 중복 결함(2-combo)을 확인할 수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81144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4581144"/>
            <a:ext cx="82296" cy="411480"/>
          </a:xfrm>
          <a:prstGeom prst="rect">
            <a:avLst/>
          </a:prstGeom>
          <a:solidFill>
            <a:srgbClr val="556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4581144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기술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581144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single label도 부족, 2-combo label 수집 불가능, single source에서 FCM-PM으로 2-combo 합성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본인 80%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직접 설계/구현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개발 중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GPU 배포 예정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measure value 한계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single source → 2-combo supervision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중복 failure 확인 한계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FCM-PM·val-margin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bit-F1·FAR·KD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measure-value 한계에서 image multi-label supervision으로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measure value만으로
중복 failure 확인 한계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2-combo label 확보는
현실적으로 불가능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 source 기반
2-combo eval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없이 train source 안에서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image multi-label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FCM-PM creates 2-combo supervision from single source.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Measure value로 중복 failure 확인이 어려워 image multi-label이 필요합니다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확보가 현실적으로 어려워 single-failure source에서 FCM-PM supervision을 구성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NB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91440" cy="45262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194560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532888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2184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2532888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2532888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9352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2728" y="3949843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4195633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064" y="4175151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3847430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8" y="4103462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68296" y="4072738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7672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9192" y="3724535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0360" y="3980567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81528" y="3929360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0904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499226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93592" y="3826947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3796224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74136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5656" y="3642604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06824" y="3540192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3519709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9576" y="4379976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72384" y="2743200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1064" y="2779776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3017520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" y="5029200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0120" y="5230368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8136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95144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1568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01568" y="5230368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584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36592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1627632"/>
            <a:ext cx="91440" cy="4526280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1967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NB reject: independent bit-likelihood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2176272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4 output bits independently checked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432304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99.7% range per bit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6248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0296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7963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67792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651882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0296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67179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40514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06681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0296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67179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40514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15642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0296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67179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40514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997720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84264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39128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5976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65592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8744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49640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908084" y="3241548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97914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064081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38744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76523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49858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4986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38744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90162" y="3863340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7999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46159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38744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49640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76523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49858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616025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93608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2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74936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48088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48088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158984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96651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886480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97058" y="323240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48088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8984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85867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59202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494203" y="354330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48088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8984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185867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5920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6280" y="385419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48088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158984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185867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9202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458358" y="4165092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902952" y="4535424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957816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84664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56248" y="5102352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65976" y="5175504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One known profile matched → ACCEPT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5413247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No profile matched → REJECT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537960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537960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65976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65976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91272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979408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979408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07424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07424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0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Negative-tail and deployment 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304288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9216" y="2304288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NI/OOD FAR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2670048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70048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selected single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182112"/>
            <a:ext cx="33101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3182112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273552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273552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best-F1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639312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639312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upper-bound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151376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4151376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4242816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6" y="4242816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single-student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4608576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608576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deploy candidate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real abnormal label 부족을 domain-rule episode generator와 binary validation으로 해결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14800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14800"/>
            <a:ext cx="82296" cy="4114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114800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현업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14800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BBD/Overlay/CD trend 수동 모니터링, 초보자 누락과 spec-in 사고 위험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81144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4581144"/>
            <a:ext cx="82296" cy="411480"/>
          </a:xfrm>
          <a:prstGeom prst="rect">
            <a:avLst/>
          </a:prstGeom>
          <a:solidFill>
            <a:srgbClr val="556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4581144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기술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581144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실제 이상 label 희소, episode generator로 trend와 anomaly, noise 합성 후 binary gate 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본인 70%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직접 설계/구현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PoC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현업 검증 예정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real abnormal 부족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generator + validation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abnormal label 부족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rule-based generator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benchmark·binary validation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정상 trend는 region별 baseline 위에 episode density와 noise family를 분리해 샘플링. anomaly injection은 다음 장에서 분리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1" name="Picture 90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3" name="Picture 92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10916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운영 유지보수 (재학습/모니터링) — </a:t>
            </a:r>
            <a:r>
              <a:rPr sz="1100">
                <a:solidFill>
                  <a:srgbClr val="3A485C"/>
                </a:solidFill>
                <a:latin typeface="맑은 고딕"/>
                <a:ea typeface="맑은 고딕"/>
              </a:rPr>
              <a:t>현업 CSV predict-검토-fine-tune 재학습 wrapper (P3), NT sweep FN/FP 모니터링, viewer label-retrain 루프 (P1) (트리거: NT 임계 초과/신규 label 누적)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69864"/>
            <a:ext cx="110916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확장 계획 (타 공정/제품) — </a:t>
            </a:r>
            <a:r>
              <a:rPr sz="1100">
                <a:solidFill>
                  <a:srgbClr val="3A485C"/>
                </a:solidFill>
                <a:latin typeface="맑은 고딕"/>
                <a:ea typeface="맑은 고딕"/>
              </a:rPr>
              <a:t>episode generator config 재현으로 타 공정 복제 (P3), obj-id map Stage-2 [개발 중], image+measure multimodal (P1)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44768"/>
            <a:ext cx="5669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확산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15568" y="6144768"/>
            <a:ext cx="1423416" cy="27432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52144" y="6144768"/>
            <a:ext cx="13502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현업 viewer 도입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38984" y="6144768"/>
            <a:ext cx="21945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58440" y="6144768"/>
            <a:ext cx="1423416" cy="27432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95016" y="6144768"/>
            <a:ext cx="13502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Confluence 문서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1856" y="6144768"/>
            <a:ext cx="21945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01312" y="6144768"/>
            <a:ext cx="1423416" cy="27432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37888" y="6144768"/>
            <a:ext cx="13502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세미나/코드 교육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6144768"/>
            <a:ext cx="56509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 = 2026.09 GPU 배포 검증, P3 = 2026.12 현업 검증 예정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평가 항목 대응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평가 항목별 핵심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901952"/>
            <a:ext cx="3407664" cy="384048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901952"/>
            <a:ext cx="3407664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57984"/>
            <a:ext cx="2895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" y="2615184"/>
            <a:ext cx="289560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2615184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문제정의 · 모델 ·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145536"/>
            <a:ext cx="2895600" cy="457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9264" y="3145536"/>
            <a:ext cx="73152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3145536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P1: FBM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" y="3749040"/>
            <a:ext cx="28956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9264" y="3749040"/>
            <a:ext cx="73152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3749040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A1F2E"/>
                </a:solidFill>
                <a:latin typeface="맑은 고딕"/>
                <a:ea typeface="맑은 고딕"/>
              </a:rPr>
              <a:t>P2: FCM-PM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" y="4352544"/>
            <a:ext cx="28956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9264" y="4352544"/>
            <a:ext cx="73152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352544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A1F2E"/>
                </a:solidFill>
                <a:latin typeface="맑은 고딕"/>
                <a:ea typeface="맑은 고딕"/>
              </a:rPr>
              <a:t>P3: generator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95216" y="1901952"/>
            <a:ext cx="3407664" cy="384048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95216" y="1901952"/>
            <a:ext cx="3407664" cy="9144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1248" y="2157984"/>
            <a:ext cx="2895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51248" y="2615184"/>
            <a:ext cx="289560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4400" y="2615184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협업 · 의사결정 · 확산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51248" y="3145536"/>
            <a:ext cx="2895600" cy="457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51248" y="3145536"/>
            <a:ext cx="73152" cy="45720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5840" y="3145536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현업/관리자와 운영·검증 flow 주도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51248" y="3749040"/>
            <a:ext cx="28956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51248" y="3749040"/>
            <a:ext cx="73152" cy="45720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15840" y="3749040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A1F2E"/>
                </a:solidFill>
                <a:latin typeface="맑은 고딕"/>
                <a:ea typeface="맑은 고딕"/>
              </a:rPr>
              <a:t>교수 자문 기반 기술 선택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51248" y="4352544"/>
            <a:ext cx="28956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51248" y="4352544"/>
            <a:ext cx="73152" cy="45720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15840" y="4352544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A1F2E"/>
                </a:solidFill>
                <a:latin typeface="맑은 고딕"/>
                <a:ea typeface="맑은 고딕"/>
              </a:rPr>
              <a:t>세미나·문서·코드 교육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7200" y="1901952"/>
            <a:ext cx="3407664" cy="384048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7200" y="1901952"/>
            <a:ext cx="3407664" cy="9144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33232" y="2157984"/>
            <a:ext cx="2895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3232" y="2615184"/>
            <a:ext cx="289560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6384" y="2615184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양산 · KPI · 확장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33232" y="3145536"/>
            <a:ext cx="2895600" cy="457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33232" y="3145536"/>
            <a:ext cx="73152" cy="45720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97824" y="3145536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P1 viewer 양산 운영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33232" y="3749040"/>
            <a:ext cx="28956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333232" y="3749040"/>
            <a:ext cx="73152" cy="45720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97824" y="3749040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A1F2E"/>
                </a:solidFill>
                <a:latin typeface="맑은 고딕"/>
                <a:ea typeface="맑은 고딕"/>
              </a:rPr>
              <a:t>공수 90%↓, 수율 +0.02%p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33232" y="4352544"/>
            <a:ext cx="28956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333232" y="4352544"/>
            <a:ext cx="73152" cy="45720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97824" y="4352544"/>
            <a:ext cx="2639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A1F2E"/>
                </a:solidFill>
                <a:latin typeface="맑은 고딕"/>
                <a:ea typeface="맑은 고딕"/>
              </a:rPr>
              <a:t>object-id map·multimodal 확장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프로젝트별 양식 대응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프로젝트별 공식 양식 대응표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83664"/>
            <a:ext cx="10771632" cy="365760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83664"/>
            <a:ext cx="10771632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883664"/>
            <a:ext cx="1078992" cy="914400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83664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양식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92224" y="1883664"/>
            <a:ext cx="323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92224" y="1883664"/>
            <a:ext cx="323088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56816" y="2039112"/>
            <a:ext cx="603504" cy="603504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36" y="2084832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70048" y="2066544"/>
            <a:ext cx="226161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2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  Failbit 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3104" y="1883664"/>
            <a:ext cx="323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3104" y="1883664"/>
            <a:ext cx="3230880" cy="9144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87696" y="2039112"/>
            <a:ext cx="603504" cy="603504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416" y="2084832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00928" y="2066544"/>
            <a:ext cx="226161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20" b="1">
                <a:solidFill>
                  <a:srgbClr val="4B6388"/>
                </a:solidFill>
                <a:latin typeface="맑은 고딕"/>
                <a:ea typeface="맑은 고딕"/>
              </a:rPr>
              <a:t>P2</a:t>
            </a:r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  Chip Multi-label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3984" y="1883664"/>
            <a:ext cx="323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3984" y="1883664"/>
            <a:ext cx="3230880" cy="9144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8576" y="2039112"/>
            <a:ext cx="603504" cy="603504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spike_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296" y="2126761"/>
            <a:ext cx="512064" cy="42820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31808" y="2066544"/>
            <a:ext cx="226161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20" b="1">
                <a:solidFill>
                  <a:srgbClr val="2E7D66"/>
                </a:solidFill>
                <a:latin typeface="맑은 고딕"/>
                <a:ea typeface="맑은 고딕"/>
              </a:rPr>
              <a:t>P3</a:t>
            </a:r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  Trend Anomaly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2798064"/>
            <a:ext cx="1078992" cy="548640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2798064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0" b="1">
                <a:solidFill>
                  <a:srgbClr val="96A0AD"/>
                </a:solidFill>
                <a:latin typeface="맑은 고딕"/>
                <a:ea typeface="맑은 고딕"/>
              </a:rPr>
              <a:t>2 소개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92224" y="279806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01952" y="279806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1">
                <a:solidFill>
                  <a:srgbClr val="1A1F2E"/>
                </a:solidFill>
                <a:latin typeface="맑은 고딕"/>
                <a:ea typeface="맑은 고딕"/>
              </a:rPr>
              <a:t>고질불량 · 신규 후보 · 대량 조회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3104" y="279806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32832" y="279806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1">
                <a:solidFill>
                  <a:srgbClr val="1A1F2E"/>
                </a:solidFill>
                <a:latin typeface="맑은 고딕"/>
                <a:ea typeface="맑은 고딕"/>
              </a:rPr>
              <a:t>계측값 한계 · 중복 라벨 부족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3984" y="279806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3712" y="279806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1">
                <a:solidFill>
                  <a:srgbClr val="1A1F2E"/>
                </a:solidFill>
                <a:latin typeface="맑은 고딕"/>
                <a:ea typeface="맑은 고딕"/>
              </a:rPr>
              <a:t>이상 라벨 부족 · 검증 병목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3346704"/>
            <a:ext cx="1078992" cy="548640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3346704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0" b="1">
                <a:solidFill>
                  <a:srgbClr val="96A0AD"/>
                </a:solidFill>
                <a:latin typeface="맑은 고딕"/>
                <a:ea typeface="맑은 고딕"/>
              </a:rPr>
              <a:t>3 개발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92224" y="3346704"/>
            <a:ext cx="3230880" cy="548640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01952" y="334670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map 생성 · viewer · 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3104" y="3346704"/>
            <a:ext cx="3230880" cy="548640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32832" y="334670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FCM-PM · val-margin · NB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53984" y="3346704"/>
            <a:ext cx="3230880" cy="548640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3712" y="334670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rule generator · binary 검증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3895344"/>
            <a:ext cx="1078992" cy="548640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3895344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0" b="1">
                <a:solidFill>
                  <a:srgbClr val="96A0AD"/>
                </a:solidFill>
                <a:latin typeface="맑은 고딕"/>
                <a:ea typeface="맑은 고딕"/>
              </a:rPr>
              <a:t>4 성과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92224" y="389534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01952" y="389534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일 2만 wafer, 공수 90%↓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3104" y="389534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32832" y="389534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bit-F1 0.9927 · FAR 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53984" y="389534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3712" y="389534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7,000 benchmark · F1 0.9967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" y="4443984"/>
            <a:ext cx="1078992" cy="548640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8096" y="4443984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0" b="1">
                <a:solidFill>
                  <a:srgbClr val="96A0AD"/>
                </a:solidFill>
                <a:latin typeface="맑은 고딕"/>
                <a:ea typeface="맑은 고딕"/>
              </a:rPr>
              <a:t>5 확장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92224" y="4443984"/>
            <a:ext cx="3230880" cy="548640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01952" y="444398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chip map · 영상+수치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3104" y="4443984"/>
            <a:ext cx="3230880" cy="548640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32832" y="444398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KD · threshold · 1x 후보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53984" y="4443984"/>
            <a:ext cx="3230880" cy="548640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63712" y="444398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real trend · L1 monitoring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3232" y="4992624"/>
            <a:ext cx="1078992" cy="548640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6" y="4992624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0" b="1">
                <a:solidFill>
                  <a:srgbClr val="96A0AD"/>
                </a:solidFill>
                <a:latin typeface="맑은 고딕"/>
                <a:ea typeface="맑은 고딕"/>
              </a:rPr>
              <a:t>6 기여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92224" y="499262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01952" y="499262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설계·구현 60%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3104" y="499262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2832" y="499262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설계·검증 80%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53984" y="4992624"/>
            <a:ext cx="3230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3712" y="4992624"/>
            <a:ext cx="30114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70" b="0">
                <a:solidFill>
                  <a:srgbClr val="1A1F2E"/>
                </a:solidFill>
                <a:latin typeface="맑은 고딕"/>
                <a:ea typeface="맑은 고딕"/>
              </a:rPr>
              <a:t>rule 코드화 70%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3232" y="5998464"/>
            <a:ext cx="10771632" cy="457200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3232" y="5998464"/>
            <a:ext cx="91440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" y="5998464"/>
            <a:ext cx="103144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채점표 대응 — 기술 전문성 · 기술 리더십 · 기술성과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