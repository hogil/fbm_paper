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929E"/>
                </a:solidFill>
                <a:latin typeface="맑은 고딕"/>
                <a:ea typeface="맑은 고딕"/>
              </a:rPr>
              <a:t>'26 AI Specialist 면접 심사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E3D"/>
                </a:solidFill>
                <a:latin typeface="맑은 고딕"/>
                <a:ea typeface="맑은 고딕"/>
              </a:rPr>
              <a:t>AI Specialist 인증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9260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>
                <a:solidFill>
                  <a:srgbClr val="475569"/>
                </a:solidFill>
                <a:latin typeface="맑은 고딕"/>
                <a:ea typeface="맑은 고딕"/>
              </a:rPr>
              <a:t>14년 제조 경력(계측/품질 10년)을 바탕으로 데이터 처리 구조, viewer backend/frontend, AI model까지 직접 설계한 3개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Failbit Map 불량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992624"/>
            <a:ext cx="3840480" cy="2032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DSM 파트</a:t>
            </a:r>
          </a:p>
          <a:p>
            <a:pPr algn="l"/>
            <a:r>
              <a:rPr sz="1250">
                <a:solidFill>
                  <a:srgbClr val="6B7280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989320"/>
            <a:ext cx="10387584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08192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삼성전자 메모리제조센터 | QIE그룹 DSM 파트</a:t>
            </a:r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    AI Specialist 인증 사내 경연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10819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커리어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반도체 계측 도메인에서 제조품질 AI로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DSM 파트, 14년차  |  연세대학교 인공지능학과 석사 (야간, '25.09~ 재학)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2013.07 입사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Photo 기술팀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BBD / Overlay / CD 계측 분석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86684" y="2075688"/>
            <a:ext cx="237744" cy="237744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61004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61004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5596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2016 ~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5596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DX 제작 / 강사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SQL/Spotfire/VBA, HTML/JS web tool 운영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07608" y="2075688"/>
            <a:ext cx="237744" cy="237744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8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81928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2021 ~ 2023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D1b 신제품 TF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BBD / Overlay 담당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28532" y="2075688"/>
            <a:ext cx="237744" cy="237744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02852" y="1737360"/>
            <a:ext cx="2510028" cy="914400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02852" y="1737360"/>
            <a:ext cx="2510028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7444" y="1847088"/>
            <a:ext cx="218084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2023.03 ~ 현재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7444" y="2066544"/>
            <a:ext cx="21808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QIE그룹 DSM 파트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31720"/>
            <a:ext cx="21808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556075"/>
                </a:solidFill>
                <a:latin typeface="맑은 고딕"/>
                <a:ea typeface="맑은 고딕"/>
              </a:rPr>
              <a:t>QIE 전배, P1/P2/P3 AI 직접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78892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2862072"/>
            <a:ext cx="5111496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3232" y="2862072"/>
            <a:ext cx="5111496" cy="20116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4672" y="2930652"/>
            <a:ext cx="64008" cy="64008"/>
          </a:xfrm>
          <a:prstGeom prst="ellipse">
            <a:avLst/>
          </a:prstGeom>
          <a:solidFill>
            <a:srgbClr val="E06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23544" y="2930652"/>
            <a:ext cx="64008" cy="64008"/>
          </a:xfrm>
          <a:prstGeom prst="ellipse">
            <a:avLst/>
          </a:prstGeom>
          <a:solidFill>
            <a:srgbClr val="E6B5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42416" y="2930652"/>
            <a:ext cx="64008" cy="64008"/>
          </a:xfrm>
          <a:prstGeom prst="ellipse">
            <a:avLst/>
          </a:prstGeom>
          <a:solidFill>
            <a:srgbClr val="5CB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07008" y="2930652"/>
            <a:ext cx="4507992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3063240"/>
            <a:ext cx="5111496" cy="219456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12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984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12848" y="3136392"/>
            <a:ext cx="347472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" y="3392424"/>
            <a:ext cx="1600200" cy="5486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468880" y="3392424"/>
            <a:ext cx="1600200" cy="5486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14800" y="3392424"/>
            <a:ext cx="1600200" cy="548640"/>
          </a:xfrm>
          <a:prstGeom prst="roundRect">
            <a:avLst/>
          </a:prstGeom>
          <a:solidFill>
            <a:srgbClr val="EE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60" y="4087368"/>
            <a:ext cx="4892040" cy="155448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" y="4334256"/>
            <a:ext cx="4892040" cy="15544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960" y="4581144"/>
            <a:ext cx="4892040" cy="155448"/>
          </a:xfrm>
          <a:prstGeom prst="rect">
            <a:avLst/>
          </a:prstGeom>
          <a:solidFill>
            <a:srgbClr val="E8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" y="4983480"/>
            <a:ext cx="5257800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4983480"/>
            <a:ext cx="5257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DX web tool 홈페이지 (HTML / JS, Bootstrap)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2788920"/>
            <a:ext cx="5257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2C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564" y="2862072"/>
            <a:ext cx="2084832" cy="208483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355080" y="4983480"/>
            <a:ext cx="5257800" cy="2743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4983480"/>
            <a:ext cx="5257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D1b TF BBD / Overlay wafer map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5486400"/>
            <a:ext cx="10972800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486400"/>
            <a:ext cx="82296" cy="8412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" y="5541264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수상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5541264"/>
            <a:ext cx="9555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Challenger, '26 MTC 제안 1등급, '26 삼성 논문상 초록 통과, '26 메모리사업부 PEER AWARD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" y="5943600"/>
            <a:ext cx="1143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강사 / 교육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74519" y="5943600"/>
            <a:ext cx="9555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'21 하반기 메모리사업부 우수강사, '23 메모리제조센터 우수강사, '24 DS Data Scientist 교육 수료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P1/P2/P3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3개 과제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Failbit Map failure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478024"/>
            <a:ext cx="1408176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고질불량 발생 wafer/물량 선별, 신규 불량 조기 포착, 대량 Failbit Map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접근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Failbit Map 생성 + 대용량 viewer + Known/Unknown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[양산 운영] 일 2만 wafer/day, 공수 90%↓ + 수율 개선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Cython / pyvips / Numba, ConvNeXtV2 / YOLO11, contrastive / HDBSCAN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1312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1312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1312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02480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2480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2288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Chip multi-label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9328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ip_eval_scratch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478024"/>
            <a:ext cx="1408176" cy="14081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84192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8592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measure value 한계 + 2-combo label 확보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192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접근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8592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single source → FCM-PM supervision + val-margin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040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1040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192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8592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[controlled synthetic] bit-F1 0.9927 / FAR 0.00%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4192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PyTorch, FCM-PM / CutMix, Naive Bayes reject / KD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2544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62544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62544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63712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3712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3520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0560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trend_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464" y="2478024"/>
            <a:ext cx="2190496" cy="14081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45424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문제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9824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real abnormal label 부족, trend validation bottleneck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5424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접근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9824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domain-rule episode generator + binary validation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2272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2272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5424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성과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9824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[synthetic trend PoC] benchmark 7,000, binary-F1 0.9967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5424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episode generator / binary classifier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41248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" cy="13716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05072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968496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61104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436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943600"/>
            <a:ext cx="82296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운영 상태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mapviewer D1a/b/c/d 운영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54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1E3D"/>
                </a:solidFill>
                <a:latin typeface="맑은 고딕"/>
                <a:ea typeface="맑은 고딕"/>
              </a:rPr>
              <a:t>Failbit Map  Known &amp; Unknown 분석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81328"/>
            <a:ext cx="8458200" cy="512064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81328"/>
            <a:ext cx="91440" cy="5120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4813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배경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7040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0F1E3D"/>
                </a:solidFill>
                <a:latin typeface="맑은 고딕"/>
                <a:ea typeface="맑은 고딕"/>
              </a:rPr>
              <a:t>Failbit Map은 EDS test 결과를 wafer에 나타낸 공정개발 최종 결과 map으로, 불량 정도, 위치, 형태로 개발 수준과 공정 개선 방향을 판단합니다 (wafer당 약 1,000만 point)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문제 / AI 필요성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3296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118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48매 조회 / 수작업으로 대량 확인 한계</a:t>
            </a:r>
          </a:p>
        </p:txBody>
      </p:sp>
      <p:sp>
        <p:nvSpPr>
          <p:cNvPr id="29" name="Oval 28"/>
          <p:cNvSpPr/>
          <p:nvPr/>
        </p:nvSpPr>
        <p:spPr>
          <a:xfrm>
            <a:off x="3557016" y="37536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5753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고질불량 발생 wafer 선별</a:t>
            </a:r>
          </a:p>
        </p:txBody>
      </p:sp>
      <p:sp>
        <p:nvSpPr>
          <p:cNvPr id="31" name="Oval 30"/>
          <p:cNvSpPr/>
          <p:nvPr/>
        </p:nvSpPr>
        <p:spPr>
          <a:xfrm>
            <a:off x="3557016" y="4210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4032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신규불량 조기 검출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49696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7168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7168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168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336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개발 내용</a:t>
            </a:r>
          </a:p>
        </p:txBody>
      </p:sp>
      <p:sp>
        <p:nvSpPr>
          <p:cNvPr id="38" name="Oval 37"/>
          <p:cNvSpPr/>
          <p:nvPr/>
        </p:nvSpPr>
        <p:spPr>
          <a:xfrm>
            <a:off x="6516624" y="3067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6080" y="2889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이미지 데이터 파이프라인</a:t>
            </a:r>
          </a:p>
        </p:txBody>
      </p:sp>
      <p:sp>
        <p:nvSpPr>
          <p:cNvPr id="40" name="Oval 39"/>
          <p:cNvSpPr/>
          <p:nvPr/>
        </p:nvSpPr>
        <p:spPr>
          <a:xfrm>
            <a:off x="6516624" y="35250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80" y="33467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대용량 이미지 조회 / 라벨링 web app</a:t>
            </a:r>
          </a:p>
        </p:txBody>
      </p:sp>
      <p:sp>
        <p:nvSpPr>
          <p:cNvPr id="42" name="Oval 41"/>
          <p:cNvSpPr/>
          <p:nvPr/>
        </p:nvSpPr>
        <p:spPr>
          <a:xfrm>
            <a:off x="6516624" y="39822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80" y="38039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CNN 2-stage 분류</a:t>
            </a:r>
          </a:p>
        </p:txBody>
      </p:sp>
      <p:sp>
        <p:nvSpPr>
          <p:cNvPr id="44" name="Oval 43"/>
          <p:cNvSpPr/>
          <p:nvPr/>
        </p:nvSpPr>
        <p:spPr>
          <a:xfrm>
            <a:off x="6516624" y="4439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6080" y="4261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self-supervised 표현학습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09304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56776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56776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6776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7944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성과 / 확장</a:t>
            </a:r>
          </a:p>
        </p:txBody>
      </p:sp>
      <p:sp>
        <p:nvSpPr>
          <p:cNvPr id="51" name="Oval 50"/>
          <p:cNvSpPr/>
          <p:nvPr/>
        </p:nvSpPr>
        <p:spPr>
          <a:xfrm>
            <a:off x="9476232" y="2861157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5688" y="2688336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분류 F1 0.95</a:t>
            </a:r>
          </a:p>
        </p:txBody>
      </p:sp>
      <p:sp>
        <p:nvSpPr>
          <p:cNvPr id="53" name="Oval 52"/>
          <p:cNvSpPr/>
          <p:nvPr/>
        </p:nvSpPr>
        <p:spPr>
          <a:xfrm>
            <a:off x="9476232" y="3307384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5688" y="3134563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이상 검출 7/13</a:t>
            </a:r>
          </a:p>
        </p:txBody>
      </p:sp>
      <p:sp>
        <p:nvSpPr>
          <p:cNvPr id="55" name="Oval 54"/>
          <p:cNvSpPr/>
          <p:nvPr/>
        </p:nvSpPr>
        <p:spPr>
          <a:xfrm>
            <a:off x="9476232" y="3753611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5688" y="3580790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일 2만 wafer 양산 운영</a:t>
            </a:r>
          </a:p>
        </p:txBody>
      </p:sp>
      <p:sp>
        <p:nvSpPr>
          <p:cNvPr id="57" name="Oval 56"/>
          <p:cNvSpPr/>
          <p:nvPr/>
        </p:nvSpPr>
        <p:spPr>
          <a:xfrm>
            <a:off x="9476232" y="4199838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5688" y="4027017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정량 사업 기여 창출</a:t>
            </a:r>
          </a:p>
        </p:txBody>
      </p:sp>
      <p:sp>
        <p:nvSpPr>
          <p:cNvPr id="59" name="Oval 58"/>
          <p:cNvSpPr/>
          <p:nvPr/>
        </p:nvSpPr>
        <p:spPr>
          <a:xfrm>
            <a:off x="9476232" y="4646065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5688" y="4473244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object-id map 차세대 모델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5175504"/>
            <a:ext cx="8458200" cy="438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175504"/>
            <a:ext cx="82296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8728" y="5175504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본인 기여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175504"/>
            <a:ext cx="6629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데이터 파이프라인 / 대용량 이미지 web app / AI 모델 전 영역 직접 설계, 구현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5650992"/>
            <a:ext cx="8458200" cy="4023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5650992"/>
            <a:ext cx="82296" cy="40233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65099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기술 stack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5650992"/>
            <a:ext cx="6629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E3D"/>
                </a:solidFill>
                <a:latin typeface="맑은 고딕"/>
                <a:ea typeface="맑은 고딕"/>
              </a:rPr>
              <a:t>Cython / pyvips / Numba, ConvNeXtV2 / YOLO11, contrastive / HDBSCAN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좌표 보존 Failbit Map 운영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5287" y="1737360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1737360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EDS Test  (raw fail-map log)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240280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1879" y="2212848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Cython parsing + hourly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287" y="2432304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287" y="2514600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(32색 palette PNG) + chip annotation (FTN / QTN / 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798064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좌표 보존: 이미지, 좌표, 계측값을 같은 wafer 좌표계에 맞춰 저장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6119" y="3136392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3108960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같은 자산을 Known 및 Unknown 두 경로가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1127" y="3328416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4007" y="3374136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Known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735" y="3657600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ConvNeXtV2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735" y="3913632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ROI-YOLO  (selective)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416966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object-id map  [dev]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328416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374136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Unknown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7055" y="3657600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InfoNCE + grid36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3913632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HDBSCAN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416966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candidate groups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6119" y="4453128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4425696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두 경로 결과를 한 화면으로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5287" y="4645152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5287" y="4727448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Analysis UI — fast view / overlay / 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5287" y="5010912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운영 viewer (mapviewer): Numba composite + pyvips tile streaming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6119" y="5349240"/>
            <a:ext cx="219456" cy="164592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5321808"/>
            <a:ext cx="4023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human-in-the-loop: register → label → retrain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15287" y="5541264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5287" y="5541264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Organizational asset base  (image-measure aligned, multimodal-ready)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ConvNeXt V2 (Woo et al., 2023)    YOLO11 (Jocher &amp; Qiu, 2024)    InfoNCE (van den Oord et al., 2018)    HDBSCAN (Campello et al., 2013)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Concept + field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이산 grade 공간 데이터 표현으로서의 Failbit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5650992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Role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Failbit Map은 공정 개발 결과를 확인하는 최종 map으로, 불량 정도와 위치, 형태를 확인해 현 개발 수준을 파악하고 공정 개선 방향을 결정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Data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EDS Failbit Map은 Memory Cell Block 단위 불량 정도를 Grade 0~7로 표현한 wafer-level data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Scale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wafer 1장은 약 1,000만 block 규모이며, chip당 1개, wafer 내 약 800개 수준의 Measure 값만으로는 불량 위치와 형상 분석에 한계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Storage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palette PNG는 grade index를 저장하고, positions JSON은 chip/block 좌표를 보존해 viewer overlay와 모델 입력을 같은 좌표계로 정렬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5412" y="1316736"/>
            <a:ext cx="4334256" cy="4681728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5412" y="1316736"/>
            <a:ext cx="4334256" cy="34747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0004" y="1316736"/>
            <a:ext cx="4005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wafer Failbit Map / Edge-Ring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5412" y="1664208"/>
            <a:ext cx="4334256" cy="43342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810512"/>
            <a:ext cx="4041648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6772" y="605332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384C"/>
                </a:solidFill>
                <a:latin typeface="맑은 고딕"/>
                <a:ea typeface="맑은 고딕"/>
              </a:rPr>
              <a:t>최외곽 chip에서 동일 scratch성 fail pattern이 반복되어 edge-ring 형태로 관찰됨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데이터 생성 (fail-map)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8단계 grade → palette PNG 무손실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raw log는 대량 조회/AI 입력에 부적합 → hex-to-grade Cython 가속 + 8단계 palette PNG로 저장량 약 75%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303520" cy="4197096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4809744" cy="3941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Hex-to-grade conversion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Raw: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090B0C0D0E0F090A0B0C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Decoding: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"0C" -&gt; "C" -&gt; 12 (hex to decimal) -&gt; 3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interpreter-based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Cython: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compiled integer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Grade: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0 2 3 4 5 6 0 1 2 3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1. Hex-to-grade conversion accelerated by Cython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828800"/>
            <a:ext cx="5303520" cy="4197096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56816"/>
            <a:ext cx="4809744" cy="3941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RGB PNG vs Palette-indexed PNG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Palette-indexed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P[3] = (123,54,24)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RGB_to_Palette: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(123,54,24) -&gt;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2. Palette-indexed PNG for failbit map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viewer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대용량 Failbit Map viewer를 위한 Numba와 pyvips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대용량 palette PNG를 운영 viewer가 즉시 띄우기 어려움(메모리/속도) → Numba JIT + pyvips tile decode로 peak memory/로드 시간 절감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Numba는 메모리에 올라온 grade array의 composite 루프를 native code로 JIT 컴파일하고, pyvips는 대형 PNG를 필요한 stripe/tile만 decode해 viewer peak memory를 절감</a:t>
            </a:r>
          </a:p>
        </p:txBody>
      </p:sp>
      <p:sp>
        <p:nvSpPr>
          <p:cNvPr id="7" name="Rectangle 6"/>
          <p:cNvSpPr/>
          <p:nvPr/>
        </p:nvSpPr>
        <p:spPr>
          <a:xfrm>
            <a:off x="74615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1773" y="2587843"/>
            <a:ext cx="4720132" cy="13772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64361" y="2709367"/>
            <a:ext cx="848563" cy="324063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4361" y="2717468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BEFORE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2030" y="2689113"/>
            <a:ext cx="212140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Interpreter overhead inside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2709367"/>
            <a:ext cx="954633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맑은 고딕"/>
                <a:ea typeface="맑은 고딕"/>
              </a:rPr>
              <a:t>N 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552285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294778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296302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70021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4368454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0784" y="3730166"/>
            <a:ext cx="3394252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per-pixel interpreter dispatch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1773" y="4208160"/>
            <a:ext cx="4720132" cy="174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4361" y="4329684"/>
            <a:ext cx="848563" cy="324063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4361" y="4337785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5512" y="4309430"/>
            <a:ext cx="222747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First call JIT-compiles typed 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914" y="4694255"/>
            <a:ext cx="981151" cy="28355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4710458"/>
            <a:ext cx="928115" cy="2511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dtype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188707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69794" y="4653747"/>
            <a:ext cx="928115" cy="364571"/>
          </a:xfrm>
          <a:prstGeom prst="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96312" y="4669950"/>
            <a:ext cx="875080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JIT
compile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3477463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89603" y="4653747"/>
            <a:ext cx="1538020" cy="38482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2639" y="4669950"/>
            <a:ext cx="1431950" cy="3524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C1C1C"/>
                </a:solidFill>
                <a:latin typeface="맑은 고딕"/>
                <a:ea typeface="맑은 고딕"/>
              </a:rPr>
              <a:t>native loop
reused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7844" y="5281620"/>
            <a:ext cx="1087221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4361" y="5297823"/>
            <a:ext cx="1034186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data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2188707" y="5366686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10688" y="5139842"/>
            <a:ext cx="2280513" cy="587364"/>
          </a:xfrm>
          <a:prstGeom prst="rect">
            <a:avLst/>
          </a:prstGeom>
          <a:solidFill>
            <a:srgbClr val="5A5A5A"/>
          </a:solidFill>
          <a:ln w="1016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90241" y="5200604"/>
            <a:ext cx="2121408" cy="4658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native loop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670755" y="5366686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62448" y="5281620"/>
            <a:ext cx="530352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62448" y="5297823"/>
            <a:ext cx="530352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result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1543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601053" y="2648605"/>
            <a:ext cx="4720132" cy="11544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733641" y="2770129"/>
            <a:ext cx="769010" cy="303809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33641" y="2782281"/>
            <a:ext cx="769010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PILLOW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61757" y="2790383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full-frame buffer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13194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2140" y="3260274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2140" y="3316986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82140" y="3373697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07124" y="351142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7396581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688275" y="3154954"/>
            <a:ext cx="769010" cy="40507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67828" y="3215716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67828" y="3272427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67828" y="3329138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67828" y="3385849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767828" y="344256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529169" y="3576236"/>
            <a:ext cx="1087221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full RGB frame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8563356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881567" y="3142801"/>
            <a:ext cx="1113739" cy="518501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908084" y="3171157"/>
            <a:ext cx="1060704" cy="137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full-image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3349392"/>
            <a:ext cx="954633" cy="267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decode
encode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10074859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499140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68086" y="3256224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68086" y="330483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68086" y="335344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568086" y="3402052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66552" y="351142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601053" y="4147398"/>
            <a:ext cx="4720132" cy="127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733641" y="4268922"/>
            <a:ext cx="848563" cy="303809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733641" y="4281074"/>
            <a:ext cx="848563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LIBVIPS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61757" y="4289176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active-stripe buffer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13194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82140" y="4815779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2140" y="4872490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882140" y="4929201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707124" y="509933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7396581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688275" y="4702356"/>
            <a:ext cx="769010" cy="40507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7828" y="4763118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67828" y="4819829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67828" y="487654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67828" y="4933252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767828" y="4989963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08722" y="5123639"/>
            <a:ext cx="928115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RGB stripe</a:t>
            </a:r>
          </a:p>
        </p:txBody>
      </p:sp>
      <p:sp>
        <p:nvSpPr>
          <p:cNvPr id="97" name="Right Arrow 96"/>
          <p:cNvSpPr/>
          <p:nvPr/>
        </p:nvSpPr>
        <p:spPr>
          <a:xfrm>
            <a:off x="8563356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881567" y="4674001"/>
            <a:ext cx="1113739" cy="607618"/>
          </a:xfrm>
          <a:prstGeom prst="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908084" y="4686153"/>
            <a:ext cx="1060704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streaming
C pipeline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34602" y="5026420"/>
            <a:ext cx="1060704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맑은 고딕"/>
                <a:ea typeface="맑은 고딕"/>
              </a:rPr>
              <a:t>decode/encode</a:t>
            </a:r>
          </a:p>
        </p:txBody>
      </p:sp>
      <p:sp>
        <p:nvSpPr>
          <p:cNvPr id="101" name="Right Arrow 100"/>
          <p:cNvSpPr/>
          <p:nvPr/>
        </p:nvSpPr>
        <p:spPr>
          <a:xfrm>
            <a:off x="10074859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499140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68086" y="4811728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8086" y="486033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68086" y="490894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568086" y="4957556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366552" y="509933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078370" y="5706953"/>
            <a:ext cx="3765499" cy="283555"/>
          </a:xfrm>
          <a:prstGeom prst="rect">
            <a:avLst/>
          </a:prstGeom>
          <a:solidFill>
            <a:srgbClr val="EAEAEA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78370" y="5731258"/>
            <a:ext cx="3765499" cy="2349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same output with bounded active rows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Known 2단계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Known 검증: CNN tuning과 ROI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전체 성능은 CNN이 높지만, 같은 위치의 유사 불량은 ROI-YOLO가 root cause 구분에 유리했습니다.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low-confidence sample만 2차 분류해 F1 0.92 → 0.95로 개선했습니다.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1-stage CNN (백본 선정)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불량이 특정 영역에 몰려 나타나, 넓게 보는 Transformer보다 좁은 영역을 잘 보는 CNN이 더 적합하다고 판단 (연세대 인공지능학과 전해곤 교수 자문). ConvNeXtV2는 MaxViT와 F1 0.87 동급이면서 더 가벼워 채택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Tuning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Optuna로 schedule, focal loss, class-imbalance, augmentation strength를 조정해 F1 0.92로 향상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ROI cascade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선택된 ROI 안에서 chip class와 ROI 내 배치까지 재확인하는 selective 2-stage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66085"/>
            <a:ext cx="2571750" cy="2571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578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A — center scratch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043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fer_center_bank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2966085"/>
            <a:ext cx="2571750" cy="2571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2613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B — center bank-boundary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078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_roi_crop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966085"/>
            <a:ext cx="2571750" cy="2571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low-confidence → ROI-YOLO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1130" y="2966085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1_chip_yolo_box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2966085"/>
            <a:ext cx="2571750" cy="2571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926830" y="5537835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chip 분류 + ROI 내 배치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불량 A와 B는 wafer-level에서 비슷해 1-stage로 구분이 어려운 예시.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Known 16-class backbone 탐색과 단계별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[실전 현업 데이터 validation] 16 class / 1,500 labeled / 4:1 stratified split.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82496"/>
          <a:ext cx="109728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095"/>
                <a:gridCol w="3477718"/>
                <a:gridCol w="1259173"/>
                <a:gridCol w="485681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Stage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Configuration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Weighted 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Decision / note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ImageNet pretrained CNN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starting point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Swin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EffNetV2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MaxViT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119.5M params / 74.2G FLOPs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selected: 88.6M / 45.1G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HPO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warmup→cosine, focal γ2, effective class-weight, aug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4975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Cascade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 + ROI-YOLO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low-confidence only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4919472"/>
            <a:ext cx="10972800" cy="3840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4919472"/>
            <a:ext cx="82296" cy="3840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919472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HPO recipe — </a:t>
            </a:r>
            <a:r>
              <a:rPr sz="1100">
                <a:solidFill>
                  <a:srgbClr val="4A5666"/>
                </a:solidFill>
                <a:latin typeface="맑은 고딕"/>
                <a:ea typeface="맑은 고딕"/>
              </a:rPr>
              <a:t>LR backbone 2e-5 / head 2e-4, weight decay 0.05, warmup 5ep→cosine, focal γ=2.0, effective-number class weighting, EMA 0.95, stochastic depth 0.05, label smoothing 0.02, rotation ±15°+affine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431536"/>
            <a:ext cx="3401568" cy="58521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543153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55955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0.78 → 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587044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backbone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431536"/>
            <a:ext cx="3401568" cy="58521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543153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555955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0.87 → 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587044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Optuna HPO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5431536"/>
            <a:ext cx="3401568" cy="58521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543153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55955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0.92 → 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87044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ROI-YOLO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ConvNeXt V2 (Woo et al., 2023)    Optuna (Akiba et al., 2019)    Focal Loss (Lin et al., 2017)    YOLO11 (Jocher &amp; Qiu, 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칩 식별 지도 (후속 개발)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차세대 Stage-2: ROI detection → chip identity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ROI-YOLO는 검증됐으나 class 확장/annotation cost 부담 → chip 좌표 재사용한 object-id map으로 fixed-crop 분류 전환 (개발 중)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Current Stage-2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ROI-YOLO는 field-validated 구조지만, 선택된 ROI 안에서 box regression, classification, NMS를 수행하므로 class 확장과 detector annotation cost 부담이 남음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Object-id map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제품별 chip coordinate를 재사용해 fixed crop classification으로 바꾸고, chip별 class id를 32×32 wafer grid에 재배치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Metric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selected obj-only: val F1 0.9946 / hold-out F1 0.9872. 별도 raw+obj-id 5-seed val F1 0.9838 ± 0.0092</a:t>
            </a:r>
          </a:p>
        </p:txBody>
      </p:sp>
      <p:pic>
        <p:nvPicPr>
          <p:cNvPr id="7" name="Picture 6" descr="AAN585_00P_18_20260501_010000_97.6_2_EE_NORMAL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200400"/>
            <a:ext cx="2340864" cy="23408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124712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raw intensity</a:t>
            </a:r>
          </a:p>
        </p:txBody>
      </p:sp>
      <p:pic>
        <p:nvPicPr>
          <p:cNvPr id="10" name="Picture 9" descr="AAN585_00P_18_20260501_010000_97.6_2_EE_NORMAL_obj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3200400"/>
            <a:ext cx="2340864" cy="234086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03904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6452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object-id grid</a:t>
            </a:r>
          </a:p>
        </p:txBody>
      </p:sp>
      <p:pic>
        <p:nvPicPr>
          <p:cNvPr id="13" name="Picture 12" descr="ACZ452_00P_14_20260501_010000_97.6_2_PT_NORMAL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200400"/>
            <a:ext cx="2340864" cy="234086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483096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5644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raw intensity</a:t>
            </a:r>
          </a:p>
        </p:txBody>
      </p:sp>
      <p:pic>
        <p:nvPicPr>
          <p:cNvPr id="16" name="Picture 15" descr="ACZ452_00P_14_20260501_010000_97.6_2_PT_NORMAL_obj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00400"/>
            <a:ext cx="2340864" cy="2340864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62288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4836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object-id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Field-validated 대표 성과는 ROI-YOLO 2-stage F1 0.95이고, object-id map은 detector cost와 class 확장 부담을 줄이기 위한 차세대 Stage-2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Unknown 후보 발견 contrastive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신규 불량은 정답 label이 없어 지도학습 불가 → contrastive embedding + HDBSCAN으로 검토 후보를 13개 중 7개로 압축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Embedding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same-wafer views를 alignment target으로 두고, other wafers를 contrastive reference로 사용</a:t>
            </a:r>
          </a:p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Review output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HDBSCAN 결과는 자동 판정이 아니라 엔지니어가 검토할 신규 failure 후보 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42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fer_center_bank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615184"/>
            <a:ext cx="2999232" cy="2999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582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Center Bank-Boundary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86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afer_broken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615184"/>
            <a:ext cx="2999232" cy="2999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6626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BrokenRing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30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afer_crescent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15184"/>
            <a:ext cx="2999232" cy="2999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8670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CrescentArc (신규)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실제 현업 데이터 2,000장 review: 13개 후보 중 7개 신규 failure 확인. 화면 이미지는 후속 튜닝용 생성/개발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HDBSCAN (Campello et al., 2013)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contrastive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false negative 억제 contrastive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near-positive를 negative로 밀면 같은 불량이 흩어짐(false negative) → similarity filter로 near-positive 제외해 cluster 응집 유지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SimCLR (Chen et al., 2020)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positive-pair alignment와 in-batch negative contrast로 wafer pattern embedding을 학습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NV-Retriever negative-similarity filter (Moreira et al., 2024)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cosine similarity가 높은 near-positive candidate를 negative set에서 제외해 false-negative push를 방지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f_simclr_framewor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65" y="2631186"/>
            <a:ext cx="2919548" cy="2263140"/>
          </a:xfrm>
          <a:prstGeom prst="rect">
            <a:avLst/>
          </a:prstGeom>
        </p:spPr>
      </p:pic>
      <p:pic>
        <p:nvPicPr>
          <p:cNvPr id="9" name="Picture 8" descr="ref_simclr_los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46" y="4962906"/>
            <a:ext cx="3236786" cy="942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SimCLR (Chen et al., 2020): positive-pair alignment with in-batch negative contrast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086039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36200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601053" y="4431411"/>
            <a:ext cx="4720133" cy="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94983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Positive</a:t>
            </a:r>
          </a:p>
        </p:txBody>
      </p:sp>
      <p:sp>
        <p:nvSpPr>
          <p:cNvPr id="16" name="Oval 15"/>
          <p:cNvSpPr/>
          <p:nvPr/>
        </p:nvSpPr>
        <p:spPr>
          <a:xfrm>
            <a:off x="6834938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708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18" name="Oval 17"/>
          <p:cNvSpPr/>
          <p:nvPr/>
        </p:nvSpPr>
        <p:spPr>
          <a:xfrm>
            <a:off x="7338243" y="3277896"/>
            <a:ext cx="318211" cy="31821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H="1">
            <a:off x="6967526" y="3437001"/>
            <a:ext cx="529822" cy="274320"/>
          </a:xfrm>
          <a:prstGeom prst="line">
            <a:avLst/>
          </a:prstGeom>
          <a:ln w="19685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67061" y="317982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p⁺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4983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PULL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4983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similar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4983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pull closer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5144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Negative</a:t>
            </a:r>
          </a:p>
        </p:txBody>
      </p:sp>
      <p:sp>
        <p:nvSpPr>
          <p:cNvPr id="25" name="Oval 24"/>
          <p:cNvSpPr/>
          <p:nvPr/>
        </p:nvSpPr>
        <p:spPr>
          <a:xfrm>
            <a:off x="8585100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8870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9179625" y="3763259"/>
            <a:ext cx="307604" cy="307604"/>
          </a:xfrm>
          <a:prstGeom prst="triangl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17688" y="3711321"/>
            <a:ext cx="615739" cy="205740"/>
          </a:xfrm>
          <a:prstGeom prst="line">
            <a:avLst/>
          </a:prstGeom>
          <a:ln w="12700">
            <a:solidFill>
              <a:srgbClr val="5560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200839" y="413994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n⁻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5144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PUSH TERM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5144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far 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5144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weak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5306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False negative risk</a:t>
            </a:r>
          </a:p>
        </p:txBody>
      </p:sp>
      <p:sp>
        <p:nvSpPr>
          <p:cNvPr id="34" name="Oval 33"/>
          <p:cNvSpPr/>
          <p:nvPr/>
        </p:nvSpPr>
        <p:spPr>
          <a:xfrm>
            <a:off x="10335262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39031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36" name="Oval 35"/>
          <p:cNvSpPr/>
          <p:nvPr/>
        </p:nvSpPr>
        <p:spPr>
          <a:xfrm>
            <a:off x="10724010" y="3449346"/>
            <a:ext cx="318211" cy="318211"/>
          </a:xfrm>
          <a:prstGeom prst="ellipse">
            <a:avLst/>
          </a:prstGeom>
          <a:solidFill>
            <a:srgbClr val="C5CBD6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10467850" y="3608451"/>
            <a:ext cx="415265" cy="102870"/>
          </a:xfrm>
          <a:prstGeom prst="line">
            <a:avLst/>
          </a:prstGeom>
          <a:ln w="20320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1052828" y="3351275"/>
            <a:ext cx="530352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h⁻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5306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EXCLUDED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5306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too close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5306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protect cluster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NV-Retriever neg-sim filter (Moreira et al., 2024): potential false-negative exclusion preserves cluster compactness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NeCo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NeCo: 결함 위치에 민감한 patch-neighbor 유사도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핵심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patch 간 유사도 matrix는 결함의 공간 구조를 인코딩 → 결함 위치가 다르면 matrix가 완전히 다름 (CE 큼)</a:t>
            </a:r>
          </a:p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대비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단순 local 평균(grid)은 둔감, NeCo는 이 민감한 matrix를 같은 wafer 두 view에서 일치시켜 국소 구조 보존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67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1188720" cy="1188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7530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4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2277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651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0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3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5409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7530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4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2277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9651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43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5409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2783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7530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4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22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651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024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43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5409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783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0156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40" y="2514600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22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6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0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4398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5409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2783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0156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75304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22776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96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43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5409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2783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0156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7530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49040" y="286207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96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70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43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5409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2783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0156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7530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4904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22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43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5409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2783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0156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7530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74904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922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96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43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5409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2783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0156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7530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4904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22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096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70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A: 중앙 → p5 활성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81728" y="2441448"/>
            <a:ext cx="411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6A0AD"/>
                </a:solidFill>
                <a:latin typeface="맑은 고딕"/>
                <a:ea typeface="맑은 고딕"/>
              </a:rPr>
              <a:t>≠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9335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wafer_edge_top_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938528"/>
            <a:ext cx="1188720" cy="118872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199339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99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72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04672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2045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39419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56792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74166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351776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99248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872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22045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39419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56792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74166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351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525512" y="2340864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72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04672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22045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39419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6792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74166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51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525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699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046720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22045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9419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56792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74166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5177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525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699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872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22045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9419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6792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74166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5177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525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699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872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046720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9419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56792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74166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351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52551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699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872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04672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2045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56792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74166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351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525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69924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72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04672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2045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9419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74166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351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525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699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87298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04672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2045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39419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56792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0235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B: 상단 → p2 활성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006840" y="1956816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9×9 같은 위치 element (A vs B)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006840" y="2212848"/>
            <a:ext cx="246888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[p5,p4]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[p5,p6]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[p2,p1] .05 vs .85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[p2,p3] .05 vs .85 → .80</a:t>
            </a:r>
          </a:p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… 활성쌍 8칸, 나머지 0</a:t>
            </a:r>
          </a:p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합 8×.80 = 6.4 (큼)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77240" y="3986784"/>
            <a:ext cx="106070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0120" y="4096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local grid (patch별 활성, 관계 없음)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4416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26440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577840" y="4407408"/>
            <a:ext cx="5669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9칸 같은 위치 (A vs B):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p2 .05 vs .85 → .80,  p5 .85 vs .05 → .80,  나머지 7칸 → 0</a:t>
            </a:r>
          </a:p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합 = 2 × .80 = 1.6 (작음, patch당 1칸 뿐)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60120" y="5504688"/>
            <a:ext cx="10241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NeCo는 활성 patch당 인접쌍으로 8칸 차이 누적(큼), local grid는 patch당 1칸 2칸 차이(작음) → 관계가 위치 구조에 더 민감 (수치 설명용)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MoCo (He et al., 2020)    NeCo (Pariza et al., 2024)    InfoNCE (van den Oord et al., 2018)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Unknown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생성 평가셋 기반 contrastive recipe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[생성 데이터 개발 지표] 실전 현업 review와 분리한 모델 개발용 ablation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99648" cy="393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05"/>
                <a:gridCol w="5371489"/>
                <a:gridCol w="1342872"/>
                <a:gridCol w="1175013"/>
                <a:gridCol w="1622637"/>
                <a:gridCol w="91763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 (per class 500, normal 2000)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M1 capture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M2 noise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M3 Completeness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Sil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Global InfoNCE only (baseline)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0.9337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15.78%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0.582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Local DenseCL (LW=0.5)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0.9361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13.87%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0.9502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0.514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MoCo Queue 4096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9.45%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0.9474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0.573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Neg-sim filter 0.72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8.23%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NeCo 0.2 (5-tool full)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0.6104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(Local DenseCL 제외 4-tool)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+ noise threshold τ=0.5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0.9619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8" y="5833872"/>
            <a:ext cx="10744200" cy="31089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5833872"/>
            <a:ext cx="91440" cy="3108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378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Noise 15.78% → 0.00%  /  Capture 0.9337 → 0.9619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InfoNCE (van den Oord et al., 2018)    DenseCL (Wang et al., 2021)    MoCo (He et al., 2020)    NeCo (Pariza et al., 2024)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Result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양산 운영과 모델 검증 단계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Production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Processing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Production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Bulk wafer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384280" y="1522476"/>
            <a:ext cx="146304" cy="237744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Model validation / deploy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Unknown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048256"/>
            <a:ext cx="2971800" cy="338328"/>
          </a:xfrm>
          <a:prstGeom prst="roundRect">
            <a:avLst/>
          </a:prstGeom>
          <a:solidFill>
            <a:srgbClr val="E6EAEF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GPU server → 2026.9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양산 운영 중 — 처리 구조 + viewer (2025.5~)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DRAM D1a/b/c/d 전제품 분석 파트 사용, 일 2만 wafer 처리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분석 공수 절감과 P3WN 수율 개선 1건을 합산해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정량 산정 기여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를 창출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조회 48매 한계를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조회 viewer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로 확장하고, 검토 방식을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변환과 검색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중심으로 재구성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123억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정량 산정 기여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812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4812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812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공수 90%↓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812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검토 시간 절감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757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757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수율 +0.02%p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757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P3WN 1건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모델 — validation 완료, 서버 배포 준비 단계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Known validation 완료(실전 16종/1,500장), Unknown 현업 review 완료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classification model은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2026년 9월 GPU 서버 배포 검증 예정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이며, 서버 성능은 배포 환경에서 별도 검증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사내 인정: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 수상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MTC 제안 1등급 확정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삼성 논문상 초록 통과</a:t>
            </a:r>
          </a:p>
          <a:p>
            <a:pPr marL="420624" indent="-420624" lvl="1">
              <a:lnSpc>
                <a:spcPct val="104000"/>
              </a:lnSpc>
              <a:spcAft>
                <a:spcPts val="400"/>
              </a:spcAft>
            </a:pPr>
            <a:r>
              <a:rPr sz="11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150">
                <a:solidFill>
                  <a:srgbClr val="4A5666"/>
                </a:solidFill>
                <a:latin typeface="맑은 고딕"/>
                <a:ea typeface="맑은 고딕"/>
              </a:rPr>
              <a:t>Unknown 13→7은 분류 성능 지표가 아니라 현업 후보 검토 결과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Known real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168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168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68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현업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168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Unknown candidate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113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5113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5113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2026.09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113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GPU 배포 검증 예정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41248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" cy="13716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05072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968496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61104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P2  Chip multi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436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943600"/>
            <a:ext cx="82296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운영 상태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controlled synthetic 검증 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54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1E3D"/>
                </a:solidFill>
                <a:latin typeface="맑은 고딕"/>
                <a:ea typeface="맑은 고딕"/>
              </a:rPr>
              <a:t>Chip Multi-label  FCM-PM classification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81328"/>
            <a:ext cx="8458200" cy="512064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81328"/>
            <a:ext cx="91440" cy="5120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4813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배경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7040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0F1E3D"/>
                </a:solidFill>
                <a:latin typeface="맑은 고딕"/>
                <a:ea typeface="맑은 고딕"/>
              </a:rPr>
              <a:t>chip 불량 분석은 표준적으로 chip별 measure value 중심으로 수행되나, 중복 failure는 chip 내부 fail bit 분포 image로만 구분할 수 있습니다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문제 / AI 필요성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3296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118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measure value로 중복 failure 구분 한계</a:t>
            </a:r>
          </a:p>
        </p:txBody>
      </p:sp>
      <p:sp>
        <p:nvSpPr>
          <p:cNvPr id="29" name="Oval 28"/>
          <p:cNvSpPr/>
          <p:nvPr/>
        </p:nvSpPr>
        <p:spPr>
          <a:xfrm>
            <a:off x="3557016" y="37536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5753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2-combo label 대량 확보 불가</a:t>
            </a:r>
          </a:p>
        </p:txBody>
      </p:sp>
      <p:sp>
        <p:nvSpPr>
          <p:cNvPr id="31" name="Oval 30"/>
          <p:cNvSpPr/>
          <p:nvPr/>
        </p:nvSpPr>
        <p:spPr>
          <a:xfrm>
            <a:off x="3557016" y="4210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4032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single source 기반 multi-label 학습 필요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49696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7168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7168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168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336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개발 내용</a:t>
            </a:r>
          </a:p>
        </p:txBody>
      </p:sp>
      <p:sp>
        <p:nvSpPr>
          <p:cNvPr id="38" name="Oval 37"/>
          <p:cNvSpPr/>
          <p:nvPr/>
        </p:nvSpPr>
        <p:spPr>
          <a:xfrm>
            <a:off x="6516624" y="3067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6080" y="2889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FCM-PM으로 2-combo 학습 신호 생성</a:t>
            </a:r>
          </a:p>
        </p:txBody>
      </p:sp>
      <p:sp>
        <p:nvSpPr>
          <p:cNvPr id="40" name="Oval 39"/>
          <p:cNvSpPr/>
          <p:nvPr/>
        </p:nvSpPr>
        <p:spPr>
          <a:xfrm>
            <a:off x="6516624" y="35250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80" y="33467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Pair Mask로 background 오학습 차단</a:t>
            </a:r>
          </a:p>
        </p:txBody>
      </p:sp>
      <p:sp>
        <p:nvSpPr>
          <p:cNvPr id="42" name="Oval 41"/>
          <p:cNvSpPr/>
          <p:nvPr/>
        </p:nvSpPr>
        <p:spPr>
          <a:xfrm>
            <a:off x="6516624" y="39822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80" y="38039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val-margin으로 checkpoint 선택</a:t>
            </a:r>
          </a:p>
        </p:txBody>
      </p:sp>
      <p:sp>
        <p:nvSpPr>
          <p:cNvPr id="44" name="Oval 43"/>
          <p:cNvSpPr/>
          <p:nvPr/>
        </p:nvSpPr>
        <p:spPr>
          <a:xfrm>
            <a:off x="6516624" y="4439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6080" y="4261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Naive Bayes reject로 false alarm 제어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09304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56776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56776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6776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7944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성과 / 확장</a:t>
            </a:r>
          </a:p>
        </p:txBody>
      </p:sp>
      <p:sp>
        <p:nvSpPr>
          <p:cNvPr id="51" name="Oval 50"/>
          <p:cNvSpPr/>
          <p:nvPr/>
        </p:nvSpPr>
        <p:spPr>
          <a:xfrm>
            <a:off x="9476232" y="2861157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5688" y="2688336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multi-label F1 0.9927</a:t>
            </a:r>
          </a:p>
        </p:txBody>
      </p:sp>
      <p:sp>
        <p:nvSpPr>
          <p:cNvPr id="53" name="Oval 52"/>
          <p:cNvSpPr/>
          <p:nvPr/>
        </p:nvSpPr>
        <p:spPr>
          <a:xfrm>
            <a:off x="9476232" y="3307384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5688" y="3134563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false alarm 0%</a:t>
            </a:r>
          </a:p>
        </p:txBody>
      </p:sp>
      <p:sp>
        <p:nvSpPr>
          <p:cNvPr id="55" name="Oval 54"/>
          <p:cNvSpPr/>
          <p:nvPr/>
        </p:nvSpPr>
        <p:spPr>
          <a:xfrm>
            <a:off x="9476232" y="3753611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5688" y="3580790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single + 2-combo 동시 검출</a:t>
            </a:r>
          </a:p>
        </p:txBody>
      </p:sp>
      <p:sp>
        <p:nvSpPr>
          <p:cNvPr id="57" name="Oval 56"/>
          <p:cNvSpPr/>
          <p:nvPr/>
        </p:nvSpPr>
        <p:spPr>
          <a:xfrm>
            <a:off x="9476232" y="4199838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5688" y="4027017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ensemble robustness 확보</a:t>
            </a:r>
          </a:p>
        </p:txBody>
      </p:sp>
      <p:sp>
        <p:nvSpPr>
          <p:cNvPr id="59" name="Oval 58"/>
          <p:cNvSpPr/>
          <p:nvPr/>
        </p:nvSpPr>
        <p:spPr>
          <a:xfrm>
            <a:off x="9476232" y="4646065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5688" y="4473244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KD 단일 모델 생산성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5175504"/>
            <a:ext cx="8458200" cy="438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175504"/>
            <a:ext cx="82296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8728" y="5175504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본인 기여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175504"/>
            <a:ext cx="6629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데이터 합성 / multi-label 분류 / 모델 선택 / false alarm 제어 전 영역 직접 설계, 구현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5650992"/>
            <a:ext cx="8458200" cy="4023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5650992"/>
            <a:ext cx="82296" cy="40233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65099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기술 stack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5650992"/>
            <a:ext cx="6629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E3D"/>
                </a:solidFill>
                <a:latin typeface="맑은 고딕"/>
                <a:ea typeface="맑은 고딕"/>
              </a:rPr>
              <a:t>PyTorch, FCM-PM, label smoothing / ASL, Naive Bayes reject, KD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Chip multi-label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measure-value 한계에서 image multi-label supervision으로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3154680" cy="44622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91440" cy="44622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651760" cy="4050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Problem</a:t>
            </a:r>
          </a:p>
          <a:p>
            <a:pPr algn="l"/>
            <a:r>
              <a:rPr sz="1380" b="1">
                <a:solidFill>
                  <a:srgbClr val="0F1E3D"/>
                </a:solidFill>
                <a:latin typeface="맑은 고딕"/>
                <a:ea typeface="맑은 고딕"/>
              </a:rPr>
              <a:t>measure value만으로
중복 failure 확인 한계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Source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2-combo label 확보는
현실적으로 불가능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Eval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single source 기반
2-combo eval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4208"/>
            <a:ext cx="7406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664208"/>
            <a:ext cx="91440" cy="19019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810512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Source bank: single-failure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103120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2-combo label 없이 train source 안에서 synthetic combination을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ip_eval_bank_boundary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14016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713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ip_eval_fork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14016"/>
            <a:ext cx="768096" cy="7680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7161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_eval_scratch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414016"/>
            <a:ext cx="768096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609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_eval_scratch_rot_sele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414016"/>
            <a:ext cx="768096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739128" y="3621024"/>
            <a:ext cx="1463040" cy="256032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611880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image multi-label 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3968496"/>
            <a:ext cx="74066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1648" y="3968496"/>
            <a:ext cx="91440" cy="2157984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4114800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Eval target: 3,850-chip controlled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4407408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single 4 + 2-combo 6 + Normal/Invalid/OOD negative tail.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ip_combo_bb_fork_sel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773168"/>
            <a:ext cx="896112" cy="896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25696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ip_combo_bb_scratch_sel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4773168"/>
            <a:ext cx="896112" cy="8961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33288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bb+sc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4304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ip_combo_fork_scratch_rot_selec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773168"/>
            <a:ext cx="896112" cy="8961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80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fk+sr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1896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ip_eval_normal_selec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912" y="4773168"/>
            <a:ext cx="896112" cy="8961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48472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ip_eval_invalid_selec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4773168"/>
            <a:ext cx="896112" cy="8961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56064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invalid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" y="5321808"/>
            <a:ext cx="264261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76672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Design implication: FCM-PM creates 2-combo supervision from single source.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FCM-PM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FCM-PM: coverage 보존과 loss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744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2-combo label은 부족하지만 실제 중복 불량은 발생 → single source를 FCM-PM으로 합성해 학습 신호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0744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Mixup은 pixel이 섞여 noise, Diffusion은 대량 label/compute 부담 → label 의미를 보존하는 CutMix 계열 선택 (자문: 연세대학교 인공지능학과 박은병 교수)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107716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cm_p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45" y="1920240"/>
            <a:ext cx="10155405" cy="18836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69551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9551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1  (A∪B)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4343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343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2  (A∪B)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Normal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2-combo pos. prob 낮음
FAR 낮지만 recall 약함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5656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pos. prob 상승
FAR tail 동반 상승 가능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690104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8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1">
                <a:solidFill>
                  <a:srgbClr val="0F1E3D"/>
                </a:solidFill>
                <a:latin typeface="맑은 고딕"/>
                <a:ea typeface="맑은 고딕"/>
              </a:rPr>
              <a:t>2-combo signal 유지
pseudo-background loss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266944"/>
            <a:ext cx="10259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" y="5266944"/>
            <a:ext cx="91440" cy="694944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76672"/>
            <a:ext cx="14264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Formula + ablation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5321808"/>
            <a:ext cx="8412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FCM mixed views: y_mixed = y_A ∪ y_B  (multi-label target)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views: y_masked ∈ {y_A,y_B}; L_total = L_BCE(mixed)+w·L_BCE(masked)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reduces synthetic-background FAR; final result is reported on the validation slide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CutMix (Yun et al., 2019)    Mixup (Zhang et al., 2018)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selection + Naive Bayes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val-margin 선택과 negative-tail 제어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984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val-F1만으로는 negative tail이 안정적인 checkpoint를 고르기 어려움 → positive/negative score margin으로 선택, FAR 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82496"/>
            <a:ext cx="521208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82496"/>
            <a:ext cx="91440" cy="44988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83664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val-margin checkpoint selection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249424"/>
            <a:ext cx="4700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onsolas"/>
                <a:ea typeface="Consolas"/>
              </a:rPr>
              <a:t>val_margin = mean(p_positive) - max(p_negative)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2587752"/>
            <a:ext cx="182880" cy="18288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2184" y="2555748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8024" y="2587752"/>
            <a:ext cx="182880" cy="18288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2555748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1608" y="2587752"/>
            <a:ext cx="182880" cy="182880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2555748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eval-F1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52728" y="4004707"/>
            <a:ext cx="146304" cy="430133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53896" y="4250497"/>
            <a:ext cx="146304" cy="184343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55064" y="4230015"/>
            <a:ext cx="146304" cy="204825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65960" y="3902294"/>
            <a:ext cx="146304" cy="532546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67128" y="4158326"/>
            <a:ext cx="146304" cy="27651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68296" y="4127602"/>
            <a:ext cx="146304" cy="307238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47672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9192" y="3779399"/>
            <a:ext cx="146304" cy="655441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80360" y="4035431"/>
            <a:ext cx="146304" cy="39940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81528" y="3984224"/>
            <a:ext cx="146304" cy="450616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92424" y="3554090"/>
            <a:ext cx="146304" cy="88075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93592" y="3881811"/>
            <a:ext cx="146304" cy="55302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3851088"/>
            <a:ext cx="146304" cy="583752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4136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05656" y="3697468"/>
            <a:ext cx="146304" cy="737372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06824" y="3595056"/>
            <a:ext cx="146304" cy="83978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07992" y="3574573"/>
            <a:ext cx="146304" cy="860267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7368" y="4498848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79576" y="4434840"/>
            <a:ext cx="3730752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72384" y="2798064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val-F1 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41064" y="2834640"/>
            <a:ext cx="877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margin max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3072384"/>
            <a:ext cx="14996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margin 선택 시 eval 향상 (illustrative)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" y="5084064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post-hoc check: correlation with held-out eval bit_F1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0120" y="5285232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60120" y="5285232"/>
            <a:ext cx="64008" cy="731520"/>
          </a:xfrm>
          <a:prstGeom prst="rect">
            <a:avLst/>
          </a:prstGeom>
          <a:solidFill>
            <a:srgbClr val="7A8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8136" y="535838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val_f1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" y="565099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-0.10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95144" y="559612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weak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01568" y="5285232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01568" y="5285232"/>
            <a:ext cx="64008" cy="73152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29584" y="5358384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val_margin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9584" y="5650992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+0.56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36592" y="5596128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selected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1682496"/>
            <a:ext cx="521208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63640" y="1682496"/>
            <a:ext cx="91440" cy="4498848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19672" y="1883664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Naive Bayes reject: class profile 불일치 제거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2231136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class별 출력 bit 확률 분포 저장 (bit 독립, Naive Bayes)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19672" y="2487168"/>
            <a:ext cx="4700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band = 저장 분포 99.7% 범위 (±3σ)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56248" y="2761488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29400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single bb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400" y="32826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0296" y="33284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477963" y="3296412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67792" y="32689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651882" y="3287268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35935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940296" y="36393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67179" y="36073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040514" y="35798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06681" y="3598164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29400" y="39044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40296" y="39502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67179" y="391820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040514" y="38907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015642" y="3909060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629400" y="42153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0296" y="42611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67179" y="42291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40514" y="42016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997720" y="4219956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84264" y="4590288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39128" y="4617720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65976" y="4837176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4 bit profile match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65592" y="2761488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238744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2-combo bb+sc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238744" y="32826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49640" y="33284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908084" y="3296412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97914" y="32689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064081" y="3287268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38744" y="35935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49640" y="36393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76523" y="36073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649858" y="35798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624986" y="3598164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38744" y="39044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49640" y="39502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90162" y="3918204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79992" y="38907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046159" y="3909060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238744" y="42153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49640" y="42611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76523" y="42291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49858" y="42016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616025" y="4219956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293608" y="4590288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48472" y="4617720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75320" y="4837176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bit likelihoods align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774936" y="2761488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848088" y="2816352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tail/OOD on bb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48088" y="3282696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158984" y="3328416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696651" y="3296412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886480" y="3268980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0297058" y="3287268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848088" y="359359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58984" y="363931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185867" y="3607308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259202" y="3579876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494203" y="3598164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48088" y="390448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158984" y="395020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185867" y="391820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259202" y="3890772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476280" y="3909060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848088" y="421538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158984" y="426110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185867" y="422910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259202" y="4201668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0458358" y="4219956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902952" y="4590288"/>
            <a:ext cx="1170432" cy="256032"/>
          </a:xfrm>
          <a:prstGeom prst="rect">
            <a:avLst/>
          </a:prstGeom>
          <a:solidFill>
            <a:srgbClr val="FAE8E6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957816" y="4617720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884664" y="4837176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known-profile mismatch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56248" y="5157216"/>
            <a:ext cx="4626864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665976" y="5230368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최고 일치 class likelihood ≥ 임계 → ACCEPT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665976" y="5468111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모든 class 임계 미달 → REJECT (OOD/tail)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537960" y="5797296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537960" y="5797296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65976" y="5833872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NB profile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65976" y="5980176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10 known classes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91272" y="5916168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4 single + 6 combo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979408" y="5797296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979408" y="5797296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107424" y="5833872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reject rule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107424" y="5980176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 profile passes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32720" y="5916168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Multi-label recipe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[controlled synthetic validation] 현업 single-failure 원천에서 생성한 평가셋. 단일 대표 모델은 FCM-PM + val_margin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64208"/>
          <a:ext cx="7589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56"/>
                <a:gridCol w="3031382"/>
                <a:gridCol w="774440"/>
                <a:gridCol w="685933"/>
                <a:gridCol w="774440"/>
                <a:gridCol w="641679"/>
                <a:gridCol w="130549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bit_F1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single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2combo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Role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BCE + Label Smoothing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0.1093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0.1896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0.0668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99.47%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Sigmoid Focal Loss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0.7980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0.8724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0.7050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45.72%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loss trial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Asymmetric Loss (ASL)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0.6435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0.5379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0.7320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collapse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(random rectangle)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0.9566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0.9070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42.05%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signal cut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+ Pair Mask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0.9491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0.9728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24.62%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reduced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val_f1 selection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0.9652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0.9517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selection ablation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val_margin selection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0.9871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 single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main claim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vote_majority_bits Ensemble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0.9956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champion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cost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Knowledge Distillation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0.9799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0.9638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candidate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664208"/>
            <a:ext cx="3310128" cy="3657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64208"/>
            <a:ext cx="31272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추론 비용 / 배포 선택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212848"/>
            <a:ext cx="3310128" cy="8046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2212848"/>
            <a:ext cx="82296" cy="8046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313432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313432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51760"/>
            <a:ext cx="2944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대표 single model / bit-F1 0.9927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145536"/>
            <a:ext cx="331012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3145536"/>
            <a:ext cx="82296" cy="8046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3246120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Ensemble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3246120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5x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584448"/>
            <a:ext cx="2944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성능 상한 / bit-F1 0.9956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4078224"/>
            <a:ext cx="3310128" cy="8046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4078224"/>
            <a:ext cx="82296" cy="8046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4178808"/>
            <a:ext cx="1920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KD student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4178808"/>
            <a:ext cx="12984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517136"/>
            <a:ext cx="294436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운영 후보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047488"/>
            <a:ext cx="3310128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Ensemble로 성능 상한을 확인하고, KD로 그 성능을 1x 단일 모델에 압축해 운영 비용을 낮춥니다.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Focal Loss (Lin et al., 2017)    Asymmetric Loss (Ben-Baruch et al., 2021)    CutMix (Yun et al., 2019)    Knowledge Distillation (Hinton et al., 2015)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841248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984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95728"/>
            <a:ext cx="146304" cy="13716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1828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8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005072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968496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297680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261104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0288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" y="4553712"/>
            <a:ext cx="1783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P3  Trend generate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5943600"/>
            <a:ext cx="2103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5943600"/>
            <a:ext cx="82296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5943600"/>
            <a:ext cx="1828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운영 상태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synthetic trend PoC, 현업 검증 예정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75488"/>
            <a:ext cx="8458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9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1481328"/>
            <a:ext cx="8458200" cy="512064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1481328"/>
            <a:ext cx="91440" cy="5120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481328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배경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481328"/>
            <a:ext cx="70408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>
                <a:solidFill>
                  <a:srgbClr val="0F1E3D"/>
                </a:solidFill>
                <a:latin typeface="맑은 고딕"/>
                <a:ea typeface="맑은 고딕"/>
              </a:rPr>
              <a:t>Thickness / Overlay / CD 등 제품 계측 trend(시계열)를 담당자가 chart로 보고 정상 산포 대비 이상 여부를 판정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37560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37560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문제 / AI 필요성</a:t>
            </a:r>
          </a:p>
        </p:txBody>
      </p:sp>
      <p:sp>
        <p:nvSpPr>
          <p:cNvPr id="27" name="Oval 26"/>
          <p:cNvSpPr/>
          <p:nvPr/>
        </p:nvSpPr>
        <p:spPr>
          <a:xfrm>
            <a:off x="3557016" y="3296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6472" y="3118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수작업 판정 → 누락 / spec-in 위험</a:t>
            </a:r>
          </a:p>
        </p:txBody>
      </p:sp>
      <p:sp>
        <p:nvSpPr>
          <p:cNvPr id="29" name="Oval 28"/>
          <p:cNvSpPr/>
          <p:nvPr/>
        </p:nvSpPr>
        <p:spPr>
          <a:xfrm>
            <a:off x="3557016" y="37536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5753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실제 이상 label 희소</a:t>
            </a:r>
          </a:p>
        </p:txBody>
      </p:sp>
      <p:sp>
        <p:nvSpPr>
          <p:cNvPr id="31" name="Oval 30"/>
          <p:cNvSpPr/>
          <p:nvPr/>
        </p:nvSpPr>
        <p:spPr>
          <a:xfrm>
            <a:off x="3557016" y="4210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76472" y="4032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검증 데이터 부족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949696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7168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7168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97168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8336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개발 내용</a:t>
            </a:r>
          </a:p>
        </p:txBody>
      </p:sp>
      <p:sp>
        <p:nvSpPr>
          <p:cNvPr id="38" name="Oval 37"/>
          <p:cNvSpPr/>
          <p:nvPr/>
        </p:nvSpPr>
        <p:spPr>
          <a:xfrm>
            <a:off x="6516624" y="30678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6080" y="28895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도메인 규칙 기반 시계열 합성</a:t>
            </a:r>
          </a:p>
        </p:txBody>
      </p:sp>
      <p:sp>
        <p:nvSpPr>
          <p:cNvPr id="40" name="Oval 39"/>
          <p:cNvSpPr/>
          <p:nvPr/>
        </p:nvSpPr>
        <p:spPr>
          <a:xfrm>
            <a:off x="6516624" y="35250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36080" y="33467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노이즈, 5MA smoothing, 판정 기준 튜닝</a:t>
            </a:r>
          </a:p>
        </p:txBody>
      </p:sp>
      <p:sp>
        <p:nvSpPr>
          <p:cNvPr id="42" name="Oval 41"/>
          <p:cNvSpPr/>
          <p:nvPr/>
        </p:nvSpPr>
        <p:spPr>
          <a:xfrm>
            <a:off x="6516624" y="39822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6080" y="38039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이상 패턴 주입</a:t>
            </a:r>
          </a:p>
        </p:txBody>
      </p:sp>
      <p:sp>
        <p:nvSpPr>
          <p:cNvPr id="44" name="Oval 43"/>
          <p:cNvSpPr/>
          <p:nvPr/>
        </p:nvSpPr>
        <p:spPr>
          <a:xfrm>
            <a:off x="6516624" y="4439412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6080" y="4261104"/>
            <a:ext cx="1953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binary 분류 검증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909304" y="3483864"/>
            <a:ext cx="274320" cy="274320"/>
          </a:xfrm>
          <a:prstGeom prst="rightArrow">
            <a:avLst/>
          </a:prstGeom>
          <a:solidFill>
            <a:srgbClr val="B7C0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56776" y="2212848"/>
            <a:ext cx="253898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256776" y="2212848"/>
            <a:ext cx="2538984" cy="365760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6776" y="2395728"/>
            <a:ext cx="2538984" cy="1828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57944" y="2212848"/>
            <a:ext cx="219151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성과 / 확장</a:t>
            </a:r>
          </a:p>
        </p:txBody>
      </p:sp>
      <p:sp>
        <p:nvSpPr>
          <p:cNvPr id="51" name="Oval 50"/>
          <p:cNvSpPr/>
          <p:nvPr/>
        </p:nvSpPr>
        <p:spPr>
          <a:xfrm>
            <a:off x="9476232" y="2861157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95688" y="2688336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benchmark 7,000 구성</a:t>
            </a:r>
          </a:p>
        </p:txBody>
      </p:sp>
      <p:sp>
        <p:nvSpPr>
          <p:cNvPr id="53" name="Oval 52"/>
          <p:cNvSpPr/>
          <p:nvPr/>
        </p:nvSpPr>
        <p:spPr>
          <a:xfrm>
            <a:off x="9476232" y="3307384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5688" y="3134563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binary F1 0.9967</a:t>
            </a:r>
          </a:p>
        </p:txBody>
      </p:sp>
      <p:sp>
        <p:nvSpPr>
          <p:cNvPr id="55" name="Oval 54"/>
          <p:cNvSpPr/>
          <p:nvPr/>
        </p:nvSpPr>
        <p:spPr>
          <a:xfrm>
            <a:off x="9476232" y="3753611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5688" y="3580790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abnormal recall 0.9987</a:t>
            </a:r>
          </a:p>
        </p:txBody>
      </p:sp>
      <p:sp>
        <p:nvSpPr>
          <p:cNvPr id="57" name="Oval 56"/>
          <p:cNvSpPr/>
          <p:nvPr/>
        </p:nvSpPr>
        <p:spPr>
          <a:xfrm>
            <a:off x="9476232" y="4199838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95688" y="4027017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현업 trend 검증 예정</a:t>
            </a:r>
          </a:p>
        </p:txBody>
      </p:sp>
      <p:sp>
        <p:nvSpPr>
          <p:cNvPr id="59" name="Oval 58"/>
          <p:cNvSpPr/>
          <p:nvPr/>
        </p:nvSpPr>
        <p:spPr>
          <a:xfrm>
            <a:off x="9476232" y="4646065"/>
            <a:ext cx="100584" cy="100584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5688" y="4473244"/>
            <a:ext cx="1953768" cy="44622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anomaly type 분류 확장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37560" y="5175504"/>
            <a:ext cx="8458200" cy="43891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175504"/>
            <a:ext cx="82296" cy="43891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38728" y="5175504"/>
            <a:ext cx="14630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본인 기여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175504"/>
            <a:ext cx="6629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BBD / Overlay / CD 계측 경험 기반 데이터 합성 / 이상 검출 / 검증 체계 직접 설계, 구현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37560" y="5650992"/>
            <a:ext cx="8458200" cy="4023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37560" y="5650992"/>
            <a:ext cx="82296" cy="40233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538728" y="5650992"/>
            <a:ext cx="146304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기술 stack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5650992"/>
            <a:ext cx="66294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1E3D"/>
                </a:solidFill>
                <a:latin typeface="맑은 고딕"/>
                <a:ea typeface="맑은 고딕"/>
              </a:rPr>
              <a:t>config 기반 episode generator, binary classifier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Trend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episode 생성과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321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Core contribution — 판정 경험을 episode generation rule로 코드화하고, binary validation으로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58775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현장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BBD / Overlay / CD 10년 trend 판정 경험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82112" y="3118104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00984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00984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374136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300984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Region 5종 + Noise 3종 + Anomaly 5종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82112" y="3904488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87368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87368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6052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Synthetic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087368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normal 3,500 + abnormal 3,500 = 7,000개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2112" y="4690872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73752"/>
            <a:ext cx="4983480" cy="621792"/>
          </a:xfrm>
          <a:prstGeom prst="rect">
            <a:avLst/>
          </a:prstGeom>
          <a:solidFill>
            <a:srgbClr val="E8ECF2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73752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9469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Binary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873752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F1 0.9967 / abnormal recall 0.9987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domain 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region/noise/anomaly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baseline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fleet-bound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Robust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shortcut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color/median/NT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54096"/>
            <a:ext cx="516636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054096"/>
            <a:ext cx="5166360" cy="3657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108960"/>
            <a:ext cx="4846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맑은 고딕"/>
                <a:ea typeface="맑은 고딕"/>
              </a:rPr>
              <a:t>Stabilization and shortcut-control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480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6480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LR sweep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3e-5/3e-4 stable
1e-4/1e-3 collapse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Label smoothing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0.02 sweet spot
FN 4.6 -&gt; 0.8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480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6480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Stochastic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0.05 regularization
FP 3.8 -&gt; 1.4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3368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Focal + 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gamma=2.0, EMA 0.95
hard-anomaly stability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480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6480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 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hard-normal 3,300
FP/FN balance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Color + median + 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color/smoothing check
val-F1 median, NT 0.9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episode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정상 baseline episode와 측정 noise 샘플링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4416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실제 정상 데이터로는 다양한 패턴 확보가 어려움 → region/noise/density를 분리 샘플링해 정상 baseline 생성 (anomaly는 다음 장)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10744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7859816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(a) Normal baseline  -  sequential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785981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fleet/reference     blue = sampled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340864"/>
            <a:ext cx="7530632" cy="26517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4777740"/>
            <a:ext cx="7219736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2523744"/>
            <a:ext cx="13716" cy="2267712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96896"/>
            <a:ext cx="1422001" cy="2121408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14" name="Oval 13"/>
          <p:cNvSpPr/>
          <p:nvPr/>
        </p:nvSpPr>
        <p:spPr>
          <a:xfrm>
            <a:off x="1658525" y="31423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75808" y="30118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9036" y="34999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9402" y="3735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93246" y="361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4527" y="30422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6970" y="42673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3346" y="32628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45827" y="44685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1621" y="3551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90818" y="2968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40558" y="33733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9438" y="3087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38942" y="42495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75965" y="3859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0472" y="35110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44168" y="2995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1446" y="32340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13397" y="36029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6169" y="3865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23538" y="3390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58800" y="40546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56806" y="3847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15404" y="43477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75964" y="33705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95819" y="30878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78811" y="41513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39299" y="37050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95429" y="40033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20773" y="38449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62257" y="3413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32399" y="38804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85183" y="3650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16957" y="44634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50218" y="39966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22808" y="40587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70953" y="45440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93939" y="33649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37565" y="40041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74196" y="36596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9791" y="30862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20620" y="4169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16654" y="33346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40819" y="39168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56235" y="35227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37208" y="39280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71572" y="390993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1383" y="349112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0946" y="39287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43130" y="32443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74741" y="33199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45517" y="35561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86381" y="3348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61458" y="34945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13935" y="36321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37389" y="37479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95142" y="36799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94279" y="315387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71016" y="38315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40013" y="3848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42590" y="34758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84680" y="36955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33518" y="31663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15068" y="325497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7753" y="31525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56675" y="32446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82112" y="34428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87984" y="39195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17291" y="32421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68963" y="34277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7628" y="32181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308321" y="40304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3803" y="35550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62807" y="31988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680953" y="3350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83438" y="325416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85004" y="399114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10960" y="32403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929442" y="31287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910777" y="40168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26150" y="37533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79939" y="34457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63371" y="38240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916332" y="38306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64880" y="33116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261946" y="402282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312896" y="385588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270399" y="379408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537343" y="35866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96971" y="31305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91003" y="33642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77534" y="3749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41623" y="35209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17468" y="4025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39747" y="34438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29565" y="33152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00128" y="32942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29679" y="39438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297787" y="35510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65504" y="38498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361436" y="37200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83709" y="38336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185900" y="35496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77596" y="38400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668415" y="38509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60386" y="34729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53752" y="39872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154499" y="32621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413801" y="32445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77607" y="38562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437513" y="38749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471103" y="371698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90583" y="3615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18690" y="311676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59436" y="37098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08883" y="39749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10721" y="2596896"/>
            <a:ext cx="1422001" cy="2121408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29009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132" name="Oval 131"/>
          <p:cNvSpPr/>
          <p:nvPr/>
        </p:nvSpPr>
        <p:spPr>
          <a:xfrm>
            <a:off x="3220823" y="43420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721337" y="32425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988678" y="33788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974269" y="38672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998284" y="3588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34624" y="44057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18735" y="36538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411590" y="43962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204008" y="44186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07366" y="37764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35249" y="29224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28880" y="31960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672430" y="422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887276" y="36793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592540" y="38174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083268" y="37539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75989" y="41965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802777" y="38237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84417" y="33521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2585" y="37362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84010" y="41561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831472" y="3628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48813" y="37326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320776" y="40441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244470" y="3778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277243" y="44581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559404" y="435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869350" y="33233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381184" y="44611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738999" y="3119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22566" y="36271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59960" y="32918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760693" y="40054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67478" y="43841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864441" y="40831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509701" y="31292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793641" y="45015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47541" y="44764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175469" y="3702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930190" y="42766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73395" y="36094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325169" y="34556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920938" y="36050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573219" y="34528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364922" y="36671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00792" y="361167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451508" y="37037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758051" y="39444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655264" y="393762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808221" y="35781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727441" y="38395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013502" y="35088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201611" y="39069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693201" y="3574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863471" y="391088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385423" y="37995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89241" y="34721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531156" y="36594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68116" y="39206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464534" y="38510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782154" y="38788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760940" y="38821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40667" y="36155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63700" y="39147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010297" y="35086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331298" y="35642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032722" y="2596896"/>
            <a:ext cx="1422001" cy="2121408"/>
          </a:xfrm>
          <a:prstGeom prst="rect">
            <a:avLst/>
          </a:prstGeom>
          <a:solidFill>
            <a:srgbClr val="F7F0E6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051010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Very sparse</a:t>
            </a:r>
          </a:p>
        </p:txBody>
      </p:sp>
      <p:sp>
        <p:nvSpPr>
          <p:cNvPr id="200" name="Oval 199"/>
          <p:cNvSpPr/>
          <p:nvPr/>
        </p:nvSpPr>
        <p:spPr>
          <a:xfrm>
            <a:off x="4229041" y="31600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153684" y="32271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487422" y="33989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058304" y="33738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727376" y="31873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532083" y="29215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408911" y="29168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024603" y="38083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331104" y="3681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281736" y="3068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134108" y="3610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720887" y="42803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590873" y="3734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966765" y="4526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26602" y="42764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990982" y="39497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605686" y="34697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158798" y="3107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79635" y="41243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415475" y="316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197192" y="4291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199957" y="40072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449076" y="3294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463268" y="3655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290379" y="36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425233" y="44919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330187" y="3801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01254" y="44984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484304" y="34847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090778" y="35264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694916" y="37280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345804" y="373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095730" y="33309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203913" y="35562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142569" y="29287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477538" y="3278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836441" y="377201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5046877" y="39856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02805" y="43543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586319" y="3434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45630" y="314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013218" y="39617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154646" y="36839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205612" y="36134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009719" y="36761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273006" y="35782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25364" y="36838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097480" y="36809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824110" y="37035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46577" y="36358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385312" y="3411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265306" y="35229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230392" y="36841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454723" y="2596896"/>
            <a:ext cx="1422001" cy="2121408"/>
          </a:xfrm>
          <a:prstGeom prst="rect">
            <a:avLst/>
          </a:prstGeom>
          <a:solidFill>
            <a:srgbClr val="F2F4F7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473011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Thin</a:t>
            </a:r>
          </a:p>
        </p:txBody>
      </p:sp>
      <p:sp>
        <p:nvSpPr>
          <p:cNvPr id="255" name="Oval 254"/>
          <p:cNvSpPr/>
          <p:nvPr/>
        </p:nvSpPr>
        <p:spPr>
          <a:xfrm>
            <a:off x="6223927" y="39360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6310291" y="40240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35607" y="28968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529036" y="41366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153054" y="378201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352482" y="30012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451334" y="3311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606391" y="33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441826" y="32328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455213" y="45151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141544" y="35279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122487" y="40291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489837" y="3918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331386" y="30202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699485" y="33139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459536" y="33979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235707" y="29120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588801" y="3338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6368686" y="40432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373414" y="3375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70359" y="36646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106323" y="30885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51459" y="32229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759208" y="4449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533746" y="36551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557357" y="45024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84779" y="33384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779104" y="44649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80216" y="38590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692234" y="37634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726823" y="31120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557764" y="37379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642783" y="4061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806591" y="43853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584" y="29326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15996" y="3709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086449" y="33938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690915" y="3463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914635" y="42896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513637" y="41407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6581867" y="3091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693220" y="40779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39539" y="36261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983617" y="36611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760013" y="37277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69351" y="3673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5863339" y="35441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648419" y="38110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876310" y="38453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876724" y="2596896"/>
            <a:ext cx="1422004" cy="2121408"/>
          </a:xfrm>
          <a:prstGeom prst="rect">
            <a:avLst/>
          </a:prstGeom>
          <a:solidFill>
            <a:srgbClr val="FBECEA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895012" y="2615184"/>
            <a:ext cx="1385428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06" name="Oval 305"/>
          <p:cNvSpPr/>
          <p:nvPr/>
        </p:nvSpPr>
        <p:spPr>
          <a:xfrm>
            <a:off x="7251480" y="33335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585252" y="32072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09698" y="44825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8061475" y="42426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738250" y="44114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133467" y="38053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51375" y="29736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867679" y="36416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893595" y="3963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298532" y="29728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8115706" y="31032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535782" y="3463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313284" y="4121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178878" y="3324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770270" y="33919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644392" y="35476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146883" y="3160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198599" y="43990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567536" y="32575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8089532" y="4549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07431" y="31236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78870" y="30423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69649" y="30429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38470" y="3321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660078" y="4367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889755" y="35782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461408" y="3763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414184" y="34541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012586" y="33531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8167893" y="31008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575598" y="39391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034169" y="32507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279158" y="3304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443387" y="3633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150362" y="4303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046964" y="2927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974550" y="40721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076057" y="36789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682478" y="2891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32880" y="44337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986621" y="43150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8173704" y="3304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876724" y="3566160"/>
            <a:ext cx="142200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883944" y="1737360"/>
            <a:ext cx="2482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(b) Measurement noise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883944" y="2048256"/>
            <a:ext cx="2482048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     color = sampled εₜ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883944" y="2304288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975384" y="2331720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Gaussian iid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373172" y="2331720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N(0, σ²)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085112" y="3031236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085112" y="2615184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295437" y="2723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0155023" y="28980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1026682" y="29111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0414950" y="29253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019757" y="28549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150897" y="29311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552345" y="29765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411119" y="2773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334787" y="2756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391955" y="29034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9301856" y="26961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59330" y="28652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9875751" y="27466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318686" y="26763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695730" y="2824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1062971" y="28856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906648" y="28297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9556903" y="27544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1066453" y="29054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9707951" y="26800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104994" y="28955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9942165" y="275781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456559" y="29782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540302" y="26841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771702" y="28117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488195" y="27382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726317" y="29168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118654" y="27406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085679" y="27757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74026" y="27490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9529190" y="2923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682028" y="29870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116363" y="28783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231903" y="282653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9347442" y="281428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9462982" y="274757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9578522" y="29248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9694061" y="299253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9809601" y="278036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925140" y="276551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040680" y="277898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156219" y="26319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271759" y="281180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387298" y="280797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502838" y="275503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18378" y="279896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733917" y="269745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849457" y="292493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964996" y="28573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1080536" y="3023846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883944" y="3255264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75384" y="3282696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Equip. correlated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373172" y="3282696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= ρεₜ₋₁ + ηₜ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085112" y="3982212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9085112" y="3566160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1006103" y="37325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9454464" y="39327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620759" y="36344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450475" y="3748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846223" y="37333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420667" y="3624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9650569" y="3739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1055848" y="3664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74059" y="3692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9810339" y="38950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78192" y="37666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9171094" y="37801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9843791" y="39273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9470091" y="37441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34140" y="36338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923002" y="3891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663101" y="36372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9141140" y="36445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82147" y="3708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622794" y="3920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9773819" y="37137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1060371" y="38275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9613896" y="3860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726847" y="37148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9076496" y="38732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0974625" y="38331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030341" y="3631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9555027" y="3780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058474" y="39387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9872492" y="37067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9962800" y="3786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0998832" y="3684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10586" y="390291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214572" y="388699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9318558" y="383937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9422543" y="3825071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9526529" y="3788003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9630514" y="375604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9734500" y="372398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838486" y="368394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9942471" y="3685430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0046457" y="3721896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150442" y="37481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0254428" y="377362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0358414" y="3817999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462399" y="38484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566385" y="384209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0670370" y="382023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0774356" y="380255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0878342" y="374642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0982327" y="371958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086313" y="372098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883944" y="4206240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8975384" y="4233672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Laplacian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0373172" y="4233672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Laplace(0, b)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9085112" y="4933188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9085112" y="4517136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619550" y="46026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269184" y="47393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0544772" y="4722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555713" y="47124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0358714" y="47973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624229" y="4854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450466" y="4614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817422" y="46718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247608" y="46979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603620" y="46405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9583234" y="4655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387519" y="4866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0271310" y="46825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892363" y="49024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123741" y="4651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749981" y="4790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129555" y="4608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056022" y="4845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0816768" y="48766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9152594" y="46717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9316589" y="4637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092140" y="47673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003146" y="46977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0869948" y="4723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609270" y="48315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035440" y="46097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0308467" y="4779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521292" y="46965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9362660" y="46421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598800" y="47726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423882" y="46420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9092319" y="46828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9116363" y="473729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9231903" y="474527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9347442" y="473671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9462982" y="471310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9578522" y="4720339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9694061" y="476226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809601" y="471839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925140" y="472502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040680" y="4756647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0156219" y="470910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271759" y="473734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0387298" y="473882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0502838" y="4556544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618378" y="4894855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733917" y="458129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849457" y="4870100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964996" y="4544166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080536" y="491135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13232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13232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804672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Episode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04672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K ~ U(Kmin,Kmax),  L_k ~ U(Lmin,Lmax)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41248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 개수와 길이를 먼저 결정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3511296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511296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3602736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Density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3602736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m_k ~ Cat(5 density types)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3639312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구간별 관측 point 수를 결정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6309360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309360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6400800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Noise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6400800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ε_t ~ N / AR(1) / Laplace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6437376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측정 산포 family를 episode별 부여</a:t>
            </a:r>
          </a:p>
        </p:txBody>
      </p:sp>
      <p:sp>
        <p:nvSpPr>
          <p:cNvPr id="533" name="Rectangle 532"/>
          <p:cNvSpPr/>
          <p:nvPr/>
        </p:nvSpPr>
        <p:spPr>
          <a:xfrm>
            <a:off x="9107424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9107424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9198864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198864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y_t = μ_region(t) + ε_t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9235440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active 구간만 연결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binary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anomaly 주입 규칙과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20">
                <a:solidFill>
                  <a:srgbClr val="1A1F2E"/>
                </a:solidFill>
                <a:latin typeface="맑은 고딕"/>
                <a:ea typeface="맑은 고딕"/>
              </a:rPr>
              <a:t>Normal baseline에 5가지 anomaly injection rule을 더해 normal/abnormal binary validation을 수행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mean_shift_view.png"/>
          <p:cNvPicPr>
            <a:picLocks noChangeAspect="1"/>
          </p:cNvPicPr>
          <p:nvPr/>
        </p:nvPicPr>
        <p:blipFill>
          <a:blip r:embed="rId2"/>
          <a:srcRect t="18971" b="18971"/>
          <a:stretch>
            <a:fillRect/>
          </a:stretch>
        </p:blipFill>
        <p:spPr>
          <a:xfrm>
            <a:off x="1106424" y="1755648"/>
            <a:ext cx="3136392" cy="1627632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1161288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Mean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_standard_deviation_view.png"/>
          <p:cNvPicPr>
            <a:picLocks noChangeAspect="1"/>
          </p:cNvPicPr>
          <p:nvPr/>
        </p:nvPicPr>
        <p:blipFill>
          <a:blip r:embed="rId3"/>
          <a:srcRect t="18971" b="18971"/>
          <a:stretch>
            <a:fillRect/>
          </a:stretch>
        </p:blipFill>
        <p:spPr>
          <a:xfrm>
            <a:off x="4517136" y="1755648"/>
            <a:ext cx="3136392" cy="1627632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4572000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Std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4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_spike_view.png"/>
          <p:cNvPicPr>
            <a:picLocks noChangeAspect="1"/>
          </p:cNvPicPr>
          <p:nvPr/>
        </p:nvPicPr>
        <p:blipFill>
          <a:blip r:embed="rId4"/>
          <a:srcRect t="18971" b="18971"/>
          <a:stretch>
            <a:fillRect/>
          </a:stretch>
        </p:blipFill>
        <p:spPr>
          <a:xfrm>
            <a:off x="7927848" y="1755648"/>
            <a:ext cx="3136392" cy="1627632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982712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_drift_view.png"/>
          <p:cNvPicPr>
            <a:picLocks noChangeAspect="1"/>
          </p:cNvPicPr>
          <p:nvPr/>
        </p:nvPicPr>
        <p:blipFill>
          <a:blip r:embed="rId5"/>
          <a:srcRect t="18971" b="18971"/>
          <a:stretch>
            <a:fillRect/>
          </a:stretch>
        </p:blipFill>
        <p:spPr>
          <a:xfrm>
            <a:off x="1106424" y="3621024"/>
            <a:ext cx="3136392" cy="1627632"/>
          </a:xfrm>
          <a:prstGeom prst="rect">
            <a:avLst/>
          </a:prstGeom>
          <a:effectLst/>
        </p:spPr>
      </p:pic>
      <p:sp>
        <p:nvSpPr>
          <p:cNvPr id="20" name="Rectangle 19"/>
          <p:cNvSpPr/>
          <p:nvPr/>
        </p:nvSpPr>
        <p:spPr>
          <a:xfrm>
            <a:off x="1161288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end_context_view.png"/>
          <p:cNvPicPr>
            <a:picLocks noChangeAspect="1"/>
          </p:cNvPicPr>
          <p:nvPr/>
        </p:nvPicPr>
        <p:blipFill>
          <a:blip r:embed="rId6"/>
          <a:srcRect t="18971" b="18971"/>
          <a:stretch>
            <a:fillRect/>
          </a:stretch>
        </p:blipFill>
        <p:spPr>
          <a:xfrm>
            <a:off x="4517136" y="3621024"/>
            <a:ext cx="3136392" cy="1627632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4572000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4" y="3566160"/>
            <a:ext cx="3246120" cy="1737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2984" y="3566160"/>
            <a:ext cx="91440" cy="173736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712464"/>
            <a:ext cx="2862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Injection equations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005072"/>
            <a:ext cx="2770632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mean:  y_t = x_t + δ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scale: y_t = μ + A(x_t - μ)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spike: y_t = x_t + Σ A_i 1(t=t_i)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drift: y_t = x_t + r(t-s)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context: fleet/reference-relative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10561320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Test 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normal 750 / abnormal 750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F1 0.9967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TN746 / FP4 / FN1 / TP749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Recall 0.9987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abnormal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9752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5-seed best 0.9987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TN748 / FP2 / FN0 / TP750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threshold 0.9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p(normal) ≥ 0.9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163056"/>
            <a:ext cx="10881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929E"/>
                </a:solidFill>
                <a:latin typeface="맑은 고딕"/>
                <a:ea typeface="맑은 고딕"/>
              </a:rPr>
              <a:t>참고 문헌   </a:t>
            </a:r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Focal Loss (Lin et al., 2017)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robustness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robustness와 입력 민감도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적용 이유 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입력 표현/checkpoint 선택에 성능이 흔들릴 위험 → 민감도 점검으로 binary-F1 0.9967 안정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입력 표현과 checkpoint 선택 민감도 확인 장. main claim은 binary-F1 0.9967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7904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63640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7904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9344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Validation option ablation — binary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4060" y="3443370"/>
            <a:ext cx="713232" cy="113646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64208" y="3205626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Main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6996" y="3329723"/>
            <a:ext cx="713232" cy="227293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7144" y="3091979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7144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 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7144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7144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89932" y="2875135"/>
            <a:ext cx="713232" cy="681881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0080" y="2637391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80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5-seed best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0080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64208" y="3557016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55080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5-seed robustness — summary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9944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5-seed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일관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mean 0.9967 / best 0.9987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54212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7364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Test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7364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1,500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7364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750 / 750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9344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Smoothing — 후속 3-epoch median best 선택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9344" y="4727448"/>
            <a:ext cx="109728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val F1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929384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9771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6605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63438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0272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771057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339392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929384" y="5471159"/>
            <a:ext cx="284167" cy="12409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13551" y="5388428"/>
            <a:ext cx="284167" cy="8273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497718" y="5326380"/>
            <a:ext cx="284168" cy="6204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781886" y="4954088"/>
            <a:ext cx="284167" cy="37229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066053" y="4954088"/>
            <a:ext cx="284167" cy="49638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350220" y="5305697"/>
            <a:ext cx="284168" cy="144780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634388" y="5243648"/>
            <a:ext cx="284167" cy="6204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918555" y="5202282"/>
            <a:ext cx="284168" cy="41366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202723" y="5160917"/>
            <a:ext cx="284167" cy="41365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486890" y="5150575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771057" y="5140234"/>
            <a:ext cx="284168" cy="1034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055225" y="5129892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39392" y="5129892"/>
            <a:ext cx="284168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929384" y="5388428"/>
            <a:ext cx="284167" cy="8273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13551" y="5326380"/>
            <a:ext cx="284167" cy="62048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2497718" y="5326380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2781886" y="5305697"/>
            <a:ext cx="284167" cy="2068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066053" y="5305697"/>
            <a:ext cx="284167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50220" y="5243648"/>
            <a:ext cx="284168" cy="62049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634388" y="5202282"/>
            <a:ext cx="284167" cy="4136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18555" y="5160917"/>
            <a:ext cx="284168" cy="4136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202723" y="5150575"/>
            <a:ext cx="284167" cy="1034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486890" y="5140234"/>
            <a:ext cx="284167" cy="1034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771057" y="5140234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015761" y="4903796"/>
            <a:ext cx="100584" cy="100584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iamond 70"/>
          <p:cNvSpPr/>
          <p:nvPr/>
        </p:nvSpPr>
        <p:spPr>
          <a:xfrm>
            <a:off x="4702477" y="5071654"/>
            <a:ext cx="137160" cy="137160"/>
          </a:xfrm>
          <a:prstGeom prst="diamond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1929384" y="5760720"/>
            <a:ext cx="3694176" cy="0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29384" y="4855464"/>
            <a:ext cx="0" cy="90525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29384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728216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49771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29655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06605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86488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63438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343322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420272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00155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771057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569889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339392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5138224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00784" y="5934456"/>
            <a:ext cx="4151376" cy="1280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609344" y="6067044"/>
            <a:ext cx="4288536" cy="1554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CC3328"/>
                </a:solidFill>
                <a:latin typeface="맑은 고딕"/>
                <a:ea typeface="맑은 고딕"/>
              </a:rPr>
              <a:t>● single-epoch spike    </a:t>
            </a:r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◆ median best → test 0.9987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480560"/>
            <a:ext cx="428853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Rendering sensitivity check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55080" y="4718304"/>
            <a:ext cx="42885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same train/val/test color policy; label-independent</a:t>
            </a:r>
          </a:p>
        </p:txBody>
      </p:sp>
      <p:pic>
        <p:nvPicPr>
          <p:cNvPr id="92" name="Picture 91" descr="p3r_colo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4965192"/>
            <a:ext cx="996696" cy="996696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715518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Before (파랑)</a:t>
            </a:r>
          </a:p>
        </p:txBody>
      </p:sp>
      <p:pic>
        <p:nvPicPr>
          <p:cNvPr id="94" name="Picture 93" descr="p3r_color_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4965192"/>
            <a:ext cx="996696" cy="99669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7250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After (빨강)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로드맵 | 완료 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완료 시기 및 현장 적용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603504"/>
            <a:ext cx="1325880" cy="402336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완료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603504"/>
            <a:ext cx="1325880" cy="402336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예정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30752"/>
            <a:ext cx="9902952" cy="381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157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2024.10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착수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파이프라인과 viewer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216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728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8059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59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203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2025.03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P2 모델 개발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FCM-PM, val-margin 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275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787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118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118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262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2025.05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viewer 양산 개시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DRAM 전제품, 일 2만 wafer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334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3846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177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177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321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2026.01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P3 Trend anomaly PoC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episode generation, binary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393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905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2360" y="2084831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22360" y="2084831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380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2026.09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P1/P2 모델 배포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GPU 할당 후 양산 적용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3452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9964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00032" y="4206240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0032" y="4206240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2026.12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P3 Trend anomaly 현업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real trend 기준 검증 완료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340096"/>
            <a:ext cx="3575304" cy="7315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340096"/>
            <a:ext cx="3575304" cy="548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" y="5413248"/>
            <a:ext cx="33192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현재 운영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5660136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P1 viewer label-feedback 루프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" y="5852160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batch 성공/적재량/응답, engineer review/label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5340096"/>
            <a:ext cx="3575304" cy="7315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06824" y="5340096"/>
            <a:ext cx="3575304" cy="548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5413248"/>
            <a:ext cx="33192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모델 배포 후 (설계)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660136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confidence/FAR/drift 모니터링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5852160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threshold 재조정, version 등록/rollback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8" y="5340096"/>
            <a:ext cx="3575304" cy="73152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65008" y="5340096"/>
            <a:ext cx="3575304" cy="54864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3024" y="5413248"/>
            <a:ext cx="331927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확장 (타 공정/제품)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4" y="5660136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object-id map Stage-2, image+measure multimodal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3024" y="5852160"/>
            <a:ext cx="333756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445264"/>
                </a:solidFill>
                <a:latin typeface="맑은 고딕"/>
                <a:ea typeface="맑은 고딕"/>
              </a:rPr>
              <a:t>generator config로 타 공정 재현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144768"/>
            <a:ext cx="1109167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P1/P2 = 2026.09 GPU 배포 검증, P3 = 2026.12 현업 검증 예정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100584" cy="2560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결론 | 프로젝트별 평가 항목 대응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" cy="76809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6070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P1/P2/P3 핵심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407664" cy="44439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3407664" cy="9144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2029968"/>
            <a:ext cx="29504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1_roi_crop_real.png"/>
          <p:cNvPicPr>
            <a:picLocks noChangeAspect="1"/>
          </p:cNvPicPr>
          <p:nvPr/>
        </p:nvPicPr>
        <p:blipFill>
          <a:blip r:embed="rId2"/>
          <a:srcRect t="38242" b="38242"/>
          <a:stretch>
            <a:fillRect/>
          </a:stretch>
        </p:blipFill>
        <p:spPr>
          <a:xfrm>
            <a:off x="978408" y="2066544"/>
            <a:ext cx="2877312" cy="676656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969264" y="2889504"/>
            <a:ext cx="2895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P1 | Failbit Map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273552"/>
            <a:ext cx="2895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3273552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대량 FBM 조회와 Known/Unknown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3785616"/>
            <a:ext cx="28956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" y="3785616"/>
            <a:ext cx="73152" cy="713232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3840480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66"/>
                </a:solidFill>
                <a:latin typeface="맑은 고딕"/>
                <a:ea typeface="맑은 고딕"/>
              </a:rPr>
              <a:t>기술 전문성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4059936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1">
                <a:solidFill>
                  <a:srgbClr val="1A1F2E"/>
                </a:solidFill>
                <a:latin typeface="맑은 고딕"/>
                <a:ea typeface="맑은 고딕"/>
              </a:rPr>
              <a:t>Cython 변환, palette PNG, pyvips/Numba viewer, CNN→YOLO, contrastive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4553712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" y="4553712"/>
            <a:ext cx="73152" cy="713232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608576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66"/>
                </a:solidFill>
                <a:latin typeface="맑은 고딕"/>
                <a:ea typeface="맑은 고딕"/>
              </a:rPr>
              <a:t>기술 리더십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4828032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DRAM YE에게 FBM 판독법 학습, label/FP/FN 검증 수행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" y="5321808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" y="5321808"/>
            <a:ext cx="73152" cy="713232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5376672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66"/>
                </a:solidFill>
                <a:latin typeface="맑은 고딕"/>
                <a:ea typeface="맑은 고딕"/>
              </a:rPr>
              <a:t>기술성과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" y="5596128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Known F1 0.95, Unknown 13→7, D1a/b/c/d 사용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5216" y="1828800"/>
            <a:ext cx="3407664" cy="44439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95216" y="1828800"/>
            <a:ext cx="3407664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23816" y="2029968"/>
            <a:ext cx="29504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cm_pm_panel.png"/>
          <p:cNvPicPr>
            <a:picLocks noChangeAspect="1"/>
          </p:cNvPicPr>
          <p:nvPr/>
        </p:nvPicPr>
        <p:blipFill>
          <a:blip r:embed="rId3"/>
          <a:srcRect l="10564" r="10564"/>
          <a:stretch>
            <a:fillRect/>
          </a:stretch>
        </p:blipFill>
        <p:spPr>
          <a:xfrm>
            <a:off x="4660392" y="2066544"/>
            <a:ext cx="2877312" cy="676656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4651248" y="2889504"/>
            <a:ext cx="2895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P2 | Chip multi-label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51248" y="3273552"/>
            <a:ext cx="2895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24400" y="3273552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measure value 한계 → image supervision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51248" y="3785616"/>
            <a:ext cx="28956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51248" y="3785616"/>
            <a:ext cx="73152" cy="7132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15840" y="3840480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96A0AD"/>
                </a:solidFill>
                <a:latin typeface="맑은 고딕"/>
                <a:ea typeface="맑은 고딕"/>
              </a:rPr>
              <a:t>기술 전문성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5840" y="4059936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1">
                <a:solidFill>
                  <a:srgbClr val="1A1F2E"/>
                </a:solidFill>
                <a:latin typeface="맑은 고딕"/>
                <a:ea typeface="맑은 고딕"/>
              </a:rPr>
              <a:t>image multi-label, FCM-PM, Pair Mask, val_margin, NB reject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51248" y="4553712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51248" y="4553712"/>
            <a:ext cx="73152" cy="7132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5840" y="4608576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96A0AD"/>
                </a:solidFill>
                <a:latin typeface="맑은 고딕"/>
                <a:ea typeface="맑은 고딕"/>
              </a:rPr>
              <a:t>기술 리더십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5840" y="4828032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P1 판독 기준으로 현업 유사 chip image와 2-combo rule 설계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51248" y="5321808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51248" y="5321808"/>
            <a:ext cx="73152" cy="7132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5840" y="5376672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96A0AD"/>
                </a:solidFill>
                <a:latin typeface="맑은 고딕"/>
                <a:ea typeface="맑은 고딕"/>
              </a:rPr>
              <a:t>기술성과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5840" y="5596128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controlled validation bit-F1 0.9927, FAR 0.00%, KD 후보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7200" y="1828800"/>
            <a:ext cx="3407664" cy="4443984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7200" y="1828800"/>
            <a:ext cx="3407664" cy="9144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305800" y="2029968"/>
            <a:ext cx="295046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trend_spike_view.png"/>
          <p:cNvPicPr>
            <a:picLocks noChangeAspect="1"/>
          </p:cNvPicPr>
          <p:nvPr/>
        </p:nvPicPr>
        <p:blipFill>
          <a:blip r:embed="rId4"/>
          <a:srcRect t="35939" b="35939"/>
          <a:stretch>
            <a:fillRect/>
          </a:stretch>
        </p:blipFill>
        <p:spPr>
          <a:xfrm>
            <a:off x="8342376" y="2066544"/>
            <a:ext cx="2877312" cy="676656"/>
          </a:xfrm>
          <a:prstGeom prst="rect">
            <a:avLst/>
          </a:prstGeom>
          <a:effectLst/>
        </p:spPr>
      </p:pic>
      <p:sp>
        <p:nvSpPr>
          <p:cNvPr id="48" name="TextBox 47"/>
          <p:cNvSpPr txBox="1"/>
          <p:nvPr/>
        </p:nvSpPr>
        <p:spPr>
          <a:xfrm>
            <a:off x="8333232" y="2889504"/>
            <a:ext cx="2895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P3 | Trend anomaly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33232" y="3273552"/>
            <a:ext cx="28956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06384" y="3273552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abnormal label 부족 → synthetic validation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33232" y="3785616"/>
            <a:ext cx="28956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33232" y="3785616"/>
            <a:ext cx="73152" cy="713232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7824" y="3840480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388"/>
                </a:solidFill>
                <a:latin typeface="맑은 고딕"/>
                <a:ea typeface="맑은 고딕"/>
              </a:rPr>
              <a:t>기술 전문성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97824" y="4059936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1">
                <a:solidFill>
                  <a:srgbClr val="1A1F2E"/>
                </a:solidFill>
                <a:latin typeface="맑은 고딕"/>
                <a:ea typeface="맑은 고딕"/>
              </a:rPr>
              <a:t>Region, Noise, Anomaly generator와 5MA smoothing, 정상/이상 판정 기준 튜닝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33232" y="4553712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333232" y="4553712"/>
            <a:ext cx="73152" cy="713232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97824" y="4608576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388"/>
                </a:solidFill>
                <a:latin typeface="맑은 고딕"/>
                <a:ea typeface="맑은 고딕"/>
              </a:rPr>
              <a:t>기술 리더십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97824" y="4828032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BBD/Overlay/CD 판정 경험을 generator rule로 코드화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333232" y="5321808"/>
            <a:ext cx="2895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333232" y="5321808"/>
            <a:ext cx="73152" cy="713232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97824" y="5376672"/>
            <a:ext cx="2621280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B6388"/>
                </a:solidFill>
                <a:latin typeface="맑은 고딕"/>
                <a:ea typeface="맑은 고딕"/>
              </a:rPr>
              <a:t>기술성과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97824" y="5596128"/>
            <a:ext cx="26212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60" b="0">
                <a:solidFill>
                  <a:srgbClr val="1A1F2E"/>
                </a:solidFill>
                <a:latin typeface="맑은 고딕"/>
                <a:ea typeface="맑은 고딕"/>
              </a:rPr>
              <a:t>7,000 trend benchmark, binary-F1 0.9967, 타 item 확장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QIE그룹 DSM 파트 | AI Specialist 인증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