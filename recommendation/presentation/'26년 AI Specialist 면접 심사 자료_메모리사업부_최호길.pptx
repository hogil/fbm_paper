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맑은 고딕"/>
                <a:ea typeface="맑은 고딕"/>
              </a:rPr>
              <a:t>14년 제조 경력(계측/품질 10년)을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DSM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DSM 파트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커리어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반도체 계측 도메인에서 제조품질 AI로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10972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DSM 파트, 14년차  |  연세대학교 인공지능학과 석사 (야간, '25.09~ 재학)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2013.07 입사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Photo 기술팀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BBD / Overlay / CD 계측 분석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86684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61004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61004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2016 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596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DX 제작 / 강사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SQL/Spotfire/VBA, HTML/JS web tool 운영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07608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8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1928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2021 ~ 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D1b 신제품 TF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BBD / Overlay 담당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28532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2852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02852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7444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2023.03 ~ 현재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7444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QIE그룹 DSM 파트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7444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QIE 전배, P1/P2/P3 AI 직접 설계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788920"/>
            <a:ext cx="5257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2862072"/>
            <a:ext cx="5111496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2862072"/>
            <a:ext cx="5111496" cy="201168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4672" y="2930652"/>
            <a:ext cx="64008" cy="64008"/>
          </a:xfrm>
          <a:prstGeom prst="ellipse">
            <a:avLst/>
          </a:prstGeom>
          <a:solidFill>
            <a:srgbClr val="E06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3544" y="2930652"/>
            <a:ext cx="64008" cy="64008"/>
          </a:xfrm>
          <a:prstGeom prst="ellipse">
            <a:avLst/>
          </a:prstGeom>
          <a:solidFill>
            <a:srgbClr val="E6B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2416" y="2930652"/>
            <a:ext cx="64008" cy="64008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07008" y="2930652"/>
            <a:ext cx="4507992" cy="91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3063240"/>
            <a:ext cx="5111496" cy="219456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12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984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556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296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6888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1480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" y="4087368"/>
            <a:ext cx="4892040" cy="155448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2960" y="4334256"/>
            <a:ext cx="4892040" cy="15544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4581144"/>
            <a:ext cx="4892040" cy="155448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4983480"/>
            <a:ext cx="52578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983480"/>
            <a:ext cx="5257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DX web tool 홈페이지 (HTML / JS, Bootstrap)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2788920"/>
            <a:ext cx="5257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564" y="2862072"/>
            <a:ext cx="2084832" cy="2084832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6355080" y="4983480"/>
            <a:ext cx="52578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4983480"/>
            <a:ext cx="5257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D1b TF BBD / Overlay wafer map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400"/>
            <a:ext cx="10972800" cy="84124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5486400"/>
            <a:ext cx="82296" cy="8412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541264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수상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74519" y="5541264"/>
            <a:ext cx="9555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Challenger, '26 MTC 제안 1등급, '26 삼성 논문상 초록 통과, '26 메모리사업부 PEER AWARD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943600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강사 / 교육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74519" y="5943600"/>
            <a:ext cx="9555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'21 하반기 메모리사업부 우수강사, '23 메모리제조센터 우수강사, '24 DS Data Scientist 교육 수료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고질불량 발생 wafer/물량 선별, 신규 불량 조기 포착, 대량 Failbit Map 조회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Failbit Map 생성 + 대용량 viewer + Known/Unknown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Cython / pyvips / Numba, ConvNeXtV2 / YOLO11, contrastive / HDBSCAN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4192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8592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measure value 한계 + 2-combo label 확보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192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8592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supervision + val-margin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040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11040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192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8592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4192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PyTorch, FCM-PM / CutMix, Naive Bayes reject / KD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45424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abnormal label 부족, trend validation bottleneck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5424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9824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domain-rule episode generator + binary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2272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2272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5424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9824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episode generator / binary classifier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mapviewer D1a/b/c/d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Failbit Map  Known &amp; Unknown 분석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Failbit Map은 EDS test 결과를 wafer에 나타낸 공정개발 최종 결과 map으로, 불량 정도, 위치, 형태로 개발 수준과 공정 개선 방향을 판단합니다 (wafer당 약 1,000만 point)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48매 조회 / 수작업으로 대량 확인 한계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고질불량 발생 wafer 선별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신규불량 조기 검출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이미지 데이터 파이프라인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대용량 이미지 조회 / 라벨링 web app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CNN 2-stage 분류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self-supervised 표현학습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분류 F1 0.95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이상 검출 7/13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일 2만 wafer 양산 운영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정량 사업 기여 창출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object-id map 차세대 모델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데이터 파이프라인 / 대용량 이미지 web app / AI 모델 전 영역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Cython / pyvips / Numba, ConvNeXtV2 / YOLO11, contrastive / HDBSCAN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3736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3736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40280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12848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432304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514600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798064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136392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108960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328416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374136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657600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3913632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16966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328416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374136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657600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3913632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16966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453128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425696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645152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727448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010912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349240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321808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541264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541264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ConvNeXt V2 (Woo et al., 2023)    YOLO11 (Jocher &amp; Qiu, 2024)    InfoNCE (van den Oord et al., 2018)    HDBSCAN (Campello et al., 2013)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raw log는 대량 조회/AI 입력에 부적합 → hex-to-grade Cython 가속 + 8단계 palette PNG로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03520" cy="4197096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4809744" cy="3941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97096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56816"/>
            <a:ext cx="4809744" cy="3941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대용량 palette PNG를 운영 viewer가 즉시 띄우기 어려움(메모리/속도) → Numba JIT + pyvips tile decode로 peak memory/로드 시간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7" name="Rectangle 6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전체 성능은 CNN이 높지만, 같은 위치의 유사 불량은 ROI-YOLO가 root cause 구분에 유리했습니다.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low-confidence sample만 2차 분류해 F1 0.92 → 0.95로 개선했습니다.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불량이 특정 영역에 몰려 나타나, 넓게 보는 Transformer보다 좁은 영역을 잘 보는 CNN이 더 적합하다고 판단 (연세대 인공지능학과 전해곤 교수 자문). ConvNeXtV2는 MaxViT와 F1 0.87 동급이면서 더 가벼워 채택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ROI cascade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선택된 ROI 안에서 chip class와 ROI 내 배치까지 재확인하는 selective 2-stage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66085"/>
            <a:ext cx="2571750" cy="2571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578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043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966085"/>
            <a:ext cx="2571750" cy="2571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613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078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966085"/>
            <a:ext cx="2571750" cy="2571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2648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113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966085"/>
            <a:ext cx="2571750" cy="2571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2683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1-stage로 구분이 어려운 예시.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82496"/>
          <a:ext cx="109728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4919472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19472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919472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ConvNeXt V2 (Woo et al., 2023)    Optuna (Akiba et al., 2019)    Focal Loss (Lin et al., 2017)    YOLO11 (Jocher &amp; Qiu, 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ROI-YOLO는 검증됐으나 class 확장/annotation cost 부담 → chip 좌표 재사용한 object-id map으로 fixed-crop 분류 전환 (개발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7" name="Picture 6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10" name="Picture 9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3" name="Picture 12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6" name="Picture 15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 발견 contrastive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신규 불량은 정답 label이 없어 지도학습 불가 → contrastive embedding + HDBSCAN으로 검토 후보를 13개 중 7개로 압축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HDBSCAN (Campello et al., 2013)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near-positive를 negative로 밀면 같은 불량이 흩어짐(false negative) → similarity filter로 near-positive 제외해 cluster 응집 유지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 (Chen et al., 2020)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NV-Retriever negative-similarity filter (Moreira et al., 2024)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9" name="Picture 8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 (Chen et al., 2020): positive-pair alignment with in-batch negative contrast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6" name="Oval 15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8" name="Oval 17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5" name="Oval 24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7" name="Isosceles Triangle 26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4" name="Oval 33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6" name="Oval 35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NV-Retriever neg-sim filter (Moreira et al., 2024): potential false-negative exclusion preserves cluster compactness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MoCo (He et al., 2020)    NeCo (Pariza et al., 2024)    InfoNCE (van den Oord et al., 2018)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InfoNCE (van den Oord et al., 2018)    DenseCL (Wang et al., 2021)    MoCo (He et al., 2020)    NeCo (Pariza et al., 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 사용,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controlled synthetic 검증 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Chip Multi-label  FCM-PM classification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chip 불량 분석은 표준적으로 chip별 measure value 중심으로 수행되나, 중복 failure는 chip 내부 fail bit 분포 image로만 구분할 수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measure value로 중복 failure 구분 한계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2-combo label 대량 확보 불가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single source 기반 multi-label 학습 필요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FCM-PM으로 2-combo 학습 신호 생성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Pair Mask로 background 오학습 차단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val-margin으로 checkpoint 선택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Naive Bayes reject로 false alarm 제어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multi-label F1 0.9927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false alarm 0%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single + 2-combo 동시 검출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ensemble robustness 확보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KD 단일 모델 생산성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데이터 합성 / multi-label 분류 / 모델 선택 / false alarm 제어 전 영역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PyTorch, FCM-PM, label smoothing / ASL, Naive Bayes reject, KD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measure-value 한계에서 image multi-label supervision으로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measure value만으로
중복 failure 확인 한계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2-combo label 확보는
현실적으로 불가능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 source 기반
2-combo eval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없이 train source 안에서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image multi-label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FCM-PM creates 2-combo supervision from single source.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2-combo label은 부족하지만 실제 중복 불량은 발생 → single source를 FCM-PM으로 합성해 학습 신호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Mixup은 pixel이 섞여 noise, Diffusion은 대량 label/compute 부담 → label 의미를 보존하는 CutMix 계열 선택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CutMix (Yun et al., 2019)    Mixup (Zhang et al., 2018)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Naive Bayes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val-F1만으로는 negative tail이 안정적인 checkpoint를 고르기 어려움 → positive/negative score margin으로 선택, FAR 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82496"/>
            <a:ext cx="5212080" cy="4498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82496"/>
            <a:ext cx="91440" cy="44988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83664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9424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2587752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72184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78024" y="2587752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21608" y="2587752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9352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52728" y="4004707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53896" y="4250497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55064" y="4230015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3902294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67128" y="4158326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68296" y="4127602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47672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9192" y="3779399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4035431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81528" y="3984224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0904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92424" y="3554090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93592" y="3881811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94760" y="3851088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4136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05656" y="3697468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06824" y="3595056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07992" y="3574573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87368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79576" y="4434840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72384" y="2798064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1064" y="2834640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3072384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" y="5084064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" y="5285232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" y="5285232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53583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565099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95144" y="5596128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285232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01568" y="5285232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29584" y="53583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9584" y="565099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36592" y="5596128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1682496"/>
            <a:ext cx="5212080" cy="4498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1682496"/>
            <a:ext cx="91440" cy="4498848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9672" y="1883664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Naive Bayes reject: class profile 불일치 제거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231136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class별 출력 bit 확률 분포 저장 (bit 독립, Naive Bayes)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19672" y="2487168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저장 분포 99.7% 범위 (±3σ)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56248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29400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0296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77963" y="32964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67792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651882" y="32872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0296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967179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40514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006681" y="35981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29400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0296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67179" y="39182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40514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015642" y="39090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29400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40296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967179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0514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997720" y="42199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84264" y="4590288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39128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65976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165592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38744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38744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49640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08084" y="3296412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097914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064081" y="32872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38744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49640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576523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649858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24986" y="35981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38744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49640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890162" y="3918204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079992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046159" y="39090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238744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49640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76523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49858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616025" y="42199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293608" y="4590288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348472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75320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74936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848088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48088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58984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696651" y="32964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886480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97058" y="3287268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48088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158984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185867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259202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94203" y="359816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848088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58984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85867" y="39182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59202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476280" y="390906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48088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158984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185867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259202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458358" y="421995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902952" y="4590288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57816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884664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56248" y="5157216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665976" y="5230368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최고 일치 class likelihood ≥ 임계 → ACCEPT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65976" y="5468111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모든 class 임계 미달 → REJECT (OOD/tail)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537960" y="5797296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537960" y="5797296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665976" y="58338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65976" y="5980176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91272" y="5916168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79408" y="5797296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79408" y="5797296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07424" y="58338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07424" y="5980176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32720" y="5916168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추론 비용 / 배포 선택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046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2313432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313432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651760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대표 single model / bit-F1 0.9927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3145536"/>
            <a:ext cx="33101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3145536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3246120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24612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584448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성능 상한 / bit-F1 0.9956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4078224"/>
            <a:ext cx="3310128" cy="8046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4078224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4178808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4178808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517136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운영 후보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5047488"/>
            <a:ext cx="3310128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Ensemble로 성능 상한을 확인하고, KD로 그 성능을 1x 단일 모델에 압축해 운영 비용을 낮춥니다.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Focal Loss (Lin et al., 2017)    Asymmetric Loss (Ben-Baruch et al., 2021)    CutMix (Yun et al., 2019)    Knowledge Distillation (Hinton et al., 2015)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synthetic trend PoC, 현업 검증 예정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Thickness / Overlay / CD 등 제품 계측 trend(시계열)를 담당자가 chart로 보고 정상 산포 대비 이상 여부를 판정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수작업 판정 → 누락 / spec-in 위험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실제 이상 label 희소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검증 데이터 부족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도메인 규칙 기반 시계열 합성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정상 산포 / 노이즈 모델링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이상 패턴 주입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binary 분류 검증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benchmark 7,000 구성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abnormal recall 0.9987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현업 trend 검증 예정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anomaly type 분류 확장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BBD / Overlay / CD 계측 경험 기반 데이터 합성 / 이상 검출 / 검증 체계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config 기반 episode generator, binary classifier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실제 정상 데이터로는 다양한 패턴 확보가 어려움 → region/noise/density를 분리 샘플링해 정상 baseline 생성 (anomaly는 다음 장)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Focal Loss (Lin et al., 2017)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입력 표현/checkpoint 선택에 성능이 흔들릴 위험 → 민감도 점검으로 binary-F1 0.9967 안정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2" name="Picture 91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4" name="Picture 93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현재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P1 viewer label-feedback 루프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batch 성공/적재량/응답, engineer review/label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06824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06824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34840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모델 배포 후 (설계)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confidence/FAR/drift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threshold 재조정, version 등록/rollback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65008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65008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93024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확장 (타 공정/제품)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3024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object-id map Stage-2, image+measure multimodal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3024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generator config로 타 공정 재현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 = 2026.09 GPU 배포 검증, P3 = 2026.12 현업 검증 예정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프로젝트별 평가 항목 대응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P1/P2/P3 핵심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28800"/>
            <a:ext cx="3407664" cy="9144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1_roi_crop_real.png"/>
          <p:cNvPicPr>
            <a:picLocks noChangeAspect="1"/>
          </p:cNvPicPr>
          <p:nvPr/>
        </p:nvPicPr>
        <p:blipFill>
          <a:blip r:embed="rId2"/>
          <a:srcRect t="38242" b="38242"/>
          <a:stretch>
            <a:fillRect/>
          </a:stretch>
        </p:blipFill>
        <p:spPr>
          <a:xfrm>
            <a:off x="978408" y="2066544"/>
            <a:ext cx="2877312" cy="676656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969264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P1 | Failbit Map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대량 FBM 조회와 Known/Unknown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9264" y="3785616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FBM image pipeline, Known F1 0.95, Unknown 13→7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9264" y="4553712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DRAM YE 분석 담당자에게 FBM 판독법 학습, label/FP/FN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" y="5321808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D1a/b/c/d 분석 파트 사용, 공수 90%↓, 수율 +0.02%p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5216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95216" y="1828800"/>
            <a:ext cx="3407664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23816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cm_pm_panel.png"/>
          <p:cNvPicPr>
            <a:picLocks noChangeAspect="1"/>
          </p:cNvPicPr>
          <p:nvPr/>
        </p:nvPicPr>
        <p:blipFill>
          <a:blip r:embed="rId3"/>
          <a:srcRect l="10564" r="10564"/>
          <a:stretch>
            <a:fillRect/>
          </a:stretch>
        </p:blipFill>
        <p:spPr>
          <a:xfrm>
            <a:off x="4660392" y="2066544"/>
            <a:ext cx="2877312" cy="676656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4651248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51248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24400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measure value 한계 → image supervision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248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51248" y="3785616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15840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5840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FCM-PM, val_margin, NB reject로 FAR tail 제어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51248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51248" y="4553712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5840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15840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P1 판독 기준으로 현업 유사 chip image와 2-combo rule 설계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51248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51248" y="5321808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5840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5840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controlled validation bit-F1 0.9927, FAR 0.00%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77200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77200" y="1828800"/>
            <a:ext cx="3407664" cy="9144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05800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trend_spike_view.png"/>
          <p:cNvPicPr>
            <a:picLocks noChangeAspect="1"/>
          </p:cNvPicPr>
          <p:nvPr/>
        </p:nvPicPr>
        <p:blipFill>
          <a:blip r:embed="rId4"/>
          <a:srcRect t="35939" b="35939"/>
          <a:stretch>
            <a:fillRect/>
          </a:stretch>
        </p:blipFill>
        <p:spPr>
          <a:xfrm>
            <a:off x="8342376" y="2066544"/>
            <a:ext cx="2877312" cy="676656"/>
          </a:xfrm>
          <a:prstGeom prst="rect">
            <a:avLst/>
          </a:prstGeom>
          <a:effectLst/>
        </p:spPr>
      </p:pic>
      <p:sp>
        <p:nvSpPr>
          <p:cNvPr id="48" name="TextBox 47"/>
          <p:cNvSpPr txBox="1"/>
          <p:nvPr/>
        </p:nvSpPr>
        <p:spPr>
          <a:xfrm>
            <a:off x="8333232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33232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6384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abnormal label 부족 → synthetic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33232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33232" y="3785616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97824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97824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episode generator와 binary validation으로 이상 판정 검증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33232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3232" y="4553712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97824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7824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BBD/Overlay/CD 판정 경험을 generator rule로 코드화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33232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333232" y="5321808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97824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97824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7,000 trend benchmark, binary-F1 0.9967, 타 item 확장 가능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