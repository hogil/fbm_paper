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929E"/>
                </a:solidFill>
                <a:latin typeface="맑은 고딕"/>
                <a:ea typeface="맑은 고딕"/>
              </a:rPr>
              <a:t>'26 AI Specialist 면접 심사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35024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0F1E3D"/>
                </a:solidFill>
                <a:latin typeface="맑은 고딕"/>
                <a:ea typeface="맑은 고딕"/>
              </a:rPr>
              <a:t>AI Specialist 인증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9260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맑은 고딕"/>
                <a:ea typeface="맑은 고딕"/>
              </a:rPr>
              <a:t>14년 제조 경력(계측/품질 10년)을 바탕으로 데이터 처리 구조, viewer backend/frontend, AI model까지 직접 설계한 3개 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Failbit Map 불량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Chip multi-label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2712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82712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Trend anomaly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4992624"/>
            <a:ext cx="3840480" cy="2032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18464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최호길  |  메모리제조센터 QIE그룹 DSM 파트</a:t>
            </a:r>
          </a:p>
          <a:p>
            <a:pPr algn="l"/>
            <a:r>
              <a:rPr sz="1250">
                <a:solidFill>
                  <a:srgbClr val="6B728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5989320"/>
            <a:ext cx="10387584" cy="127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6108192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삼성전자 메모리제조센터 | QIE그룹 DSM 파트</a:t>
            </a:r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    AI Specialist 인증 사내 경연 발표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108192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커리어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반도체 계측 도메인에서 제조품질 AI로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10972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0F1E3D"/>
                </a:solidFill>
                <a:latin typeface="맑은 고딕"/>
                <a:ea typeface="맑은 고딕"/>
              </a:rPr>
              <a:t>최호길  |  메모리제조센터 QIE그룹 DSM 파트, 14년차  |  연세대학교 인공지능학과 석사 (야간, '25.09~ 재학)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510028" cy="9144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510028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47088"/>
            <a:ext cx="218084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2013.07 입사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66544"/>
            <a:ext cx="21808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Photo 기술팀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31720"/>
            <a:ext cx="2180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556075"/>
                </a:solidFill>
                <a:latin typeface="맑은 고딕"/>
                <a:ea typeface="맑은 고딕"/>
              </a:rPr>
              <a:t>BBD / Overlay / CD 계측 분석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86684" y="2075688"/>
            <a:ext cx="237744" cy="237744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61004" y="1737360"/>
            <a:ext cx="2510028" cy="9144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61004" y="1737360"/>
            <a:ext cx="2510028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1847088"/>
            <a:ext cx="218084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2016 ~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066544"/>
            <a:ext cx="21808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DX 제작 / 강사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331720"/>
            <a:ext cx="2180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556075"/>
                </a:solidFill>
                <a:latin typeface="맑은 고딕"/>
                <a:ea typeface="맑은 고딕"/>
              </a:rPr>
              <a:t>SQL/Spotfire/VBA, HTML/JS web tool 운영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07608" y="2075688"/>
            <a:ext cx="237744" cy="237744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8" y="1737360"/>
            <a:ext cx="2510028" cy="9144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8" y="1737360"/>
            <a:ext cx="2510028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847088"/>
            <a:ext cx="218084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2021 ~ 2023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066544"/>
            <a:ext cx="21808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D1b 신제품 TF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31720"/>
            <a:ext cx="2180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556075"/>
                </a:solidFill>
                <a:latin typeface="맑은 고딕"/>
                <a:ea typeface="맑은 고딕"/>
              </a:rPr>
              <a:t>BBD / Overlay 담당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28532" y="2075688"/>
            <a:ext cx="237744" cy="237744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02852" y="1737360"/>
            <a:ext cx="2510028" cy="9144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02852" y="1737360"/>
            <a:ext cx="2510028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7444" y="1847088"/>
            <a:ext cx="218084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2023.03 ~ 현재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7444" y="2066544"/>
            <a:ext cx="21808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QIE그룹 DSM 파트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7444" y="2331720"/>
            <a:ext cx="2180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556075"/>
                </a:solidFill>
                <a:latin typeface="맑은 고딕"/>
                <a:ea typeface="맑은 고딕"/>
              </a:rPr>
              <a:t>QIE 전배, P1/P2/P3 AI 직접 설계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788920"/>
            <a:ext cx="5257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2862072"/>
            <a:ext cx="5111496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2862072"/>
            <a:ext cx="5111496" cy="201168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4672" y="2930652"/>
            <a:ext cx="64008" cy="64008"/>
          </a:xfrm>
          <a:prstGeom prst="ellipse">
            <a:avLst/>
          </a:prstGeom>
          <a:solidFill>
            <a:srgbClr val="E06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3544" y="2930652"/>
            <a:ext cx="64008" cy="64008"/>
          </a:xfrm>
          <a:prstGeom prst="ellipse">
            <a:avLst/>
          </a:prstGeom>
          <a:solidFill>
            <a:srgbClr val="E6B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2416" y="2930652"/>
            <a:ext cx="64008" cy="64008"/>
          </a:xfrm>
          <a:prstGeom prst="ellipse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07008" y="2930652"/>
            <a:ext cx="4507992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" y="3063240"/>
            <a:ext cx="5111496" cy="21945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1248" y="3136392"/>
            <a:ext cx="34747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98448" y="3136392"/>
            <a:ext cx="34747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55648" y="3136392"/>
            <a:ext cx="34747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12848" y="3136392"/>
            <a:ext cx="34747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2960" y="3392424"/>
            <a:ext cx="1600200" cy="548640"/>
          </a:xfrm>
          <a:prstGeom prst="roundRect">
            <a:avLst/>
          </a:prstGeom>
          <a:solidFill>
            <a:srgbClr val="EEF1F7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468880" y="3392424"/>
            <a:ext cx="1600200" cy="548640"/>
          </a:xfrm>
          <a:prstGeom prst="roundRect">
            <a:avLst/>
          </a:prstGeom>
          <a:solidFill>
            <a:srgbClr val="EEF1F7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14800" y="3392424"/>
            <a:ext cx="1600200" cy="548640"/>
          </a:xfrm>
          <a:prstGeom prst="roundRect">
            <a:avLst/>
          </a:prstGeom>
          <a:solidFill>
            <a:srgbClr val="EEF1F7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" y="4087368"/>
            <a:ext cx="4892040" cy="155448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" y="4334256"/>
            <a:ext cx="4892040" cy="1554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" y="4581144"/>
            <a:ext cx="4892040" cy="155448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" y="4983480"/>
            <a:ext cx="5257800" cy="2743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983480"/>
            <a:ext cx="5257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56075"/>
                </a:solidFill>
                <a:latin typeface="맑은 고딕"/>
                <a:ea typeface="맑은 고딕"/>
              </a:rPr>
              <a:t>DX web tool 홈페이지 (HTML / JS, Bootstrap)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2788920"/>
            <a:ext cx="5257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wafer_edge_ring_scratch_r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564" y="2862072"/>
            <a:ext cx="2084832" cy="2084832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6355080" y="4983480"/>
            <a:ext cx="5257800" cy="2743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4983480"/>
            <a:ext cx="5257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56075"/>
                </a:solidFill>
                <a:latin typeface="맑은 고딕"/>
                <a:ea typeface="맑은 고딕"/>
              </a:rPr>
              <a:t>D1b TF BBD / Overlay wafer map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400"/>
            <a:ext cx="10972800" cy="84124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" y="5486400"/>
            <a:ext cx="82296" cy="84124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" y="5541264"/>
            <a:ext cx="1143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수상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74519" y="5541264"/>
            <a:ext cx="9555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'25 AI 센터 DS BP Good Challenger, '26 MTC 제안 1등급, '26 삼성 논문상 초록 통과, '26 메모리사업부 PEER AWARD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943600"/>
            <a:ext cx="1143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강사 / 교육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74519" y="5943600"/>
            <a:ext cx="9555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'21 하반기 메모리사업부 우수강사, '23 메모리제조센터 우수강사, '24 DS Data Scientist 교육 수료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P1/P2/P3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3개 과제 핵심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55648"/>
            <a:ext cx="3450336" cy="41696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55648"/>
            <a:ext cx="3450336" cy="566928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39112"/>
            <a:ext cx="3450336" cy="28346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847088"/>
            <a:ext cx="640080" cy="38404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5564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755648"/>
            <a:ext cx="23530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Failbit Map failure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2386584"/>
            <a:ext cx="3194304" cy="15910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afer_center_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60" y="2478024"/>
            <a:ext cx="1408176" cy="1408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411480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11480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고질불량 발생 wafer/물량 선별, 신규 불량 조기 포착, 대량 Failbit Map 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0248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접근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60248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Failbit Map 생성 + 대용량 viewer + Known/Unknown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017008"/>
            <a:ext cx="3230880" cy="3962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5017008"/>
            <a:ext cx="73152" cy="3962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9016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성과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09016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[양산 운영] 일 2만 wafer/day, 공수 90%↓ + 수율 개선 사례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04688"/>
            <a:ext cx="3084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5"/>
                </a:solidFill>
                <a:latin typeface="맑은 고딕"/>
                <a:ea typeface="맑은 고딕"/>
              </a:rPr>
              <a:t>Stack: Cython / pyvips / Numba, ConvNeXtV2 / YOLO11, contrastive / HDBSCAN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1312" y="1755648"/>
            <a:ext cx="3450336" cy="41696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01312" y="1755648"/>
            <a:ext cx="3450336" cy="566928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1312" y="2039112"/>
            <a:ext cx="3450336" cy="28346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02480" y="1847088"/>
            <a:ext cx="640080" cy="38404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2480" y="175564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2288" y="1755648"/>
            <a:ext cx="23530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Chip multi-label classification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9328" y="2386584"/>
            <a:ext cx="3194304" cy="15910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ip_eval_scratch_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2478024"/>
            <a:ext cx="1408176" cy="14081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84192" y="411480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문제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98592" y="411480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measure value 한계 + 2-combo label 확보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4192" y="460248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접근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98592" y="460248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single source → FCM-PM supervision + val-margin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11040" y="5017008"/>
            <a:ext cx="3230880" cy="3962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11040" y="5017008"/>
            <a:ext cx="73152" cy="3962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84192" y="509016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성과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98592" y="509016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[controlled synthetic] bit-F1 0.9927 / FAR 0.00%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4192" y="5504688"/>
            <a:ext cx="3084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5"/>
                </a:solidFill>
                <a:latin typeface="맑은 고딕"/>
                <a:ea typeface="맑은 고딕"/>
              </a:rPr>
              <a:t>Stack: PyTorch, FCM-PM / CutMix, Naive Bayes reject / KD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62544" y="1755648"/>
            <a:ext cx="3450336" cy="41696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62544" y="1755648"/>
            <a:ext cx="3450336" cy="566928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62544" y="2039112"/>
            <a:ext cx="3450336" cy="28346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63712" y="1847088"/>
            <a:ext cx="640080" cy="38404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3712" y="175564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13520" y="1755648"/>
            <a:ext cx="23530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Trend anomaly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90560" y="2386584"/>
            <a:ext cx="3194304" cy="15910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trend_spi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464" y="2478024"/>
            <a:ext cx="2190496" cy="140817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345424" y="411480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문제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9824" y="411480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real abnormal label 부족, trend validation bottleneck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5424" y="460248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접근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59824" y="460248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domain-rule episode generator + binary validation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72272" y="5017008"/>
            <a:ext cx="3230880" cy="3962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72272" y="5017008"/>
            <a:ext cx="73152" cy="3962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45424" y="509016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성과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59824" y="509016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[synthetic trend PoC] benchmark 7,000, binary-F1 0.9967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45424" y="5504688"/>
            <a:ext cx="3084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5"/>
                </a:solidFill>
                <a:latin typeface="맑은 고딕"/>
                <a:ea typeface="맑은 고딕"/>
              </a:rPr>
              <a:t>Stack: episode generator / binary classifier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841248"/>
            <a:ext cx="457200" cy="279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Failbit Map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95728"/>
            <a:ext cx="146304" cy="13716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0" b="1">
                <a:solidFill>
                  <a:srgbClr val="96A0AD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005072"/>
            <a:ext cx="118872" cy="118872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968496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97680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261104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P2  Chip multi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590288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553712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P3  Trend generate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9436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943600"/>
            <a:ext cx="82296" cy="4572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59436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운영 상태</a:t>
            </a:r>
          </a:p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mapviewer D1a/b/c/d 운영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75488"/>
            <a:ext cx="8458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1E3D"/>
                </a:solidFill>
                <a:latin typeface="맑은 고딕"/>
                <a:ea typeface="맑은 고딕"/>
              </a:rPr>
              <a:t>Failbit Map  Known &amp; Unknown 분석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1481328"/>
            <a:ext cx="8458200" cy="512064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481328"/>
            <a:ext cx="91440" cy="512064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7016" y="1481328"/>
            <a:ext cx="1097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배경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481328"/>
            <a:ext cx="7040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>
                <a:solidFill>
                  <a:srgbClr val="0F1E3D"/>
                </a:solidFill>
                <a:latin typeface="맑은 고딕"/>
                <a:ea typeface="맑은 고딕"/>
              </a:rPr>
              <a:t>Failbit Map은 EDS test 결과를 wafer에 나타낸 공정개발 최종 결과 map으로, 불량 정도, 위치, 형태로 개발 수준과 공정 개선 방향을 판단합니다 (wafer당 약 1,000만 point)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37560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37560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문제 / AI 필요성</a:t>
            </a:r>
          </a:p>
        </p:txBody>
      </p:sp>
      <p:sp>
        <p:nvSpPr>
          <p:cNvPr id="27" name="Oval 26"/>
          <p:cNvSpPr/>
          <p:nvPr/>
        </p:nvSpPr>
        <p:spPr>
          <a:xfrm>
            <a:off x="3557016" y="32964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6472" y="31181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48매 조회 / 수작업으로 대량 확인 한계</a:t>
            </a:r>
          </a:p>
        </p:txBody>
      </p:sp>
      <p:sp>
        <p:nvSpPr>
          <p:cNvPr id="29" name="Oval 28"/>
          <p:cNvSpPr/>
          <p:nvPr/>
        </p:nvSpPr>
        <p:spPr>
          <a:xfrm>
            <a:off x="3557016" y="37536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76472" y="35753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고질불량 발생 wafer 선별</a:t>
            </a:r>
          </a:p>
        </p:txBody>
      </p:sp>
      <p:sp>
        <p:nvSpPr>
          <p:cNvPr id="31" name="Oval 30"/>
          <p:cNvSpPr/>
          <p:nvPr/>
        </p:nvSpPr>
        <p:spPr>
          <a:xfrm>
            <a:off x="3557016" y="42108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6472" y="40325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신규불량 조기 검출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949696" y="3483864"/>
            <a:ext cx="274320" cy="274320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97168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7168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7168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8336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개발 내용</a:t>
            </a:r>
          </a:p>
        </p:txBody>
      </p:sp>
      <p:sp>
        <p:nvSpPr>
          <p:cNvPr id="38" name="Oval 37"/>
          <p:cNvSpPr/>
          <p:nvPr/>
        </p:nvSpPr>
        <p:spPr>
          <a:xfrm>
            <a:off x="6516624" y="30678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36080" y="28895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이미지 데이터 파이프라인</a:t>
            </a:r>
          </a:p>
        </p:txBody>
      </p:sp>
      <p:sp>
        <p:nvSpPr>
          <p:cNvPr id="40" name="Oval 39"/>
          <p:cNvSpPr/>
          <p:nvPr/>
        </p:nvSpPr>
        <p:spPr>
          <a:xfrm>
            <a:off x="6516624" y="35250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36080" y="33467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대용량 이미지 조회 / 라벨링 web app</a:t>
            </a:r>
          </a:p>
        </p:txBody>
      </p:sp>
      <p:sp>
        <p:nvSpPr>
          <p:cNvPr id="42" name="Oval 41"/>
          <p:cNvSpPr/>
          <p:nvPr/>
        </p:nvSpPr>
        <p:spPr>
          <a:xfrm>
            <a:off x="6516624" y="39822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80" y="38039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CNN 2-stage 분류</a:t>
            </a:r>
          </a:p>
        </p:txBody>
      </p:sp>
      <p:sp>
        <p:nvSpPr>
          <p:cNvPr id="44" name="Oval 43"/>
          <p:cNvSpPr/>
          <p:nvPr/>
        </p:nvSpPr>
        <p:spPr>
          <a:xfrm>
            <a:off x="6516624" y="44394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36080" y="42611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self-supervised 표현학습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909304" y="3483864"/>
            <a:ext cx="274320" cy="274320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56776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256776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56776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57944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성과 / 확장</a:t>
            </a:r>
          </a:p>
        </p:txBody>
      </p:sp>
      <p:sp>
        <p:nvSpPr>
          <p:cNvPr id="51" name="Oval 50"/>
          <p:cNvSpPr/>
          <p:nvPr/>
        </p:nvSpPr>
        <p:spPr>
          <a:xfrm>
            <a:off x="9476232" y="2861157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5688" y="2688336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분류 F1 0.95</a:t>
            </a:r>
          </a:p>
        </p:txBody>
      </p:sp>
      <p:sp>
        <p:nvSpPr>
          <p:cNvPr id="53" name="Oval 52"/>
          <p:cNvSpPr/>
          <p:nvPr/>
        </p:nvSpPr>
        <p:spPr>
          <a:xfrm>
            <a:off x="9476232" y="3307384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5688" y="3134563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이상 검출 7/13</a:t>
            </a:r>
          </a:p>
        </p:txBody>
      </p:sp>
      <p:sp>
        <p:nvSpPr>
          <p:cNvPr id="55" name="Oval 54"/>
          <p:cNvSpPr/>
          <p:nvPr/>
        </p:nvSpPr>
        <p:spPr>
          <a:xfrm>
            <a:off x="9476232" y="3753611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5688" y="3580790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일 2만 wafer 양산 운영</a:t>
            </a:r>
          </a:p>
        </p:txBody>
      </p:sp>
      <p:sp>
        <p:nvSpPr>
          <p:cNvPr id="57" name="Oval 56"/>
          <p:cNvSpPr/>
          <p:nvPr/>
        </p:nvSpPr>
        <p:spPr>
          <a:xfrm>
            <a:off x="9476232" y="4199838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5688" y="4027017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정량 사업 기여 창출</a:t>
            </a:r>
          </a:p>
        </p:txBody>
      </p:sp>
      <p:sp>
        <p:nvSpPr>
          <p:cNvPr id="59" name="Oval 58"/>
          <p:cNvSpPr/>
          <p:nvPr/>
        </p:nvSpPr>
        <p:spPr>
          <a:xfrm>
            <a:off x="9476232" y="4646065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95688" y="4473244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object-id map 차세대 모델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37560" y="5175504"/>
            <a:ext cx="8458200" cy="43891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37560" y="5175504"/>
            <a:ext cx="82296" cy="43891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38728" y="5175504"/>
            <a:ext cx="14630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본인 기여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175504"/>
            <a:ext cx="6629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데이터 파이프라인 / 대용량 이미지 web app / AI 모델 전 영역 직접 설계, 구현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37560" y="5650992"/>
            <a:ext cx="8458200" cy="4023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337560" y="5650992"/>
            <a:ext cx="82296" cy="402336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38728" y="5650992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기술 stack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83480" y="5650992"/>
            <a:ext cx="6629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E3D"/>
                </a:solidFill>
                <a:latin typeface="맑은 고딕"/>
                <a:ea typeface="맑은 고딕"/>
              </a:rPr>
              <a:t>Cython / pyvips / Numba, ConvNeXtV2 / YOLO11, contrastive / HDBSCAN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전체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좌표 보존 Failbit Map 운영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15287" y="1737360"/>
            <a:ext cx="896112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15287" y="1737360"/>
            <a:ext cx="8961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EDS Test  (raw fail-map log)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6119" y="2240280"/>
            <a:ext cx="219456" cy="164592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1879" y="2212848"/>
            <a:ext cx="4023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Cython parsing + hourly batch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5287" y="2432304"/>
            <a:ext cx="8961120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287" y="2514600"/>
            <a:ext cx="8961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Failbit Map (32색 palette PNG) + chip annotation (FTN / QTN / BIN)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5287" y="2798064"/>
            <a:ext cx="8961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좌표 보존: 이미지, 좌표, 계측값을 같은 wafer 좌표계에 맞춰 저장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86119" y="3136392"/>
            <a:ext cx="219456" cy="164592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1879" y="3108960"/>
            <a:ext cx="4023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같은 자산을 Known 및 Unknown 두 경로가 공유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21127" y="3328416"/>
            <a:ext cx="3246120" cy="1097280"/>
          </a:xfrm>
          <a:prstGeom prst="roundRect">
            <a:avLst/>
          </a:prstGeom>
          <a:solidFill>
            <a:srgbClr val="F2F4F8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4007" y="3374136"/>
            <a:ext cx="2880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Known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3735" y="3657600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ConvNeXtV2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3735" y="3913632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ROI-YOLO  (selective)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3735" y="4169664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object-id map  [dev]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3328416"/>
            <a:ext cx="3246120" cy="1097280"/>
          </a:xfrm>
          <a:prstGeom prst="roundRect">
            <a:avLst/>
          </a:prstGeom>
          <a:solidFill>
            <a:srgbClr val="F2F4F8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3374136"/>
            <a:ext cx="2880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Unknown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7055" y="3657600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InfoNCE + grid36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7055" y="3913632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HDBSCAN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7055" y="4169664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candidate groups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86119" y="4453128"/>
            <a:ext cx="219456" cy="164592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1879" y="4425696"/>
            <a:ext cx="4023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두 경로 결과를 한 화면으로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15287" y="4645152"/>
            <a:ext cx="8961120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15287" y="4727448"/>
            <a:ext cx="8961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Analysis UI — fast view / overlay / labeling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5287" y="5010912"/>
            <a:ext cx="8961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운영 viewer (mapviewer): Numba composite + pyvips tile streaming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86119" y="5349240"/>
            <a:ext cx="219456" cy="164592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1879" y="5321808"/>
            <a:ext cx="4023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human-in-the-loop: register → label → retrain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15287" y="5541264"/>
            <a:ext cx="896112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15287" y="5541264"/>
            <a:ext cx="8961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Organizational asset base  (image-measure aligned, multimodal-ready)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ConvNeXt V2 (Woo et al., 2023)    YOLO11 (Jocher &amp; Qiu, 2024)    InfoNCE (van den Oord et al., 2018)    HDBSCAN (Campello et al., 2013)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Concept + field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이산 grade 공간 데이터 표현으로서의 Failbit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01952"/>
            <a:ext cx="5650992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Role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Failbit Map은 공정 개발 결과를 확인하는 최종 map으로, 불량 정도와 위치, 형태를 확인해 현 개발 수준을 파악하고 공정 개선 방향을 결정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Data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EDS Failbit Map은 Memory Cell Block 단위 불량 정도를 Grade 0~7로 표현한 wafer-level data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Scale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wafer 1장은 약 1,000만 block 규모이며, chip당 1개, wafer 내 약 800개 수준의 Measure 값만으로는 불량 위치와 형상 분석에 한계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Storage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palette PNG는 grade index를 저장하고, positions JSON은 chip/block 좌표를 보존해 viewer overlay와 모델 입력을 같은 좌표계로 정렬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5412" y="1316736"/>
            <a:ext cx="4334256" cy="4681728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5412" y="1316736"/>
            <a:ext cx="4334256" cy="34747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90004" y="1316736"/>
            <a:ext cx="4005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wafer Failbit Map / Edge-Ring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5412" y="1664208"/>
            <a:ext cx="4334256" cy="43342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afer_edge_ring_scratch_r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16" y="1810512"/>
            <a:ext cx="4041648" cy="404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6772" y="6053328"/>
            <a:ext cx="5431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A384C"/>
                </a:solidFill>
                <a:latin typeface="맑은 고딕"/>
                <a:ea typeface="맑은 고딕"/>
              </a:rPr>
              <a:t>최외곽 chip에서 동일 scratch성 fail pattern이 반복되어 edge-ring 형태로 관찰됨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데이터 생성 (fail-map)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8단계 grade → palette PNG 무손실 저장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raw log는 대량 조회/AI 입력에 부적합 → hex-to-grade Cython 가속 + 8단계 palette PNG로 저장량 약 75% 절감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03520" cy="4197096"/>
          </a:xfrm>
          <a:prstGeom prst="rect">
            <a:avLst/>
          </a:prstGeom>
          <a:solidFill>
            <a:srgbClr val="FFFFFF"/>
          </a:solidFill>
          <a:ln w="15875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56816"/>
            <a:ext cx="4809744" cy="3941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Hex-to-grade conversion</a:t>
            </a:r>
          </a:p>
          <a:p>
            <a:pPr algn="l"/>
            <a:r>
              <a:rPr sz="5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Raw: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090B0C0D0E0F090A0B0C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Decoding: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"0C" -&gt; "C" -&gt; 12 (hex to decimal) -&gt; 3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Python: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interpreter-based loop execution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Cython: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compiled integer loop execution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Grade: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0 2 3 4 5 6 0 1 2 3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Fig. 1. Hex-to-grade conversion accelerated by Cython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303520" cy="4197096"/>
          </a:xfrm>
          <a:prstGeom prst="rect">
            <a:avLst/>
          </a:prstGeom>
          <a:solidFill>
            <a:srgbClr val="FFFFFF"/>
          </a:solidFill>
          <a:ln w="15875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56816"/>
            <a:ext cx="4809744" cy="3941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RGB PNG vs Palette-indexed PNG</a:t>
            </a:r>
          </a:p>
          <a:p>
            <a:pPr algn="l"/>
            <a:r>
              <a:rPr sz="5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RGB PNG: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[(123,54,24), (123,54,24), ..., (123,54,24)],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[(123,54,24), (123,54,24), ..., (123,54,24)]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Palette-indexed PNG: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P[3] = (123,54,24)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[(3), (3), ..., (3)],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[(3), (3), ..., (3)]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RGB_to_Palette: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(123,54,24) -&gt; (3)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Fig. 2. Palette-indexed PNG for failbit map compression.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viewer 처리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대용량 Failbit Map viewer를 위한 Numba와 pyvips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대용량 palette PNG를 운영 viewer가 즉시 띄우기 어려움(메모리/속도) → Numba JIT + pyvips tile decode로 peak memory/로드 시간 절감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Numba는 메모리에 올라온 grade array의 composite 루프를 native code로 JIT 컴파일하고, pyvips는 대형 PNG를 필요한 stripe/tile만 decode해 viewer peak memory를 절감</a:t>
            </a:r>
          </a:p>
        </p:txBody>
      </p:sp>
      <p:sp>
        <p:nvSpPr>
          <p:cNvPr id="7" name="Rectangle 6"/>
          <p:cNvSpPr/>
          <p:nvPr/>
        </p:nvSpPr>
        <p:spPr>
          <a:xfrm>
            <a:off x="746150" y="2385303"/>
            <a:ext cx="5091379" cy="3848252"/>
          </a:xfrm>
          <a:prstGeom prst="rect">
            <a:avLst/>
          </a:prstGeom>
          <a:solidFill>
            <a:srgbClr val="F7F7F7"/>
          </a:solidFill>
          <a:ln w="114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1773" y="2587843"/>
            <a:ext cx="4720132" cy="137726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4361" y="2709367"/>
            <a:ext cx="848563" cy="324063"/>
          </a:xfrm>
          <a:prstGeom prst="round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4361" y="2717468"/>
            <a:ext cx="848563" cy="307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2030" y="2689113"/>
            <a:ext cx="2121408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Interpreter overhead inside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2709367"/>
            <a:ext cx="954633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A8A8A"/>
                </a:solidFill>
                <a:latin typeface="맑은 고딕"/>
                <a:ea typeface="맑은 고딕"/>
              </a:rPr>
              <a:t>N times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0879" y="3296732"/>
            <a:ext cx="450799" cy="344317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0879" y="3296732"/>
            <a:ext cx="450799" cy="344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C1C1C"/>
                </a:solidFill>
                <a:latin typeface="Consolas"/>
                <a:ea typeface="Consolas"/>
              </a:rPr>
              <a:t>pixel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27301" y="3215716"/>
            <a:ext cx="556869" cy="50634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27301" y="3215716"/>
            <a:ext cx="556869" cy="5063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8A8A"/>
                </a:solidFill>
                <a:latin typeface="Consolas"/>
                <a:ea typeface="Consolas"/>
              </a:rPr>
              <a:t>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96312" y="3296732"/>
            <a:ext cx="450799" cy="344317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6312" y="3296732"/>
            <a:ext cx="450799" cy="344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C1C1C"/>
                </a:solidFill>
                <a:latin typeface="Consolas"/>
                <a:ea typeface="Consolas"/>
              </a:rPr>
              <a:t>pixel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2734" y="3215716"/>
            <a:ext cx="556869" cy="50634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32734" y="3215716"/>
            <a:ext cx="556869" cy="5063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8A8A"/>
                </a:solidFill>
                <a:latin typeface="Consolas"/>
                <a:ea typeface="Consolas"/>
              </a:rPr>
              <a:t>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01744" y="3296732"/>
            <a:ext cx="450799" cy="344317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01744" y="3296732"/>
            <a:ext cx="450799" cy="344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C1C1C"/>
                </a:solidFill>
                <a:latin typeface="Consolas"/>
                <a:ea typeface="Consolas"/>
              </a:rPr>
              <a:t>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8167" y="3215716"/>
            <a:ext cx="556869" cy="50634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8167" y="3215716"/>
            <a:ext cx="556869" cy="5063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8A8A"/>
                </a:solidFill>
                <a:latin typeface="Consolas"/>
                <a:ea typeface="Consolas"/>
              </a:rPr>
              <a:t>PY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552285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2294778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2963021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3700211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4368454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00784" y="3730166"/>
            <a:ext cx="3394252" cy="141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per-pixel interpreter dispatch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1773" y="4208160"/>
            <a:ext cx="4720132" cy="174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64361" y="4329684"/>
            <a:ext cx="848563" cy="324063"/>
          </a:xfrm>
          <a:prstGeom prst="roundRect">
            <a:avLst/>
          </a:prstGeom>
          <a:solidFill>
            <a:srgbClr val="E9E9E9"/>
          </a:solidFill>
          <a:ln w="1016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4361" y="4337785"/>
            <a:ext cx="848563" cy="307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AFTER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512" y="4309430"/>
            <a:ext cx="2227478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First call JIT-compiles typed loop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914" y="4694255"/>
            <a:ext cx="981151" cy="283555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0432" y="4710458"/>
            <a:ext cx="928115" cy="2511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input dtype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2188707" y="4783372"/>
            <a:ext cx="212140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69794" y="4653747"/>
            <a:ext cx="928115" cy="364571"/>
          </a:xfrm>
          <a:prstGeom prst="rect">
            <a:avLst/>
          </a:prstGeom>
          <a:solidFill>
            <a:srgbClr val="E9E9E9"/>
          </a:solidFill>
          <a:ln w="1016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96312" y="4669950"/>
            <a:ext cx="875080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JIT
compile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477463" y="4783372"/>
            <a:ext cx="212140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89603" y="4653747"/>
            <a:ext cx="1538020" cy="384825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2639" y="4669950"/>
            <a:ext cx="1431950" cy="35241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C1C1C"/>
                </a:solidFill>
                <a:latin typeface="맑은 고딕"/>
                <a:ea typeface="맑은 고딕"/>
              </a:rPr>
              <a:t>native loop
reused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7844" y="5281620"/>
            <a:ext cx="1087221" cy="303809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4361" y="5297823"/>
            <a:ext cx="1034186" cy="2714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input data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2188707" y="5366686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10688" y="5139842"/>
            <a:ext cx="2280513" cy="587364"/>
          </a:xfrm>
          <a:prstGeom prst="rect">
            <a:avLst/>
          </a:prstGeom>
          <a:solidFill>
            <a:srgbClr val="5A5A5A"/>
          </a:solidFill>
          <a:ln w="1016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90241" y="5200604"/>
            <a:ext cx="2121408" cy="4658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native loop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4670755" y="5366686"/>
            <a:ext cx="212140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62448" y="5281620"/>
            <a:ext cx="530352" cy="303809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2448" y="5297823"/>
            <a:ext cx="530352" cy="2714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result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15430" y="2385303"/>
            <a:ext cx="5091379" cy="3848252"/>
          </a:xfrm>
          <a:prstGeom prst="rect">
            <a:avLst/>
          </a:prstGeom>
          <a:solidFill>
            <a:srgbClr val="F7F7F7"/>
          </a:solidFill>
          <a:ln w="114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601053" y="2648605"/>
            <a:ext cx="4720132" cy="11544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733641" y="2770129"/>
            <a:ext cx="769010" cy="303809"/>
          </a:xfrm>
          <a:prstGeom prst="round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33641" y="2782281"/>
            <a:ext cx="769010" cy="27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PILLOW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61757" y="2790383"/>
            <a:ext cx="1193292" cy="24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full-frame buffer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13194" y="3203563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82140" y="3260274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82140" y="3316986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882140" y="3373697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07124" y="3511424"/>
            <a:ext cx="689457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FILE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7396581" y="3349392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8275" y="3154954"/>
            <a:ext cx="769010" cy="40507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67828" y="3215716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67828" y="3272427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67828" y="3329138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67828" y="3385849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67828" y="3442560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29169" y="3576236"/>
            <a:ext cx="1087221" cy="141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C1C1C"/>
                </a:solidFill>
                <a:latin typeface="맑은 고딕"/>
                <a:ea typeface="맑은 고딕"/>
              </a:rPr>
              <a:t>full RGB frame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8563356" y="3349392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81567" y="3142801"/>
            <a:ext cx="1113739" cy="518501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08084" y="3171157"/>
            <a:ext cx="1060704" cy="1377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full-image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3349392"/>
            <a:ext cx="954633" cy="267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decode
encode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10074859" y="3349392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499140" y="3203563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568086" y="3256224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568086" y="3304833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568086" y="3353443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568086" y="3402052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66552" y="3511424"/>
            <a:ext cx="742492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output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601053" y="4147398"/>
            <a:ext cx="4720132" cy="127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733641" y="4268922"/>
            <a:ext cx="848563" cy="303809"/>
          </a:xfrm>
          <a:prstGeom prst="roundRect">
            <a:avLst/>
          </a:prstGeom>
          <a:solidFill>
            <a:srgbClr val="E9E9E9"/>
          </a:solidFill>
          <a:ln w="1016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33641" y="4281074"/>
            <a:ext cx="848563" cy="27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LIBVIPS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61757" y="4289176"/>
            <a:ext cx="1193292" cy="24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active-stripe buffer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13194" y="4759067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82140" y="4815779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2140" y="4872490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882140" y="4929201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707124" y="5099334"/>
            <a:ext cx="689457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FILE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7396581" y="4904896"/>
            <a:ext cx="185623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688275" y="4702356"/>
            <a:ext cx="769010" cy="405079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67828" y="4763118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67828" y="4819829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67828" y="4876540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767828" y="4933252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767828" y="4989963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608722" y="5123639"/>
            <a:ext cx="928115" cy="141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C1C1C"/>
                </a:solidFill>
                <a:latin typeface="맑은 고딕"/>
                <a:ea typeface="맑은 고딕"/>
              </a:rPr>
              <a:t>RGB stripe</a:t>
            </a:r>
          </a:p>
        </p:txBody>
      </p:sp>
      <p:sp>
        <p:nvSpPr>
          <p:cNvPr id="97" name="Right Arrow 96"/>
          <p:cNvSpPr/>
          <p:nvPr/>
        </p:nvSpPr>
        <p:spPr>
          <a:xfrm>
            <a:off x="8563356" y="4904896"/>
            <a:ext cx="185623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881567" y="4674001"/>
            <a:ext cx="1113739" cy="607618"/>
          </a:xfrm>
          <a:prstGeom prst="rect">
            <a:avLst/>
          </a:prstGeom>
          <a:solidFill>
            <a:srgbClr val="E9E9E9"/>
          </a:solidFill>
          <a:ln w="1016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08084" y="4686153"/>
            <a:ext cx="1060704" cy="24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C1C1C"/>
                </a:solidFill>
                <a:latin typeface="맑은 고딕"/>
                <a:ea typeface="맑은 고딕"/>
              </a:rPr>
              <a:t>streaming
C pipeline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34602" y="5026420"/>
            <a:ext cx="1060704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F5F5F"/>
                </a:solidFill>
                <a:latin typeface="맑은 고딕"/>
                <a:ea typeface="맑은 고딕"/>
              </a:rPr>
              <a:t>decode/encode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10074859" y="4904896"/>
            <a:ext cx="185623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499140" y="4759067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568086" y="4811728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568086" y="4860337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568086" y="4908947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568086" y="4957556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366552" y="5099334"/>
            <a:ext cx="742492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output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078370" y="5706953"/>
            <a:ext cx="3765499" cy="283555"/>
          </a:xfrm>
          <a:prstGeom prst="rect">
            <a:avLst/>
          </a:prstGeom>
          <a:solidFill>
            <a:srgbClr val="EAEAEA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078370" y="5731258"/>
            <a:ext cx="3765499" cy="23494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same output with bounded active rows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Known 2단계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Known 검증: CNN tuning과 ROI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전체 성능은 CNN이 높지만, 같은 위치의 유사 불량은 ROI-YOLO가 root cause 구분에 유리했습니다.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low-confidence sample만 2차 분류해 F1 0.92 → 0.95로 개선했습니다.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1-stage CNN (백본 선정)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불량이 특정 영역에 몰려 나타나, 넓게 보는 Transformer보다 좁은 영역을 잘 보는 CNN이 더 적합하다고 판단 (연세대 인공지능학과 전해곤 교수 자문). ConvNeXtV2는 MaxViT와 F1 0.87 동급이면서 더 가벼워 채택</a:t>
            </a:r>
          </a:p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Tuning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Optuna로 schedule, focal loss, class-imbalance, augmentation strength를 조정해 F1 0.92로 향상</a:t>
            </a:r>
          </a:p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ROI cascade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선택된 ROI 안에서 chip class와 ROI 내 배치까지 재확인하는 selective 2-stage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66085"/>
            <a:ext cx="2571750" cy="2571750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fer_center_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66085"/>
            <a:ext cx="2571750" cy="2571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5780" y="5537835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불량 A — center scratch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0430" y="2966085"/>
            <a:ext cx="2571750" cy="2571750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afer_center_bank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430" y="2966085"/>
            <a:ext cx="2571750" cy="2571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26130" y="5537835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불량 B — center bank-boundary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0780" y="2966085"/>
            <a:ext cx="2571750" cy="2571750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_roi_crop_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780" y="2966085"/>
            <a:ext cx="2571750" cy="2571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6480" y="5537835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low-confidence → ROI-YOLO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41130" y="2966085"/>
            <a:ext cx="2571750" cy="2571750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1_chip_yolo_box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1130" y="2966085"/>
            <a:ext cx="2571750" cy="25717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26830" y="5537835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chip 분류 + ROI 내 배치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불량 A와 B는 wafer-level에서 비슷해 1-stage로 구분이 어려운 예시.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P1 | Known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Known 16-class backbone 탐색과 단계별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0" b="1">
                <a:solidFill>
                  <a:srgbClr val="0F1E3D"/>
                </a:solidFill>
                <a:latin typeface="맑은 고딕"/>
                <a:ea typeface="맑은 고딕"/>
              </a:rPr>
              <a:t>[실전 현업 데이터 validation] 16 class / 1,500 labeled / 4:1 stratified split.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82496"/>
          <a:ext cx="1097280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095"/>
                <a:gridCol w="3477718"/>
                <a:gridCol w="1259173"/>
                <a:gridCol w="4856814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Stage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Configuration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Weighted F1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Decision / note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ImageNet pretrained CNN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starting point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ViT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Swin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0.84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EffNetV2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MaxViT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119.5M params / 74.2G FLOPs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ConvNeXtV2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0.87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selected: 88.6M / 45.1G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HPO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ConvNeXtV2 + Optuna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warmup→cosine, focal γ2, effective class-weight, aug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Cascade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ConvNeXtV2 + Optuna + ROI-YOLO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low-confidence only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4919472"/>
            <a:ext cx="10972800" cy="384048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919472"/>
            <a:ext cx="82296" cy="38404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919472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HPO recipe — </a:t>
            </a:r>
            <a:r>
              <a:rPr sz="1100">
                <a:solidFill>
                  <a:srgbClr val="4A5666"/>
                </a:solidFill>
                <a:latin typeface="맑은 고딕"/>
                <a:ea typeface="맑은 고딕"/>
              </a:rPr>
              <a:t>LR backbone 2e-5 / head 2e-4, weight decay 0.05, warmup 5ep→cosine, focal γ=2.0, effective-number class weighting, EMA 0.95, stochastic depth 0.05, label smoothing 0.02, rotation ±15°+affine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5431536"/>
            <a:ext cx="3401568" cy="585216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5431536"/>
            <a:ext cx="3401568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5559552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0.78 → 0.87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5870448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backbone gain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5431536"/>
            <a:ext cx="3401568" cy="585216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5431536"/>
            <a:ext cx="3401568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5559552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0.87 → 0.92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5870448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Optuna HPO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2752" y="5431536"/>
            <a:ext cx="3401568" cy="585216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2752" y="5431536"/>
            <a:ext cx="3401568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5559552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0.92 → 0.95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870448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ROI-YOLO cascade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ConvNeXt V2 (Woo et al., 2023)    Optuna (Akiba et al., 2019)    Focal Loss (Lin et al., 2017)    YOLO11 (Jocher &amp; Qiu, 2024)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칩 식별 지도 (후속 개발)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차세대 Stage-2: ROI detection → chip identity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ROI-YOLO는 검증됐으나 class 확장/annotation cost 부담 → chip 좌표 재사용한 object-id map으로 fixed-crop 분류 전환 (개발 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Current Stage-2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ROI-YOLO는 field-validated 구조지만, 선택된 ROI 안에서 box regression, classification, NMS를 수행하므로 class 확장과 detector annotation cost 부담이 남음</a:t>
            </a:r>
          </a:p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Object-id map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제품별 chip coordinate를 재사용해 fixed crop classification으로 바꾸고, chip별 class id를 32×32 wafer grid에 재배치</a:t>
            </a:r>
          </a:p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Metric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selected obj-only: val F1 0.9946 / hold-out F1 0.9872. 별도 raw+obj-id 5-seed val F1 0.9838 ± 0.0092</a:t>
            </a:r>
          </a:p>
        </p:txBody>
      </p:sp>
      <p:pic>
        <p:nvPicPr>
          <p:cNvPr id="7" name="Picture 6" descr="AAN585_00P_18_20260501_010000_97.6_2_EE_NORMAL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3200400"/>
            <a:ext cx="2340864" cy="23408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24712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A / raw intensity</a:t>
            </a:r>
          </a:p>
        </p:txBody>
      </p:sp>
      <p:pic>
        <p:nvPicPr>
          <p:cNvPr id="10" name="Picture 9" descr="AAN585_00P_18_20260501_010000_97.6_2_EE_NORMAL_obj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3200400"/>
            <a:ext cx="2340864" cy="234086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803904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6452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A / object-id grid</a:t>
            </a:r>
          </a:p>
        </p:txBody>
      </p:sp>
      <p:pic>
        <p:nvPicPr>
          <p:cNvPr id="13" name="Picture 12" descr="ACZ452_00P_14_20260501_010000_97.6_2_PT_NORMAL_r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200400"/>
            <a:ext cx="2340864" cy="234086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83096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5644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B / raw intensity</a:t>
            </a:r>
          </a:p>
        </p:txBody>
      </p:sp>
      <p:pic>
        <p:nvPicPr>
          <p:cNvPr id="16" name="Picture 15" descr="ACZ452_00P_14_20260501_010000_97.6_2_PT_NORMAL_obj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200400"/>
            <a:ext cx="2340864" cy="234086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162288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4836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B / object-id grid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Field-validated 대표 성과는 ROI-YOLO 2-stage F1 0.95이고, object-id map은 detector cost와 class 확장 부담을 줄이기 위한 차세대 Stage-2 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Unknown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Unknown 후보 발견 contrastive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신규 불량은 정답 label이 없어 지도학습 불가 → contrastive embedding + HDBSCAN으로 검토 후보를 13개 중 7개로 압축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Embedding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 — same-wafer views를 alignment target으로 두고, other wafers를 contrastive reference로 사용</a:t>
            </a:r>
          </a:p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Review output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 — HDBSCAN 결과는 자동 판정이 아니라 엔지니어가 검토할 신규 failure 후보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424" y="2606184"/>
            <a:ext cx="3017232" cy="3017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fer_center_bank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615184"/>
            <a:ext cx="2999232" cy="2999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5820" y="5614416"/>
            <a:ext cx="3520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Center Bank-Boundary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864" y="2606184"/>
            <a:ext cx="3017232" cy="3017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afer_broken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2615184"/>
            <a:ext cx="2999232" cy="2999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66260" y="5614416"/>
            <a:ext cx="3520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BrokenRing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304" y="2606184"/>
            <a:ext cx="3017232" cy="3017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afer_crescentar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2615184"/>
            <a:ext cx="2999232" cy="2999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86700" y="5614416"/>
            <a:ext cx="3520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CrescentArc (신규)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실제 현업 데이터 2,000장 review: 13개 후보 중 7개 신규 failure 확인. 화면 이미지는 후속 튜닝용 생성/개발 예시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HDBSCAN (Campello et al., 2013)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Unknown 대조 학습: contrastive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false negative 억제 contrastive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near-positive를 negative로 밀면 같은 불량이 흩어짐(false negative) → similarity filter로 near-positive 제외해 cluster 응집 유지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0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SimCLR (Chen et al., 2020)</a:t>
            </a:r>
            <a:r>
              <a:rPr sz="1400">
                <a:solidFill>
                  <a:srgbClr val="1A1F2E"/>
                </a:solidFill>
                <a:latin typeface="맑은 고딕"/>
                <a:ea typeface="맑은 고딕"/>
              </a:rPr>
              <a:t> — positive-pair alignment와 in-batch negative contrast로 wafer pattern embedding을 학습</a:t>
            </a:r>
          </a:p>
          <a:p>
            <a:pPr marL="274320" indent="-274320">
              <a:spcAft>
                <a:spcPts val="500"/>
              </a:spcAft>
            </a:pPr>
            <a:r>
              <a:rPr sz="140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NV-Retriever negative-similarity filter (Moreira et al., 2024)</a:t>
            </a:r>
            <a:r>
              <a:rPr sz="1400">
                <a:solidFill>
                  <a:srgbClr val="1A1F2E"/>
                </a:solidFill>
                <a:latin typeface="맑은 고딕"/>
                <a:ea typeface="맑은 고딕"/>
              </a:rPr>
              <a:t> — cosine similarity가 높은 near-positive candidate를 negative set에서 제외해 false-negative push를 방지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96896"/>
            <a:ext cx="5303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f_simclr_framework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065" y="2631186"/>
            <a:ext cx="2919548" cy="2263140"/>
          </a:xfrm>
          <a:prstGeom prst="rect">
            <a:avLst/>
          </a:prstGeom>
        </p:spPr>
      </p:pic>
      <p:pic>
        <p:nvPicPr>
          <p:cNvPr id="9" name="Picture 8" descr="ref_simclr_los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446" y="4962906"/>
            <a:ext cx="3236786" cy="942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SimCLR (Chen et al., 2020): positive-pair alignment with in-batch negative contrast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596896"/>
            <a:ext cx="5303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086039" y="2836926"/>
            <a:ext cx="0" cy="2948940"/>
          </a:xfrm>
          <a:prstGeom prst="line">
            <a:avLst/>
          </a:prstGeom>
          <a:ln w="1270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36200" y="2836926"/>
            <a:ext cx="0" cy="2948940"/>
          </a:xfrm>
          <a:prstGeom prst="line">
            <a:avLst/>
          </a:prstGeom>
          <a:ln w="1270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01053" y="4431411"/>
            <a:ext cx="4720133" cy="0"/>
          </a:xfrm>
          <a:prstGeom prst="line">
            <a:avLst/>
          </a:prstGeom>
          <a:ln w="1270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94983" y="2836926"/>
            <a:ext cx="1431950" cy="257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Positive</a:t>
            </a:r>
          </a:p>
        </p:txBody>
      </p:sp>
      <p:sp>
        <p:nvSpPr>
          <p:cNvPr id="16" name="Oval 15"/>
          <p:cNvSpPr/>
          <p:nvPr/>
        </p:nvSpPr>
        <p:spPr>
          <a:xfrm>
            <a:off x="6834938" y="3578733"/>
            <a:ext cx="265176" cy="265176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708" y="3917061"/>
            <a:ext cx="371246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q</a:t>
            </a:r>
          </a:p>
        </p:txBody>
      </p:sp>
      <p:sp>
        <p:nvSpPr>
          <p:cNvPr id="18" name="Oval 17"/>
          <p:cNvSpPr/>
          <p:nvPr/>
        </p:nvSpPr>
        <p:spPr>
          <a:xfrm>
            <a:off x="7338243" y="3277896"/>
            <a:ext cx="318211" cy="31821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61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6967526" y="3437001"/>
            <a:ext cx="529822" cy="274320"/>
          </a:xfrm>
          <a:prstGeom prst="line">
            <a:avLst/>
          </a:prstGeom>
          <a:ln w="19685">
            <a:solidFill>
              <a:srgbClr val="0F1E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67061" y="3179826"/>
            <a:ext cx="503834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p⁺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4983" y="4620006"/>
            <a:ext cx="1431950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Consolas"/>
                <a:ea typeface="Consolas"/>
              </a:rPr>
              <a:t>PULL TERM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4983" y="4877181"/>
            <a:ext cx="1431950" cy="240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16181D"/>
                </a:solidFill>
                <a:latin typeface="맑은 고딕"/>
                <a:ea typeface="맑은 고딕"/>
              </a:rPr>
              <a:t>similar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4983" y="5391531"/>
            <a:ext cx="143195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181D"/>
                </a:solidFill>
                <a:latin typeface="맑은 고딕"/>
                <a:ea typeface="맑은 고딕"/>
              </a:rPr>
              <a:t>pull closer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5144" y="2836926"/>
            <a:ext cx="1431950" cy="257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Negative</a:t>
            </a:r>
          </a:p>
        </p:txBody>
      </p:sp>
      <p:sp>
        <p:nvSpPr>
          <p:cNvPr id="25" name="Oval 24"/>
          <p:cNvSpPr/>
          <p:nvPr/>
        </p:nvSpPr>
        <p:spPr>
          <a:xfrm>
            <a:off x="8585100" y="3578733"/>
            <a:ext cx="265176" cy="265176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8870" y="3917061"/>
            <a:ext cx="371246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q</a:t>
            </a:r>
          </a:p>
        </p:txBody>
      </p:sp>
      <p:sp>
        <p:nvSpPr>
          <p:cNvPr id="27" name="Isosceles Triangle 26"/>
          <p:cNvSpPr/>
          <p:nvPr/>
        </p:nvSpPr>
        <p:spPr>
          <a:xfrm>
            <a:off x="9179625" y="3763259"/>
            <a:ext cx="307604" cy="307604"/>
          </a:xfrm>
          <a:prstGeom prst="triangl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17688" y="3711321"/>
            <a:ext cx="615739" cy="205740"/>
          </a:xfrm>
          <a:prstGeom prst="line">
            <a:avLst/>
          </a:prstGeom>
          <a:ln w="12700">
            <a:solidFill>
              <a:srgbClr val="5560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200839" y="4139946"/>
            <a:ext cx="503834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80" b="1">
                <a:solidFill>
                  <a:srgbClr val="0F1E3D"/>
                </a:solidFill>
                <a:latin typeface="Cambria Math"/>
                <a:ea typeface="Cambria Math"/>
              </a:rPr>
              <a:t>n⁻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5144" y="4620006"/>
            <a:ext cx="1431950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Consolas"/>
                <a:ea typeface="Consolas"/>
              </a:rPr>
              <a:t>PUSH TERM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5144" y="4877181"/>
            <a:ext cx="1431950" cy="240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16181D"/>
                </a:solidFill>
                <a:latin typeface="맑은 고딕"/>
                <a:ea typeface="맑은 고딕"/>
              </a:rPr>
              <a:t>far 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5144" y="5391531"/>
            <a:ext cx="143195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181D"/>
                </a:solidFill>
                <a:latin typeface="맑은 고딕"/>
                <a:ea typeface="맑은 고딕"/>
              </a:rPr>
              <a:t>weak push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5306" y="2836926"/>
            <a:ext cx="1431950" cy="257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False negative risk</a:t>
            </a:r>
          </a:p>
        </p:txBody>
      </p:sp>
      <p:sp>
        <p:nvSpPr>
          <p:cNvPr id="34" name="Oval 33"/>
          <p:cNvSpPr/>
          <p:nvPr/>
        </p:nvSpPr>
        <p:spPr>
          <a:xfrm>
            <a:off x="10335262" y="3578733"/>
            <a:ext cx="265176" cy="265176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39031" y="3917061"/>
            <a:ext cx="371246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q</a:t>
            </a:r>
          </a:p>
        </p:txBody>
      </p:sp>
      <p:sp>
        <p:nvSpPr>
          <p:cNvPr id="36" name="Oval 35"/>
          <p:cNvSpPr/>
          <p:nvPr/>
        </p:nvSpPr>
        <p:spPr>
          <a:xfrm>
            <a:off x="10724010" y="3449346"/>
            <a:ext cx="318211" cy="318211"/>
          </a:xfrm>
          <a:prstGeom prst="ellipse">
            <a:avLst/>
          </a:prstGeom>
          <a:solidFill>
            <a:srgbClr val="C5CBD6"/>
          </a:solidFill>
          <a:ln w="13970">
            <a:solidFill>
              <a:srgbClr val="161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10467850" y="3608451"/>
            <a:ext cx="415265" cy="102870"/>
          </a:xfrm>
          <a:prstGeom prst="line">
            <a:avLst/>
          </a:prstGeom>
          <a:ln w="20320">
            <a:solidFill>
              <a:srgbClr val="0F1E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052828" y="3351275"/>
            <a:ext cx="530352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80" b="1">
                <a:solidFill>
                  <a:srgbClr val="0F1E3D"/>
                </a:solidFill>
                <a:latin typeface="Cambria Math"/>
                <a:ea typeface="Cambria Math"/>
              </a:rPr>
              <a:t>h⁻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5306" y="4620006"/>
            <a:ext cx="1431950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Consolas"/>
                <a:ea typeface="Consolas"/>
              </a:rPr>
              <a:t>EXCLUDED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95306" y="4877181"/>
            <a:ext cx="1431950" cy="240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16181D"/>
                </a:solidFill>
                <a:latin typeface="맑은 고딕"/>
                <a:ea typeface="맑은 고딕"/>
              </a:rPr>
              <a:t>too close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95306" y="5391531"/>
            <a:ext cx="143195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181D"/>
                </a:solidFill>
                <a:latin typeface="맑은 고딕"/>
                <a:ea typeface="맑은 고딕"/>
              </a:rPr>
              <a:t>protect cluster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NV-Retriever neg-sim filter (Moreira et al., 2024): potential false-negative exclusion preserves cluster compactness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Unknown 대조 학습: NeCo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NeCo: 결함 위치에 민감한 patch-neighbor 유사도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3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핵심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 — patch 간 유사도 matrix는 결함의 공간 구조를 인코딩 → 결함 위치가 다르면 matrix가 완전히 다름 (CE 큼)</a:t>
            </a:r>
          </a:p>
          <a:p>
            <a:pPr marL="274320" indent="-274320">
              <a:spcAft>
                <a:spcPts val="3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대비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 — 단순 local 평균(grid)은 둔감, NeCo는 이 민감한 matrix를 같은 wafer 두 view에서 일치시켜 국소 구조 보존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672" y="1929528"/>
            <a:ext cx="120672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afer_center_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38528"/>
            <a:ext cx="1188720" cy="1188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121408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1408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21408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1408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359152"/>
            <a:ext cx="256032" cy="256032"/>
          </a:xfrm>
          <a:prstGeom prst="rect">
            <a:avLst/>
          </a:prstGeom>
          <a:solidFill>
            <a:srgbClr val="96A0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33472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21408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21408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33472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33472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54096" y="199339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199339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0156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7530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49040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22776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96512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7024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4398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54096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27832" y="216712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27832" y="216712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01568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7530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9040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22776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96512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70248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4398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05409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27832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01568" y="234086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01568" y="234086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7530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49040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2277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96512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70248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4398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5409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2783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0156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75304" y="251460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75304" y="251460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9040" y="2514600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2277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9651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7024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43984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054096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2783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0156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575304" y="2688336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749040" y="2688336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49040" y="2688336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22776" y="2688336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9651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7024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43984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054096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2783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0156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57530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749040" y="2862072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922776" y="286207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22776" y="286207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9651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27024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44398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05409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227832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40156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57530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749040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92277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6512" y="303580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096512" y="303580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7024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44398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05409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22783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401568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57530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749040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92277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09651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270248" y="320954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270248" y="320954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44398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05409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2783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40156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575304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749040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92277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09651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27024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443984" y="338328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443984" y="338328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4672" y="3236976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결함 A: 중앙 → p5 활성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81728" y="2441448"/>
            <a:ext cx="411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6A0AD"/>
                </a:solidFill>
                <a:latin typeface="맑은 고딕"/>
                <a:ea typeface="맑은 고딕"/>
              </a:rPr>
              <a:t>≠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093352" y="1929528"/>
            <a:ext cx="120672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wafer_edge_top_scr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1938528"/>
            <a:ext cx="1188720" cy="118872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6419088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19088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675120" y="2103120"/>
            <a:ext cx="256032" cy="256032"/>
          </a:xfrm>
          <a:prstGeom prst="rect">
            <a:avLst/>
          </a:prstGeom>
          <a:solidFill>
            <a:srgbClr val="96A0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675120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931152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931152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19088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419088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675120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675120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931152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931152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419088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675120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675120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931152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931152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351776" y="199339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351776" y="199339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1993392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69924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87298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046720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220456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394192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56792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74166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351776" y="2167128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525512" y="216712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525512" y="216712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699248" y="2167128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87298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046720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220456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394192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567928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74166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35177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525512" y="2340864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699248" y="234086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699248" y="234086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87298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046720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22045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394192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567928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74166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5177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52551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69924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872984" y="251460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872984" y="251460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046720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22045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39419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56792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741664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351776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52551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69924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872984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46720" y="2688336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046720" y="2688336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220456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39419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6792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741664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51776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52551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69924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87298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046720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220456" y="286207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220456" y="286207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39419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56792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74166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35177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7525512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69924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87298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8046720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822045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8394192" y="303580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394192" y="303580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856792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874166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35177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52551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699248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87298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046720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22045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39419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567928" y="320954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8567928" y="320954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874166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735177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52551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69924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872984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046720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22045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39419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56792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741664" y="338328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8741664" y="338328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102352" y="3236976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결함 B: 상단 → p2 활성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9006840" y="1956816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9×9 같은 위치 element (A vs B)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9006840" y="2212848"/>
            <a:ext cx="2468880" cy="1517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[p5,p4] .85 vs .05 → .80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[p5,p6] .85 vs .05 → .80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[p2,p1] .05 vs .85 → .80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[p2,p3] .05 vs .85 → .80</a:t>
            </a:r>
          </a:p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… 활성쌍 8칸, 나머지 0</a:t>
            </a:r>
          </a:p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합 8×.80 = 6.4 (큼)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777240" y="3986784"/>
            <a:ext cx="106070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960120" y="4096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local grid (patch별 활성, 관계 없음)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344168" y="4462272"/>
            <a:ext cx="38404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78308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78308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205740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205740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233172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233172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78308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78308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2057400" y="4736592"/>
            <a:ext cx="274320" cy="274320"/>
          </a:xfrm>
          <a:prstGeom prst="rect">
            <a:avLst/>
          </a:prstGeom>
          <a:solidFill>
            <a:srgbClr val="96A0AD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205740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33172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233172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178308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78308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205740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205740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233172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33172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264408" y="4462272"/>
            <a:ext cx="38404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370332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370332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3977640" y="4462272"/>
            <a:ext cx="274320" cy="274320"/>
          </a:xfrm>
          <a:prstGeom prst="rect">
            <a:avLst/>
          </a:prstGeom>
          <a:solidFill>
            <a:srgbClr val="96A0AD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397764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425196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425196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370332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370332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397764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397764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425196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425196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370332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370332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97764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397764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425196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425196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577840" y="4407408"/>
            <a:ext cx="56692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9칸 같은 위치 (A vs B):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p2 .05 vs .85 → .80,  p5 .85 vs .05 → .80,  나머지 7칸 → 0</a:t>
            </a:r>
          </a:p>
          <a:p>
            <a:pPr algn="l"/>
            <a:r>
              <a:rPr sz="1100" b="1">
                <a:solidFill>
                  <a:srgbClr val="556075"/>
                </a:solidFill>
                <a:latin typeface="맑은 고딕"/>
                <a:ea typeface="맑은 고딕"/>
              </a:rPr>
              <a:t>합 = 2 × .80 = 1.6 (작음, patch당 1칸 뿐)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60120" y="5504688"/>
            <a:ext cx="10241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NeCo는 활성 patch당 인접쌍으로 8칸 차이 누적(큼), local grid는 patch당 1칸 2칸 차이(작음) → 관계가 위치 구조에 더 민감 (수치 설명용)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MoCo (He et al., 2020)    NeCo (Pariza et al., 2024)    InfoNCE (van den Oord et al., 2018)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P1 | Unknown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생성 평가셋 기반 contrastive recipe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60" b="1">
                <a:solidFill>
                  <a:srgbClr val="0F1E3D"/>
                </a:solidFill>
                <a:latin typeface="맑은 고딕"/>
                <a:ea typeface="맑은 고딕"/>
              </a:rPr>
              <a:t>[생성 데이터 개발 지표] 실전 현업 review와 분리한 모델 개발용 ablation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99648" cy="393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005"/>
                <a:gridCol w="5371489"/>
                <a:gridCol w="1342872"/>
                <a:gridCol w="1175013"/>
                <a:gridCol w="1622637"/>
                <a:gridCol w="917632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Recipe (per class 500, normal 2000)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M1 capture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M2 noise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M3 Completeness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Sil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Global InfoNCE only (baseline)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0.9337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15.78%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0.9468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0.582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Local DenseCL (LW=0.5)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0.9361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13.87%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0.9502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0.514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MoCo Queue 4096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0.9356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9.45%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0.9474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0.573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Neg-sim filter 0.72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0.9250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8.23%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0.9485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0.611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NeCo 0.2 (5-tool full)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0.9559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6.66%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0.9660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0.6104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Final recipe (Local DenseCL 제외 4-tool)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0.9559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6.66%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0.9660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0.781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Final recipe + noise threshold τ=0.5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0.9619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0.9679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0.781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9808" y="5833872"/>
            <a:ext cx="10744200" cy="310896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5833872"/>
            <a:ext cx="91440" cy="3108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15584"/>
            <a:ext cx="10378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Noise 15.78% → 0.00%  /  Capture 0.9337 → 0.9619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InfoNCE (van den Oord et al., 2018)    DenseCL (Wang et al., 2021)    MoCo (He et al., 2020)    NeCo (Pariza et al., 2024)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Result +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양산 운영과 모델 검증 단계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4630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Production operation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472184"/>
            <a:ext cx="2971800" cy="33832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472184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Processing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4376" y="1472184"/>
            <a:ext cx="2971800" cy="33832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94376" y="1472184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Production 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94192" y="1472184"/>
            <a:ext cx="2971800" cy="33832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472184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Bulk wafer review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1384280" y="1522476"/>
            <a:ext cx="146304" cy="237744"/>
          </a:xfrm>
          <a:prstGeom prst="rightArrow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48256"/>
            <a:ext cx="14630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Model validation / deploy waiting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2048256"/>
            <a:ext cx="2971800" cy="338328"/>
          </a:xfrm>
          <a:prstGeom prst="roundRect">
            <a:avLst/>
          </a:prstGeom>
          <a:solidFill>
            <a:srgbClr val="F4F6F8"/>
          </a:solidFill>
          <a:ln w="17780">
            <a:solidFill>
              <a:srgbClr val="96A0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048256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Known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4376" y="2048256"/>
            <a:ext cx="2971800" cy="338328"/>
          </a:xfrm>
          <a:prstGeom prst="roundRect">
            <a:avLst/>
          </a:prstGeom>
          <a:solidFill>
            <a:srgbClr val="F4F6F8"/>
          </a:solidFill>
          <a:ln w="17780">
            <a:solidFill>
              <a:srgbClr val="96A0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048256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Unknown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2048256"/>
            <a:ext cx="2971800" cy="338328"/>
          </a:xfrm>
          <a:prstGeom prst="roundRect">
            <a:avLst/>
          </a:prstGeom>
          <a:solidFill>
            <a:srgbClr val="E6EAEF"/>
          </a:solidFill>
          <a:ln w="17780">
            <a:solidFill>
              <a:srgbClr val="96A0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048256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GPU server → 2026.9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633472"/>
            <a:ext cx="5349240" cy="64008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633472"/>
            <a:ext cx="4983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양산 운영 중 — 처리 구조 + viewer (2025.5~)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73552"/>
            <a:ext cx="5349240" cy="277977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456432"/>
            <a:ext cx="489204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DRAM D1a/b/c/d 전제품 분석 파트에서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매일 사용 중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, 일 2만 wafer 처리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분석 공수 절감과 P3WN 수율 개선 1건을 합산해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정량 산정 기여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를 창출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조회 48매 한계를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대량 조회 viewer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로 확장하고, 검토 방식을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Failbit Map 변환과 검색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 중심으로 재구성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123억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정량 산정 기여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48128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48128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48128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공수 90%↓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8128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검토 시간 절감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7576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27576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7576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수율 +0.02%p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7576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P3WN 1건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633472"/>
            <a:ext cx="5349240" cy="64008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633472"/>
            <a:ext cx="4983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모델 — validation 완료, 서버 배포 준비 단계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273552"/>
            <a:ext cx="5349240" cy="277977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456432"/>
            <a:ext cx="489204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Known validation 완료(실전 16종/1,500장), Unknown 현업 review 완료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classification model은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2026년 9월 GPU 서버 배포 검증 예정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이며, 서버 성능은 배포 환경에서 별도 검증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사내 인정: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'25 AI 센터 DS BP Good Challenger 수상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,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'26 MTC 제안 1등급 확정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,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'26 삼성 논문상 초록 통과</a:t>
            </a:r>
          </a:p>
          <a:p>
            <a:pPr marL="420624" indent="-420624" lvl="1">
              <a:lnSpc>
                <a:spcPct val="104000"/>
              </a:lnSpc>
              <a:spcAft>
                <a:spcPts val="400"/>
              </a:spcAft>
            </a:pPr>
            <a:r>
              <a:rPr sz="1150" b="0">
                <a:solidFill>
                  <a:srgbClr val="6E7B8E"/>
                </a:solidFill>
                <a:latin typeface="맑은 고딕"/>
                <a:ea typeface="맑은 고딕"/>
              </a:rPr>
              <a:t>–  </a:t>
            </a:r>
            <a:r>
              <a:rPr sz="1150">
                <a:solidFill>
                  <a:srgbClr val="4A5666"/>
                </a:solidFill>
                <a:latin typeface="맑은 고딕"/>
                <a:ea typeface="맑은 고딕"/>
              </a:rPr>
              <a:t>Unknown 13→7은 분류 성능 지표가 아니라 현업 후보 검토 결과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validation 완료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Known real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71688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71688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71688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현업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1688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Unknown candidate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51136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51136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51136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2026.09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51136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GPU 배포 검증 예정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841248"/>
            <a:ext cx="457200" cy="279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Chip multi-label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95728"/>
            <a:ext cx="146304" cy="13716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0" b="1">
                <a:solidFill>
                  <a:srgbClr val="96A0AD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005072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968496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97680"/>
            <a:ext cx="118872" cy="118872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261104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P2  Chip multi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590288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553712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P3  Trend generate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9436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943600"/>
            <a:ext cx="82296" cy="4572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59436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운영 상태</a:t>
            </a:r>
          </a:p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controlled synthetic 검증 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75488"/>
            <a:ext cx="8458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1E3D"/>
                </a:solidFill>
                <a:latin typeface="맑은 고딕"/>
                <a:ea typeface="맑은 고딕"/>
              </a:rPr>
              <a:t>Chip Multi-label  FCM-PM classification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1481328"/>
            <a:ext cx="8458200" cy="512064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481328"/>
            <a:ext cx="91440" cy="512064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7016" y="1481328"/>
            <a:ext cx="1097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배경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481328"/>
            <a:ext cx="7040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>
                <a:solidFill>
                  <a:srgbClr val="0F1E3D"/>
                </a:solidFill>
                <a:latin typeface="맑은 고딕"/>
                <a:ea typeface="맑은 고딕"/>
              </a:rPr>
              <a:t>chip 불량 분석은 표준적으로 chip별 measure value 중심으로 수행되나, 중복 failure는 chip 내부 fail bit 분포 image로만 구분할 수 있습니다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37560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37560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문제 / AI 필요성</a:t>
            </a:r>
          </a:p>
        </p:txBody>
      </p:sp>
      <p:sp>
        <p:nvSpPr>
          <p:cNvPr id="27" name="Oval 26"/>
          <p:cNvSpPr/>
          <p:nvPr/>
        </p:nvSpPr>
        <p:spPr>
          <a:xfrm>
            <a:off x="3557016" y="32964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6472" y="31181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measure value로 중복 failure 구분 한계</a:t>
            </a:r>
          </a:p>
        </p:txBody>
      </p:sp>
      <p:sp>
        <p:nvSpPr>
          <p:cNvPr id="29" name="Oval 28"/>
          <p:cNvSpPr/>
          <p:nvPr/>
        </p:nvSpPr>
        <p:spPr>
          <a:xfrm>
            <a:off x="3557016" y="37536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76472" y="35753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2-combo label 대량 확보 불가</a:t>
            </a:r>
          </a:p>
        </p:txBody>
      </p:sp>
      <p:sp>
        <p:nvSpPr>
          <p:cNvPr id="31" name="Oval 30"/>
          <p:cNvSpPr/>
          <p:nvPr/>
        </p:nvSpPr>
        <p:spPr>
          <a:xfrm>
            <a:off x="3557016" y="42108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6472" y="40325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single source 기반 multi-label 학습 필요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949696" y="3483864"/>
            <a:ext cx="274320" cy="274320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97168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7168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7168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8336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개발 내용</a:t>
            </a:r>
          </a:p>
        </p:txBody>
      </p:sp>
      <p:sp>
        <p:nvSpPr>
          <p:cNvPr id="38" name="Oval 37"/>
          <p:cNvSpPr/>
          <p:nvPr/>
        </p:nvSpPr>
        <p:spPr>
          <a:xfrm>
            <a:off x="6516624" y="30678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36080" y="28895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FCM-PM으로 2-combo 학습 신호 생성</a:t>
            </a:r>
          </a:p>
        </p:txBody>
      </p:sp>
      <p:sp>
        <p:nvSpPr>
          <p:cNvPr id="40" name="Oval 39"/>
          <p:cNvSpPr/>
          <p:nvPr/>
        </p:nvSpPr>
        <p:spPr>
          <a:xfrm>
            <a:off x="6516624" y="35250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36080" y="33467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Pair Mask로 background 오학습 차단</a:t>
            </a:r>
          </a:p>
        </p:txBody>
      </p:sp>
      <p:sp>
        <p:nvSpPr>
          <p:cNvPr id="42" name="Oval 41"/>
          <p:cNvSpPr/>
          <p:nvPr/>
        </p:nvSpPr>
        <p:spPr>
          <a:xfrm>
            <a:off x="6516624" y="39822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80" y="38039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val-margin으로 checkpoint 선택</a:t>
            </a:r>
          </a:p>
        </p:txBody>
      </p:sp>
      <p:sp>
        <p:nvSpPr>
          <p:cNvPr id="44" name="Oval 43"/>
          <p:cNvSpPr/>
          <p:nvPr/>
        </p:nvSpPr>
        <p:spPr>
          <a:xfrm>
            <a:off x="6516624" y="44394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36080" y="42611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Naive Bayes reject로 false alarm 제어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909304" y="3483864"/>
            <a:ext cx="274320" cy="274320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56776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256776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56776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57944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성과 / 확장</a:t>
            </a:r>
          </a:p>
        </p:txBody>
      </p:sp>
      <p:sp>
        <p:nvSpPr>
          <p:cNvPr id="51" name="Oval 50"/>
          <p:cNvSpPr/>
          <p:nvPr/>
        </p:nvSpPr>
        <p:spPr>
          <a:xfrm>
            <a:off x="9476232" y="2861157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5688" y="2688336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multi-label F1 0.9927</a:t>
            </a:r>
          </a:p>
        </p:txBody>
      </p:sp>
      <p:sp>
        <p:nvSpPr>
          <p:cNvPr id="53" name="Oval 52"/>
          <p:cNvSpPr/>
          <p:nvPr/>
        </p:nvSpPr>
        <p:spPr>
          <a:xfrm>
            <a:off x="9476232" y="3307384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5688" y="3134563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false alarm 0%</a:t>
            </a:r>
          </a:p>
        </p:txBody>
      </p:sp>
      <p:sp>
        <p:nvSpPr>
          <p:cNvPr id="55" name="Oval 54"/>
          <p:cNvSpPr/>
          <p:nvPr/>
        </p:nvSpPr>
        <p:spPr>
          <a:xfrm>
            <a:off x="9476232" y="3753611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5688" y="3580790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single + 2-combo 동시 검출</a:t>
            </a:r>
          </a:p>
        </p:txBody>
      </p:sp>
      <p:sp>
        <p:nvSpPr>
          <p:cNvPr id="57" name="Oval 56"/>
          <p:cNvSpPr/>
          <p:nvPr/>
        </p:nvSpPr>
        <p:spPr>
          <a:xfrm>
            <a:off x="9476232" y="4199838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5688" y="4027017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ensemble robustness 확보</a:t>
            </a:r>
          </a:p>
        </p:txBody>
      </p:sp>
      <p:sp>
        <p:nvSpPr>
          <p:cNvPr id="59" name="Oval 58"/>
          <p:cNvSpPr/>
          <p:nvPr/>
        </p:nvSpPr>
        <p:spPr>
          <a:xfrm>
            <a:off x="9476232" y="4646065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95688" y="4473244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KD 단일 모델 생산성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37560" y="5175504"/>
            <a:ext cx="8458200" cy="43891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37560" y="5175504"/>
            <a:ext cx="82296" cy="43891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38728" y="5175504"/>
            <a:ext cx="14630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본인 기여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175504"/>
            <a:ext cx="6629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데이터 합성 / multi-label 분류 / 모델 선택 / false alarm 제어 전 영역 직접 설계, 구현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37560" y="5650992"/>
            <a:ext cx="8458200" cy="4023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337560" y="5650992"/>
            <a:ext cx="82296" cy="402336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38728" y="5650992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기술 stack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83480" y="5650992"/>
            <a:ext cx="6629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E3D"/>
                </a:solidFill>
                <a:latin typeface="맑은 고딕"/>
                <a:ea typeface="맑은 고딕"/>
              </a:rPr>
              <a:t>PyTorch, FCM-PM, label smoothing / ASL, Naive Bayes reject, KD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Chip multi-label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measure-value 한계에서 image multi-label supervision으로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3154680" cy="446227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64208"/>
            <a:ext cx="91440" cy="446227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20240"/>
            <a:ext cx="2651760" cy="4050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Problem</a:t>
            </a:r>
          </a:p>
          <a:p>
            <a:pPr algn="l"/>
            <a:r>
              <a:rPr sz="1380" b="1">
                <a:solidFill>
                  <a:srgbClr val="0F1E3D"/>
                </a:solidFill>
                <a:latin typeface="맑은 고딕"/>
                <a:ea typeface="맑은 고딕"/>
              </a:rPr>
              <a:t>measure value만으로
중복 failure 확인 한계</a:t>
            </a:r>
          </a:p>
          <a:p>
            <a:pPr algn="l"/>
            <a:r>
              <a:rPr sz="4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Source</a:t>
            </a:r>
          </a:p>
          <a:p>
            <a:pPr algn="l"/>
            <a:r>
              <a:rPr sz="1280">
                <a:solidFill>
                  <a:srgbClr val="1A1F2E"/>
                </a:solidFill>
                <a:latin typeface="맑은 고딕"/>
                <a:ea typeface="맑은 고딕"/>
              </a:rPr>
              <a:t>2-combo label 확보는
현실적으로 불가능</a:t>
            </a:r>
          </a:p>
          <a:p>
            <a:pPr algn="l"/>
            <a:r>
              <a:rPr sz="4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Eval</a:t>
            </a:r>
          </a:p>
          <a:p>
            <a:pPr algn="l"/>
            <a:r>
              <a:rPr sz="1280">
                <a:solidFill>
                  <a:srgbClr val="1A1F2E"/>
                </a:solidFill>
                <a:latin typeface="맑은 고딕"/>
                <a:ea typeface="맑은 고딕"/>
              </a:rPr>
              <a:t>single source 기반
2-combo eval 구성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4041648" y="1664208"/>
            <a:ext cx="74066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41648" y="1664208"/>
            <a:ext cx="91440" cy="19019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1810512"/>
            <a:ext cx="6967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1">
                <a:solidFill>
                  <a:srgbClr val="0F1E3D"/>
                </a:solidFill>
                <a:latin typeface="맑은 고딕"/>
                <a:ea typeface="맑은 고딕"/>
              </a:rPr>
              <a:t>Source bank: single-failure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2103120"/>
            <a:ext cx="6967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2-combo label 없이 train source 안에서 synthetic combination을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ip_eval_bank_boundary_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414016"/>
            <a:ext cx="768096" cy="7680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1713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ip_eval_fork_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414016"/>
            <a:ext cx="768096" cy="7680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7161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ip_eval_scratch_sele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2414016"/>
            <a:ext cx="768096" cy="7680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609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ip_eval_scratch_rot_selec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2" y="2414016"/>
            <a:ext cx="768096" cy="7680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057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739128" y="3621024"/>
            <a:ext cx="1463040" cy="256032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3611880"/>
            <a:ext cx="24688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image multi-label eval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41648" y="3968496"/>
            <a:ext cx="740664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41648" y="3968496"/>
            <a:ext cx="91440" cy="2157984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104" y="4114800"/>
            <a:ext cx="6967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1">
                <a:solidFill>
                  <a:srgbClr val="0F1E3D"/>
                </a:solidFill>
                <a:latin typeface="맑은 고딕"/>
                <a:ea typeface="맑은 고딕"/>
              </a:rPr>
              <a:t>Eval target: 3,850-chip controlled benchmark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1104" y="4407408"/>
            <a:ext cx="6967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single 4 + 2-combo 6 + Normal/Invalid/OOD negative tail.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hip_combo_bb_fork_selec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4773168"/>
            <a:ext cx="896112" cy="8961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425696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bb+fk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96712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hip_combo_bb_scratch_sel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4728" y="4773168"/>
            <a:ext cx="896112" cy="8961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33288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bb+sc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04304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hip_combo_fork_scratch_rot_selec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4773168"/>
            <a:ext cx="896112" cy="89611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40880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fk+sr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11896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hip_eval_normal_select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9912" y="4773168"/>
            <a:ext cx="896112" cy="89611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48472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normal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19488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hip_eval_invalid_select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7504" y="4773168"/>
            <a:ext cx="896112" cy="89611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656064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invalid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" y="5321808"/>
            <a:ext cx="2642616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376672"/>
            <a:ext cx="2331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Design implication: FCM-PM creates 2-combo supervision from single source.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FCM-PM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FCM-PM: coverage 보존과 loss masking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89888"/>
            <a:ext cx="10744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2-combo label은 부족하지만 실제 중복 불량은 발생 → single source를 FCM-PM으로 합성해 학습 신호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9344"/>
            <a:ext cx="10744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Mixup은 pixel이 섞여 noise, Diffusion은 대량 label/compute 부담 → label 의미를 보존하는 CutMix 계열 선택 (자문: 연세대학교 인공지능학과 박은병 교수)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810512"/>
            <a:ext cx="1077163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cm_pm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45" y="1920240"/>
            <a:ext cx="10155405" cy="18836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69551" y="1956816"/>
            <a:ext cx="1694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9551" y="2039112"/>
            <a:ext cx="1694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FCM mixed view 1  (A∪B)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34343" y="1956816"/>
            <a:ext cx="1694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4343" y="2039112"/>
            <a:ext cx="1694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FCM mixed view 2  (A∪B)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133087"/>
            <a:ext cx="338328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133087"/>
            <a:ext cx="82296" cy="96012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428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Normal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79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40" b="0">
                <a:solidFill>
                  <a:srgbClr val="1A1F2E"/>
                </a:solidFill>
                <a:latin typeface="맑은 고딕"/>
                <a:ea typeface="맑은 고딕"/>
              </a:rPr>
              <a:t>2-combo pos. prob 낮음
FAR 낮지만 recall 약함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05656" y="4517135"/>
            <a:ext cx="182880" cy="182880"/>
          </a:xfrm>
          <a:prstGeom prst="rightArrow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4133087"/>
            <a:ext cx="338328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4133087"/>
            <a:ext cx="82296" cy="96012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42428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FCM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526279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40" b="0">
                <a:solidFill>
                  <a:srgbClr val="1A1F2E"/>
                </a:solidFill>
                <a:latin typeface="맑은 고딕"/>
                <a:ea typeface="맑은 고딕"/>
              </a:rPr>
              <a:t>pos. prob 상승
FAR tail 동반 상승 가능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690104" y="4517135"/>
            <a:ext cx="182880" cy="182880"/>
          </a:xfrm>
          <a:prstGeom prst="rightArrow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82128" y="4133087"/>
            <a:ext cx="338328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82128" y="4133087"/>
            <a:ext cx="82296" cy="96012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42428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FCM-PM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4526279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40" b="1">
                <a:solidFill>
                  <a:srgbClr val="0F1E3D"/>
                </a:solidFill>
                <a:latin typeface="맑은 고딕"/>
                <a:ea typeface="맑은 고딕"/>
              </a:rPr>
              <a:t>2-combo signal 유지
pseudo-background loss 차단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266944"/>
            <a:ext cx="102595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2688" y="5266944"/>
            <a:ext cx="91440" cy="694944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5376672"/>
            <a:ext cx="142646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Formula + ablation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5321808"/>
            <a:ext cx="8412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FCM mixed views: y_mixed = y_A ∪ y_B  (multi-label target)</a:t>
            </a:r>
          </a:p>
          <a:p>
            <a:pPr algn="l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Pair Mask views: y_masked ∈ {y_A,y_B}; L_total = L_BCE(mixed)+w·L_BCE(masked)</a:t>
            </a:r>
          </a:p>
          <a:p>
            <a:pPr algn="l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Pair Mask reduces synthetic-background FAR; final result is reported on the validation slide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CutMix (Yun et al., 2019)    Mixup (Zhang et al., 2018)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selection + Naive Bayes reject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val-margin 선택과 negative-tail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val-F1만으로는 negative tail이 안정적인 checkpoint를 고르기 어려움 → positive/negative score margin으로 선택, FAR 0%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82496"/>
            <a:ext cx="5212080" cy="4498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82496"/>
            <a:ext cx="91440" cy="449884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83664"/>
            <a:ext cx="47000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val-margin checkpoint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49424"/>
            <a:ext cx="47000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Consolas"/>
                <a:ea typeface="Consolas"/>
              </a:rPr>
              <a:t>val_margin = mean(p_positive) - max(p_negative)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2587752"/>
            <a:ext cx="182880" cy="182880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72184" y="2555748"/>
            <a:ext cx="93268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맑은 고딕"/>
                <a:ea typeface="맑은 고딕"/>
              </a:rPr>
              <a:t>val-F1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78024" y="2587752"/>
            <a:ext cx="182880" cy="182880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8" y="2555748"/>
            <a:ext cx="93268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맑은 고딕"/>
                <a:ea typeface="맑은 고딕"/>
              </a:rPr>
              <a:t>val-margin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1608" y="2587752"/>
            <a:ext cx="182880" cy="182880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2555748"/>
            <a:ext cx="93268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맑은 고딕"/>
                <a:ea typeface="맑은 고딕"/>
              </a:rPr>
              <a:t>eval-F1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2728" y="4004707"/>
            <a:ext cx="146304" cy="430133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53896" y="4250497"/>
            <a:ext cx="146304" cy="184343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55064" y="4230015"/>
            <a:ext cx="146304" cy="204825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498848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3902294"/>
            <a:ext cx="146304" cy="532546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67128" y="4158326"/>
            <a:ext cx="146304" cy="276514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68296" y="4127602"/>
            <a:ext cx="146304" cy="307238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47672" y="4498848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9192" y="3779399"/>
            <a:ext cx="146304" cy="655441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0360" y="4035431"/>
            <a:ext cx="146304" cy="399409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3984224"/>
            <a:ext cx="146304" cy="450616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60904" y="4498848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92424" y="3554090"/>
            <a:ext cx="146304" cy="880750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93592" y="3881811"/>
            <a:ext cx="146304" cy="553029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94760" y="3851088"/>
            <a:ext cx="146304" cy="583752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74136" y="4498848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05656" y="3697468"/>
            <a:ext cx="146304" cy="737372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06824" y="3595056"/>
            <a:ext cx="146304" cy="839784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07992" y="3574573"/>
            <a:ext cx="146304" cy="860267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87368" y="4498848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79576" y="4434840"/>
            <a:ext cx="3730752" cy="127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72384" y="2798064"/>
            <a:ext cx="7863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7A8596"/>
                </a:solidFill>
                <a:latin typeface="맑은 고딕"/>
                <a:ea typeface="맑은 고딕"/>
              </a:rPr>
              <a:t>val-F1 max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41064" y="2834640"/>
            <a:ext cx="877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F3A4F"/>
                </a:solidFill>
                <a:latin typeface="맑은 고딕"/>
                <a:ea typeface="맑은 고딕"/>
              </a:rPr>
              <a:t>margin max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3072384"/>
            <a:ext cx="14996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margin 선택 시 eval 향상 (illustrative)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" y="5084064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post-hoc check: correlation with held-out eval bit_F1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" y="5285232"/>
            <a:ext cx="2212848" cy="731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0120" y="5285232"/>
            <a:ext cx="64008" cy="731520"/>
          </a:xfrm>
          <a:prstGeom prst="rect">
            <a:avLst/>
          </a:prstGeom>
          <a:solidFill>
            <a:srgbClr val="7A8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8136" y="5358384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val_f1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" y="5650992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Spearman -0.10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95144" y="5596128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8596"/>
                </a:solidFill>
                <a:latin typeface="맑은 고딕"/>
                <a:ea typeface="맑은 고딕"/>
              </a:rPr>
              <a:t>weak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01568" y="5285232"/>
            <a:ext cx="2212848" cy="731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01568" y="5285232"/>
            <a:ext cx="64008" cy="731520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29584" y="5358384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val_margin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9584" y="5650992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Spearman +0.56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36592" y="5596128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3A4F"/>
                </a:solidFill>
                <a:latin typeface="맑은 고딕"/>
                <a:ea typeface="맑은 고딕"/>
              </a:rPr>
              <a:t>selected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1682496"/>
            <a:ext cx="5212080" cy="4498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1682496"/>
            <a:ext cx="91440" cy="4498848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19672" y="1883664"/>
            <a:ext cx="47000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Naive Bayes reject: class profile 불일치 제거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9672" y="2231136"/>
            <a:ext cx="4700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class별 출력 bit 확률 분포 저장 (bit 독립, Naive Bayes)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9672" y="2487168"/>
            <a:ext cx="4700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gray band = 저장 분포 99.7% 범위 (±3σ)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56248" y="2761488"/>
            <a:ext cx="1426464" cy="226771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29400" y="2816352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known single bb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3282696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67F6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0296" y="3328416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477963" y="3296412"/>
            <a:ext cx="331561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667792" y="3268980"/>
            <a:ext cx="14630" cy="118872"/>
          </a:xfrm>
          <a:prstGeom prst="rect">
            <a:avLst/>
          </a:prstGeom>
          <a:solidFill>
            <a:srgbClr val="2F6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651882" y="3287268"/>
            <a:ext cx="82296" cy="82296"/>
          </a:xfrm>
          <a:prstGeom prst="ellipse">
            <a:avLst/>
          </a:prstGeom>
          <a:solidFill>
            <a:srgbClr val="2F67F6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29400" y="3593592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8A97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40296" y="3639312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967179" y="3607308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040514" y="3579876"/>
            <a:ext cx="14630" cy="118872"/>
          </a:xfrm>
          <a:prstGeom prst="rect">
            <a:avLst/>
          </a:prstGeom>
          <a:solidFill>
            <a:srgbClr val="18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06681" y="3598164"/>
            <a:ext cx="82296" cy="82296"/>
          </a:xfrm>
          <a:prstGeom prst="ellipse">
            <a:avLst/>
          </a:prstGeom>
          <a:solidFill>
            <a:srgbClr val="18A97D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29400" y="3904488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F5A623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40296" y="3950208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967179" y="3918204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40514" y="3890772"/>
            <a:ext cx="14630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015642" y="3909060"/>
            <a:ext cx="82296" cy="82296"/>
          </a:xfrm>
          <a:prstGeom prst="ellipse">
            <a:avLst/>
          </a:prstGeom>
          <a:solidFill>
            <a:srgbClr val="F5A623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29400" y="4215384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D93A5A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40296" y="4261104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67179" y="4229100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40514" y="4201668"/>
            <a:ext cx="14630" cy="118872"/>
          </a:xfrm>
          <a:prstGeom prst="rect">
            <a:avLst/>
          </a:prstGeom>
          <a:solidFill>
            <a:srgbClr val="D9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997720" y="4219956"/>
            <a:ext cx="82296" cy="82296"/>
          </a:xfrm>
          <a:prstGeom prst="ellipse">
            <a:avLst/>
          </a:prstGeom>
          <a:solidFill>
            <a:srgbClr val="D93A5A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84264" y="4590288"/>
            <a:ext cx="1170432" cy="256032"/>
          </a:xfrm>
          <a:prstGeom prst="rect">
            <a:avLst/>
          </a:prstGeom>
          <a:solidFill>
            <a:srgbClr val="E8F5EE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39128" y="4617720"/>
            <a:ext cx="10607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BA66B"/>
                </a:solidFill>
                <a:latin typeface="맑은 고딕"/>
                <a:ea typeface="맑은 고딕"/>
              </a:rPr>
              <a:t>ACCEPT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65976" y="4837176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4 bit profile match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761488"/>
            <a:ext cx="1426464" cy="226771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38744" y="2816352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known 2-combo bb+sc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38744" y="3282696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67F6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49640" y="3328416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908084" y="3296412"/>
            <a:ext cx="394289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097914" y="3268980"/>
            <a:ext cx="14630" cy="118872"/>
          </a:xfrm>
          <a:prstGeom prst="rect">
            <a:avLst/>
          </a:prstGeom>
          <a:solidFill>
            <a:srgbClr val="2F6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064081" y="3287268"/>
            <a:ext cx="82296" cy="82296"/>
          </a:xfrm>
          <a:prstGeom prst="ellipse">
            <a:avLst/>
          </a:prstGeom>
          <a:solidFill>
            <a:srgbClr val="2F67F6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38744" y="3593592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8A97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49640" y="3639312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576523" y="3607308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649858" y="3579876"/>
            <a:ext cx="14630" cy="118872"/>
          </a:xfrm>
          <a:prstGeom prst="rect">
            <a:avLst/>
          </a:prstGeom>
          <a:solidFill>
            <a:srgbClr val="18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624986" y="3598164"/>
            <a:ext cx="82296" cy="82296"/>
          </a:xfrm>
          <a:prstGeom prst="ellipse">
            <a:avLst/>
          </a:prstGeom>
          <a:solidFill>
            <a:srgbClr val="18A97D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38744" y="3904488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F5A623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49640" y="3950208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890162" y="3918204"/>
            <a:ext cx="394289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79992" y="3890772"/>
            <a:ext cx="14630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046159" y="3909060"/>
            <a:ext cx="82296" cy="82296"/>
          </a:xfrm>
          <a:prstGeom prst="ellipse">
            <a:avLst/>
          </a:prstGeom>
          <a:solidFill>
            <a:srgbClr val="F5A623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38744" y="4215384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D93A5A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49640" y="4261104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76523" y="4229100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49858" y="4201668"/>
            <a:ext cx="14630" cy="118872"/>
          </a:xfrm>
          <a:prstGeom prst="rect">
            <a:avLst/>
          </a:prstGeom>
          <a:solidFill>
            <a:srgbClr val="D9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616025" y="4219956"/>
            <a:ext cx="82296" cy="82296"/>
          </a:xfrm>
          <a:prstGeom prst="ellipse">
            <a:avLst/>
          </a:prstGeom>
          <a:solidFill>
            <a:srgbClr val="D93A5A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293608" y="4590288"/>
            <a:ext cx="1170432" cy="256032"/>
          </a:xfrm>
          <a:prstGeom prst="rect">
            <a:avLst/>
          </a:prstGeom>
          <a:solidFill>
            <a:srgbClr val="E8F5EE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348472" y="4617720"/>
            <a:ext cx="10607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BA66B"/>
                </a:solidFill>
                <a:latin typeface="맑은 고딕"/>
                <a:ea typeface="맑은 고딕"/>
              </a:rPr>
              <a:t>ACCEPT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75320" y="4837176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bit likelihoods align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774936" y="2761488"/>
            <a:ext cx="1426464" cy="226771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848088" y="2816352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tail/OOD on bb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48088" y="3282696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67F6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158984" y="3328416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696651" y="3296412"/>
            <a:ext cx="331561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886480" y="3268980"/>
            <a:ext cx="14630" cy="118872"/>
          </a:xfrm>
          <a:prstGeom prst="rect">
            <a:avLst/>
          </a:prstGeom>
          <a:solidFill>
            <a:srgbClr val="2F6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297058" y="3287268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848088" y="3593592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8A97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58984" y="3639312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185867" y="3607308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259202" y="3579876"/>
            <a:ext cx="14630" cy="118872"/>
          </a:xfrm>
          <a:prstGeom prst="rect">
            <a:avLst/>
          </a:prstGeom>
          <a:solidFill>
            <a:srgbClr val="18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494203" y="3598164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848088" y="3904488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F5A623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158984" y="3950208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185867" y="3918204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259202" y="3890772"/>
            <a:ext cx="14630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0476280" y="3909060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848088" y="4215384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D93A5A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158984" y="4261104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185867" y="4229100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259202" y="4201668"/>
            <a:ext cx="14630" cy="118872"/>
          </a:xfrm>
          <a:prstGeom prst="rect">
            <a:avLst/>
          </a:prstGeom>
          <a:solidFill>
            <a:srgbClr val="D9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458358" y="4219956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902952" y="4590288"/>
            <a:ext cx="1170432" cy="256032"/>
          </a:xfrm>
          <a:prstGeom prst="rect">
            <a:avLst/>
          </a:prstGeom>
          <a:solidFill>
            <a:srgbClr val="FAE8E6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957816" y="4617720"/>
            <a:ext cx="10607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C3328"/>
                </a:solidFill>
                <a:latin typeface="맑은 고딕"/>
                <a:ea typeface="맑은 고딕"/>
              </a:rPr>
              <a:t>REJECT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884664" y="4837176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known-profile mismatch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56248" y="5157216"/>
            <a:ext cx="4626864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665976" y="5230368"/>
            <a:ext cx="440740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최고 일치 class likelihood ≥ 임계 → ACCEPT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665976" y="5468111"/>
            <a:ext cx="440740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모든 class 임계 미달 → REJECT (OOD/tail)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537960" y="5797296"/>
            <a:ext cx="2212848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537960" y="5797296"/>
            <a:ext cx="64008" cy="402336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665976" y="5833872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NB profile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665976" y="5980176"/>
            <a:ext cx="1207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10 known classes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891272" y="5916168"/>
            <a:ext cx="7132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BA66B"/>
                </a:solidFill>
                <a:latin typeface="맑은 고딕"/>
                <a:ea typeface="맑은 고딕"/>
              </a:rPr>
              <a:t>4 single + 6 combo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979408" y="5797296"/>
            <a:ext cx="2212848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979408" y="5797296"/>
            <a:ext cx="64008" cy="402336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107424" y="5833872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reject rule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07424" y="5980176"/>
            <a:ext cx="1207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no profile passes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332720" y="5916168"/>
            <a:ext cx="7132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CC3328"/>
                </a:solidFill>
                <a:latin typeface="맑은 고딕"/>
                <a:ea typeface="맑은 고딕"/>
              </a:rPr>
              <a:t>reject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Multi-label recipe 성능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40" b="1">
                <a:solidFill>
                  <a:srgbClr val="0F1E3D"/>
                </a:solidFill>
                <a:latin typeface="맑은 고딕"/>
                <a:ea typeface="맑은 고딕"/>
              </a:rPr>
              <a:t>[controlled synthetic validation] 현업 single-failure 원천에서 생성한 평가셋. 단일 대표 모델은 FCM-PM + val_margin selection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64208"/>
          <a:ext cx="75895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156"/>
                <a:gridCol w="3031382"/>
                <a:gridCol w="774440"/>
                <a:gridCol w="685933"/>
                <a:gridCol w="774440"/>
                <a:gridCol w="641679"/>
                <a:gridCol w="130549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Recipe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bit_F1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single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2combo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FAR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Role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BCE + Label Smoothing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0.1093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0.1896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0.0668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99.47%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Sigmoid Focal Loss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0.7980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0.8724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0.7050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45.72%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loss trial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Asymmetric Loss (ASL)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0.6435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0.5379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0.7320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FAR collapse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CutMix (random rectangle)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0.9359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0.9566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0.9070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42.05%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signal cut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CutMix + Pair Mask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0.9491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0.9728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0.9281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24.62%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FAR reduced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FCM-PM + val_f1 selection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0.9652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1.0000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0.9517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0.15%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selection ablation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FCM-PM + val_margin selection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0.9927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0.9996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0.9871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selected single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main claim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vote_majority_bits Ensemble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0.9956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1.0000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0.9921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champion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cost 5x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Knowledge Distillation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0.9799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1.0000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0.9638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1x candidate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0" y="1664208"/>
            <a:ext cx="3310128" cy="36576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664208"/>
            <a:ext cx="31272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추론 비용 / 배포 선택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212848"/>
            <a:ext cx="3310128" cy="80467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2212848"/>
            <a:ext cx="82296" cy="80467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313432"/>
            <a:ext cx="1920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FCM-PM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313432"/>
            <a:ext cx="1298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1x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651760"/>
            <a:ext cx="294436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>
                <a:solidFill>
                  <a:srgbClr val="1A1F2E"/>
                </a:solidFill>
                <a:latin typeface="맑은 고딕"/>
                <a:ea typeface="맑은 고딕"/>
              </a:rPr>
              <a:t>대표 single model / bit-F1 0.9927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3145536"/>
            <a:ext cx="33101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3145536"/>
            <a:ext cx="82296" cy="80467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246120"/>
            <a:ext cx="1920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Ensemble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246120"/>
            <a:ext cx="1298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5x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584448"/>
            <a:ext cx="294436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>
                <a:solidFill>
                  <a:srgbClr val="1A1F2E"/>
                </a:solidFill>
                <a:latin typeface="맑은 고딕"/>
                <a:ea typeface="맑은 고딕"/>
              </a:rPr>
              <a:t>성능 상한 / bit-F1 0.9956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4078224"/>
            <a:ext cx="3310128" cy="80467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4078224"/>
            <a:ext cx="82296" cy="80467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178808"/>
            <a:ext cx="1920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KD student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4178808"/>
            <a:ext cx="1298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1x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517136"/>
            <a:ext cx="294436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>
                <a:solidFill>
                  <a:srgbClr val="1A1F2E"/>
                </a:solidFill>
                <a:latin typeface="맑은 고딕"/>
                <a:ea typeface="맑은 고딕"/>
              </a:rPr>
              <a:t>운영 후보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047488"/>
            <a:ext cx="3310128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Ensemble로 성능 상한을 확인하고, KD로 그 성능을 1x 단일 모델에 압축해 운영 비용을 낮춥니다.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Focal Loss (Lin et al., 2017)    Asymmetric Loss (Ben-Baruch et al., 2021)    CutMix (Yun et al., 2019)    Knowledge Distillation (Hinton et al., 2015)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841248"/>
            <a:ext cx="457200" cy="279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Trend anomaly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95728"/>
            <a:ext cx="146304" cy="13716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0" b="1">
                <a:solidFill>
                  <a:srgbClr val="96A0AD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005072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968496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97680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261104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P2  Chip multi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590288"/>
            <a:ext cx="118872" cy="118872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553712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P3  Trend generate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9436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943600"/>
            <a:ext cx="82296" cy="4572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59436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운영 상태</a:t>
            </a:r>
          </a:p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synthetic trend PoC, 현업 검증 예정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75488"/>
            <a:ext cx="8458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1E3D"/>
                </a:solidFill>
                <a:latin typeface="맑은 고딕"/>
                <a:ea typeface="맑은 고딕"/>
              </a:rPr>
              <a:t>Trend Anomaly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1481328"/>
            <a:ext cx="8458200" cy="512064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481328"/>
            <a:ext cx="91440" cy="512064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7016" y="1481328"/>
            <a:ext cx="1097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배경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481328"/>
            <a:ext cx="7040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>
                <a:solidFill>
                  <a:srgbClr val="0F1E3D"/>
                </a:solidFill>
                <a:latin typeface="맑은 고딕"/>
                <a:ea typeface="맑은 고딕"/>
              </a:rPr>
              <a:t>Thickness / Overlay / CD 등 제품 계측 trend(시계열)를 담당자가 chart로 보고 정상 산포 대비 이상 여부를 판정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37560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37560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문제 / AI 필요성</a:t>
            </a:r>
          </a:p>
        </p:txBody>
      </p:sp>
      <p:sp>
        <p:nvSpPr>
          <p:cNvPr id="27" name="Oval 26"/>
          <p:cNvSpPr/>
          <p:nvPr/>
        </p:nvSpPr>
        <p:spPr>
          <a:xfrm>
            <a:off x="3557016" y="32964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6472" y="31181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수작업 판정 → 누락 / spec-in 위험</a:t>
            </a:r>
          </a:p>
        </p:txBody>
      </p:sp>
      <p:sp>
        <p:nvSpPr>
          <p:cNvPr id="29" name="Oval 28"/>
          <p:cNvSpPr/>
          <p:nvPr/>
        </p:nvSpPr>
        <p:spPr>
          <a:xfrm>
            <a:off x="3557016" y="37536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76472" y="35753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실제 이상 label 희소</a:t>
            </a:r>
          </a:p>
        </p:txBody>
      </p:sp>
      <p:sp>
        <p:nvSpPr>
          <p:cNvPr id="31" name="Oval 30"/>
          <p:cNvSpPr/>
          <p:nvPr/>
        </p:nvSpPr>
        <p:spPr>
          <a:xfrm>
            <a:off x="3557016" y="42108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6472" y="40325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검증 데이터 부족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949696" y="3483864"/>
            <a:ext cx="274320" cy="274320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97168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7168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7168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8336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개발 내용</a:t>
            </a:r>
          </a:p>
        </p:txBody>
      </p:sp>
      <p:sp>
        <p:nvSpPr>
          <p:cNvPr id="38" name="Oval 37"/>
          <p:cNvSpPr/>
          <p:nvPr/>
        </p:nvSpPr>
        <p:spPr>
          <a:xfrm>
            <a:off x="6516624" y="30678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36080" y="28895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도메인 규칙 기반 시계열 합성</a:t>
            </a:r>
          </a:p>
        </p:txBody>
      </p:sp>
      <p:sp>
        <p:nvSpPr>
          <p:cNvPr id="40" name="Oval 39"/>
          <p:cNvSpPr/>
          <p:nvPr/>
        </p:nvSpPr>
        <p:spPr>
          <a:xfrm>
            <a:off x="6516624" y="35250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36080" y="33467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정상 산포 / 노이즈 모델링</a:t>
            </a:r>
          </a:p>
        </p:txBody>
      </p:sp>
      <p:sp>
        <p:nvSpPr>
          <p:cNvPr id="42" name="Oval 41"/>
          <p:cNvSpPr/>
          <p:nvPr/>
        </p:nvSpPr>
        <p:spPr>
          <a:xfrm>
            <a:off x="6516624" y="39822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80" y="38039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이상 패턴 주입</a:t>
            </a:r>
          </a:p>
        </p:txBody>
      </p:sp>
      <p:sp>
        <p:nvSpPr>
          <p:cNvPr id="44" name="Oval 43"/>
          <p:cNvSpPr/>
          <p:nvPr/>
        </p:nvSpPr>
        <p:spPr>
          <a:xfrm>
            <a:off x="6516624" y="44394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36080" y="42611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binary 분류 검증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909304" y="3483864"/>
            <a:ext cx="274320" cy="274320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56776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256776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56776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57944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성과 / 확장</a:t>
            </a:r>
          </a:p>
        </p:txBody>
      </p:sp>
      <p:sp>
        <p:nvSpPr>
          <p:cNvPr id="51" name="Oval 50"/>
          <p:cNvSpPr/>
          <p:nvPr/>
        </p:nvSpPr>
        <p:spPr>
          <a:xfrm>
            <a:off x="9476232" y="2861157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5688" y="2688336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benchmark 7,000 구성</a:t>
            </a:r>
          </a:p>
        </p:txBody>
      </p:sp>
      <p:sp>
        <p:nvSpPr>
          <p:cNvPr id="53" name="Oval 52"/>
          <p:cNvSpPr/>
          <p:nvPr/>
        </p:nvSpPr>
        <p:spPr>
          <a:xfrm>
            <a:off x="9476232" y="3307384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5688" y="3134563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binary F1 0.9967</a:t>
            </a:r>
          </a:p>
        </p:txBody>
      </p:sp>
      <p:sp>
        <p:nvSpPr>
          <p:cNvPr id="55" name="Oval 54"/>
          <p:cNvSpPr/>
          <p:nvPr/>
        </p:nvSpPr>
        <p:spPr>
          <a:xfrm>
            <a:off x="9476232" y="3753611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5688" y="3580790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abnormal recall 0.9987</a:t>
            </a:r>
          </a:p>
        </p:txBody>
      </p:sp>
      <p:sp>
        <p:nvSpPr>
          <p:cNvPr id="57" name="Oval 56"/>
          <p:cNvSpPr/>
          <p:nvPr/>
        </p:nvSpPr>
        <p:spPr>
          <a:xfrm>
            <a:off x="9476232" y="4199838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5688" y="4027017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현업 trend 검증 예정</a:t>
            </a:r>
          </a:p>
        </p:txBody>
      </p:sp>
      <p:sp>
        <p:nvSpPr>
          <p:cNvPr id="59" name="Oval 58"/>
          <p:cNvSpPr/>
          <p:nvPr/>
        </p:nvSpPr>
        <p:spPr>
          <a:xfrm>
            <a:off x="9476232" y="4646065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95688" y="4473244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anomaly type 분류 확장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37560" y="5175504"/>
            <a:ext cx="8458200" cy="43891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37560" y="5175504"/>
            <a:ext cx="82296" cy="43891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38728" y="5175504"/>
            <a:ext cx="14630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본인 기여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175504"/>
            <a:ext cx="6629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BBD / Overlay / CD 계측 경험 기반 데이터 합성 / 이상 검출 / 검증 체계 직접 설계, 구현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37560" y="5650992"/>
            <a:ext cx="8458200" cy="4023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337560" y="5650992"/>
            <a:ext cx="82296" cy="402336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38728" y="5650992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기술 stack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83480" y="5650992"/>
            <a:ext cx="6629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E3D"/>
                </a:solidFill>
                <a:latin typeface="맑은 고딕"/>
                <a:ea typeface="맑은 고딕"/>
              </a:rPr>
              <a:t>config 기반 episode generator, binary classifier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P3 | Trend anomaly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episode 생성과 binary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53218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Core contribution — 판정 경험을 episode generation rule로 코드화하고, binary validation으로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498348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58775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현장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2514600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A1F2E"/>
                </a:solidFill>
                <a:latin typeface="맑은 고딕"/>
                <a:ea typeface="맑은 고딕"/>
              </a:rPr>
              <a:t>BBD / Overlay / CD 10년 trend 판정 경험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182112" y="3118104"/>
            <a:ext cx="219456" cy="201168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300984"/>
            <a:ext cx="498348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300984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374136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Episode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300984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A1F2E"/>
                </a:solidFill>
                <a:latin typeface="맑은 고딕"/>
                <a:ea typeface="맑은 고딕"/>
              </a:rPr>
              <a:t>Region 5종 + Noise 3종 + Anomaly 5종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182112" y="3904488"/>
            <a:ext cx="219456" cy="201168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087368"/>
            <a:ext cx="498348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87368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16052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Synthetic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4087368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A1F2E"/>
                </a:solidFill>
                <a:latin typeface="맑은 고딕"/>
                <a:ea typeface="맑은 고딕"/>
              </a:rPr>
              <a:t>normal 3,500 + abnormal 3,500 = 7,000개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182112" y="4690872"/>
            <a:ext cx="219456" cy="201168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873752"/>
            <a:ext cx="4983480" cy="621792"/>
          </a:xfrm>
          <a:prstGeom prst="rect">
            <a:avLst/>
          </a:prstGeom>
          <a:solidFill>
            <a:srgbClr val="E8ECF2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873752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4946904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Binary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4873752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1">
                <a:solidFill>
                  <a:srgbClr val="0F1E3D"/>
                </a:solidFill>
                <a:latin typeface="맑은 고딕"/>
                <a:ea typeface="맑은 고딕"/>
              </a:rPr>
              <a:t>F1 0.9967 / abnormal recall 0.9987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874519"/>
            <a:ext cx="160020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874519"/>
            <a:ext cx="1600200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2002535"/>
            <a:ext cx="1380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313431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domain coding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532887"/>
            <a:ext cx="1380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region/noise/anomaly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874519"/>
            <a:ext cx="160020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874519"/>
            <a:ext cx="1600200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2002535"/>
            <a:ext cx="1380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Normal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313431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baseline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2532887"/>
            <a:ext cx="1380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fleet-bound stats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1874519"/>
            <a:ext cx="160020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29800" y="1874519"/>
            <a:ext cx="1600200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9528" y="2002535"/>
            <a:ext cx="1380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Robust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9528" y="2313431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shortcut 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9528" y="2532887"/>
            <a:ext cx="1380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color/median/NT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054096"/>
            <a:ext cx="516636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054096"/>
            <a:ext cx="5166360" cy="36576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8232" y="3108960"/>
            <a:ext cx="4846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맑은 고딕"/>
                <a:ea typeface="맑은 고딕"/>
              </a:rPr>
              <a:t>Stabilization and shortcut-control stack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64808" y="354787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64808" y="354787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61188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LR sweep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78561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3e-5/3e-4 stable
1e-4/1e-3 collapse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33688" y="354787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33688" y="354787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361188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Label smoothing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378561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0.02 sweet spot
FN 4.6 -&gt; 0.8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64808" y="427939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64808" y="427939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434340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Stochastic depth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51713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0.05 regularization
FP 3.8 -&gt; 1.4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33688" y="427939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33688" y="427939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2560" y="434340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Focal + EMA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451713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gamma=2.0, EMA 0.95
hard-anomaly stability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64808" y="501091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64808" y="501091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507492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Normal ratio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524865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hard-normal 3,300
FP/FN balance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33688" y="501091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933688" y="501091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0" y="507492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Color + median + 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524865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color/smoothing check
val-F1 median, NT 0.9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P3 | episode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정상 baseline episode와 측정 noise 샘플링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4416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실제 정상 데이터로는 다양한 패턴 확보가 어려움 → region/noise/density를 분리 샘플링해 정상 baseline 생성 (anomaly는 다음 장)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64208"/>
            <a:ext cx="1074420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37360"/>
            <a:ext cx="7859816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60" b="1">
                <a:solidFill>
                  <a:srgbClr val="0F1E3D"/>
                </a:solidFill>
                <a:latin typeface="맑은 고딕"/>
                <a:ea typeface="맑은 고딕"/>
              </a:rPr>
              <a:t>(a) Normal baseline  -  sequential episodes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48256"/>
            <a:ext cx="785981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gray = fleet/reference     blue = sampled observations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" y="2340864"/>
            <a:ext cx="7530632" cy="2651760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3856" y="4777740"/>
            <a:ext cx="7219736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33856" y="2523744"/>
            <a:ext cx="13716" cy="2267712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2596896"/>
            <a:ext cx="1422001" cy="2121408"/>
          </a:xfrm>
          <a:prstGeom prst="rect">
            <a:avLst/>
          </a:prstGeom>
          <a:solidFill>
            <a:srgbClr val="EAF0F8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Dense</a:t>
            </a:r>
          </a:p>
        </p:txBody>
      </p:sp>
      <p:sp>
        <p:nvSpPr>
          <p:cNvPr id="14" name="Oval 13"/>
          <p:cNvSpPr/>
          <p:nvPr/>
        </p:nvSpPr>
        <p:spPr>
          <a:xfrm>
            <a:off x="1658525" y="31423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75808" y="30118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29036" y="34999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19402" y="37358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93246" y="36130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34527" y="304229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86970" y="42673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403346" y="32628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45827" y="44685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81621" y="35514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90818" y="29688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40558" y="33733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29438" y="30873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38942" y="42495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75965" y="3859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0472" y="35110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944168" y="29958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1446" y="32340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13397" y="36029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46169" y="38658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23538" y="33902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258800" y="40546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556806" y="38472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15404" y="43477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75964" y="337052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495819" y="30878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778811" y="415137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439299" y="37050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295429" y="40033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20773" y="38449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362257" y="34134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32399" y="38804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985183" y="36505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16957" y="44634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850218" y="399662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22808" y="405876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070953" y="454405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293939" y="33649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737565" y="40041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74196" y="36596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459791" y="308620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20620" y="41698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416654" y="33346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740819" y="391687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56235" y="352275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937208" y="392804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271572" y="390993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601383" y="349112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700946" y="39287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443130" y="324434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474741" y="331998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545517" y="355614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986381" y="33487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61458" y="34945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713935" y="363210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437389" y="374799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895142" y="367994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094279" y="315387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371016" y="383151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340013" y="384822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742590" y="34758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384680" y="369553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333518" y="31663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515068" y="325497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677753" y="315254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256675" y="32446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382112" y="344287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87984" y="391959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017291" y="32421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568963" y="34277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707628" y="32181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308321" y="403045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833803" y="355509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362807" y="31988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680953" y="335060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283438" y="325416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285004" y="399114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910960" y="324031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929442" y="31287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910777" y="401682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326150" y="37533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579939" y="34457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463371" y="382401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916332" y="38306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664880" y="331166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261946" y="402282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312896" y="385588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270399" y="379408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537343" y="358664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696971" y="313052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291003" y="33642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577534" y="374988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441623" y="352092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417468" y="40257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439747" y="34438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529565" y="33152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500128" y="329424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029679" y="394383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297787" y="355102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065504" y="384987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361436" y="372007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383709" y="383369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185900" y="354967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77596" y="38400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668415" y="385097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460386" y="347295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753752" y="39872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154499" y="32621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413801" y="324456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377607" y="385627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437513" y="387495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471103" y="371698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690583" y="361560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418690" y="311676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459436" y="370989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908883" y="397493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610721" y="2596896"/>
            <a:ext cx="1422001" cy="2121408"/>
          </a:xfrm>
          <a:prstGeom prst="rect">
            <a:avLst/>
          </a:prstGeom>
          <a:solidFill>
            <a:srgbClr val="FBF4E5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629009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Sparse</a:t>
            </a:r>
          </a:p>
        </p:txBody>
      </p:sp>
      <p:sp>
        <p:nvSpPr>
          <p:cNvPr id="132" name="Oval 131"/>
          <p:cNvSpPr/>
          <p:nvPr/>
        </p:nvSpPr>
        <p:spPr>
          <a:xfrm>
            <a:off x="3220823" y="434209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721337" y="324255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2988678" y="33788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974269" y="38672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998284" y="35886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834624" y="44057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118735" y="36538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411590" y="43962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204008" y="44186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307366" y="37764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335249" y="292246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228880" y="31960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2672430" y="42213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887276" y="367932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592540" y="381742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083268" y="37539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375989" y="41965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2802777" y="38237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984417" y="33521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652585" y="37362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384010" y="41561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3831472" y="36289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3448813" y="37326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3320776" y="40441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3244470" y="37788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3277243" y="44581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559404" y="43500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3869350" y="33233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3381184" y="44611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3738999" y="31195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822566" y="36271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59960" y="32918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2760693" y="40054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667478" y="438417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864441" y="40831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509701" y="31292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793641" y="450152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947541" y="447649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3175469" y="3702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930190" y="427669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2873395" y="360947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325169" y="345569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2920938" y="360507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3573219" y="345281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3364922" y="366715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700792" y="361167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451508" y="370371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2758051" y="394444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3655264" y="393762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2808221" y="357810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2727441" y="38395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3013502" y="350886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3201611" y="39069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3693201" y="35745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2863471" y="391088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385423" y="379950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789241" y="34721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3531156" y="365944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68116" y="39206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464534" y="385103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782154" y="38788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2760940" y="388217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3240667" y="361557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3363700" y="391470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3010297" y="350869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3331298" y="35642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032722" y="2596896"/>
            <a:ext cx="1422001" cy="2121408"/>
          </a:xfrm>
          <a:prstGeom prst="rect">
            <a:avLst/>
          </a:prstGeom>
          <a:solidFill>
            <a:srgbClr val="F7F0E6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051010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Very sparse</a:t>
            </a:r>
          </a:p>
        </p:txBody>
      </p:sp>
      <p:sp>
        <p:nvSpPr>
          <p:cNvPr id="200" name="Oval 199"/>
          <p:cNvSpPr/>
          <p:nvPr/>
        </p:nvSpPr>
        <p:spPr>
          <a:xfrm>
            <a:off x="4229041" y="31600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4153684" y="32271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487422" y="33989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5058304" y="33738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4727376" y="31873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4532083" y="29215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4408911" y="291687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024603" y="38083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331104" y="36814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5281736" y="30682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134108" y="36105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4720887" y="428030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4590873" y="37345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4966765" y="45263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526602" y="42764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990982" y="39497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4605686" y="34697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4158798" y="31073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179635" y="41243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415475" y="31630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4197192" y="42913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199957" y="40072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4449076" y="32944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4463268" y="36559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290379" y="36332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4425233" y="449194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5330187" y="38017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4401254" y="44984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484304" y="34847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4090778" y="352643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694916" y="37280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345804" y="37313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4095730" y="333096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4203913" y="35562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4142569" y="29287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477538" y="32787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836441" y="377201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5046877" y="39856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002805" y="43543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4586319" y="34340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5345630" y="31400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5013218" y="39617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4154646" y="36839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5205612" y="36134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5009719" y="367615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273006" y="357824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725364" y="368386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097480" y="368097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4824110" y="370351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4946577" y="36358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4385312" y="34110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4265306" y="352290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4230392" y="368416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5454723" y="2596896"/>
            <a:ext cx="1422001" cy="2121408"/>
          </a:xfrm>
          <a:prstGeom prst="rect">
            <a:avLst/>
          </a:prstGeom>
          <a:solidFill>
            <a:srgbClr val="F2F4F7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5473011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Thin</a:t>
            </a:r>
          </a:p>
        </p:txBody>
      </p:sp>
      <p:sp>
        <p:nvSpPr>
          <p:cNvPr id="255" name="Oval 254"/>
          <p:cNvSpPr/>
          <p:nvPr/>
        </p:nvSpPr>
        <p:spPr>
          <a:xfrm>
            <a:off x="6223927" y="393606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6310291" y="40240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6135607" y="28968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6529036" y="41366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6153054" y="378201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6352482" y="30012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6451334" y="33110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5606391" y="33332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441826" y="32328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6455213" y="45151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6141544" y="35279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6122487" y="40291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6489837" y="39181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331386" y="30202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5699485" y="331394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6459536" y="33979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6235707" y="29120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5588801" y="33386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6368686" y="40432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6373414" y="33753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6170359" y="366462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106323" y="30885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6651459" y="32229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6759208" y="44494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5533746" y="365515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6557357" y="45024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6084779" y="33384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779104" y="44649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80216" y="385902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5692234" y="37634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726823" y="31120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6557764" y="37379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6642783" y="40618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5806591" y="43853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6131584" y="29326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5515996" y="37096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6086449" y="339384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5690915" y="34637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5914635" y="428965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513637" y="41407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6581867" y="30911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693220" y="407795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39539" y="36261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983617" y="36611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6760013" y="372773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969351" y="36730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5863339" y="354413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5648419" y="381106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5876310" y="384531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6876724" y="2596896"/>
            <a:ext cx="1422004" cy="2121408"/>
          </a:xfrm>
          <a:prstGeom prst="rect">
            <a:avLst/>
          </a:prstGeom>
          <a:solidFill>
            <a:srgbClr val="FBECEA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6895012" y="2615184"/>
            <a:ext cx="1385428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Missing</a:t>
            </a:r>
          </a:p>
        </p:txBody>
      </p:sp>
      <p:sp>
        <p:nvSpPr>
          <p:cNvPr id="306" name="Oval 305"/>
          <p:cNvSpPr/>
          <p:nvPr/>
        </p:nvSpPr>
        <p:spPr>
          <a:xfrm>
            <a:off x="7251480" y="33335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7585252" y="32072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7409698" y="44825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8061475" y="42426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738250" y="44114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8133467" y="38053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7851375" y="297367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7867679" y="36416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7893595" y="39638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7298532" y="297284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8115706" y="31032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7535782" y="34632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7313284" y="4121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8178878" y="33243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7770270" y="33919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7644392" y="35476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7146883" y="31603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7198599" y="439903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7567536" y="32575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8089532" y="45496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507431" y="31236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178870" y="30423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369649" y="30429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238470" y="33212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660078" y="43679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7889755" y="35782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7461408" y="37636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7414184" y="34541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7012586" y="33531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8167893" y="310081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7575598" y="39391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8034169" y="325074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7279158" y="33048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7443387" y="36333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8150362" y="43037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8046964" y="29276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974550" y="40721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8076057" y="36789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7682478" y="28916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7432880" y="44337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7986621" y="43150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8173704" y="33048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6876724" y="3566160"/>
            <a:ext cx="1422004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C3328"/>
                </a:solidFill>
                <a:latin typeface="맑은 고딕"/>
                <a:ea typeface="맑은 고딕"/>
              </a:rPr>
              <a:t>missing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8883944" y="1737360"/>
            <a:ext cx="24820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(b) Measurement noise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8883944" y="2048256"/>
            <a:ext cx="2482048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gray = fleet     color = sampled εₜ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8883944" y="2304288"/>
            <a:ext cx="2482048" cy="859536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8975384" y="2331720"/>
            <a:ext cx="143958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Gaussian iid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0373172" y="2331720"/>
            <a:ext cx="82038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ambria Math"/>
                <a:ea typeface="Cambria Math"/>
              </a:rPr>
              <a:t>εₜ ~ N(0, σ²)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9085112" y="3031236"/>
            <a:ext cx="2079712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9085112" y="2615184"/>
            <a:ext cx="13716" cy="42976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295437" y="27238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10155023" y="289802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11026682" y="29111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10414950" y="29253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10019757" y="28549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9150897" y="29311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9552345" y="297653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411119" y="27731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9334787" y="27560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0391955" y="29034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9301856" y="269612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0159330" y="28652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9875751" y="274669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0318686" y="267635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9695730" y="28249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11062971" y="28856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10906648" y="28297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9556903" y="27544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11066453" y="29054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9707951" y="26800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10104994" y="28955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9942165" y="275781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10456559" y="29782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9540302" y="26841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9771702" y="28117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10488195" y="27382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10726317" y="29168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10118654" y="27406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11085679" y="27757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0774026" y="27490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9529190" y="29239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682028" y="29870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116363" y="287834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9231903" y="282653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9347442" y="2814288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9462982" y="274757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9578522" y="292484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9694061" y="2992533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9809601" y="278036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9925140" y="276551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040680" y="2778983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0156219" y="263190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0271759" y="2811807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0387298" y="2807971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10502838" y="2755031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10618378" y="279896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10733917" y="2697458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10849457" y="292493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10964996" y="285730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11080536" y="3023846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8883944" y="3255264"/>
            <a:ext cx="2482048" cy="859536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8975384" y="3282696"/>
            <a:ext cx="143958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Equip. correlated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0373172" y="3282696"/>
            <a:ext cx="82038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ambria Math"/>
                <a:ea typeface="Cambria Math"/>
              </a:rPr>
              <a:t>εₜ = ρεₜ₋₁ + ηₜ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9085112" y="3982212"/>
            <a:ext cx="2079712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9085112" y="3566160"/>
            <a:ext cx="13716" cy="42976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11006103" y="37325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9454464" y="393277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10620759" y="36344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10450475" y="37488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846223" y="37333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420667" y="36248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9650569" y="37398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1055848" y="36647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74059" y="36923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9810339" y="38950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0778192" y="376661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9171094" y="37801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9843791" y="39273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9470091" y="37441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0934140" y="36338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9923002" y="38918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10663101" y="36372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9141140" y="36445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10982147" y="37087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10622794" y="39204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9773819" y="37137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11060371" y="38275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9613896" y="38604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9726847" y="37148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9076496" y="38732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10974625" y="38331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11030341" y="36318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9555027" y="37807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11058474" y="39387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9872492" y="370673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9962800" y="37867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10998832" y="36842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110586" y="3902912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214572" y="3886990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9318558" y="3839374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9422543" y="3825071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9526529" y="3788003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9630514" y="3756048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9734500" y="3723985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838486" y="3683945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9942471" y="3685430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10046457" y="3721896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10150442" y="3748108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10254428" y="3773621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10358414" y="3817999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10462399" y="3848408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10566385" y="3842099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10670370" y="3820235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10774356" y="3802558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10878342" y="3746429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10982327" y="3719584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11086313" y="3720980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8883944" y="4206240"/>
            <a:ext cx="2482048" cy="859536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8975384" y="4233672"/>
            <a:ext cx="143958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Laplacian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10373172" y="4233672"/>
            <a:ext cx="82038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ambria Math"/>
                <a:ea typeface="Cambria Math"/>
              </a:rPr>
              <a:t>εₜ ~ Laplace(0, b)</a:t>
            </a:r>
          </a:p>
        </p:txBody>
      </p:sp>
      <p:sp>
        <p:nvSpPr>
          <p:cNvPr id="466" name="Rectangle 465"/>
          <p:cNvSpPr/>
          <p:nvPr/>
        </p:nvSpPr>
        <p:spPr>
          <a:xfrm>
            <a:off x="9085112" y="4933188"/>
            <a:ext cx="2079712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9085112" y="4517136"/>
            <a:ext cx="13716" cy="42976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9619550" y="46026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9269184" y="47393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10544772" y="47223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9555713" y="47124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10358714" y="47973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10624229" y="48544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10450466" y="46148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10817422" y="467182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10247608" y="46979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10603620" y="46405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9583234" y="465583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9387519" y="48666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10271310" y="468256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9892363" y="49024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10123741" y="465122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10749981" y="47904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11129555" y="46086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10056022" y="48452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10816768" y="48766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9152594" y="46717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9316589" y="46374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11092140" y="47673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11003146" y="46977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10869948" y="47230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9609270" y="48315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11035440" y="460976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10308467" y="47794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9521292" y="46965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9362660" y="46421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9598800" y="47726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10423882" y="46420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9092319" y="46828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9116363" y="473729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9231903" y="4745274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9347442" y="4736714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9462982" y="4713103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9578522" y="4720339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9694061" y="4762264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9809601" y="4718392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9925140" y="472502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10040680" y="4756647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10156219" y="4709100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10271759" y="473734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10387298" y="4738820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10502838" y="4556544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10618378" y="4894855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10733917" y="4581298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10849457" y="4870100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10964996" y="4544166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11080536" y="4911358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713232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713232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804672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Episode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804672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K ~ U(Kmin,Kmax),  L_k ~ U(Lmin,Lmax)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841248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구간 개수와 길이를 먼저 결정</a:t>
            </a:r>
          </a:p>
        </p:txBody>
      </p:sp>
      <p:sp>
        <p:nvSpPr>
          <p:cNvPr id="523" name="Rectangle 522"/>
          <p:cNvSpPr/>
          <p:nvPr/>
        </p:nvSpPr>
        <p:spPr>
          <a:xfrm>
            <a:off x="3511296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3511296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TextBox 524"/>
          <p:cNvSpPr txBox="1"/>
          <p:nvPr/>
        </p:nvSpPr>
        <p:spPr>
          <a:xfrm>
            <a:off x="3602736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Density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3602736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m_k ~ Cat(5 density types)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3639312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구간별 관측 point 수를 결정</a:t>
            </a:r>
          </a:p>
        </p:txBody>
      </p:sp>
      <p:sp>
        <p:nvSpPr>
          <p:cNvPr id="528" name="Rectangle 527"/>
          <p:cNvSpPr/>
          <p:nvPr/>
        </p:nvSpPr>
        <p:spPr>
          <a:xfrm>
            <a:off x="6309360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6309360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TextBox 529"/>
          <p:cNvSpPr txBox="1"/>
          <p:nvPr/>
        </p:nvSpPr>
        <p:spPr>
          <a:xfrm>
            <a:off x="6400800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Noise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6400800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ε_t ~ N / AR(1) / Laplace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6437376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측정 산포 family를 episode별 부여</a:t>
            </a:r>
          </a:p>
        </p:txBody>
      </p:sp>
      <p:sp>
        <p:nvSpPr>
          <p:cNvPr id="533" name="Rectangle 532"/>
          <p:cNvSpPr/>
          <p:nvPr/>
        </p:nvSpPr>
        <p:spPr>
          <a:xfrm>
            <a:off x="9107424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9107424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TextBox 534"/>
          <p:cNvSpPr txBox="1"/>
          <p:nvPr/>
        </p:nvSpPr>
        <p:spPr>
          <a:xfrm>
            <a:off x="9198864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Output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9198864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y_t = μ_region(t) + ε_t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9235440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active 구간만 연결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P3 | binary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anomaly 주입 규칙과 binary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20">
                <a:solidFill>
                  <a:srgbClr val="1A1F2E"/>
                </a:solidFill>
                <a:latin typeface="맑은 고딕"/>
                <a:ea typeface="맑은 고딕"/>
              </a:rPr>
              <a:t>Normal baseline에 5가지 anomaly injection rule을 더해 normal/abnormal binary validation을 수행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700784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end_mean_shift_view.png"/>
          <p:cNvPicPr>
            <a:picLocks noChangeAspect="1"/>
          </p:cNvPicPr>
          <p:nvPr/>
        </p:nvPicPr>
        <p:blipFill>
          <a:blip r:embed="rId2"/>
          <a:srcRect t="18971" b="18971"/>
          <a:stretch>
            <a:fillRect/>
          </a:stretch>
        </p:blipFill>
        <p:spPr>
          <a:xfrm>
            <a:off x="1106424" y="1755648"/>
            <a:ext cx="3136392" cy="1627632"/>
          </a:xfrm>
          <a:prstGeom prst="rect">
            <a:avLst/>
          </a:prstGeom>
          <a:effectLst/>
        </p:spPr>
      </p:pic>
      <p:sp>
        <p:nvSpPr>
          <p:cNvPr id="8" name="Rectangle 7"/>
          <p:cNvSpPr/>
          <p:nvPr/>
        </p:nvSpPr>
        <p:spPr>
          <a:xfrm>
            <a:off x="1161288" y="1810512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7864" y="1819656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Mean shift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2272" y="1700784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nd_standard_deviation_view.png"/>
          <p:cNvPicPr>
            <a:picLocks noChangeAspect="1"/>
          </p:cNvPicPr>
          <p:nvPr/>
        </p:nvPicPr>
        <p:blipFill>
          <a:blip r:embed="rId3"/>
          <a:srcRect t="18971" b="18971"/>
          <a:stretch>
            <a:fillRect/>
          </a:stretch>
        </p:blipFill>
        <p:spPr>
          <a:xfrm>
            <a:off x="4517136" y="1755648"/>
            <a:ext cx="3136392" cy="1627632"/>
          </a:xfrm>
          <a:prstGeom prst="rect">
            <a:avLst/>
          </a:prstGeom>
          <a:effectLst/>
        </p:spPr>
      </p:pic>
      <p:sp>
        <p:nvSpPr>
          <p:cNvPr id="12" name="Rectangle 11"/>
          <p:cNvSpPr/>
          <p:nvPr/>
        </p:nvSpPr>
        <p:spPr>
          <a:xfrm>
            <a:off x="4572000" y="1810512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19656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Std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72984" y="1700784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end_spike_view.png"/>
          <p:cNvPicPr>
            <a:picLocks noChangeAspect="1"/>
          </p:cNvPicPr>
          <p:nvPr/>
        </p:nvPicPr>
        <p:blipFill>
          <a:blip r:embed="rId4"/>
          <a:srcRect t="18971" b="18971"/>
          <a:stretch>
            <a:fillRect/>
          </a:stretch>
        </p:blipFill>
        <p:spPr>
          <a:xfrm>
            <a:off x="7927848" y="1755648"/>
            <a:ext cx="3136392" cy="1627632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7982712" y="1810512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1819656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Spike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566160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rend_drift_view.png"/>
          <p:cNvPicPr>
            <a:picLocks noChangeAspect="1"/>
          </p:cNvPicPr>
          <p:nvPr/>
        </p:nvPicPr>
        <p:blipFill>
          <a:blip r:embed="rId5"/>
          <a:srcRect t="18971" b="18971"/>
          <a:stretch>
            <a:fillRect/>
          </a:stretch>
        </p:blipFill>
        <p:spPr>
          <a:xfrm>
            <a:off x="1106424" y="3621024"/>
            <a:ext cx="3136392" cy="1627632"/>
          </a:xfrm>
          <a:prstGeom prst="rect">
            <a:avLst/>
          </a:prstGeom>
          <a:effectLst/>
        </p:spPr>
      </p:pic>
      <p:sp>
        <p:nvSpPr>
          <p:cNvPr id="20" name="Rectangle 19"/>
          <p:cNvSpPr/>
          <p:nvPr/>
        </p:nvSpPr>
        <p:spPr>
          <a:xfrm>
            <a:off x="1161288" y="3675888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7864" y="36850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Drift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2272" y="3566160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rend_context_view.png"/>
          <p:cNvPicPr>
            <a:picLocks noChangeAspect="1"/>
          </p:cNvPicPr>
          <p:nvPr/>
        </p:nvPicPr>
        <p:blipFill>
          <a:blip r:embed="rId6"/>
          <a:srcRect t="18971" b="18971"/>
          <a:stretch>
            <a:fillRect/>
          </a:stretch>
        </p:blipFill>
        <p:spPr>
          <a:xfrm>
            <a:off x="4517136" y="3621024"/>
            <a:ext cx="3136392" cy="1627632"/>
          </a:xfrm>
          <a:prstGeom prst="rect">
            <a:avLst/>
          </a:prstGeom>
          <a:effectLst/>
        </p:spPr>
      </p:pic>
      <p:sp>
        <p:nvSpPr>
          <p:cNvPr id="24" name="Rectangle 23"/>
          <p:cNvSpPr/>
          <p:nvPr/>
        </p:nvSpPr>
        <p:spPr>
          <a:xfrm>
            <a:off x="4572000" y="3675888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36850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72984" y="3566160"/>
            <a:ext cx="3246120" cy="173736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72984" y="3566160"/>
            <a:ext cx="91440" cy="173736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3712464"/>
            <a:ext cx="28620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Injection equations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4005072"/>
            <a:ext cx="2770632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mean:  y_t = x_t + δ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scale: y_t = μ + A(x_t - μ)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spike: y_t = x_t + Σ A_i 1(t=t_i)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drift: y_t = x_t + r(t-s)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context: fleet/reference-relative shift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321808"/>
            <a:ext cx="10561320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Test 1,500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normal 750 / abnormal 750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35224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08376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F1 0.9967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08376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TN746 / FP4 / FN1 / TP749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7488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2BA66B"/>
                </a:solidFill>
                <a:latin typeface="맑은 고딕"/>
                <a:ea typeface="맑은 고딕"/>
              </a:rPr>
              <a:t>Recall 0.9987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abnormal class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59752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32904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2BA66B"/>
                </a:solidFill>
                <a:latin typeface="맑은 고딕"/>
                <a:ea typeface="맑은 고딕"/>
              </a:rPr>
              <a:t>5-seed best 0.9987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2904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TN748 / FP2 / FN0 / TP750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72016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8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threshold 0.9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5168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p(normal) ≥ 0.9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Focal Loss (Lin et al., 2017)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P3 | robustness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robustness와 입력 민감도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입력 표현/checkpoint 선택에 성능이 흔들릴 위험 → 민감도 점검으로 binary-F1 0.9967 안정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입력 표현과 checkpoint 선택 민감도 확인 장. main claim은 binary-F1 0.9967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7904" y="23774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23774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17904" y="44348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44348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9344" y="2432304"/>
            <a:ext cx="4288536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Validation option ablation — binary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4060" y="3443370"/>
            <a:ext cx="713232" cy="113646"/>
          </a:xfrm>
          <a:prstGeom prst="rect">
            <a:avLst/>
          </a:prstGeom>
          <a:solidFill>
            <a:srgbClr val="AEB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8" y="3205626"/>
            <a:ext cx="1392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584448"/>
            <a:ext cx="13929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Main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85616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959352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FP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6996" y="3329723"/>
            <a:ext cx="713232" cy="227293"/>
          </a:xfrm>
          <a:prstGeom prst="rect">
            <a:avLst/>
          </a:prstGeom>
          <a:solidFill>
            <a:srgbClr val="3A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7144" y="3091979"/>
            <a:ext cx="1392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7144" y="3584448"/>
            <a:ext cx="13929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Base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7144" y="3785616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7144" y="3959352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FP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89932" y="2875135"/>
            <a:ext cx="713232" cy="681881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0080" y="2637391"/>
            <a:ext cx="1392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0080" y="3584448"/>
            <a:ext cx="13929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5-seed best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0080" y="3785616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0080" y="3959352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FP 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64208" y="3557016"/>
            <a:ext cx="4178808" cy="0"/>
          </a:xfrm>
          <a:prstGeom prst="line">
            <a:avLst/>
          </a:prstGeom>
          <a:ln w="1397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55080" y="2432304"/>
            <a:ext cx="4288536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5-seed robustness — summary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9944" y="2944368"/>
            <a:ext cx="2034540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3072384"/>
            <a:ext cx="18882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6B7280"/>
                </a:solidFill>
                <a:latin typeface="맑은 고딕"/>
                <a:ea typeface="맑은 고딕"/>
              </a:rPr>
              <a:t>5-seed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3328416"/>
            <a:ext cx="1888236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E3D"/>
                </a:solidFill>
                <a:latin typeface="맑은 고딕"/>
                <a:ea typeface="맑은 고딕"/>
              </a:rPr>
              <a:t>일관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3703320"/>
            <a:ext cx="188823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mean 0.9967 / best 0.9987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54212" y="2944368"/>
            <a:ext cx="2034540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7364" y="3072384"/>
            <a:ext cx="18882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6B7280"/>
                </a:solidFill>
                <a:latin typeface="맑은 고딕"/>
                <a:ea typeface="맑은 고딕"/>
              </a:rPr>
              <a:t>Test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7364" y="3328416"/>
            <a:ext cx="1888236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E3D"/>
                </a:solidFill>
                <a:latin typeface="맑은 고딕"/>
                <a:ea typeface="맑은 고딕"/>
              </a:rPr>
              <a:t>1,500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7364" y="3703320"/>
            <a:ext cx="188823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750 / 750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9344" y="4489704"/>
            <a:ext cx="428853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Smoothing — 후속 3-epoch median best 선택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9344" y="4727448"/>
            <a:ext cx="1097280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val F1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929384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497718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066053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634388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02723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771057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339392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929384" y="5471159"/>
            <a:ext cx="284167" cy="124098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13551" y="5388428"/>
            <a:ext cx="284167" cy="82731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497718" y="5326380"/>
            <a:ext cx="284168" cy="62048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781886" y="4954088"/>
            <a:ext cx="284167" cy="37229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066053" y="4954088"/>
            <a:ext cx="284167" cy="496389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350220" y="5305697"/>
            <a:ext cx="284168" cy="144780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634388" y="5243648"/>
            <a:ext cx="284167" cy="62049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918555" y="5202282"/>
            <a:ext cx="284168" cy="41366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202723" y="5160917"/>
            <a:ext cx="284167" cy="41365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486890" y="5150575"/>
            <a:ext cx="284167" cy="1034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771057" y="5140234"/>
            <a:ext cx="284168" cy="10341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055225" y="5129892"/>
            <a:ext cx="284167" cy="1034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39392" y="5129892"/>
            <a:ext cx="284168" cy="1034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929384" y="5388428"/>
            <a:ext cx="284167" cy="82731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213551" y="5326380"/>
            <a:ext cx="284167" cy="62048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497718" y="5326380"/>
            <a:ext cx="284168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781886" y="5305697"/>
            <a:ext cx="284167" cy="20683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066053" y="5305697"/>
            <a:ext cx="284167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50220" y="5243648"/>
            <a:ext cx="284168" cy="62049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634388" y="5202282"/>
            <a:ext cx="284167" cy="41366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18555" y="5160917"/>
            <a:ext cx="284168" cy="41365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202723" y="5150575"/>
            <a:ext cx="284167" cy="10342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486890" y="5140234"/>
            <a:ext cx="284167" cy="10341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771057" y="5140234"/>
            <a:ext cx="284168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3015761" y="4903796"/>
            <a:ext cx="100584" cy="100584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iamond 70"/>
          <p:cNvSpPr/>
          <p:nvPr/>
        </p:nvSpPr>
        <p:spPr>
          <a:xfrm>
            <a:off x="4702477" y="5071654"/>
            <a:ext cx="137160" cy="137160"/>
          </a:xfrm>
          <a:prstGeom prst="diamond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1929384" y="5760720"/>
            <a:ext cx="3694176" cy="0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929384" y="4855464"/>
            <a:ext cx="0" cy="90525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929384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728216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497718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296550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3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066053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864885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5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634388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433220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7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4202723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001555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9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4771057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4569889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11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339392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138224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00784" y="5934456"/>
            <a:ext cx="4151376" cy="12801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09344" y="6067044"/>
            <a:ext cx="4288536" cy="1554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CC3328"/>
                </a:solidFill>
                <a:latin typeface="맑은 고딕"/>
                <a:ea typeface="맑은 고딕"/>
              </a:rPr>
              <a:t>● single-epoch spike    </a:t>
            </a:r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◆ median best → test 0.9987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55080" y="4480560"/>
            <a:ext cx="428853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Rendering sensitivity check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55080" y="4718304"/>
            <a:ext cx="42885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same train/val/test color policy; label-independent</a:t>
            </a:r>
          </a:p>
        </p:txBody>
      </p:sp>
      <p:pic>
        <p:nvPicPr>
          <p:cNvPr id="92" name="Picture 91" descr="p3r_colo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340" y="4965192"/>
            <a:ext cx="996696" cy="996696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7155180" y="5989320"/>
            <a:ext cx="127101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Before (파랑)</a:t>
            </a:r>
          </a:p>
        </p:txBody>
      </p:sp>
      <p:pic>
        <p:nvPicPr>
          <p:cNvPr id="94" name="Picture 93" descr="p3r_color_c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660" y="4965192"/>
            <a:ext cx="996696" cy="996696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572500" y="5989320"/>
            <a:ext cx="127101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After (빨강)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로드맵 | 완료 시기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완료 시기 및 현장 적용 로드맵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603504"/>
            <a:ext cx="1325880" cy="402336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완료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04120" y="603504"/>
            <a:ext cx="1325880" cy="402336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6B7280"/>
                </a:solidFill>
                <a:latin typeface="맑은 고딕"/>
                <a:ea typeface="맑은 고딕"/>
              </a:rPr>
              <a:t>예정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730752"/>
            <a:ext cx="9902952" cy="381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1570" y="3127248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2084831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084831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84831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2024.10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P1 착수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파이프라인과 viewer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2160" y="3877056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7728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80590" y="4206240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80590" y="4206240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2030" y="4206240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2025.03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P2 모델 개발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FCM-PM, val-margin 검증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2750" y="3127248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5787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61180" y="2084831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61180" y="2084831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2620" y="2084831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2025.05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P1 viewer 양산 개시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DRAM 전제품, 일 2만 wafer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73340" y="3877056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3846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1770" y="4206240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1770" y="4206240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3210" y="4206240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2026.01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P3 Trend anomaly PoC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episode generation, binary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3930" y="3127248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19056" y="3603498"/>
            <a:ext cx="292608" cy="29260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6A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22360" y="2084831"/>
            <a:ext cx="2286000" cy="1060704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22360" y="2084831"/>
            <a:ext cx="2286000" cy="64008"/>
          </a:xfrm>
          <a:prstGeom prst="rect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3800" y="2084831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6B7280"/>
                </a:solidFill>
                <a:latin typeface="맑은 고딕"/>
                <a:ea typeface="맑은 고딕"/>
              </a:rPr>
              <a:t>2026.09</a:t>
            </a:r>
          </a:p>
          <a:p>
            <a:pPr algn="ctr"/>
            <a:r>
              <a:rPr sz="1150" b="1">
                <a:solidFill>
                  <a:srgbClr val="5A6474"/>
                </a:solidFill>
                <a:latin typeface="맑은 고딕"/>
                <a:ea typeface="맑은 고딕"/>
              </a:rPr>
              <a:t>P1/P2 모델 배포 검증</a:t>
            </a:r>
          </a:p>
          <a:p>
            <a:pPr algn="ctr"/>
            <a:r>
              <a:rPr sz="1100">
                <a:solidFill>
                  <a:srgbClr val="737D8C"/>
                </a:solidFill>
                <a:latin typeface="맑은 고딕"/>
                <a:ea typeface="맑은 고딕"/>
              </a:rPr>
              <a:t>GPU 할당 후 양산 적용 검증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34520" y="3877056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99646" y="3603498"/>
            <a:ext cx="292608" cy="29260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6A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00032" y="4206240"/>
            <a:ext cx="2286000" cy="1060704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00032" y="4206240"/>
            <a:ext cx="2286000" cy="64008"/>
          </a:xfrm>
          <a:prstGeom prst="rect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1472" y="4206240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6B7280"/>
                </a:solidFill>
                <a:latin typeface="맑은 고딕"/>
                <a:ea typeface="맑은 고딕"/>
              </a:rPr>
              <a:t>2026.12</a:t>
            </a:r>
          </a:p>
          <a:p>
            <a:pPr algn="ctr"/>
            <a:r>
              <a:rPr sz="1150" b="1">
                <a:solidFill>
                  <a:srgbClr val="5A6474"/>
                </a:solidFill>
                <a:latin typeface="맑은 고딕"/>
                <a:ea typeface="맑은 고딕"/>
              </a:rPr>
              <a:t>P3 Trend anomaly 현업 검증</a:t>
            </a:r>
          </a:p>
          <a:p>
            <a:pPr algn="ctr"/>
            <a:r>
              <a:rPr sz="1100">
                <a:solidFill>
                  <a:srgbClr val="737D8C"/>
                </a:solidFill>
                <a:latin typeface="맑은 고딕"/>
                <a:ea typeface="맑은 고딕"/>
              </a:rPr>
              <a:t>real trend 기준 검증 완료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340096"/>
            <a:ext cx="3575304" cy="73152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340096"/>
            <a:ext cx="3575304" cy="54864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5413248"/>
            <a:ext cx="331927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현재 운영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5660136"/>
            <a:ext cx="33375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445264"/>
                </a:solidFill>
                <a:latin typeface="맑은 고딕"/>
                <a:ea typeface="맑은 고딕"/>
              </a:rPr>
              <a:t>P1 viewer label-feedback 루프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" y="5852160"/>
            <a:ext cx="33375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445264"/>
                </a:solidFill>
                <a:latin typeface="맑은 고딕"/>
                <a:ea typeface="맑은 고딕"/>
              </a:rPr>
              <a:t>batch 성공/적재량/응답, engineer review/label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06824" y="5340096"/>
            <a:ext cx="3575304" cy="73152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06824" y="5340096"/>
            <a:ext cx="3575304" cy="54864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5413248"/>
            <a:ext cx="331927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모델 배포 후 (설계)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5660136"/>
            <a:ext cx="33375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445264"/>
                </a:solidFill>
                <a:latin typeface="맑은 고딕"/>
                <a:ea typeface="맑은 고딕"/>
              </a:rPr>
              <a:t>confidence/FAR/drift 모니터링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5852160"/>
            <a:ext cx="33375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445264"/>
                </a:solidFill>
                <a:latin typeface="맑은 고딕"/>
                <a:ea typeface="맑은 고딕"/>
              </a:rPr>
              <a:t>threshold 재조정, version 등록/rollback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65008" y="5340096"/>
            <a:ext cx="3575304" cy="73152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65008" y="5340096"/>
            <a:ext cx="3575304" cy="54864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93024" y="5413248"/>
            <a:ext cx="331927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확장 (타 공정/제품)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93024" y="5660136"/>
            <a:ext cx="33375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445264"/>
                </a:solidFill>
                <a:latin typeface="맑은 고딕"/>
                <a:ea typeface="맑은 고딕"/>
              </a:rPr>
              <a:t>object-id map Stage-2, image+measure multimodal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3024" y="5852160"/>
            <a:ext cx="33375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445264"/>
                </a:solidFill>
                <a:latin typeface="맑은 고딕"/>
                <a:ea typeface="맑은 고딕"/>
              </a:rPr>
              <a:t>generator config로 타 공정 재현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144768"/>
            <a:ext cx="11091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P1/P2 = 2026.09 GPU 배포 검증, P3 = 2026.12 현업 검증 예정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100584" cy="25603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결론 | 평가 항목 대응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23444" cy="768096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06070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평가 항목별 핵심 근거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28800"/>
            <a:ext cx="3407664" cy="4443984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28800"/>
            <a:ext cx="3407664" cy="91440"/>
          </a:xfrm>
          <a:prstGeom prst="rect">
            <a:avLst/>
          </a:prstGeom>
          <a:solidFill>
            <a:srgbClr val="2E7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029968"/>
            <a:ext cx="295046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i_yolo_cascade_panel.png"/>
          <p:cNvPicPr>
            <a:picLocks noChangeAspect="1"/>
          </p:cNvPicPr>
          <p:nvPr/>
        </p:nvPicPr>
        <p:blipFill>
          <a:blip r:embed="rId2"/>
          <a:srcRect t="14923" b="14923"/>
          <a:stretch>
            <a:fillRect/>
          </a:stretch>
        </p:blipFill>
        <p:spPr>
          <a:xfrm>
            <a:off x="978408" y="2066544"/>
            <a:ext cx="2877312" cy="676656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969264" y="2889504"/>
            <a:ext cx="2895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E3D"/>
                </a:solidFill>
                <a:latin typeface="맑은 고딕"/>
                <a:ea typeface="맑은 고딕"/>
              </a:rPr>
              <a:t>기술 전문성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" y="3273552"/>
            <a:ext cx="2895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273552"/>
            <a:ext cx="274929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AI 문제 정의 → 모델/실험 → pipeline → 모니터링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" y="3785616"/>
            <a:ext cx="28956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9264" y="3785616"/>
            <a:ext cx="73152" cy="713232"/>
          </a:xfrm>
          <a:prstGeom prst="rect">
            <a:avLst/>
          </a:prstGeom>
          <a:solidFill>
            <a:srgbClr val="2E7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840480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7D66"/>
                </a:solidFill>
                <a:latin typeface="맑은 고딕"/>
                <a:ea typeface="맑은 고딕"/>
              </a:rPr>
              <a:t>문제 정의와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4059936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1">
                <a:solidFill>
                  <a:srgbClr val="1A1F2E"/>
                </a:solidFill>
                <a:latin typeface="맑은 고딕"/>
                <a:ea typeface="맑은 고딕"/>
              </a:rPr>
              <a:t>P1 FBM image / P2 multi-label / P3 trend anomaly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4553712"/>
            <a:ext cx="289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9264" y="4553712"/>
            <a:ext cx="73152" cy="713232"/>
          </a:xfrm>
          <a:prstGeom prst="rect">
            <a:avLst/>
          </a:prstGeom>
          <a:solidFill>
            <a:srgbClr val="2E7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4608576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7D66"/>
                </a:solidFill>
                <a:latin typeface="맑은 고딕"/>
                <a:ea typeface="맑은 고딕"/>
              </a:rPr>
              <a:t>모델 설계와 실험 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4828032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A1F2E"/>
                </a:solidFill>
                <a:latin typeface="맑은 고딕"/>
                <a:ea typeface="맑은 고딕"/>
              </a:rPr>
              <a:t>Known F1 0.95 / P2 bit-F1 0.9927 / P3 binary-F1 0.9967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" y="5321808"/>
            <a:ext cx="289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" y="5321808"/>
            <a:ext cx="73152" cy="713232"/>
          </a:xfrm>
          <a:prstGeom prst="rect">
            <a:avLst/>
          </a:prstGeom>
          <a:solidFill>
            <a:srgbClr val="2E7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5376672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7D66"/>
                </a:solidFill>
                <a:latin typeface="맑은 고딕"/>
                <a:ea typeface="맑은 고딕"/>
              </a:rPr>
              <a:t>데이터 pipeline과 운영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" y="5596128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A1F2E"/>
                </a:solidFill>
                <a:latin typeface="맑은 고딕"/>
                <a:ea typeface="맑은 고딕"/>
              </a:rPr>
              <a:t>FBM 변환, FCM-PM 합성, generator, label → retrain → 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5216" y="1828800"/>
            <a:ext cx="3407664" cy="4443984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95216" y="1828800"/>
            <a:ext cx="3407664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23816" y="2029968"/>
            <a:ext cx="295046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wafer_center_scratch.png"/>
          <p:cNvPicPr>
            <a:picLocks noChangeAspect="1"/>
          </p:cNvPicPr>
          <p:nvPr/>
        </p:nvPicPr>
        <p:blipFill>
          <a:blip r:embed="rId3"/>
          <a:srcRect t="38242" b="38242"/>
          <a:stretch>
            <a:fillRect/>
          </a:stretch>
        </p:blipFill>
        <p:spPr>
          <a:xfrm>
            <a:off x="4660392" y="2066544"/>
            <a:ext cx="2877312" cy="676656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4651248" y="2889504"/>
            <a:ext cx="2895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E3D"/>
                </a:solidFill>
                <a:latin typeface="맑은 고딕"/>
                <a:ea typeface="맑은 고딕"/>
              </a:rPr>
              <a:t>기술 리더십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51248" y="3273552"/>
            <a:ext cx="2895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24400" y="3273552"/>
            <a:ext cx="274929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현업 구상 → 기술 결정 → 조직 확산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51248" y="3785616"/>
            <a:ext cx="28956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51248" y="3785616"/>
            <a:ext cx="73152" cy="71323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15840" y="3840480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96A0AD"/>
                </a:solidFill>
                <a:latin typeface="맑은 고딕"/>
                <a:ea typeface="맑은 고딕"/>
              </a:rPr>
              <a:t>협업 범위와 의사결정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5840" y="4059936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1">
                <a:solidFill>
                  <a:srgbClr val="1A1F2E"/>
                </a:solidFill>
                <a:latin typeface="맑은 고딕"/>
                <a:ea typeface="맑은 고딕"/>
              </a:rPr>
              <a:t>DRAM YE 공동 구상, 설계/구현 본인 주도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51248" y="4553712"/>
            <a:ext cx="289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51248" y="4553712"/>
            <a:ext cx="73152" cy="71323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15840" y="4608576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96A0AD"/>
                </a:solidFill>
                <a:latin typeface="맑은 고딕"/>
                <a:ea typeface="맑은 고딕"/>
              </a:rPr>
              <a:t>기술 선택 전문성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5840" y="4828032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A1F2E"/>
                </a:solidFill>
                <a:latin typeface="맑은 고딕"/>
                <a:ea typeface="맑은 고딕"/>
              </a:rPr>
              <a:t>ConvNeXtV2, NeCo, FCM-PM, val_margin 적용 결정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51248" y="5321808"/>
            <a:ext cx="289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51248" y="5321808"/>
            <a:ext cx="73152" cy="71323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15840" y="5376672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96A0AD"/>
                </a:solidFill>
                <a:latin typeface="맑은 고딕"/>
                <a:ea typeface="맑은 고딕"/>
              </a:rPr>
              <a:t>조직 확산과 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5840" y="5596128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A1F2E"/>
                </a:solidFill>
                <a:latin typeface="맑은 고딕"/>
                <a:ea typeface="맑은 고딕"/>
              </a:rPr>
              <a:t>4개 분석 파트 매일 사용, 파트 내 3명 AI 구현 지원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77200" y="1828800"/>
            <a:ext cx="3407664" cy="4443984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77200" y="1828800"/>
            <a:ext cx="3407664" cy="91440"/>
          </a:xfrm>
          <a:prstGeom prst="rect">
            <a:avLst/>
          </a:prstGeom>
          <a:solidFill>
            <a:srgbClr val="4B6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305800" y="2029968"/>
            <a:ext cx="295046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trend_spike_view.png"/>
          <p:cNvPicPr>
            <a:picLocks noChangeAspect="1"/>
          </p:cNvPicPr>
          <p:nvPr/>
        </p:nvPicPr>
        <p:blipFill>
          <a:blip r:embed="rId4"/>
          <a:srcRect t="35939" b="35939"/>
          <a:stretch>
            <a:fillRect/>
          </a:stretch>
        </p:blipFill>
        <p:spPr>
          <a:xfrm>
            <a:off x="8342376" y="2066544"/>
            <a:ext cx="2877312" cy="676656"/>
          </a:xfrm>
          <a:prstGeom prst="rect">
            <a:avLst/>
          </a:prstGeom>
          <a:effectLst/>
        </p:spPr>
      </p:pic>
      <p:sp>
        <p:nvSpPr>
          <p:cNvPr id="48" name="TextBox 47"/>
          <p:cNvSpPr txBox="1"/>
          <p:nvPr/>
        </p:nvSpPr>
        <p:spPr>
          <a:xfrm>
            <a:off x="8333232" y="2889504"/>
            <a:ext cx="2895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E3D"/>
                </a:solidFill>
                <a:latin typeface="맑은 고딕"/>
                <a:ea typeface="맑은 고딕"/>
              </a:rPr>
              <a:t>기술성과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33232" y="3273552"/>
            <a:ext cx="2895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06384" y="3273552"/>
            <a:ext cx="274929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양산 적용 → KPI → 타 제품 확장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33232" y="3785616"/>
            <a:ext cx="28956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33232" y="3785616"/>
            <a:ext cx="73152" cy="713232"/>
          </a:xfrm>
          <a:prstGeom prst="rect">
            <a:avLst/>
          </a:prstGeom>
          <a:solidFill>
            <a:srgbClr val="4B6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97824" y="3840480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4B6388"/>
                </a:solidFill>
                <a:latin typeface="맑은 고딕"/>
                <a:ea typeface="맑은 고딕"/>
              </a:rPr>
              <a:t>양산 공정과 품질 적용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97824" y="4059936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1">
                <a:solidFill>
                  <a:srgbClr val="1A1F2E"/>
                </a:solidFill>
                <a:latin typeface="맑은 고딕"/>
                <a:ea typeface="맑은 고딕"/>
              </a:rPr>
              <a:t>P1 viewer 양산 운영, Known 및 Unknown 데이터 검증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33232" y="4553712"/>
            <a:ext cx="289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333232" y="4553712"/>
            <a:ext cx="73152" cy="713232"/>
          </a:xfrm>
          <a:prstGeom prst="rect">
            <a:avLst/>
          </a:prstGeom>
          <a:solidFill>
            <a:srgbClr val="4B6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97824" y="4608576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4B6388"/>
                </a:solidFill>
                <a:latin typeface="맑은 고딕"/>
                <a:ea typeface="맑은 고딕"/>
              </a:rPr>
              <a:t>핵심 KPI 개선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97824" y="4828032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A1F2E"/>
                </a:solidFill>
                <a:latin typeface="맑은 고딕"/>
                <a:ea typeface="맑은 고딕"/>
              </a:rPr>
              <a:t>공수 90%↓, 수율 +0.02%p, 정량 기여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33232" y="5321808"/>
            <a:ext cx="289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33232" y="5321808"/>
            <a:ext cx="73152" cy="713232"/>
          </a:xfrm>
          <a:prstGeom prst="rect">
            <a:avLst/>
          </a:prstGeom>
          <a:solidFill>
            <a:srgbClr val="4B6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97824" y="5376672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4B6388"/>
                </a:solidFill>
                <a:latin typeface="맑은 고딕"/>
                <a:ea typeface="맑은 고딕"/>
              </a:rPr>
              <a:t>타 공정과 제품 확장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97824" y="5596128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A1F2E"/>
                </a:solidFill>
                <a:latin typeface="맑은 고딕"/>
                <a:ea typeface="맑은 고딕"/>
              </a:rPr>
              <a:t>Flash YE 확장 요청, object-id, multimodal, generator 확장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