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반도체 공정 이해를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Known/Unknown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올해 26억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84192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8592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192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98592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11040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1040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4192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8592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345424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9824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5424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2272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2272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45424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9824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제조품질 AI | Domain-informed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Known/Unknown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대량 Failbit Map을 검색, 검토, 모델 학습이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48매 단위 수작업 검토를 일 2만 wafer 규모의 Failbit Map 변환, 검색, 검토 체계로 확장했습니다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wafer/day [운영]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Known F1 [validation]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P1은 양산 운영, P2/P3은 validation/PoC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조회 48매 한계,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일 2만 wafer 규모의 변환, 검색, 검토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wafer/day [운영]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Known F1 [validation]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Coordinate-preserving Failbit Map operating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같은 자산을 Known/Unknown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528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9816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789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789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789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Failbit Map as discrete spatial-grade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650992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data입니다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규모입니다. chip당 1개, wafer 내 약 800개 수준의 Measure 값만으로는 불량 위치와 형상 분석이 부족합니다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맞춥니다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병목은 변환 속도와 저장 공간입니다. wafer 한 장은 약 1,000만 test result를 포함하고 하루 약 2만 장이 누적되므로, raw log 그대로는 대량 조회와 분석이 어렵습니다. EDS 값이 8단계 이산 grade라 palette PNG로 무손실 저장이 가능했고, Cython hex-to-grade와 32-color palette PNG로 저장 용량을 약 75% 줄여 일 2만 wafer 운영 기반을 만들었습니다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Numba and pyvips for large-scale Failbit Map 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낮춥니다.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61120" y="4957556"/>
            <a:ext cx="954633" cy="2025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validation: CNN tuning → selective ROI-YOLO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1-stage CNN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1,500장 labeled data와 위치·국소 pattern 중심 특성에서는 CNN의 locality inductive bias가 더 sample-efficient하다고 판단했습니다. 동일 split에서 ConvNeXtV2와 MaxViT는 F1 0.87 동급이었고, ConvNeXtV2가 더 가벼워 채택했습니다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Optuna로 warmup→cosine, focal loss, class-imbalance, augmentation strength를 조정해 F1 0.92까지 올렸습니다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2-stage ROI-YOLO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low-confidence wafer만 ROI chip failure pattern으로 2차 분류해 최종 F1 0.95를 달성했습니다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944368"/>
            <a:ext cx="2779776" cy="2670048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944368"/>
            <a:ext cx="2670048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① Before / raw wafer-level image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6592" y="2944368"/>
            <a:ext cx="2779776" cy="2670048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_roi_crop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944368"/>
            <a:ext cx="2670048" cy="2670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3964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② ROI crop (low-confidence region)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21624" y="2944368"/>
            <a:ext cx="2779776" cy="2670048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chip_yolo_box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2944368"/>
            <a:ext cx="2670048" cy="26700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494776" y="3017520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8996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③ After / chip-level fail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ConvNeXtV2 1차 분류 후 low-confidence image만 2-stage ROI-YOLO로 보내 chip-level failure pattern을 2차 분류합니다. Optuna 0.92 → 2-stage 0.95. (자문: 연세대학교 인공지능학과 전해곤 교수)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scan and staged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74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params / 45.1G FLOPs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 schedule, focal loss, class-imbalance weighting, augmentation strength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wafer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cost가 남습니다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되돌려 배치합니다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object-id setting: val_f1 0.9946 / test_f1 0.9872. 5-seed stability check: 0.9838 ± 0.0092. 생성 chip 데이터 기반 개발 중입니다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Contrastive clustering for Unknown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사용합니다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False-negative-aware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학습합니다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queue와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MoCo queue와 NeCo patch 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561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MoCo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queue로 minibatch 밖 negative dictionary를 확장해 contrastive reference set을 넓힙니다</a:t>
            </a:r>
          </a:p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NeCo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patch-neighbor consistency로 같은 failure pattern의 local structure가 view마다 흔들리지 않게 정규화합니다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011680"/>
            <a:ext cx="3273552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MoCo queue</a:t>
            </a:r>
          </a:p>
        </p:txBody>
      </p:sp>
      <p:pic>
        <p:nvPicPr>
          <p:cNvPr id="9" name="Picture 8" descr="ref_moco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574" y="2523744"/>
            <a:ext cx="2504868" cy="20299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" y="4782312"/>
            <a:ext cx="2944368" cy="10058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873752"/>
            <a:ext cx="27249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Role 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157216"/>
            <a:ext cx="272491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60">
                <a:solidFill>
                  <a:srgbClr val="1A1F2E"/>
                </a:solidFill>
                <a:latin typeface="맑은 고딕"/>
                <a:ea typeface="맑은 고딕"/>
              </a:rPr>
              <a:t>maintains queue negatives beyond the current minibatch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2011680"/>
            <a:ext cx="7214616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NeCo patch consistency</a:t>
            </a:r>
          </a:p>
        </p:txBody>
      </p:sp>
      <p:pic>
        <p:nvPicPr>
          <p:cNvPr id="16" name="Picture 15" descr="ref_neco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86965"/>
            <a:ext cx="6958584" cy="278018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40740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ROI-aligned patches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align shared
source-region patches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3912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neighbor ordering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rank reference patches
by similarity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consistency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match teacher/student
neighbor ranks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Contrastive recipe ablation on generated evaluation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운영 review 결과(2,000장, 13 후보 group 중 7건 확인)와 분리해 제시합니다.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NV-Retriever NEG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Final generated-set metric: capture 0.9619 / noise 0.00% / Completeness 0.9679 / Silhouette 0.781.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20K wafer/day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Validation F1 0.95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Unknown 후보 13→7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약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90% 절감 기준 올해 약 26억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수율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+0.02%p 회복 시 불량 1건 약 97억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수작업 검토를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재구성해 누락 risk와 검토 시간을 감소시킴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운영=처리 구조+viewer, 26억=올해 산정, 97억=불량 1건(합산 아님)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올해 26억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97억/건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wafer/day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validation F1 0.95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(실전 16종/1,500장), Unknown은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13→7 후보 확인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(현업 검토)까지만 반영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결과입니다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Known validation (real data)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13→7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Unknown candidate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라벨 부족 대응 | Multi-label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single-failure source에서 2-combo supervision을 구성한 synthetic validation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실제 2-combo GT가 부족한 조건에서 single-failure source를 조합해 학습 신호와 평가 구조를 구성했습니다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bit-F1 0.9927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PoC, bit-F1 0.9927, Total FAR 0.00%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2-combo GT 부족, FAR tail 발생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FCM-PM + val-margin으로 tail 억제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bit-F1 0.9927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Single-failure source to 2-combo evaluation setting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real 2-combo GT 부족
limited supervision / validation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single-failure source만 보유
직접적인 2-combo supervision 없음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3,850-chip benchmark
2-combo/negative tail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train split 이후 train source 안에서만 synthetic combination을 생성합니다.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맑은 고딕"/>
                <a:ea typeface="맑은 고딕"/>
              </a:rPr>
              <a:t>evaluation requires combo classes and negative 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Design implication: distribution gap requires probability modeling and reject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+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2-combo GT가 부족한 조건에서 FCM은 failure coverage를 보존하고, Pair Mask는 합성 배경 loss를 분리해 FAR tail을 낮춥니다.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44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>
                <a:solidFill>
                  <a:srgbClr val="6B7280"/>
                </a:solidFill>
                <a:latin typeface="맑은 고딕"/>
                <a:ea typeface="맑은 고딕"/>
              </a:rPr>
              <a:t>Mixup은 0~7 grade 의미를 흐리고, diffusion은 label·compute 부담이 큽니다. 원값을 보존하는 CutMix 계열을 채택했습니다.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pos. prob 유지
controlled eval FAR 0.00%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selected setting reaches 0.00%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selection and negative-tail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01752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eval-F1 0.57 → 0.84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12080"/>
            <a:ext cx="2212848" cy="603504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12080"/>
            <a:ext cx="64008" cy="603504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26694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431536"/>
            <a:ext cx="1152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76856" y="5385816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8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12080"/>
            <a:ext cx="2212848" cy="603504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12080"/>
            <a:ext cx="64008" cy="60350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26694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431536"/>
            <a:ext cx="1152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5385816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8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>
                <a:solidFill>
                  <a:srgbClr val="1A1F2E"/>
                </a:solidFill>
                <a:latin typeface="맑은 고딕"/>
                <a:ea typeface="맑은 고딕"/>
              </a:rPr>
              <a:t>No 4D/GMM fitting; four output bits are checked independently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0678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0586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3695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6896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6804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39913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0678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0586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3695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6896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6804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39913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0678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0586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3695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6896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6804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39913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75504"/>
            <a:ext cx="4626864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248656"/>
            <a:ext cx="44074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0F1E3D"/>
                </a:solidFill>
                <a:latin typeface="맑은 고딕"/>
                <a:ea typeface="맑은 고딕"/>
              </a:rPr>
              <a:t>Accept: four independent output bits match one known profile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 b="1">
                <a:solidFill>
                  <a:srgbClr val="1A1F2E"/>
                </a:solidFill>
                <a:latin typeface="맑은 고딕"/>
                <a:ea typeface="맑은 고딕"/>
              </a:rPr>
              <a:t>tail/OOD is not learned as a class; reject by known-profile mismatch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60719"/>
            <a:ext cx="2212848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60719"/>
            <a:ext cx="64008" cy="3840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97295"/>
            <a:ext cx="9326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1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70447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19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60719"/>
            <a:ext cx="2212848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60719"/>
            <a:ext cx="64008" cy="3840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97295"/>
            <a:ext cx="9326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1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70447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19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performance on controlled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평가셋입니다. 단일 대표 모델은 FCM-PM + val_margin selection입니다.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20547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92"/>
                <a:gridCol w="2787124"/>
                <a:gridCol w="734590"/>
                <a:gridCol w="648168"/>
                <a:gridCol w="734590"/>
                <a:gridCol w="626562"/>
                <a:gridCol w="131794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91856" y="1664208"/>
            <a:ext cx="3730752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64208"/>
            <a:ext cx="354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1856" y="2066543"/>
          <a:ext cx="3730752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4704"/>
                <a:gridCol w="481669"/>
                <a:gridCol w="542973"/>
                <a:gridCol w="805702"/>
                <a:gridCol w="8057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Candidate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NI-FAR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OOD-FAR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Cost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Interp.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/ 1x / 1x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</a:t>
                      </a:r>
                    </a:p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single model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5x / 1/5x /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best F1</a:t>
                      </a:r>
                    </a:p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/ 1x / 1x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deploy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991856" y="3931920"/>
            <a:ext cx="3730752" cy="144475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1856" y="3931920"/>
            <a:ext cx="91440" cy="14447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4096512"/>
            <a:ext cx="33101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Selected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4" y="4407408"/>
            <a:ext cx="331012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1">
                <a:solidFill>
                  <a:srgbClr val="0F1E3D"/>
                </a:solidFill>
                <a:latin typeface="맑은 고딕"/>
                <a:ea typeface="맑은 고딕"/>
              </a:rPr>
              <a:t>FCM-PM + val_margin</a:t>
            </a:r>
          </a:p>
          <a:p>
            <a:pPr algn="l"/>
            <a:r>
              <a:rPr sz="980">
                <a:solidFill>
                  <a:srgbClr val="1A1F2E"/>
                </a:solidFill>
                <a:latin typeface="맑은 고딕"/>
                <a:ea typeface="맑은 고딕"/>
              </a:rPr>
              <a:t>대표 single model: bit_F1 0.9927 / FAR 0.00% / 1x cost</a:t>
            </a:r>
          </a:p>
          <a:p>
            <a:pPr algn="l"/>
            <a:r>
              <a:rPr sz="980">
                <a:solidFill>
                  <a:srgbClr val="1A1F2E"/>
                </a:solidFill>
                <a:latin typeface="맑은 고딕"/>
                <a:ea typeface="맑은 고딕"/>
              </a:rPr>
              <a:t>Ensemble은 최고 bit_F1 0.9956이지만 cost 5x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5961888"/>
            <a:ext cx="11018520" cy="420624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" y="5961888"/>
            <a:ext cx="91440" cy="42062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961888"/>
            <a:ext cx="10689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60" b="1">
                <a:solidFill>
                  <a:srgbClr val="0F1E3D"/>
                </a:solidFill>
                <a:latin typeface="맑은 고딕"/>
                <a:ea typeface="맑은 고딕"/>
              </a:rPr>
              <a:t>대표 single model: bit_F1 0.9927 / Total FAR 0.00%. Champion ensemble: bit_F1 0.9956 / Total FAR 0.00%지만 cost는 5x / 1/5x / 5x.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generation | Binary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episode generation과 binary validation으로 real abnormal label 부족을 보완한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현장 trend 판정 기준을 episode 생성 규칙으로 옮기고, normal/abnormal binary validation으로 검증했습니다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normal 3,500 + abnormal 3,500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benchmark 7,000 series, binary-F1 0.9967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benchmark 확보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generation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trend 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3,500+3,500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5×3×5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rule 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Binary F1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336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336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2976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4714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336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336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2976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4714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49194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49194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49834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1572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49194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49194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49834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1572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5705856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" b="1">
                <a:solidFill>
                  <a:srgbClr val="0F1E3D"/>
                </a:solidFill>
                <a:latin typeface="맑은 고딕"/>
                <a:ea typeface="맑은 고딕"/>
              </a:rPr>
              <a:t>Interpretation: generator validity, training stability, and shortcut checks are evaluated together.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Baseline episodes and measurement-noise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샘플링합니다. anomaly injection은 다음 장에서 분리합니다.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4032722" y="3566160"/>
            <a:ext cx="1422001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67276" y="4281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649264" y="3935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447588" y="4243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689130" y="37629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154840" y="4280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537940" y="4266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256501" y="43771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382583" y="4045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04750" y="2943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681202" y="34916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45257" y="42823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538737" y="37019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21318" y="38009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09101" y="389995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24776" y="34555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26838" y="36932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080935" y="3596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696742" y="36180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14047" y="38706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24546" y="38251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562148" y="35040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70309" y="38059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639539" y="35904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983617" y="36429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760013" y="37428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969351" y="3660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863339" y="34674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48419" y="38678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876310" y="39192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31332" y="3578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155533" y="35395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985013" y="39297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18102" y="3856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072526" y="31482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599798" y="40264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134476" y="4092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759238" y="41641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511072" y="36182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6993392" y="3833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232581" y="39621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744251" y="3387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02956" y="33385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732833" y="37555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083336" y="31691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594232" y="364755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425271" y="3312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689178" y="31132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318012" y="35334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132635" y="3705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039495" y="3547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235296" y="33340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134710" y="37612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325294" y="31238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561858" y="3733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464841" y="3343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771325" y="39670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225406" y="31353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363277" y="3496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790174" y="32883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7932051" y="3793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569996" y="32950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146165" y="339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7960477" y="33189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218785" y="38133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09848" y="39920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558703" y="3278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221116" y="34927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768772" y="3989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125776" y="34707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208260" y="40127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120235" y="315186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18905" y="34706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057330" y="39282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852325" y="40345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98752" y="34107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174262" y="39770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7869158" y="31332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767700" y="3456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407678" y="34130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154125" y="3106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291104" y="34315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128391" y="3218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139241" y="3297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386297" y="3870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7962959" y="35071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05425" y="35454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406229" y="3961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183573" y="34434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055876" y="31317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453424" y="3861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7894386" y="314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6987578" y="31618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084479" y="33433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7870371" y="39421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364539" y="3357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131086" y="36793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269254" y="37723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336552" y="3360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6949063" y="38088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079997" y="3695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113193" y="31261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234179" y="3547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129956" y="39938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423329" y="333780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477136" y="35640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094420" y="3274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7938871" y="37927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975384" y="2331720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025686" y="2331720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779746" y="29279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331566" y="27810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733222" y="27923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695504" y="26989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479004" y="29213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582981" y="26942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139079" y="285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746136" y="29964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0906025" y="2998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619550" y="27006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269184" y="28374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544772" y="28204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555713" y="28104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358714" y="2895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624229" y="29524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450466" y="27128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817422" y="27698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247608" y="27960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603620" y="27386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583234" y="27538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387519" y="2964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271310" y="2780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9892363" y="30004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23741" y="27492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749981" y="28885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129555" y="2706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056022" y="29432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816768" y="29747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152594" y="27698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316589" y="273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092140" y="28653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003146" y="27957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116363" y="277081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231903" y="289168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347442" y="283636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462982" y="269218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578522" y="27929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694061" y="284027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809601" y="291761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925140" y="288981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040680" y="28126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156219" y="275423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271759" y="279447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387298" y="27867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502838" y="28311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618378" y="272188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733917" y="285850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849457" y="287096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0964996" y="275825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080536" y="282288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8975384" y="3282696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Equipment-correlated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025686" y="3282696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479362" y="3684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717930" y="3691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722608" y="38047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200238" y="3657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890756" y="38054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397967" y="3653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409079" y="3853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920895" y="37173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708363" y="3938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718275" y="38108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811488" y="37613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0866036" y="39528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825213" y="3688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582749" y="36911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80874" y="39214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949940" y="3894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913468" y="39152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027205" y="3677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099504" y="38059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401055" y="39241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253812" y="38292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39900" y="3790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372055" y="3717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152513" y="3929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94910" y="3785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742433" y="39430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479066" y="3665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029978" y="39458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072605" y="36414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94815" y="37519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949171" y="3828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783491" y="36767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110586" y="390560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214572" y="388079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318558" y="385639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422543" y="380602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526529" y="37807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630514" y="375606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734500" y="371963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9838486" y="368299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942471" y="369307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046457" y="371982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150442" y="374813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4428" y="378123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358414" y="3820464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462399" y="386626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566385" y="384207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670370" y="38197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0774356" y="379319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0878342" y="376642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0982327" y="373362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086313" y="370972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8975384" y="4233672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 / heavy-tail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025686" y="4233672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315481" y="4756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372720" y="4675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9942281" y="4767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9954069" y="4792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9997846" y="471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117266" y="4779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086675" y="4652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656648" y="48322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021762" y="4634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052811" y="46101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335804" y="47169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259389" y="4720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129641" y="45883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392258" y="4601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594080" y="4831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132387" y="45927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116669" y="46995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046184" y="46198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851111" y="49036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591177" y="4843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471508" y="48988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091600" y="4890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0973754" y="4629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708259" y="488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204907" y="46906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641289" y="4627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0933192" y="46656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764921" y="46222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113121" y="48784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501905" y="4661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121001" y="4680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145255" y="4634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116363" y="4696506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231903" y="46764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347442" y="47541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462982" y="478133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578522" y="470685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694061" y="468881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809601" y="47050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9925140" y="470799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040680" y="474641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156219" y="474896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271759" y="4706001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387298" y="475427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97" name="Rectangle 596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m_k ~ Cat(dense,sparse,very_sparse,thin,missing)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602" name="Rectangle 601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ε_t ∈ {N(0,σ²), AR(1), Laplace(0,b)}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  if active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missing 구간 제외 후 normal trend 생성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injection rules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94960"/>
            <a:ext cx="10561320" cy="45720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normal 750 / abnormal 5종×150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TN=746 / FP=4 / FN=1 / TP=749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TN=748 / FP=2 / FN=0 / TP=750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p(normal) ≥ 0.9 → Normal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907024"/>
            <a:ext cx="10515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5907024"/>
            <a:ext cx="91440" cy="2743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07024"/>
            <a:ext cx="10149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Validation controls: LR sweep, color/smoothing, label smoothing, stochastic depth, focal+EMA, val-F1 median, normal threshold 0.9; red marks are explanation overlay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 and input sensitivity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성능 과장이 아니라 입력 표현과 checkpoint 선택 민감도를 확인한 검증 장입니다. main claim은 synthetic binary-F1 0.9967로 유지합니다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Claim boundary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boundary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Mean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42732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02880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iamond 77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rendering color sensitivity check; not used as main claim</a:t>
            </a:r>
          </a:p>
        </p:txBody>
      </p:sp>
      <p:pic>
        <p:nvPicPr>
          <p:cNvPr id="99" name="Picture 98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101" name="Picture 100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95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95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● 완료 / 진행 중</a:t>
            </a:r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       ○ 예정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89320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P1/P2=2026.09 GPU 배포 검증 / P3=2026.12 현업 검증 완료 / 향후=현업 확대 적용, chip classifier 대체, image+measure-value multimodal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AI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제조품질 데이터를 운영형 AI 자산으로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194560"/>
            <a:ext cx="1042416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P1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좌표 보존 Failbit Map과 viewer를 운영 자산으로 만들고, Known/Unknown 검토 flow까지 연결했습니다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2-combo GT와 real abnormal label 부족을 synthetic validation 구조로 보완했습니다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데이터 생성 → 모델 → viewer → human review → label/retrain으로 이어지는 제조품질 AI 개발 체계를 구축했습니다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wafer viewer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양산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158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158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302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Known validation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실전 데이터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13→7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Unknown review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현업 후보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082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082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226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label scarcity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