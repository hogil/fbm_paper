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Relationship Id="rId9" Type="http://schemas.openxmlformats.org/officeDocument/2006/relationships/image" Target="../media/image24.png"/><Relationship Id="rId10" Type="http://schemas.openxmlformats.org/officeDocument/2006/relationships/image" Target="../media/image2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89611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A929E"/>
                </a:solidFill>
                <a:latin typeface="맑은 고딕"/>
                <a:ea typeface="맑은 고딕"/>
              </a:rPr>
              <a:t>'26 AI Specialist 면접 심사 자료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35024"/>
            <a:ext cx="10607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>
                <a:solidFill>
                  <a:srgbClr val="0F1E3D"/>
                </a:solidFill>
                <a:latin typeface="맑은 고딕"/>
                <a:ea typeface="맑은 고딕"/>
              </a:rPr>
              <a:t>AI Specialist 인증 발표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292608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>
                <a:solidFill>
                  <a:srgbClr val="475569"/>
                </a:solidFill>
                <a:latin typeface="맑은 고딕"/>
                <a:ea typeface="맑은 고딕"/>
              </a:rPr>
              <a:t>반도체 공정 이해를 바탕으로 데이터 처리 구조, viewer backend/frontend, AI model까지 직접 설계한 3개 과제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19656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Failbit Map 불량 분석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54296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67528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Chip multi-label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82712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82712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2168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Trend anomaly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6968" y="4992624"/>
            <a:ext cx="3840480" cy="2032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5184648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최호길  |  메모리제조센터 QIE그룹 Data Science 파트</a:t>
            </a:r>
          </a:p>
          <a:p>
            <a:pPr algn="l"/>
            <a:r>
              <a:rPr sz="1250">
                <a:solidFill>
                  <a:srgbClr val="6B7280"/>
                </a:solidFill>
                <a:latin typeface="맑은 고딕"/>
                <a:ea typeface="맑은 고딕"/>
              </a:rPr>
              <a:t>제조품질 AI / Data Science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6968" y="5989320"/>
            <a:ext cx="10387584" cy="127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6108192"/>
            <a:ext cx="7772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삼성전자 메모리제조센터 | QIE그룹 Data Science</a:t>
            </a:r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    AI Specialist 인증 사내 경연 발표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108192"/>
            <a:ext cx="167335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P1/P2/P3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3개 과제 핵심 요약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55648"/>
            <a:ext cx="3450336" cy="416966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4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55648"/>
            <a:ext cx="3450336" cy="566928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039112"/>
            <a:ext cx="3450336" cy="28346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41248" y="1847088"/>
            <a:ext cx="640080" cy="38404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1755648"/>
            <a:ext cx="640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91056" y="1755648"/>
            <a:ext cx="23530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Failbit Map failure analysis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" y="2386584"/>
            <a:ext cx="3194304" cy="1591056"/>
          </a:xfrm>
          <a:prstGeom prst="roundRect">
            <a:avLst/>
          </a:prstGeom>
          <a:solidFill>
            <a:srgbClr val="E4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wafer_center_scr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1160" y="2478024"/>
            <a:ext cx="1408176" cy="14081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60" y="4114800"/>
            <a:ext cx="8778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Problem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4114800"/>
            <a:ext cx="217017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48매 단위 조회 한계, human review 부담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681728"/>
            <a:ext cx="8778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Approach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4681728"/>
            <a:ext cx="217017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좌표 보존 Failbit Map + 대량 viewer + Known 및 Unknown model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5175504"/>
            <a:ext cx="3230880" cy="475488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5175504"/>
            <a:ext cx="73152" cy="47548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248656"/>
            <a:ext cx="8778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Impact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5248656"/>
            <a:ext cx="217017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[양산 운영] 일 2만 wafer/day, 공수 90%↓ + 수율 개선 사례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01312" y="1755648"/>
            <a:ext cx="3450336" cy="416966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4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401312" y="1755648"/>
            <a:ext cx="3450336" cy="566928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01312" y="2039112"/>
            <a:ext cx="3450336" cy="28346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602480" y="1847088"/>
            <a:ext cx="640080" cy="38404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02480" y="1755648"/>
            <a:ext cx="640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52288" y="1755648"/>
            <a:ext cx="23530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Chip multi-label classification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29328" y="2386584"/>
            <a:ext cx="3194304" cy="1591056"/>
          </a:xfrm>
          <a:prstGeom prst="roundRect">
            <a:avLst/>
          </a:prstGeom>
          <a:solidFill>
            <a:srgbClr val="E4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chip_eval_scratch_selec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2392" y="2478024"/>
            <a:ext cx="1408176" cy="140817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584192" y="4114800"/>
            <a:ext cx="8778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Problem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98592" y="4114800"/>
            <a:ext cx="217017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2-combo failure GT 부족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84192" y="4681728"/>
            <a:ext cx="8778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Approach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98592" y="4681728"/>
            <a:ext cx="217017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single source → FCM-PM + val-margin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11040" y="5175504"/>
            <a:ext cx="3230880" cy="475488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11040" y="5175504"/>
            <a:ext cx="73152" cy="47548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84192" y="5248656"/>
            <a:ext cx="8778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Impact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98592" y="5248656"/>
            <a:ext cx="217017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[controlled synthetic] bit-F1 0.9927 / FAR 0.00%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62544" y="1755648"/>
            <a:ext cx="3450336" cy="416966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4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162544" y="1755648"/>
            <a:ext cx="3450336" cy="566928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162544" y="2039112"/>
            <a:ext cx="3450336" cy="28346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363712" y="1847088"/>
            <a:ext cx="640080" cy="38404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63712" y="1755648"/>
            <a:ext cx="640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13520" y="1755648"/>
            <a:ext cx="23530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Trend anomaly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90560" y="2386584"/>
            <a:ext cx="3194304" cy="1591056"/>
          </a:xfrm>
          <a:prstGeom prst="roundRect">
            <a:avLst/>
          </a:prstGeom>
          <a:solidFill>
            <a:srgbClr val="E4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trend_spik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92464" y="2478024"/>
            <a:ext cx="2190496" cy="1408176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345424" y="4114800"/>
            <a:ext cx="8778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Problem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59824" y="4114800"/>
            <a:ext cx="217017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real anomaly label scarcity, validation bottleneck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45424" y="4681728"/>
            <a:ext cx="8778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Approach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59824" y="4681728"/>
            <a:ext cx="217017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episode generation + binary validation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272272" y="5175504"/>
            <a:ext cx="3230880" cy="475488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272272" y="5175504"/>
            <a:ext cx="73152" cy="47548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345424" y="5248656"/>
            <a:ext cx="8778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Impact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59824" y="5248656"/>
            <a:ext cx="217017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[synthetic trend PoC] benchmark 7,000, binary-F1 0.9967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6120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0" y="384048"/>
            <a:ext cx="78638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AI Specialist 인증 | 3개 과제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713232"/>
            <a:ext cx="457200" cy="279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77824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170432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제조품질 AI | Domain-informed design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212848"/>
            <a:ext cx="146304" cy="150876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75688"/>
            <a:ext cx="24688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0" b="1">
                <a:solidFill>
                  <a:srgbClr val="96A0AD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3858767"/>
            <a:ext cx="118872" cy="118872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822191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P1  Failbit Map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4142231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105655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P2  Chip multi-label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425695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4389119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P3  Trend anomaly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697480"/>
            <a:ext cx="786384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E3D"/>
                </a:solidFill>
                <a:latin typeface="맑은 고딕"/>
                <a:ea typeface="맑은 고딕"/>
              </a:rPr>
              <a:t>Failbit Map
Known &amp; Unknown 분석</a:t>
            </a:r>
          </a:p>
          <a:p>
            <a:pPr algn="l"/>
            <a:r>
              <a:rPr sz="1600">
                <a:solidFill>
                  <a:srgbClr val="556075"/>
                </a:solidFill>
                <a:latin typeface="맑은 고딕"/>
                <a:ea typeface="맑은 고딕"/>
              </a:rPr>
              <a:t>대량 Failbit Map을 검색, 검토, 모델 학습이 가능한 운영 구조로 확장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0" y="4187952"/>
            <a:ext cx="7863840" cy="74980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0" y="4187952"/>
            <a:ext cx="82296" cy="7498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58768" y="4187952"/>
            <a:ext cx="1078992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96A0AD"/>
                </a:solidFill>
                <a:latin typeface="맑은 고딕"/>
                <a:ea typeface="맑은 고딕"/>
              </a:rPr>
              <a:t>Rationale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83480" y="4187952"/>
            <a:ext cx="63550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48매 단위 수작업 검토를 일 2만 wafer 규모의 Failbit Map 변환, 검색, 검토 체계로 확장했습니다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5010912"/>
            <a:ext cx="23317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82296" cy="62179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5" y="5010912"/>
            <a:ext cx="20574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E3D"/>
                </a:solidFill>
                <a:latin typeface="맑은 고딕"/>
                <a:ea typeface="맑은 고딕"/>
              </a:rPr>
              <a:t>일 2만</a:t>
            </a:r>
          </a:p>
          <a:p>
            <a:pPr algn="l"/>
            <a:r>
              <a:rPr sz="900" b="1">
                <a:solidFill>
                  <a:srgbClr val="6B7280"/>
                </a:solidFill>
                <a:latin typeface="맑은 고딕"/>
                <a:ea typeface="맑은 고딕"/>
              </a:rPr>
              <a:t>wafer/day [운영]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5742432"/>
            <a:ext cx="23317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" y="5742432"/>
            <a:ext cx="82296" cy="62179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42415" y="5742432"/>
            <a:ext cx="20574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E3D"/>
                </a:solidFill>
                <a:latin typeface="맑은 고딕"/>
                <a:ea typeface="맑은 고딕"/>
              </a:rPr>
              <a:t>F1 0.95</a:t>
            </a:r>
          </a:p>
          <a:p>
            <a:pPr algn="l"/>
            <a:r>
              <a:rPr sz="900" b="1">
                <a:solidFill>
                  <a:srgbClr val="6B7280"/>
                </a:solidFill>
                <a:latin typeface="맑은 고딕"/>
                <a:ea typeface="맑은 고딕"/>
              </a:rPr>
              <a:t>Known F1 [validation]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5138928"/>
            <a:ext cx="10972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Key Result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81728" y="5138928"/>
            <a:ext cx="6858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P1은 양산 운영, P2/P3은 validation/PoC 단계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5541264"/>
            <a:ext cx="28346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Before → After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0" y="5815584"/>
            <a:ext cx="3611880" cy="65836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22192" y="5815584"/>
            <a:ext cx="3282696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6B7280"/>
                </a:solidFill>
                <a:latin typeface="맑은 고딕"/>
                <a:ea typeface="맑은 고딕"/>
              </a:rPr>
              <a:t>Before  </a:t>
            </a:r>
            <a:r>
              <a:rPr sz="1250" b="1">
                <a:solidFill>
                  <a:srgbClr val="1A1F2E"/>
                </a:solidFill>
                <a:latin typeface="맑은 고딕"/>
                <a:ea typeface="맑은 고딕"/>
              </a:rPr>
              <a:t>조회 48매 한계, 수작업 검토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09560" y="5815584"/>
            <a:ext cx="3611880" cy="65836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09560" y="5815584"/>
            <a:ext cx="82296" cy="65836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74152" y="5815584"/>
            <a:ext cx="3282696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96A0AD"/>
                </a:solidFill>
                <a:latin typeface="맑은 고딕"/>
                <a:ea typeface="맑은 고딕"/>
              </a:rPr>
              <a:t>After 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일 2만 wafer 규모의 변환, 검색, 검토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7415784" y="6007608"/>
            <a:ext cx="347472" cy="274320"/>
          </a:xfrm>
          <a:prstGeom prst="rightArrow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65392" y="1170432"/>
            <a:ext cx="2395728" cy="113385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565392" y="1170432"/>
            <a:ext cx="2395728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65392" y="1426464"/>
            <a:ext cx="23957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0F1E3D"/>
                </a:solidFill>
                <a:latin typeface="맑은 고딕"/>
                <a:ea typeface="맑은 고딕"/>
              </a:rPr>
              <a:t>일 2만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11696" y="1920240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A1F2E"/>
                </a:solidFill>
                <a:latin typeface="맑은 고딕"/>
                <a:ea typeface="맑은 고딕"/>
              </a:rPr>
              <a:t>wafer/day [운영]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217152" y="1170432"/>
            <a:ext cx="2395728" cy="113385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217152" y="1170432"/>
            <a:ext cx="2395728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17152" y="1426464"/>
            <a:ext cx="23957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0F1E3D"/>
                </a:solidFill>
                <a:latin typeface="맑은 고딕"/>
                <a:ea typeface="맑은 고딕"/>
              </a:rPr>
              <a:t>F1 0.95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63456" y="1920240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A1F2E"/>
                </a:solidFill>
                <a:latin typeface="맑은 고딕"/>
                <a:ea typeface="맑은 고딕"/>
              </a:rPr>
              <a:t>Known F1 [validation]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전체 아키텍처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Coordinate-preserving Failbit Map operating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15287" y="1783080"/>
            <a:ext cx="8961120" cy="47548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15287" y="1783080"/>
            <a:ext cx="89611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EDS Test  (raw fail-map log)</a:t>
            </a:r>
          </a:p>
        </p:txBody>
      </p:sp>
      <p:sp>
        <p:nvSpPr>
          <p:cNvPr id="7" name="Down Arrow 6"/>
          <p:cNvSpPr/>
          <p:nvPr/>
        </p:nvSpPr>
        <p:spPr>
          <a:xfrm>
            <a:off x="5986119" y="2286000"/>
            <a:ext cx="219456" cy="237744"/>
          </a:xfrm>
          <a:prstGeom prst="downArrow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1879" y="2258568"/>
            <a:ext cx="40233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>
                <a:solidFill>
                  <a:srgbClr val="6B7280"/>
                </a:solidFill>
                <a:latin typeface="맑은 고딕"/>
                <a:ea typeface="맑은 고딕"/>
              </a:rPr>
              <a:t>Cython parsing + hourly batch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15287" y="2551176"/>
            <a:ext cx="8961120" cy="67665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15287" y="2633472"/>
            <a:ext cx="89611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Failbit Map (32색 palette PNG) + chip annotation (FTN / QTN / BIN)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5287" y="2916936"/>
            <a:ext cx="89611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>
                <a:solidFill>
                  <a:srgbClr val="6B7280"/>
                </a:solidFill>
                <a:latin typeface="맑은 고딕"/>
                <a:ea typeface="맑은 고딕"/>
              </a:rPr>
              <a:t>좌표 보존: 이미지, 좌표, 계측값을 같은 wafer 좌표계에 맞춰 저장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986119" y="3255264"/>
            <a:ext cx="219456" cy="237744"/>
          </a:xfrm>
          <a:prstGeom prst="downArrow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1879" y="3227832"/>
            <a:ext cx="40233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>
                <a:solidFill>
                  <a:srgbClr val="6B7280"/>
                </a:solidFill>
                <a:latin typeface="맑은 고딕"/>
                <a:ea typeface="맑은 고딕"/>
              </a:rPr>
              <a:t>같은 자산을 Known 및 Unknown 두 경로가 공유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15287" y="3520440"/>
            <a:ext cx="4251960" cy="1097280"/>
          </a:xfrm>
          <a:prstGeom prst="roundRect">
            <a:avLst/>
          </a:prstGeom>
          <a:solidFill>
            <a:srgbClr val="F2F4F8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98167" y="3566160"/>
            <a:ext cx="3886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Known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7895" y="3849624"/>
            <a:ext cx="3831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>
                <a:solidFill>
                  <a:srgbClr val="1A1F2E"/>
                </a:solidFill>
                <a:latin typeface="Consolas"/>
                <a:ea typeface="Consolas"/>
              </a:rPr>
              <a:t>ConvNeXtV2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07895" y="4105656"/>
            <a:ext cx="3831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>
                <a:solidFill>
                  <a:srgbClr val="1A1F2E"/>
                </a:solidFill>
                <a:latin typeface="Consolas"/>
                <a:ea typeface="Consolas"/>
              </a:rPr>
              <a:t>→ ROI-YOLO  (selective)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07895" y="4361688"/>
            <a:ext cx="3831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>
                <a:solidFill>
                  <a:srgbClr val="1A1F2E"/>
                </a:solidFill>
                <a:latin typeface="Consolas"/>
                <a:ea typeface="Consolas"/>
              </a:rPr>
              <a:t>→ object-id map  [dev]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24447" y="3520440"/>
            <a:ext cx="4251960" cy="1097280"/>
          </a:xfrm>
          <a:prstGeom prst="roundRect">
            <a:avLst/>
          </a:prstGeom>
          <a:solidFill>
            <a:srgbClr val="F2F4F8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7327" y="3566160"/>
            <a:ext cx="3886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Unknown path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17055" y="3849624"/>
            <a:ext cx="3831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>
                <a:solidFill>
                  <a:srgbClr val="1A1F2E"/>
                </a:solidFill>
                <a:latin typeface="Consolas"/>
                <a:ea typeface="Consolas"/>
              </a:rPr>
              <a:t>InfoNCE + grid36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17055" y="4105656"/>
            <a:ext cx="3831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>
                <a:solidFill>
                  <a:srgbClr val="1A1F2E"/>
                </a:solidFill>
                <a:latin typeface="Consolas"/>
                <a:ea typeface="Consolas"/>
              </a:rPr>
              <a:t>→ HDBSCAN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17055" y="4361688"/>
            <a:ext cx="3831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>
                <a:solidFill>
                  <a:srgbClr val="1A1F2E"/>
                </a:solidFill>
                <a:latin typeface="Consolas"/>
                <a:ea typeface="Consolas"/>
              </a:rPr>
              <a:t>→ candidate groups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5986119" y="4645152"/>
            <a:ext cx="219456" cy="237744"/>
          </a:xfrm>
          <a:prstGeom prst="downArrow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1879" y="4617720"/>
            <a:ext cx="40233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>
                <a:solidFill>
                  <a:srgbClr val="6B7280"/>
                </a:solidFill>
                <a:latin typeface="맑은 고딕"/>
                <a:ea typeface="맑은 고딕"/>
              </a:rPr>
              <a:t>두 경로 결과를 한 화면으로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615287" y="4910328"/>
            <a:ext cx="8961120" cy="67665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15287" y="4992624"/>
            <a:ext cx="89611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Analysis UI — fast view / overlay / labeling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15287" y="5276088"/>
            <a:ext cx="89611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>
                <a:solidFill>
                  <a:srgbClr val="6B7280"/>
                </a:solidFill>
                <a:latin typeface="맑은 고딕"/>
                <a:ea typeface="맑은 고딕"/>
              </a:rPr>
              <a:t>운영 viewer (mapviewer): Numba composite + pyvips tile streaming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5986119" y="5614416"/>
            <a:ext cx="219456" cy="237744"/>
          </a:xfrm>
          <a:prstGeom prst="downArrow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51879" y="5586984"/>
            <a:ext cx="40233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>
                <a:solidFill>
                  <a:srgbClr val="6B7280"/>
                </a:solidFill>
                <a:latin typeface="맑은 고딕"/>
                <a:ea typeface="맑은 고딕"/>
              </a:rPr>
              <a:t>human-in-the-loop: register → label → retrain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15287" y="5879592"/>
            <a:ext cx="8961120" cy="47548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15287" y="5879592"/>
            <a:ext cx="89611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Organizational asset base  (image-measure aligned, multimodal-ready)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Concept + field constraint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Failbit Map as discrete spatial-grade representation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57400"/>
            <a:ext cx="5650992" cy="3611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12000"/>
              </a:lnSpc>
              <a:spcAft>
                <a:spcPts val="2200"/>
              </a:spcAft>
            </a:pPr>
            <a:r>
              <a:rPr sz="162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Data</a:t>
            </a:r>
            <a:r>
              <a:rPr sz="1620">
                <a:solidFill>
                  <a:srgbClr val="1A1F2E"/>
                </a:solidFill>
                <a:latin typeface="맑은 고딕"/>
                <a:ea typeface="맑은 고딕"/>
              </a:rPr>
              <a:t> — EDS Failbit Map은 Memory Cell Block 단위 불량 정도를 Grade 0~7로 표현한 wafer-level data입니다</a:t>
            </a:r>
          </a:p>
          <a:p>
            <a:pPr marL="274320" indent="-274320">
              <a:lnSpc>
                <a:spcPct val="112000"/>
              </a:lnSpc>
              <a:spcAft>
                <a:spcPts val="2200"/>
              </a:spcAft>
            </a:pPr>
            <a:r>
              <a:rPr sz="162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Scale</a:t>
            </a:r>
            <a:r>
              <a:rPr sz="1620">
                <a:solidFill>
                  <a:srgbClr val="1A1F2E"/>
                </a:solidFill>
                <a:latin typeface="맑은 고딕"/>
                <a:ea typeface="맑은 고딕"/>
              </a:rPr>
              <a:t> — wafer 1장은 약 1,000만 block 규모입니다. chip당 1개, wafer 내 약 800개 수준의 Measure 값만으로는 불량 위치와 형상 분석이 부족합니다</a:t>
            </a:r>
          </a:p>
          <a:p>
            <a:pPr marL="274320" indent="-274320">
              <a:lnSpc>
                <a:spcPct val="112000"/>
              </a:lnSpc>
              <a:spcAft>
                <a:spcPts val="2200"/>
              </a:spcAft>
            </a:pPr>
            <a:r>
              <a:rPr sz="162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Storage</a:t>
            </a:r>
            <a:r>
              <a:rPr sz="1620">
                <a:solidFill>
                  <a:srgbClr val="1A1F2E"/>
                </a:solidFill>
                <a:latin typeface="맑은 고딕"/>
                <a:ea typeface="맑은 고딕"/>
              </a:rPr>
              <a:t> — palette PNG는 grade index를 저장하고, positions JSON은 chip/block 좌표를 보존해 viewer overlay와 모델 입력을 같은 좌표계로 맞춥니다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25412" y="1316736"/>
            <a:ext cx="4334256" cy="4681728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B9C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725412" y="1316736"/>
            <a:ext cx="4334256" cy="34747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90004" y="1316736"/>
            <a:ext cx="40050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wafer Failbit Map / Edge-Ring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25412" y="1664208"/>
            <a:ext cx="4334256" cy="4334256"/>
          </a:xfrm>
          <a:prstGeom prst="roundRect">
            <a:avLst/>
          </a:prstGeom>
          <a:solidFill>
            <a:srgbClr val="E4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wafer_edge_ring_scratch_r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1716" y="1810512"/>
            <a:ext cx="4041648" cy="40416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76772" y="6053328"/>
            <a:ext cx="54315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2A384C"/>
                </a:solidFill>
                <a:latin typeface="맑은 고딕"/>
                <a:ea typeface="맑은 고딕"/>
              </a:rPr>
              <a:t>최외곽 chip에서 동일 scratch성 fail pattern이 반복되어 edge-ring 형태로 관찰됨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데이터 생성 (fail-map)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8단계 grade → palette PNG 무손실 저장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3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Motivation</a:t>
            </a:r>
            <a:r>
              <a:rPr sz="1350">
                <a:solidFill>
                  <a:srgbClr val="1A1F2E"/>
                </a:solidFill>
                <a:latin typeface="맑은 고딕"/>
                <a:ea typeface="맑은 고딕"/>
              </a:rPr>
              <a:t> — 병목은 변환 속도와 저장 공간입니다. wafer 한 장은 약 1,000만 test result를 포함하고 하루 약 2만 장이 누적되므로, raw log 그대로는 대량 조회와 분석이 어렵습니다. Cython으로 hex-to-grade 변환을 가속하고, EDS 값이 8단계 이산 grade라는 특성을 이용해 32-color palette PNG로 저장 용량을 약 75% 줄였습니다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615184"/>
            <a:ext cx="5303520" cy="3410712"/>
          </a:xfrm>
          <a:prstGeom prst="rect">
            <a:avLst/>
          </a:prstGeom>
          <a:solidFill>
            <a:srgbClr val="FFFFFF"/>
          </a:solidFill>
          <a:ln w="15875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4809744" cy="3154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Hex-to-grade conversion</a:t>
            </a:r>
          </a:p>
          <a:p>
            <a:pPr algn="l"/>
            <a:r>
              <a:rPr sz="5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Raw: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090B0C0D0E0F090A0B0C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Decoding: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"0C" -&gt; "C" -&gt; 12 (hex to decimal) -&gt; 3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Python: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interpreter-based loop execution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Cython: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compiled integer loop execution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Grade: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0 2 3 4 5 6 0 1 2 3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053328"/>
            <a:ext cx="5303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Fig. 1. Hex-to-grade conversion accelerated by Cython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2615184"/>
            <a:ext cx="5303520" cy="3410712"/>
          </a:xfrm>
          <a:prstGeom prst="rect">
            <a:avLst/>
          </a:prstGeom>
          <a:solidFill>
            <a:srgbClr val="FFFFFF"/>
          </a:solidFill>
          <a:ln w="15875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2743200"/>
            <a:ext cx="4809744" cy="3154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RGB PNG vs Palette-indexed PNG</a:t>
            </a:r>
          </a:p>
          <a:p>
            <a:pPr algn="l"/>
            <a:r>
              <a:rPr sz="5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RGB PNG: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[(123,54,24), (123,54,24), ..., (123,54,24)],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[(123,54,24), (123,54,24), ..., (123,54,24)]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Palette-indexed PNG: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P[3] = (123,54,24)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[(3), (3), ..., (3)],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[(3), (3), ..., (3)]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RGB_to_Palette: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(123,54,24) -&gt; (3)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6053328"/>
            <a:ext cx="5303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Fig. 2. Palette-indexed PNG for failbit map compression.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viewer 처리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Numba and pyvips for large-scale Failbit Map viewer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Numba는 메모리에 올라온 grade array의 composite 루프를 native code로 JIT 컴파일하고, pyvips는 대형 PNG를 필요한 stripe/tile만 decode해 viewer peak memory를 낮춥니다.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46150" y="2385303"/>
            <a:ext cx="5091379" cy="3848252"/>
          </a:xfrm>
          <a:prstGeom prst="rect">
            <a:avLst/>
          </a:prstGeom>
          <a:solidFill>
            <a:srgbClr val="F7F7F7"/>
          </a:solidFill>
          <a:ln w="1143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31773" y="2587843"/>
            <a:ext cx="4720132" cy="137726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64361" y="2709367"/>
            <a:ext cx="848563" cy="324063"/>
          </a:xfrm>
          <a:prstGeom prst="round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4361" y="2717468"/>
            <a:ext cx="848563" cy="3078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BEFORE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2030" y="2689113"/>
            <a:ext cx="2121408" cy="324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Interpreter overhead inside loop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52544" y="2709367"/>
            <a:ext cx="954633" cy="324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8A8A8A"/>
                </a:solidFill>
                <a:latin typeface="맑은 고딕"/>
                <a:ea typeface="맑은 고딕"/>
              </a:rPr>
              <a:t>N times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90879" y="3296732"/>
            <a:ext cx="450799" cy="344317"/>
          </a:xfrm>
          <a:prstGeom prst="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0879" y="3296732"/>
            <a:ext cx="450799" cy="34431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1C1C1C"/>
                </a:solidFill>
                <a:latin typeface="Consolas"/>
                <a:ea typeface="Consolas"/>
              </a:rPr>
              <a:t>pixel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27301" y="3215716"/>
            <a:ext cx="556869" cy="506349"/>
          </a:xfrm>
          <a:prstGeom prst="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27301" y="3215716"/>
            <a:ext cx="556869" cy="50634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8A8A8A"/>
                </a:solidFill>
                <a:latin typeface="Consolas"/>
                <a:ea typeface="Consolas"/>
              </a:rPr>
              <a:t>PY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496312" y="3296732"/>
            <a:ext cx="450799" cy="344317"/>
          </a:xfrm>
          <a:prstGeom prst="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96312" y="3296732"/>
            <a:ext cx="450799" cy="34431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1C1C1C"/>
                </a:solidFill>
                <a:latin typeface="Consolas"/>
                <a:ea typeface="Consolas"/>
              </a:rPr>
              <a:t>pixel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32734" y="3215716"/>
            <a:ext cx="556869" cy="506349"/>
          </a:xfrm>
          <a:prstGeom prst="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32734" y="3215716"/>
            <a:ext cx="556869" cy="50634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8A8A8A"/>
                </a:solidFill>
                <a:latin typeface="Consolas"/>
                <a:ea typeface="Consolas"/>
              </a:rPr>
              <a:t>PY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01744" y="3296732"/>
            <a:ext cx="450799" cy="344317"/>
          </a:xfrm>
          <a:prstGeom prst="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01744" y="3296732"/>
            <a:ext cx="450799" cy="34431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1C1C1C"/>
                </a:solidFill>
                <a:latin typeface="Consolas"/>
                <a:ea typeface="Consolas"/>
              </a:rPr>
              <a:t>...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38167" y="3215716"/>
            <a:ext cx="556869" cy="506349"/>
          </a:xfrm>
          <a:prstGeom prst="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8167" y="3215716"/>
            <a:ext cx="556869" cy="50634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8A8A8A"/>
                </a:solidFill>
                <a:latin typeface="Consolas"/>
                <a:ea typeface="Consolas"/>
              </a:rPr>
              <a:t>PY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1552285" y="3389900"/>
            <a:ext cx="159105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ight Arrow 24"/>
          <p:cNvSpPr/>
          <p:nvPr/>
        </p:nvSpPr>
        <p:spPr>
          <a:xfrm>
            <a:off x="2294778" y="3389900"/>
            <a:ext cx="159105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ight Arrow 25"/>
          <p:cNvSpPr/>
          <p:nvPr/>
        </p:nvSpPr>
        <p:spPr>
          <a:xfrm>
            <a:off x="2963021" y="3389900"/>
            <a:ext cx="159105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ight Arrow 26"/>
          <p:cNvSpPr/>
          <p:nvPr/>
        </p:nvSpPr>
        <p:spPr>
          <a:xfrm>
            <a:off x="3700211" y="3389900"/>
            <a:ext cx="159105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ight Arrow 27"/>
          <p:cNvSpPr/>
          <p:nvPr/>
        </p:nvSpPr>
        <p:spPr>
          <a:xfrm>
            <a:off x="4368454" y="3389900"/>
            <a:ext cx="159105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00784" y="3730166"/>
            <a:ext cx="3394252" cy="141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5F5F5F"/>
                </a:solidFill>
                <a:latin typeface="맑은 고딕"/>
                <a:ea typeface="맑은 고딕"/>
              </a:rPr>
              <a:t>per-pixel interpreter dispatch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31773" y="4208160"/>
            <a:ext cx="4720132" cy="1741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064361" y="4329684"/>
            <a:ext cx="848563" cy="324063"/>
          </a:xfrm>
          <a:prstGeom prst="roundRect">
            <a:avLst/>
          </a:prstGeom>
          <a:solidFill>
            <a:srgbClr val="E9E9E9"/>
          </a:solidFill>
          <a:ln w="1016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64361" y="4337785"/>
            <a:ext cx="848563" cy="3078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AFTER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45512" y="4309430"/>
            <a:ext cx="2227478" cy="324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First call JIT-compiles typed loop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914" y="4694255"/>
            <a:ext cx="981151" cy="283555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70432" y="4710458"/>
            <a:ext cx="928115" cy="25114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input dtype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2188707" y="4783372"/>
            <a:ext cx="212140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469794" y="4653747"/>
            <a:ext cx="928115" cy="364571"/>
          </a:xfrm>
          <a:prstGeom prst="rect">
            <a:avLst/>
          </a:prstGeom>
          <a:solidFill>
            <a:srgbClr val="E9E9E9"/>
          </a:solidFill>
          <a:ln w="1016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496312" y="4669950"/>
            <a:ext cx="875080" cy="324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JIT
compile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3477463" y="4783372"/>
            <a:ext cx="212140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89603" y="4653747"/>
            <a:ext cx="1538020" cy="384825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742639" y="4669950"/>
            <a:ext cx="1431950" cy="35241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1C1C1C"/>
                </a:solidFill>
                <a:latin typeface="맑은 고딕"/>
                <a:ea typeface="맑은 고딕"/>
              </a:rPr>
              <a:t>native loop
reused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37844" y="5281620"/>
            <a:ext cx="1087221" cy="303809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64361" y="5297823"/>
            <a:ext cx="1034186" cy="271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input data</a:t>
            </a:r>
          </a:p>
        </p:txBody>
      </p:sp>
      <p:sp>
        <p:nvSpPr>
          <p:cNvPr id="44" name="Right Arrow 43"/>
          <p:cNvSpPr/>
          <p:nvPr/>
        </p:nvSpPr>
        <p:spPr>
          <a:xfrm>
            <a:off x="2188707" y="5366686"/>
            <a:ext cx="185623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310688" y="5139842"/>
            <a:ext cx="2280513" cy="587364"/>
          </a:xfrm>
          <a:prstGeom prst="rect">
            <a:avLst/>
          </a:prstGeom>
          <a:solidFill>
            <a:srgbClr val="5A5A5A"/>
          </a:solidFill>
          <a:ln w="10160">
            <a:solidFill>
              <a:srgbClr val="5A5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390241" y="5200604"/>
            <a:ext cx="2121408" cy="46584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native loop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4670755" y="5366686"/>
            <a:ext cx="212140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962448" y="5281620"/>
            <a:ext cx="530352" cy="303809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962448" y="5297823"/>
            <a:ext cx="530352" cy="271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result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15430" y="2385303"/>
            <a:ext cx="5091379" cy="3848252"/>
          </a:xfrm>
          <a:prstGeom prst="rect">
            <a:avLst/>
          </a:prstGeom>
          <a:solidFill>
            <a:srgbClr val="F7F7F7"/>
          </a:solidFill>
          <a:ln w="1143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601053" y="2648605"/>
            <a:ext cx="4720132" cy="1154475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6733641" y="2770129"/>
            <a:ext cx="769010" cy="303809"/>
          </a:xfrm>
          <a:prstGeom prst="round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733641" y="2782281"/>
            <a:ext cx="769010" cy="2754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PILLOW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661757" y="2790383"/>
            <a:ext cx="1193292" cy="24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5F5F5F"/>
                </a:solidFill>
                <a:latin typeface="맑은 고딕"/>
                <a:ea typeface="맑은 고딕"/>
              </a:rPr>
              <a:t>full-frame buffer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813194" y="3203563"/>
            <a:ext cx="477316" cy="291657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882140" y="3260274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882140" y="3316986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882140" y="3373697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707124" y="3511424"/>
            <a:ext cx="689457" cy="162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FILE</a:t>
            </a:r>
          </a:p>
        </p:txBody>
      </p:sp>
      <p:sp>
        <p:nvSpPr>
          <p:cNvPr id="60" name="Right Arrow 59"/>
          <p:cNvSpPr/>
          <p:nvPr/>
        </p:nvSpPr>
        <p:spPr>
          <a:xfrm>
            <a:off x="7396581" y="3349392"/>
            <a:ext cx="185623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688275" y="3154954"/>
            <a:ext cx="769010" cy="405079"/>
          </a:xfrm>
          <a:prstGeom prst="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767828" y="3215716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767828" y="3272427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767828" y="3329138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67828" y="3385849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67828" y="3442560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529169" y="3576236"/>
            <a:ext cx="1087221" cy="141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19" b="1">
                <a:solidFill>
                  <a:srgbClr val="1C1C1C"/>
                </a:solidFill>
                <a:latin typeface="맑은 고딕"/>
                <a:ea typeface="맑은 고딕"/>
              </a:rPr>
              <a:t>full RGB frame</a:t>
            </a:r>
          </a:p>
        </p:txBody>
      </p:sp>
      <p:sp>
        <p:nvSpPr>
          <p:cNvPr id="68" name="Right Arrow 67"/>
          <p:cNvSpPr/>
          <p:nvPr/>
        </p:nvSpPr>
        <p:spPr>
          <a:xfrm>
            <a:off x="8563356" y="3349392"/>
            <a:ext cx="185623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881567" y="3142801"/>
            <a:ext cx="1113739" cy="518501"/>
          </a:xfrm>
          <a:prstGeom prst="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908084" y="3171157"/>
            <a:ext cx="1060704" cy="13772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full-image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961120" y="3349392"/>
            <a:ext cx="954633" cy="267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5F5F5F"/>
                </a:solidFill>
                <a:latin typeface="맑은 고딕"/>
                <a:ea typeface="맑은 고딕"/>
              </a:rPr>
              <a:t>decode
encode</a:t>
            </a:r>
          </a:p>
        </p:txBody>
      </p:sp>
      <p:sp>
        <p:nvSpPr>
          <p:cNvPr id="72" name="Right Arrow 71"/>
          <p:cNvSpPr/>
          <p:nvPr/>
        </p:nvSpPr>
        <p:spPr>
          <a:xfrm>
            <a:off x="10074859" y="3349392"/>
            <a:ext cx="185623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0499140" y="3203563"/>
            <a:ext cx="477316" cy="291657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0568086" y="3256224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0568086" y="3304833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0568086" y="3353443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0568086" y="3402052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366552" y="3511424"/>
            <a:ext cx="742492" cy="162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output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601053" y="4147398"/>
            <a:ext cx="4720132" cy="127599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6733641" y="4268922"/>
            <a:ext cx="848563" cy="303809"/>
          </a:xfrm>
          <a:prstGeom prst="roundRect">
            <a:avLst/>
          </a:prstGeom>
          <a:solidFill>
            <a:srgbClr val="E9E9E9"/>
          </a:solidFill>
          <a:ln w="10160">
            <a:solidFill>
              <a:srgbClr val="A8A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733641" y="4281074"/>
            <a:ext cx="848563" cy="2754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LIBVIPS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661757" y="4289176"/>
            <a:ext cx="1193292" cy="24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5F5F5F"/>
                </a:solidFill>
                <a:latin typeface="맑은 고딕"/>
                <a:ea typeface="맑은 고딕"/>
              </a:rPr>
              <a:t>active-stripe buffer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813194" y="4759067"/>
            <a:ext cx="477316" cy="291657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882140" y="4815779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882140" y="4872490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882140" y="4929201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707124" y="5099334"/>
            <a:ext cx="689457" cy="162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FILE</a:t>
            </a:r>
          </a:p>
        </p:txBody>
      </p:sp>
      <p:sp>
        <p:nvSpPr>
          <p:cNvPr id="88" name="Right Arrow 87"/>
          <p:cNvSpPr/>
          <p:nvPr/>
        </p:nvSpPr>
        <p:spPr>
          <a:xfrm>
            <a:off x="7396581" y="4904896"/>
            <a:ext cx="185623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688275" y="4702356"/>
            <a:ext cx="769010" cy="405079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767828" y="4763118"/>
            <a:ext cx="609904" cy="2835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767828" y="4819829"/>
            <a:ext cx="609904" cy="2835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767828" y="4876540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767828" y="4933252"/>
            <a:ext cx="609904" cy="2835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7767828" y="4989963"/>
            <a:ext cx="609904" cy="2835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608722" y="5123639"/>
            <a:ext cx="928115" cy="141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80" b="1">
                <a:solidFill>
                  <a:srgbClr val="1C1C1C"/>
                </a:solidFill>
                <a:latin typeface="맑은 고딕"/>
                <a:ea typeface="맑은 고딕"/>
              </a:rPr>
              <a:t>RGB stripe</a:t>
            </a:r>
          </a:p>
        </p:txBody>
      </p:sp>
      <p:sp>
        <p:nvSpPr>
          <p:cNvPr id="96" name="Right Arrow 95"/>
          <p:cNvSpPr/>
          <p:nvPr/>
        </p:nvSpPr>
        <p:spPr>
          <a:xfrm>
            <a:off x="8563356" y="4904896"/>
            <a:ext cx="185623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881567" y="4674001"/>
            <a:ext cx="1113739" cy="607618"/>
          </a:xfrm>
          <a:prstGeom prst="rect">
            <a:avLst/>
          </a:prstGeom>
          <a:solidFill>
            <a:srgbClr val="E9E9E9"/>
          </a:solidFill>
          <a:ln w="10160">
            <a:solidFill>
              <a:srgbClr val="A8A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908084" y="4686153"/>
            <a:ext cx="1060704" cy="24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1C1C1C"/>
                </a:solidFill>
                <a:latin typeface="맑은 고딕"/>
                <a:ea typeface="맑은 고딕"/>
              </a:rPr>
              <a:t>streaming
C pipeline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961120" y="4957556"/>
            <a:ext cx="954633" cy="2025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40" b="1">
                <a:solidFill>
                  <a:srgbClr val="5F5F5F"/>
                </a:solidFill>
                <a:latin typeface="맑은 고딕"/>
                <a:ea typeface="맑은 고딕"/>
              </a:rPr>
              <a:t>decode
encode</a:t>
            </a:r>
          </a:p>
        </p:txBody>
      </p:sp>
      <p:sp>
        <p:nvSpPr>
          <p:cNvPr id="100" name="Right Arrow 99"/>
          <p:cNvSpPr/>
          <p:nvPr/>
        </p:nvSpPr>
        <p:spPr>
          <a:xfrm>
            <a:off x="10074859" y="4904896"/>
            <a:ext cx="185623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499140" y="4759067"/>
            <a:ext cx="477316" cy="291657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8086" y="4811728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8086" y="4860337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8086" y="4908947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8086" y="4957556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0366552" y="5099334"/>
            <a:ext cx="742492" cy="162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output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7078370" y="5706953"/>
            <a:ext cx="3765499" cy="283555"/>
          </a:xfrm>
          <a:prstGeom prst="rect">
            <a:avLst/>
          </a:prstGeom>
          <a:solidFill>
            <a:srgbClr val="EAEAEA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078370" y="5731258"/>
            <a:ext cx="3765499" cy="23494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same output with bounded active rows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Known 2단계 상세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Known validation: CNN tuning → selective ROI-YOLO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1-stage CNN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 — 1,500장 labeled data와 위치·국소 pattern 중심 특성에서는 CNN의 locality inductive bias가 더 sample-efficient하다고 판단했습니다. 동일 split에서 ConvNeXtV2와 MaxViT는 F1 0.87 동급이었고, ConvNeXtV2가 더 가벼워 채택했습니다</a:t>
            </a:r>
          </a:p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Tuning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 — Optuna로 warmup→cosine, focal loss, class-imbalance, augmentation strength를 조정해 F1 0.92까지 올렸습니다</a:t>
            </a:r>
          </a:p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2-stage ROI-YOLO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 — low-confidence wafer만 ROI chip failure pattern으로 2차 분류해 최종 F1 0.95를 달성했습니다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2944368"/>
            <a:ext cx="2779776" cy="2670048"/>
          </a:xfrm>
          <a:prstGeom prst="rect">
            <a:avLst/>
          </a:prstGeom>
          <a:solidFill>
            <a:srgbClr val="E4EAF4"/>
          </a:solidFill>
          <a:ln w="15875">
            <a:solidFill>
              <a:srgbClr val="B9C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afer_center_scr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" y="2944368"/>
            <a:ext cx="2670048" cy="2670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8932" y="5614416"/>
            <a:ext cx="368503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① Before / raw wafer-level image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4736592" y="2944368"/>
            <a:ext cx="2779776" cy="2670048"/>
          </a:xfrm>
          <a:prstGeom prst="rect">
            <a:avLst/>
          </a:prstGeom>
          <a:solidFill>
            <a:srgbClr val="E4EAF4"/>
          </a:solidFill>
          <a:ln w="15875">
            <a:solidFill>
              <a:srgbClr val="B9C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1_roi_crop_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1456" y="2944368"/>
            <a:ext cx="2670048" cy="2670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283964" y="5614416"/>
            <a:ext cx="368503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② ROI crop (low-confidence region)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21624" y="2944368"/>
            <a:ext cx="2779776" cy="2670048"/>
          </a:xfrm>
          <a:prstGeom prst="rect">
            <a:avLst/>
          </a:prstGeom>
          <a:solidFill>
            <a:srgbClr val="E4EAF4"/>
          </a:solidFill>
          <a:ln w="24130">
            <a:solidFill>
              <a:srgbClr val="96A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1_chip_yolo_box_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6488" y="2944368"/>
            <a:ext cx="2670048" cy="2670048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8494776" y="3017520"/>
            <a:ext cx="1024128" cy="29260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</a:rPr>
              <a:t>Detection result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68996" y="5614416"/>
            <a:ext cx="368503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③ After / chip-level fail pattern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ConvNeXtV2 1차 분류 후 low-confidence image만 2-stage ROI-YOLO로 보내 chip-level failure pattern을 2차 분류합니다. Optuna 0.92 → 2-stage 0.95. (자문: 연세대학교 인공지능학과 전해곤 교수)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P1 | Known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Known 16-class backbone scan and staged improvement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20" b="1">
                <a:solidFill>
                  <a:srgbClr val="0F1E3D"/>
                </a:solidFill>
                <a:latin typeface="맑은 고딕"/>
                <a:ea typeface="맑은 고딕"/>
              </a:rPr>
              <a:t>[실전 현업 데이터 validation] 16 class / 1,500 labeled / 4:1 stratified split.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719072"/>
          <a:ext cx="10972800" cy="374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9095"/>
                <a:gridCol w="3477718"/>
                <a:gridCol w="1259173"/>
                <a:gridCol w="4856814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19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Stage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Configuration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Weighted F1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Decision / note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</a:tr>
              <a:tr h="427481"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Baseline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6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ImageNet pretrained CNN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0.78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6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starting point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427481"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Backbone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6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ViT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0.81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6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same split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427481"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Backbone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6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Swin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0.84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6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same split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427481"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Backbone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6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EffNetV2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0.85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6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same split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427481"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Backbone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6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MaxViT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0.87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6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119.5M params / 74.2G FLOPs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427481"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Backbone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6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ConvNeXtV2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0.87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6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selected: 88.6M params / 45.1G FLOPs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427481"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HPO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6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ConvNeXtV2 + Optuna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6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0.92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6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warmup→cosine schedule, focal loss, class-imbalance weighting, augmentation strength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427481">
                <a:tc>
                  <a:txBody>
                    <a:bodyPr/>
                    <a:lstStyle/>
                    <a:p>
                      <a:pPr algn="ctr"/>
                      <a:r>
                        <a:rPr sz="969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Cascade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69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ConvNeXtV2 + Optuna + ROI-YOLO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69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69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low-confidence wafer only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41248" y="5650992"/>
            <a:ext cx="3401568" cy="71323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1248" y="5650992"/>
            <a:ext cx="3401568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5779008"/>
            <a:ext cx="31821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0.78 → 0.87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6089904"/>
            <a:ext cx="31821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A1F2E"/>
                </a:solidFill>
                <a:latin typeface="맑은 고딕"/>
                <a:ea typeface="맑은 고딕"/>
              </a:rPr>
              <a:t>backbone gain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5650992"/>
            <a:ext cx="3401568" cy="71323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5650992"/>
            <a:ext cx="3401568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81728" y="5779008"/>
            <a:ext cx="31821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0.87 → 0.92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6089904"/>
            <a:ext cx="31821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A1F2E"/>
                </a:solidFill>
                <a:latin typeface="맑은 고딕"/>
                <a:ea typeface="맑은 고딕"/>
              </a:rPr>
              <a:t>Optuna HPO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02752" y="5650992"/>
            <a:ext cx="3401568" cy="71323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02752" y="5650992"/>
            <a:ext cx="3401568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5779008"/>
            <a:ext cx="31821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0.92 → 0.95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6089904"/>
            <a:ext cx="31821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A1F2E"/>
                </a:solidFill>
                <a:latin typeface="맑은 고딕"/>
                <a:ea typeface="맑은 고딕"/>
              </a:rPr>
              <a:t>ROI-YOLO cascade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칩 식별 지도 (후속 개발)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차세대 Stage-2: ROI detection → chip identity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3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Current Stage-2</a:t>
            </a:r>
            <a:r>
              <a:rPr sz="1350">
                <a:solidFill>
                  <a:srgbClr val="1A1F2E"/>
                </a:solidFill>
                <a:latin typeface="맑은 고딕"/>
                <a:ea typeface="맑은 고딕"/>
              </a:rPr>
              <a:t> — ROI-YOLO는 field-validated 구조지만, 선택된 ROI 안에서 box regression, classification, NMS를 수행하므로 class 확장과 detector annotation cost가 남습니다</a:t>
            </a:r>
          </a:p>
          <a:p>
            <a:pPr marL="274320" indent="-274320">
              <a:spcAft>
                <a:spcPts val="500"/>
              </a:spcAft>
            </a:pPr>
            <a:r>
              <a:rPr sz="13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Object-id map</a:t>
            </a:r>
            <a:r>
              <a:rPr sz="1350">
                <a:solidFill>
                  <a:srgbClr val="1A1F2E"/>
                </a:solidFill>
                <a:latin typeface="맑은 고딕"/>
                <a:ea typeface="맑은 고딕"/>
              </a:rPr>
              <a:t> — 제품별 chip coordinate를 재사용해 fixed crop classification으로 바꾸고, chip별 class id를 32×32 wafer grid에 되돌려 배치합니다</a:t>
            </a:r>
          </a:p>
          <a:p>
            <a:pPr marL="274320" indent="-274320">
              <a:spcAft>
                <a:spcPts val="500"/>
              </a:spcAft>
            </a:pPr>
            <a:r>
              <a:rPr sz="13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Metric</a:t>
            </a:r>
            <a:r>
              <a:rPr sz="1350">
                <a:solidFill>
                  <a:srgbClr val="1A1F2E"/>
                </a:solidFill>
                <a:latin typeface="맑은 고딕"/>
                <a:ea typeface="맑은 고딕"/>
              </a:rPr>
              <a:t> — selected obj-only: val F1 0.9946 / hold-out F1 0.9872. 별도 raw+obj-id 5-seed val F1 0.9838 ± 0.0092</a:t>
            </a:r>
          </a:p>
        </p:txBody>
      </p:sp>
      <p:pic>
        <p:nvPicPr>
          <p:cNvPr id="6" name="Picture 5" descr="AAN585_00P_18_20260501_010000_97.6_2_EE_NORMAL_r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" y="3200400"/>
            <a:ext cx="2340864" cy="234086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1124712" y="3273552"/>
            <a:ext cx="566928" cy="274320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</a:rPr>
              <a:t>pair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" y="5541264"/>
            <a:ext cx="26791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Product A / raw intensity</a:t>
            </a:r>
          </a:p>
        </p:txBody>
      </p:sp>
      <p:pic>
        <p:nvPicPr>
          <p:cNvPr id="9" name="Picture 8" descr="AAN585_00P_18_20260501_010000_97.6_2_EE_NORMAL_obj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5616" y="3200400"/>
            <a:ext cx="2340864" cy="234086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3803904" y="3273552"/>
            <a:ext cx="566928" cy="274320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</a:rPr>
              <a:t>pair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6452" y="5541264"/>
            <a:ext cx="26791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Product A / object-id grid</a:t>
            </a:r>
          </a:p>
        </p:txBody>
      </p:sp>
      <p:pic>
        <p:nvPicPr>
          <p:cNvPr id="12" name="Picture 11" descr="ACZ452_00P_14_20260501_010000_97.6_2_PT_NORMAL_ra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808" y="3200400"/>
            <a:ext cx="2340864" cy="2340864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483096" y="3273552"/>
            <a:ext cx="566928" cy="274320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</a:rPr>
              <a:t>pair 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5644" y="5541264"/>
            <a:ext cx="26791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Product B / raw intensity</a:t>
            </a:r>
          </a:p>
        </p:txBody>
      </p:sp>
      <p:pic>
        <p:nvPicPr>
          <p:cNvPr id="15" name="Picture 14" descr="ACZ452_00P_14_20260501_010000_97.6_2_PT_NORMAL_obj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0" y="3200400"/>
            <a:ext cx="2340864" cy="2340864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9162288" y="3273552"/>
            <a:ext cx="566928" cy="274320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</a:rPr>
              <a:t>pair 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74836" y="5541264"/>
            <a:ext cx="26791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Product B / object-id grid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Field-validated 대표 성과는 ROI-YOLO 2-stage F1 0.95이고, object-id map은 detector cost와 class 확장 부담을 줄이기 위한 차세대 Stage-2 구조입니다.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Unknown 탐색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Contrastive clustering for Unknown candidates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Embedding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 — same-wafer views를 alignment target으로 두고, other wafers를 contrastive reference로 사용합니다</a:t>
            </a:r>
          </a:p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Review output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 — HDBSCAN 결과는 자동 판정이 아니라 엔지니어가 검토할 신규 failure 후보 group입니다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424" y="2606184"/>
            <a:ext cx="3017232" cy="3017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afer_center_bank_bound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" y="2615184"/>
            <a:ext cx="2999232" cy="29992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5820" y="5614416"/>
            <a:ext cx="35204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Center Bank-Boundary</a:t>
            </a:r>
          </a:p>
        </p:txBody>
      </p:sp>
      <p:sp>
        <p:nvSpPr>
          <p:cNvPr id="9" name="Rectangle 8"/>
          <p:cNvSpPr/>
          <p:nvPr/>
        </p:nvSpPr>
        <p:spPr>
          <a:xfrm>
            <a:off x="4617864" y="2606184"/>
            <a:ext cx="3017232" cy="3017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wafer_brokenr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6864" y="2615184"/>
            <a:ext cx="2999232" cy="29992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366260" y="5614416"/>
            <a:ext cx="35204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BrokenRing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304" y="2606184"/>
            <a:ext cx="3017232" cy="3017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wafer_crescentar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7304" y="2615184"/>
            <a:ext cx="2999232" cy="29992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86700" y="5614416"/>
            <a:ext cx="35204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CrescentArc (신규)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실제 현업 데이터 2,000장 review: 13개 후보 중 7개 신규 failure 확인. 화면 이미지는 후속 튜닝용 생성/개발 예시입니다.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Unknown 대조 학습: contrastive loss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False-negative-aware contrastive embedding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SimCLR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 — positive-pair alignment와 in-batch negative contrast로 wafer pattern embedding을 학습합니다</a:t>
            </a:r>
          </a:p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Negative similarity filter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 — cosine similarity가 높은 near-positive candidate를 negative set에서 제외해 false-negative push를 방지합니다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596896"/>
            <a:ext cx="530352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E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f_simclr_framework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2065" y="2631186"/>
            <a:ext cx="2919548" cy="2263140"/>
          </a:xfrm>
          <a:prstGeom prst="rect">
            <a:avLst/>
          </a:prstGeom>
        </p:spPr>
      </p:pic>
      <p:pic>
        <p:nvPicPr>
          <p:cNvPr id="8" name="Picture 7" descr="ref_simclr_loss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3446" y="4962906"/>
            <a:ext cx="3236786" cy="94297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6053328"/>
            <a:ext cx="5303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SimCLR: positive-pair alignment with in-batch negative contrast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2596896"/>
            <a:ext cx="530352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E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086039" y="2836926"/>
            <a:ext cx="0" cy="2948940"/>
          </a:xfrm>
          <a:prstGeom prst="line">
            <a:avLst/>
          </a:prstGeom>
          <a:ln w="12700">
            <a:solidFill>
              <a:srgbClr val="EAEE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836200" y="2836926"/>
            <a:ext cx="0" cy="2948940"/>
          </a:xfrm>
          <a:prstGeom prst="line">
            <a:avLst/>
          </a:prstGeom>
          <a:ln w="12700">
            <a:solidFill>
              <a:srgbClr val="EAEE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601053" y="4431411"/>
            <a:ext cx="4720133" cy="0"/>
          </a:xfrm>
          <a:prstGeom prst="line">
            <a:avLst/>
          </a:prstGeom>
          <a:ln w="12700">
            <a:solidFill>
              <a:srgbClr val="EAEE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94983" y="2836926"/>
            <a:ext cx="1431950" cy="2571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Positive</a:t>
            </a:r>
          </a:p>
        </p:txBody>
      </p:sp>
      <p:sp>
        <p:nvSpPr>
          <p:cNvPr id="15" name="Oval 14"/>
          <p:cNvSpPr/>
          <p:nvPr/>
        </p:nvSpPr>
        <p:spPr>
          <a:xfrm>
            <a:off x="6834938" y="3578733"/>
            <a:ext cx="265176" cy="265176"/>
          </a:xfrm>
          <a:prstGeom prst="ellipse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38708" y="3917061"/>
            <a:ext cx="371246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6181D"/>
                </a:solidFill>
                <a:latin typeface="Cambria Math"/>
                <a:ea typeface="Cambria Math"/>
              </a:rPr>
              <a:t>q</a:t>
            </a:r>
          </a:p>
        </p:txBody>
      </p:sp>
      <p:sp>
        <p:nvSpPr>
          <p:cNvPr id="17" name="Oval 16"/>
          <p:cNvSpPr/>
          <p:nvPr/>
        </p:nvSpPr>
        <p:spPr>
          <a:xfrm>
            <a:off x="7338243" y="3277896"/>
            <a:ext cx="318211" cy="318211"/>
          </a:xfrm>
          <a:prstGeom prst="ellipse">
            <a:avLst/>
          </a:prstGeom>
          <a:solidFill>
            <a:srgbClr val="FFFFFF"/>
          </a:solidFill>
          <a:ln w="13970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 flipH="1">
            <a:off x="6967526" y="3437001"/>
            <a:ext cx="529822" cy="274320"/>
          </a:xfrm>
          <a:prstGeom prst="line">
            <a:avLst/>
          </a:prstGeom>
          <a:ln w="19685">
            <a:solidFill>
              <a:srgbClr val="0F1E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667061" y="3179826"/>
            <a:ext cx="503834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6181D"/>
                </a:solidFill>
                <a:latin typeface="Cambria Math"/>
                <a:ea typeface="Cambria Math"/>
              </a:rPr>
              <a:t>p⁺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4983" y="4620006"/>
            <a:ext cx="1431950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Consolas"/>
                <a:ea typeface="Consolas"/>
              </a:rPr>
              <a:t>PULL TERM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4983" y="4877181"/>
            <a:ext cx="1431950" cy="2400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16181D"/>
                </a:solidFill>
                <a:latin typeface="맑은 고딕"/>
                <a:ea typeface="맑은 고딕"/>
              </a:rPr>
              <a:t>similar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4983" y="5391531"/>
            <a:ext cx="1431950" cy="3086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6181D"/>
                </a:solidFill>
                <a:latin typeface="맑은 고딕"/>
                <a:ea typeface="맑은 고딕"/>
              </a:rPr>
              <a:t>pull closer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45144" y="2836926"/>
            <a:ext cx="1431950" cy="2571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Negative</a:t>
            </a:r>
          </a:p>
        </p:txBody>
      </p:sp>
      <p:sp>
        <p:nvSpPr>
          <p:cNvPr id="24" name="Oval 23"/>
          <p:cNvSpPr/>
          <p:nvPr/>
        </p:nvSpPr>
        <p:spPr>
          <a:xfrm>
            <a:off x="8585100" y="3578733"/>
            <a:ext cx="265176" cy="265176"/>
          </a:xfrm>
          <a:prstGeom prst="ellipse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88870" y="3917061"/>
            <a:ext cx="371246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6181D"/>
                </a:solidFill>
                <a:latin typeface="Cambria Math"/>
                <a:ea typeface="Cambria Math"/>
              </a:rPr>
              <a:t>q</a:t>
            </a:r>
          </a:p>
        </p:txBody>
      </p:sp>
      <p:sp>
        <p:nvSpPr>
          <p:cNvPr id="26" name="Isosceles Triangle 25"/>
          <p:cNvSpPr/>
          <p:nvPr/>
        </p:nvSpPr>
        <p:spPr>
          <a:xfrm>
            <a:off x="9179625" y="3763259"/>
            <a:ext cx="307604" cy="307604"/>
          </a:xfrm>
          <a:prstGeom prst="triangl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8717688" y="3711321"/>
            <a:ext cx="615739" cy="205740"/>
          </a:xfrm>
          <a:prstGeom prst="line">
            <a:avLst/>
          </a:prstGeom>
          <a:ln w="12700">
            <a:solidFill>
              <a:srgbClr val="5560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200839" y="4139946"/>
            <a:ext cx="503834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80" b="1">
                <a:solidFill>
                  <a:srgbClr val="0F1E3D"/>
                </a:solidFill>
                <a:latin typeface="Cambria Math"/>
                <a:ea typeface="Cambria Math"/>
              </a:rPr>
              <a:t>n⁻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5144" y="4620006"/>
            <a:ext cx="1431950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Consolas"/>
                <a:ea typeface="Consolas"/>
              </a:rPr>
              <a:t>PUSH TERM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45144" y="4877181"/>
            <a:ext cx="1431950" cy="2400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16181D"/>
                </a:solidFill>
                <a:latin typeface="맑은 고딕"/>
                <a:ea typeface="맑은 고딕"/>
              </a:rPr>
              <a:t>far away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45144" y="5391531"/>
            <a:ext cx="1431950" cy="3086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6181D"/>
                </a:solidFill>
                <a:latin typeface="맑은 고딕"/>
                <a:ea typeface="맑은 고딕"/>
              </a:rPr>
              <a:t>weak push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95306" y="2836926"/>
            <a:ext cx="1431950" cy="2571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False negative risk</a:t>
            </a:r>
          </a:p>
        </p:txBody>
      </p:sp>
      <p:sp>
        <p:nvSpPr>
          <p:cNvPr id="33" name="Oval 32"/>
          <p:cNvSpPr/>
          <p:nvPr/>
        </p:nvSpPr>
        <p:spPr>
          <a:xfrm>
            <a:off x="10335262" y="3578733"/>
            <a:ext cx="265176" cy="265176"/>
          </a:xfrm>
          <a:prstGeom prst="ellipse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39031" y="3917061"/>
            <a:ext cx="371246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6181D"/>
                </a:solidFill>
                <a:latin typeface="Cambria Math"/>
                <a:ea typeface="Cambria Math"/>
              </a:rPr>
              <a:t>q</a:t>
            </a:r>
          </a:p>
        </p:txBody>
      </p:sp>
      <p:sp>
        <p:nvSpPr>
          <p:cNvPr id="35" name="Oval 34"/>
          <p:cNvSpPr/>
          <p:nvPr/>
        </p:nvSpPr>
        <p:spPr>
          <a:xfrm>
            <a:off x="10724010" y="3449346"/>
            <a:ext cx="318211" cy="318211"/>
          </a:xfrm>
          <a:prstGeom prst="ellipse">
            <a:avLst/>
          </a:prstGeom>
          <a:solidFill>
            <a:srgbClr val="C5CBD6"/>
          </a:solidFill>
          <a:ln w="13970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 flipV="1">
            <a:off x="10467850" y="3608451"/>
            <a:ext cx="415265" cy="102870"/>
          </a:xfrm>
          <a:prstGeom prst="line">
            <a:avLst/>
          </a:prstGeom>
          <a:ln w="20320">
            <a:solidFill>
              <a:srgbClr val="0F1E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11052828" y="3351275"/>
            <a:ext cx="530352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80" b="1">
                <a:solidFill>
                  <a:srgbClr val="0F1E3D"/>
                </a:solidFill>
                <a:latin typeface="Cambria Math"/>
                <a:ea typeface="Cambria Math"/>
              </a:rPr>
              <a:t>h⁻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95306" y="4620006"/>
            <a:ext cx="1431950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Consolas"/>
                <a:ea typeface="Consolas"/>
              </a:rPr>
              <a:t>EXCLUDED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95306" y="4877181"/>
            <a:ext cx="1431950" cy="2400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16181D"/>
                </a:solidFill>
                <a:latin typeface="맑은 고딕"/>
                <a:ea typeface="맑은 고딕"/>
              </a:rPr>
              <a:t>too close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95306" y="5391531"/>
            <a:ext cx="1431950" cy="3086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6181D"/>
                </a:solidFill>
                <a:latin typeface="맑은 고딕"/>
                <a:ea typeface="맑은 고딕"/>
              </a:rPr>
              <a:t>protect cluster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60" y="6053328"/>
            <a:ext cx="5303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Negative similarity filter: potential false-negative exclusion preserves cluster compactness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Unknown 대조 학습: queue와 patch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MoCo queue와 NeCo patch consistency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5613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300"/>
              </a:spcAft>
            </a:pPr>
            <a:r>
              <a:rPr sz="132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320" b="1">
                <a:solidFill>
                  <a:srgbClr val="0F1E3D"/>
                </a:solidFill>
                <a:latin typeface="맑은 고딕"/>
                <a:ea typeface="맑은 고딕"/>
              </a:rPr>
              <a:t>MoCo</a:t>
            </a:r>
            <a:r>
              <a:rPr sz="1320">
                <a:solidFill>
                  <a:srgbClr val="1A1F2E"/>
                </a:solidFill>
                <a:latin typeface="맑은 고딕"/>
                <a:ea typeface="맑은 고딕"/>
              </a:rPr>
              <a:t> — queue로 minibatch 밖 negative dictionary를 확장해 contrastive reference set을 넓힙니다</a:t>
            </a:r>
          </a:p>
          <a:p>
            <a:pPr marL="274320" indent="-274320">
              <a:spcAft>
                <a:spcPts val="300"/>
              </a:spcAft>
            </a:pPr>
            <a:r>
              <a:rPr sz="132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320" b="1">
                <a:solidFill>
                  <a:srgbClr val="0F1E3D"/>
                </a:solidFill>
                <a:latin typeface="맑은 고딕"/>
                <a:ea typeface="맑은 고딕"/>
              </a:rPr>
              <a:t>NeCo</a:t>
            </a:r>
            <a:r>
              <a:rPr sz="1320">
                <a:solidFill>
                  <a:srgbClr val="1A1F2E"/>
                </a:solidFill>
                <a:latin typeface="맑은 고딕"/>
                <a:ea typeface="맑은 고딕"/>
              </a:rPr>
              <a:t> — patch-neighbor consistency로 같은 failure pattern의 local structure가 view마다 흔들리지 않게 정규화합니다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2011680"/>
            <a:ext cx="3273552" cy="39684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2011680"/>
            <a:ext cx="3273552" cy="347472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2011680"/>
            <a:ext cx="327355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20" b="1">
                <a:solidFill>
                  <a:srgbClr val="FFFFFF"/>
                </a:solidFill>
                <a:latin typeface="맑은 고딕"/>
                <a:ea typeface="맑은 고딕"/>
              </a:rPr>
              <a:t>MoCo queue</a:t>
            </a:r>
          </a:p>
        </p:txBody>
      </p:sp>
      <p:pic>
        <p:nvPicPr>
          <p:cNvPr id="9" name="Picture 8" descr="ref_moco_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574" y="2523744"/>
            <a:ext cx="2504868" cy="2029968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77824" y="4782312"/>
            <a:ext cx="2944368" cy="10058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873752"/>
            <a:ext cx="272491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0" b="1">
                <a:solidFill>
                  <a:srgbClr val="0F1E3D"/>
                </a:solidFill>
                <a:latin typeface="맑은 고딕"/>
                <a:ea typeface="맑은 고딕"/>
              </a:rPr>
              <a:t>Role in loss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5157216"/>
            <a:ext cx="2724912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60">
                <a:solidFill>
                  <a:srgbClr val="1A1F2E"/>
                </a:solidFill>
                <a:latin typeface="맑은 고딕"/>
                <a:ea typeface="맑은 고딕"/>
              </a:rPr>
              <a:t>maintains queue negatives beyond the current minibatch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42816" y="2011680"/>
            <a:ext cx="7214616" cy="39684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42816" y="2011680"/>
            <a:ext cx="7214616" cy="347472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42816" y="2011680"/>
            <a:ext cx="721461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20" b="1">
                <a:solidFill>
                  <a:srgbClr val="FFFFFF"/>
                </a:solidFill>
                <a:latin typeface="맑은 고딕"/>
                <a:ea typeface="맑은 고딕"/>
              </a:rPr>
              <a:t>NeCo patch consistency</a:t>
            </a:r>
          </a:p>
        </p:txBody>
      </p:sp>
      <p:pic>
        <p:nvPicPr>
          <p:cNvPr id="16" name="Picture 15" descr="ref_neco_metho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832" y="2486965"/>
            <a:ext cx="6958584" cy="278018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443984" y="5148072"/>
            <a:ext cx="681228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60">
                <a:solidFill>
                  <a:srgbClr val="6B7280"/>
                </a:solidFill>
                <a:latin typeface="맑은 고딕"/>
                <a:ea typeface="맑은 고딕"/>
              </a:rPr>
              <a:t>NeCo mechanism adapted from original paper figure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07408" y="5358384"/>
            <a:ext cx="2221992" cy="62179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5422392"/>
            <a:ext cx="207568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80" b="1">
                <a:solidFill>
                  <a:srgbClr val="0F1E3D"/>
                </a:solidFill>
                <a:latin typeface="맑은 고딕"/>
                <a:ea typeface="맑은 고딕"/>
              </a:rPr>
              <a:t>ROI-aligned patches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5632704"/>
            <a:ext cx="20756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60">
                <a:solidFill>
                  <a:srgbClr val="1A1F2E"/>
                </a:solidFill>
                <a:latin typeface="맑은 고딕"/>
                <a:ea typeface="맑은 고딕"/>
              </a:rPr>
              <a:t>align shared
source-region patches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39128" y="5358384"/>
            <a:ext cx="2221992" cy="62179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12280" y="5422392"/>
            <a:ext cx="207568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80" b="1">
                <a:solidFill>
                  <a:srgbClr val="0F1E3D"/>
                </a:solidFill>
                <a:latin typeface="맑은 고딕"/>
                <a:ea typeface="맑은 고딕"/>
              </a:rPr>
              <a:t>neighbor ordering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12280" y="5632704"/>
            <a:ext cx="20756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60">
                <a:solidFill>
                  <a:srgbClr val="1A1F2E"/>
                </a:solidFill>
                <a:latin typeface="맑은 고딕"/>
                <a:ea typeface="맑은 고딕"/>
              </a:rPr>
              <a:t>rank reference patches
by similarity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70848" y="5358384"/>
            <a:ext cx="2221992" cy="62179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0" y="5422392"/>
            <a:ext cx="207568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80" b="1">
                <a:solidFill>
                  <a:srgbClr val="0F1E3D"/>
                </a:solidFill>
                <a:latin typeface="맑은 고딕"/>
                <a:ea typeface="맑은 고딕"/>
              </a:rPr>
              <a:t>consistency loss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5632704"/>
            <a:ext cx="20756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60">
                <a:solidFill>
                  <a:srgbClr val="1A1F2E"/>
                </a:solidFill>
                <a:latin typeface="맑은 고딕"/>
                <a:ea typeface="맑은 고딕"/>
              </a:rPr>
              <a:t>match teacher/student
neighbor ranks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P1 | Unknown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Contrastive recipe ablation on generated evaluation 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60" b="1">
                <a:solidFill>
                  <a:srgbClr val="0F1E3D"/>
                </a:solidFill>
                <a:latin typeface="맑은 고딕"/>
                <a:ea typeface="맑은 고딕"/>
              </a:rPr>
              <a:t>[생성 데이터 개발 지표] 실전 운영 review 결과(2,000장, 13 후보 group 중 7건 확인)와 분리해 제시합니다.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737360"/>
          <a:ext cx="10899648" cy="39319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0005"/>
                <a:gridCol w="5371489"/>
                <a:gridCol w="1342872"/>
                <a:gridCol w="1175013"/>
                <a:gridCol w="1622637"/>
                <a:gridCol w="917632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4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#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4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Recipe (per class 500, normal 2000)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4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M1 capture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4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M2 noise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4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M3 Completeness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4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Sil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Global InfoNCE only (baseline)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0.9337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15.78%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0.9468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0.582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Local DenseCL (LW=0.5)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0.9361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13.87%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0.9502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0.514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3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MoCo Queue 4096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0.9356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9.45%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0.9474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0.573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Neg-sim filter 0.72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0.9250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8.23%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0.9485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0.611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5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NeCo 0.2 (5-tool full)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0.9559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6.66%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0.9660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0.6104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6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Final recipe (Local DenseCL 제외 4-tool)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0.9559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6.66%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0.9660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0.781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019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7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9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Final recipe + noise threshold τ=0.5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0.9619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0.00%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0.9679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0.781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49808" y="5833872"/>
            <a:ext cx="10744200" cy="310896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5833872"/>
            <a:ext cx="91440" cy="3108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33872"/>
            <a:ext cx="103784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Final generated-set metric: capture 0.9619 / noise 0.00% / Completeness 0.9679 / Silhouette 0.781.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Result +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양산 운영과 모델 검증 단계 구분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146304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Production operation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94560" y="1472184"/>
            <a:ext cx="2971800" cy="33832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94560" y="1472184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</a:rPr>
              <a:t>Processing flow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94376" y="1472184"/>
            <a:ext cx="2971800" cy="33832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94376" y="1472184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</a:rPr>
              <a:t>Production viewer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94192" y="1472184"/>
            <a:ext cx="2971800" cy="33832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94192" y="1472184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</a:rPr>
              <a:t>20K wafer/day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11384280" y="1522476"/>
            <a:ext cx="146304" cy="237744"/>
          </a:xfrm>
          <a:prstGeom prst="rightArrow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048256"/>
            <a:ext cx="146304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Model validation / deploy waiting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94560" y="2048256"/>
            <a:ext cx="2971800" cy="338328"/>
          </a:xfrm>
          <a:prstGeom prst="roundRect">
            <a:avLst/>
          </a:prstGeom>
          <a:solidFill>
            <a:srgbClr val="F4F6F8"/>
          </a:solidFill>
          <a:ln w="17780">
            <a:solidFill>
              <a:srgbClr val="96A0A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94560" y="2048256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F1E3D"/>
                </a:solidFill>
                <a:latin typeface="맑은 고딕"/>
                <a:ea typeface="맑은 고딕"/>
              </a:rPr>
              <a:t>Validation F1 0.95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94376" y="2048256"/>
            <a:ext cx="2971800" cy="338328"/>
          </a:xfrm>
          <a:prstGeom prst="roundRect">
            <a:avLst/>
          </a:prstGeom>
          <a:solidFill>
            <a:srgbClr val="F4F6F8"/>
          </a:solidFill>
          <a:ln w="17780">
            <a:solidFill>
              <a:srgbClr val="96A0A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94376" y="2048256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F1E3D"/>
                </a:solidFill>
                <a:latin typeface="맑은 고딕"/>
                <a:ea typeface="맑은 고딕"/>
              </a:rPr>
              <a:t>Unknown 후보 13→7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94192" y="2048256"/>
            <a:ext cx="2971800" cy="338328"/>
          </a:xfrm>
          <a:prstGeom prst="roundRect">
            <a:avLst/>
          </a:prstGeom>
          <a:solidFill>
            <a:srgbClr val="E6EAEF"/>
          </a:solidFill>
          <a:ln w="17780">
            <a:solidFill>
              <a:srgbClr val="96A0A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94192" y="2048256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F1E3D"/>
                </a:solidFill>
                <a:latin typeface="맑은 고딕"/>
                <a:ea typeface="맑은 고딕"/>
              </a:rPr>
              <a:t>GPU server → 2026.9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2633472"/>
            <a:ext cx="5349240" cy="64008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2633472"/>
            <a:ext cx="4983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FFFFFF"/>
                </a:solidFill>
                <a:latin typeface="맑은 고딕"/>
                <a:ea typeface="맑은 고딕"/>
              </a:rPr>
              <a:t>양산 운영 중 — 처리 구조 + viewer (2025.5~)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273552"/>
            <a:ext cx="5349240" cy="277977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456432"/>
            <a:ext cx="4892040" cy="1536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DRAM D1a/b/c/d 전제품 분석 파트에서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매일 사용 중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, 일 2만 wafer 처리</a:t>
            </a:r>
          </a:p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분석 공수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90% 이상 절감(연 26억 효과)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, 수율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+0.02%p 개선(P3WN 1건 97억 효과)</a:t>
            </a:r>
          </a:p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조회 48매 한계를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대량 조회 viewer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로 확장하고, 검토 방식을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Failbit Map 변환과 검색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 중심으로 재구성</a:t>
            </a:r>
          </a:p>
          <a:p>
            <a:pPr marL="420624" indent="-420624" lvl="1">
              <a:lnSpc>
                <a:spcPct val="104000"/>
              </a:lnSpc>
              <a:spcAft>
                <a:spcPts val="400"/>
              </a:spcAft>
            </a:pPr>
            <a:r>
              <a:rPr sz="115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150">
                <a:solidFill>
                  <a:srgbClr val="4A5666"/>
                </a:solidFill>
                <a:latin typeface="맑은 고딕"/>
                <a:ea typeface="맑은 고딕"/>
              </a:rPr>
              <a:t>운영 기준은 처리 구조와 viewer이며, 공수 절감 효과와 수율 개선 사례는 합산 산정하지 않음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68680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공수 90%↓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공수 절감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48128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548128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548128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97억/건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48128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수율 +0.02%p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27576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27576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27576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일 2만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27576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wafer/day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63640" y="2633472"/>
            <a:ext cx="5349240" cy="64008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2240" y="2633472"/>
            <a:ext cx="4983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FFFFFF"/>
                </a:solidFill>
                <a:latin typeface="맑은 고딕"/>
                <a:ea typeface="맑은 고딕"/>
              </a:rPr>
              <a:t>모델 — validation 완료, 서버 배포 준비 단계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63640" y="3273552"/>
            <a:ext cx="5349240" cy="277977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92240" y="3456432"/>
            <a:ext cx="4892040" cy="1536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Known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validation F1 0.95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(실전 16종/1,500장), Unknown은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13→7 후보 확인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(현업 검토)까지만 반영</a:t>
            </a:r>
          </a:p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classification model은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2026년 9월 GPU 서버 배포 검증 예정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이며, 서버 성능은 배포 환경에서 별도 검증</a:t>
            </a:r>
          </a:p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사내 인정: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'25 AI 센터 DS BP Good Challenger 수상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,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'26 MTC 제안 1등급 확정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,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'26 삼성 논문상 초록 통과</a:t>
            </a:r>
          </a:p>
          <a:p>
            <a:pPr marL="420624" indent="-420624" lvl="1">
              <a:lnSpc>
                <a:spcPct val="104000"/>
              </a:lnSpc>
              <a:spcAft>
                <a:spcPts val="400"/>
              </a:spcAft>
            </a:pPr>
            <a:r>
              <a:rPr sz="115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150">
                <a:solidFill>
                  <a:srgbClr val="4A5666"/>
                </a:solidFill>
                <a:latin typeface="맑은 고딕"/>
                <a:ea typeface="맑은 고딕"/>
              </a:rPr>
              <a:t>Unknown 13→7은 분류 성능 지표가 아니라 현업 후보 검토 결과입니다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92240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492240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92240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F1 0.95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Known validation (real data)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71688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171688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71688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13→7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71688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Unknown candidate review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51136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851136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851136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2026.09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51136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GPU 배포 검증 예정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6120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0" y="384048"/>
            <a:ext cx="78638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AI Specialist 인증 | 3개 과제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713232"/>
            <a:ext cx="457200" cy="279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77824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170432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라벨 부족 대응 | Multi-label learning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212848"/>
            <a:ext cx="146304" cy="150876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75688"/>
            <a:ext cx="24688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0" b="1">
                <a:solidFill>
                  <a:srgbClr val="96A0AD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3858767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822191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P1  Failbit Map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4142231"/>
            <a:ext cx="118872" cy="118872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105655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P2  Chip multi-label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425695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4389119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P3  Trend anomaly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697480"/>
            <a:ext cx="786384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E3D"/>
                </a:solidFill>
                <a:latin typeface="맑은 고딕"/>
                <a:ea typeface="맑은 고딕"/>
              </a:rPr>
              <a:t>Chip Multi-label
FCM-PM classification</a:t>
            </a:r>
          </a:p>
          <a:p>
            <a:pPr algn="l"/>
            <a:r>
              <a:rPr sz="1600">
                <a:solidFill>
                  <a:srgbClr val="556075"/>
                </a:solidFill>
                <a:latin typeface="맑은 고딕"/>
                <a:ea typeface="맑은 고딕"/>
              </a:rPr>
              <a:t>single-failure source에서 2-combo supervision을 구성한 synthetic validation 과제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0" y="4187952"/>
            <a:ext cx="7863840" cy="74980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0" y="4187952"/>
            <a:ext cx="82296" cy="7498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58768" y="4187952"/>
            <a:ext cx="1078992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96A0AD"/>
                </a:solidFill>
                <a:latin typeface="맑은 고딕"/>
                <a:ea typeface="맑은 고딕"/>
              </a:rPr>
              <a:t>Rationale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83480" y="4187952"/>
            <a:ext cx="63550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실제 2-combo GT가 부족한 조건에서 single-failure source를 조합해 학습 신호와 평가 구조를 구성했습니다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5010912"/>
            <a:ext cx="23317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82296" cy="62179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5" y="5010912"/>
            <a:ext cx="20574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E3D"/>
                </a:solidFill>
                <a:latin typeface="맑은 고딕"/>
                <a:ea typeface="맑은 고딕"/>
              </a:rPr>
              <a:t>2-combo</a:t>
            </a:r>
          </a:p>
          <a:p>
            <a:pPr algn="l"/>
            <a:r>
              <a:rPr sz="900" b="1">
                <a:solidFill>
                  <a:srgbClr val="6B7280"/>
                </a:solidFill>
                <a:latin typeface="맑은 고딕"/>
                <a:ea typeface="맑은 고딕"/>
              </a:rPr>
              <a:t>synthetic PoC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5742432"/>
            <a:ext cx="23317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" y="5742432"/>
            <a:ext cx="82296" cy="62179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42415" y="5742432"/>
            <a:ext cx="20574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E3D"/>
                </a:solidFill>
                <a:latin typeface="맑은 고딕"/>
                <a:ea typeface="맑은 고딕"/>
              </a:rPr>
              <a:t>bit-F1 0.9927</a:t>
            </a:r>
          </a:p>
          <a:p>
            <a:pPr algn="l"/>
            <a:r>
              <a:rPr sz="900" b="1">
                <a:solidFill>
                  <a:srgbClr val="6B7280"/>
                </a:solidFill>
                <a:latin typeface="맑은 고딕"/>
                <a:ea typeface="맑은 고딕"/>
              </a:rPr>
              <a:t>validation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5138928"/>
            <a:ext cx="10972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Key Result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81728" y="5138928"/>
            <a:ext cx="6858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Synthetic PoC, bit-F1 0.9927, Total FAR 0.00%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5541264"/>
            <a:ext cx="28346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Before → After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0" y="5815584"/>
            <a:ext cx="3611880" cy="65836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22192" y="5815584"/>
            <a:ext cx="3282696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6B7280"/>
                </a:solidFill>
                <a:latin typeface="맑은 고딕"/>
                <a:ea typeface="맑은 고딕"/>
              </a:rPr>
              <a:t>Before  </a:t>
            </a:r>
            <a:r>
              <a:rPr sz="1250" b="1">
                <a:solidFill>
                  <a:srgbClr val="1A1F2E"/>
                </a:solidFill>
                <a:latin typeface="맑은 고딕"/>
                <a:ea typeface="맑은 고딕"/>
              </a:rPr>
              <a:t>2-combo GT 부족, FAR tail 발생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09560" y="5815584"/>
            <a:ext cx="3611880" cy="65836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09560" y="5815584"/>
            <a:ext cx="82296" cy="65836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74152" y="5815584"/>
            <a:ext cx="3282696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96A0AD"/>
                </a:solidFill>
                <a:latin typeface="맑은 고딕"/>
                <a:ea typeface="맑은 고딕"/>
              </a:rPr>
              <a:t>After 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FCM-PM + val-margin으로 tail 억제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7415784" y="6007608"/>
            <a:ext cx="347472" cy="274320"/>
          </a:xfrm>
          <a:prstGeom prst="rightArrow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65392" y="1170432"/>
            <a:ext cx="2395728" cy="113385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565392" y="1170432"/>
            <a:ext cx="2395728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65392" y="1426464"/>
            <a:ext cx="23957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0F1E3D"/>
                </a:solidFill>
                <a:latin typeface="맑은 고딕"/>
                <a:ea typeface="맑은 고딕"/>
              </a:rPr>
              <a:t>2-combo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11696" y="1920240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A1F2E"/>
                </a:solidFill>
                <a:latin typeface="맑은 고딕"/>
                <a:ea typeface="맑은 고딕"/>
              </a:rPr>
              <a:t>synthetic PoC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217152" y="1170432"/>
            <a:ext cx="2395728" cy="113385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217152" y="1170432"/>
            <a:ext cx="2395728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17152" y="1426464"/>
            <a:ext cx="23957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0F1E3D"/>
                </a:solidFill>
                <a:latin typeface="맑은 고딕"/>
                <a:ea typeface="맑은 고딕"/>
              </a:rPr>
              <a:t>bit-F1 0.9927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63456" y="1920240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A1F2E"/>
                </a:solidFill>
                <a:latin typeface="맑은 고딕"/>
                <a:ea typeface="맑은 고딕"/>
              </a:rPr>
              <a:t>validation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P2 | Chip multi-label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Single-failure source to 2-combo evaluation setting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664208"/>
            <a:ext cx="3154680" cy="446227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664208"/>
            <a:ext cx="91440" cy="446227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920240"/>
            <a:ext cx="2651760" cy="4050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Problem</a:t>
            </a:r>
          </a:p>
          <a:p>
            <a:pPr algn="l"/>
            <a:r>
              <a:rPr sz="1380" b="1">
                <a:solidFill>
                  <a:srgbClr val="0F1E3D"/>
                </a:solidFill>
                <a:latin typeface="맑은 고딕"/>
                <a:ea typeface="맑은 고딕"/>
              </a:rPr>
              <a:t>real 2-combo GT 부족
limited supervision / validation</a:t>
            </a:r>
          </a:p>
          <a:p>
            <a:pPr algn="l"/>
            <a:r>
              <a:rPr sz="4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Source</a:t>
            </a:r>
          </a:p>
          <a:p>
            <a:pPr algn="l"/>
            <a:r>
              <a:rPr sz="1280">
                <a:solidFill>
                  <a:srgbClr val="1A1F2E"/>
                </a:solidFill>
                <a:latin typeface="맑은 고딕"/>
                <a:ea typeface="맑은 고딕"/>
              </a:rPr>
              <a:t>single-failure source만 보유
직접적인 2-combo supervision 없음</a:t>
            </a:r>
          </a:p>
          <a:p>
            <a:pPr algn="l"/>
            <a:r>
              <a:rPr sz="4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Eval</a:t>
            </a:r>
          </a:p>
          <a:p>
            <a:pPr algn="l"/>
            <a:r>
              <a:rPr sz="1280">
                <a:solidFill>
                  <a:srgbClr val="1A1F2E"/>
                </a:solidFill>
                <a:latin typeface="맑은 고딕"/>
                <a:ea typeface="맑은 고딕"/>
              </a:rPr>
              <a:t>3,850-chip benchmark
2-combo/negative tail 포함</a:t>
            </a:r>
          </a:p>
        </p:txBody>
      </p:sp>
      <p:sp>
        <p:nvSpPr>
          <p:cNvPr id="8" name="Rectangle 7"/>
          <p:cNvSpPr/>
          <p:nvPr/>
        </p:nvSpPr>
        <p:spPr>
          <a:xfrm>
            <a:off x="4041648" y="1664208"/>
            <a:ext cx="7406640" cy="19019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41648" y="1664208"/>
            <a:ext cx="91440" cy="19019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61104" y="1810512"/>
            <a:ext cx="69677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40" b="1">
                <a:solidFill>
                  <a:srgbClr val="0F1E3D"/>
                </a:solidFill>
                <a:latin typeface="맑은 고딕"/>
                <a:ea typeface="맑은 고딕"/>
              </a:rPr>
              <a:t>Source bank: single-failure samples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1104" y="2103120"/>
            <a:ext cx="696772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40">
                <a:solidFill>
                  <a:srgbClr val="6B7280"/>
                </a:solidFill>
                <a:latin typeface="맑은 고딕"/>
                <a:ea typeface="맑은 고딕"/>
              </a:rPr>
              <a:t>train split 이후 train source 안에서만 synthetic combination을 생성합니다.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2359152"/>
            <a:ext cx="12801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ip_eval_bank_boundary_sele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6592" y="2414016"/>
            <a:ext cx="768096" cy="7680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17136" y="3209544"/>
            <a:ext cx="120700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0F1E3D"/>
                </a:solidFill>
                <a:latin typeface="맑은 고딕"/>
                <a:ea typeface="맑은 고딕"/>
              </a:rPr>
              <a:t>bb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2359152"/>
            <a:ext cx="12801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ip_eval_fork_selec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2414016"/>
            <a:ext cx="768096" cy="76809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071616" y="3209544"/>
            <a:ext cx="120700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0F1E3D"/>
                </a:solidFill>
                <a:latin typeface="맑은 고딕"/>
                <a:ea typeface="맑은 고딕"/>
              </a:rPr>
              <a:t>fk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89520" y="2359152"/>
            <a:ext cx="12801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hip_eval_scratch_select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2414016"/>
            <a:ext cx="768096" cy="76809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626096" y="3209544"/>
            <a:ext cx="120700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0F1E3D"/>
                </a:solidFill>
                <a:latin typeface="맑은 고딕"/>
                <a:ea typeface="맑은 고딕"/>
              </a:rPr>
              <a:t>sc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0" y="2359152"/>
            <a:ext cx="12801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hip_eval_scratch_rot_select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00032" y="2414016"/>
            <a:ext cx="768096" cy="76809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180576" y="3209544"/>
            <a:ext cx="120700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0F1E3D"/>
                </a:solidFill>
                <a:latin typeface="맑은 고딕"/>
                <a:ea typeface="맑은 고딕"/>
              </a:rPr>
              <a:t>sr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6739128" y="3621024"/>
            <a:ext cx="1463040" cy="256032"/>
          </a:xfrm>
          <a:prstGeom prst="downArrow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57616" y="3611880"/>
            <a:ext cx="24688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맑은 고딕"/>
                <a:ea typeface="맑은 고딕"/>
              </a:rPr>
              <a:t>evaluation requires combo classes and negative tail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41648" y="3968496"/>
            <a:ext cx="7406640" cy="215798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041648" y="3968496"/>
            <a:ext cx="91440" cy="2157984"/>
          </a:xfrm>
          <a:prstGeom prst="rect">
            <a:avLst/>
          </a:prstGeom>
          <a:solidFill>
            <a:srgbClr val="2B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61104" y="4114800"/>
            <a:ext cx="69677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40" b="1">
                <a:solidFill>
                  <a:srgbClr val="0F1E3D"/>
                </a:solidFill>
                <a:latin typeface="맑은 고딕"/>
                <a:ea typeface="맑은 고딕"/>
              </a:rPr>
              <a:t>Eval target: 3,850-chip controlled benchmark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61104" y="4407408"/>
            <a:ext cx="696772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40">
                <a:solidFill>
                  <a:srgbClr val="6B7280"/>
                </a:solidFill>
                <a:latin typeface="맑은 고딕"/>
                <a:ea typeface="맑은 고딕"/>
              </a:rPr>
              <a:t>single 4 + 2-combo 6 + Normal/Invalid/OOD negative tail.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120" y="4718304"/>
            <a:ext cx="1152144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chip_combo_bb_fork_select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17136" y="4773168"/>
            <a:ext cx="896112" cy="89611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425696" y="5696712"/>
            <a:ext cx="107899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0F1E3D"/>
                </a:solidFill>
                <a:latin typeface="맑은 고딕"/>
                <a:ea typeface="맑은 고딕"/>
              </a:rPr>
              <a:t>bb+fk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96712" y="4718304"/>
            <a:ext cx="1152144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chip_combo_bb_scratch_select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24728" y="4773168"/>
            <a:ext cx="896112" cy="896112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5733288" y="5696712"/>
            <a:ext cx="107899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0F1E3D"/>
                </a:solidFill>
                <a:latin typeface="맑은 고딕"/>
                <a:ea typeface="맑은 고딕"/>
              </a:rPr>
              <a:t>bb+sc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004304" y="4718304"/>
            <a:ext cx="1152144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chip_combo_fork_scratch_rot_select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32320" y="4773168"/>
            <a:ext cx="896112" cy="89611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040880" y="5696712"/>
            <a:ext cx="107899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0F1E3D"/>
                </a:solidFill>
                <a:latin typeface="맑은 고딕"/>
                <a:ea typeface="맑은 고딕"/>
              </a:rPr>
              <a:t>fk+sr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11896" y="4718304"/>
            <a:ext cx="1152144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chip_eval_normal_select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39912" y="4773168"/>
            <a:ext cx="896112" cy="89611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348472" y="5696712"/>
            <a:ext cx="107899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0F1E3D"/>
                </a:solidFill>
                <a:latin typeface="맑은 고딕"/>
                <a:ea typeface="맑은 고딕"/>
              </a:rPr>
              <a:t>normal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619488" y="4718304"/>
            <a:ext cx="1152144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chip_eval_invalid_select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47504" y="4773168"/>
            <a:ext cx="896112" cy="896112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656064" y="5696712"/>
            <a:ext cx="107899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0F1E3D"/>
                </a:solidFill>
                <a:latin typeface="맑은 고딕"/>
                <a:ea typeface="맑은 고딕"/>
              </a:rPr>
              <a:t>invalid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50392" y="5321808"/>
            <a:ext cx="2642616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05840" y="5376672"/>
            <a:ext cx="23317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19" b="1">
                <a:solidFill>
                  <a:srgbClr val="0F1E3D"/>
                </a:solidFill>
                <a:latin typeface="맑은 고딕"/>
                <a:ea typeface="맑은 고딕"/>
              </a:rPr>
              <a:t>Design implication: distribution gap requires probability modeling and reject logic.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P2 | FCM-PM 원리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FCM-PM: coverage + loss masking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89888"/>
            <a:ext cx="10744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20">
                <a:solidFill>
                  <a:srgbClr val="1A1F2E"/>
                </a:solidFill>
                <a:latin typeface="맑은 고딕"/>
                <a:ea typeface="맑은 고딕"/>
              </a:rPr>
              <a:t>2-combo GT가 부족한 조건에서 FCM은 failure coverage를 보존하고, Pair Mask는 합성 배경 loss를 분리해 FAR tail을 낮춥니다.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7442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>
                <a:solidFill>
                  <a:srgbClr val="6B7280"/>
                </a:solidFill>
                <a:latin typeface="맑은 고딕"/>
                <a:ea typeface="맑은 고딕"/>
              </a:rPr>
              <a:t>Mixup은 0~7 grade 의미를 흐리고, diffusion은 label·compute 부담이 큽니다. 원값을 보존하는 CutMix 계열을 채택했습니다. (자문: 연세대학교 인공지능학과 박은병 교수)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10512"/>
            <a:ext cx="10771632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cm_pm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1345" y="1920240"/>
            <a:ext cx="10155405" cy="188366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369551" y="1956816"/>
            <a:ext cx="169420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69551" y="2039112"/>
            <a:ext cx="1694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19" b="1">
                <a:solidFill>
                  <a:srgbClr val="0F1E3D"/>
                </a:solidFill>
                <a:latin typeface="맑은 고딕"/>
                <a:ea typeface="맑은 고딕"/>
              </a:rPr>
              <a:t>FCM mixed view 1  (A∪B)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34343" y="1956816"/>
            <a:ext cx="169420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34343" y="2039112"/>
            <a:ext cx="1694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19" b="1">
                <a:solidFill>
                  <a:srgbClr val="0F1E3D"/>
                </a:solidFill>
                <a:latin typeface="맑은 고딕"/>
                <a:ea typeface="맑은 고딕"/>
              </a:rPr>
              <a:t>FCM mixed view 2  (A∪B)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" y="4133087"/>
            <a:ext cx="338328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3232" y="4133087"/>
            <a:ext cx="82296" cy="96012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242815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20" b="1">
                <a:solidFill>
                  <a:srgbClr val="0F1E3D"/>
                </a:solidFill>
                <a:latin typeface="맑은 고딕"/>
                <a:ea typeface="맑은 고딕"/>
              </a:rPr>
              <a:t>Normal baseline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526279"/>
            <a:ext cx="30175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40" b="0">
                <a:solidFill>
                  <a:srgbClr val="1A1F2E"/>
                </a:solidFill>
                <a:latin typeface="맑은 고딕"/>
                <a:ea typeface="맑은 고딕"/>
              </a:rPr>
              <a:t>2-combo pos. prob 낮음
FAR 낮지만 recall 약함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105656" y="4517135"/>
            <a:ext cx="182880" cy="182880"/>
          </a:xfrm>
          <a:prstGeom prst="rightArrow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4133087"/>
            <a:ext cx="338328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97680" y="4133087"/>
            <a:ext cx="82296" cy="96012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98848" y="4242815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20" b="1">
                <a:solidFill>
                  <a:srgbClr val="0F1E3D"/>
                </a:solidFill>
                <a:latin typeface="맑은 고딕"/>
                <a:ea typeface="맑은 고딕"/>
              </a:rPr>
              <a:t>FCM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98848" y="4526279"/>
            <a:ext cx="30175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40" b="0">
                <a:solidFill>
                  <a:srgbClr val="1A1F2E"/>
                </a:solidFill>
                <a:latin typeface="맑은 고딕"/>
                <a:ea typeface="맑은 고딕"/>
              </a:rPr>
              <a:t>pos. prob 상승
FAR tail 동반 상승 가능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690104" y="4517135"/>
            <a:ext cx="182880" cy="182880"/>
          </a:xfrm>
          <a:prstGeom prst="rightArrow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882128" y="4133087"/>
            <a:ext cx="338328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882128" y="4133087"/>
            <a:ext cx="82296" cy="96012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83296" y="4242815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20" b="1">
                <a:solidFill>
                  <a:srgbClr val="0F1E3D"/>
                </a:solidFill>
                <a:latin typeface="맑은 고딕"/>
                <a:ea typeface="맑은 고딕"/>
              </a:rPr>
              <a:t>FCM-PM + val-margin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83296" y="4526279"/>
            <a:ext cx="30175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40" b="1">
                <a:solidFill>
                  <a:srgbClr val="0F1E3D"/>
                </a:solidFill>
                <a:latin typeface="맑은 고딕"/>
                <a:ea typeface="맑은 고딕"/>
              </a:rPr>
              <a:t>pos. prob 유지
controlled eval FAR 0.00%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32688" y="5266944"/>
            <a:ext cx="10259568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32688" y="5266944"/>
            <a:ext cx="91440" cy="694944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5568" y="5376672"/>
            <a:ext cx="14264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80" b="1">
                <a:solidFill>
                  <a:srgbClr val="6B7280"/>
                </a:solidFill>
                <a:latin typeface="맑은 고딕"/>
                <a:ea typeface="맑은 고딕"/>
              </a:rPr>
              <a:t>Formula + ablation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42032" y="5321808"/>
            <a:ext cx="8412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40" b="1">
                <a:solidFill>
                  <a:srgbClr val="0F1E3D"/>
                </a:solidFill>
                <a:latin typeface="Cambria Math"/>
                <a:ea typeface="Cambria Math"/>
              </a:rPr>
              <a:t>FCM mixed views: y_mixed = y_A ∪ y_B  (multi-label target)</a:t>
            </a:r>
          </a:p>
          <a:p>
            <a:pPr algn="l"/>
            <a:r>
              <a:rPr sz="1040" b="1">
                <a:solidFill>
                  <a:srgbClr val="0F1E3D"/>
                </a:solidFill>
                <a:latin typeface="Cambria Math"/>
                <a:ea typeface="Cambria Math"/>
              </a:rPr>
              <a:t>Pair Mask views: y_masked ∈ {y_A,y_B}; L_total = L_BCE(mixed)+w·L_BCE(masked)</a:t>
            </a:r>
          </a:p>
          <a:p>
            <a:pPr algn="l"/>
            <a:r>
              <a:rPr sz="1040" b="1">
                <a:solidFill>
                  <a:srgbClr val="0F1E3D"/>
                </a:solidFill>
                <a:latin typeface="Cambria Math"/>
                <a:ea typeface="Cambria Math"/>
              </a:rPr>
              <a:t>Pair Mask reduces synthetic-background FAR; final selected setting reaches 0.00%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P2 | NB reject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val-margin selection and negative-tail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27632"/>
            <a:ext cx="5212080" cy="4526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91440" cy="452628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1828800"/>
            <a:ext cx="470001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val-margin checkpoint selection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2194560"/>
            <a:ext cx="470001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F2E"/>
                </a:solidFill>
                <a:latin typeface="Consolas"/>
                <a:ea typeface="Consolas"/>
              </a:rPr>
              <a:t>val_margin = mean(p_positive) - max(p_negative)</a:t>
            </a:r>
          </a:p>
        </p:txBody>
      </p:sp>
      <p:sp>
        <p:nvSpPr>
          <p:cNvPr id="9" name="Rectangle 8"/>
          <p:cNvSpPr/>
          <p:nvPr/>
        </p:nvSpPr>
        <p:spPr>
          <a:xfrm>
            <a:off x="1234440" y="2532888"/>
            <a:ext cx="182880" cy="182880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72184" y="2500884"/>
            <a:ext cx="932688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F2E"/>
                </a:solidFill>
                <a:latin typeface="맑은 고딕"/>
                <a:ea typeface="맑은 고딕"/>
              </a:rPr>
              <a:t>val-F1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78024" y="2532888"/>
            <a:ext cx="182880" cy="182880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15768" y="2500884"/>
            <a:ext cx="932688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F2E"/>
                </a:solidFill>
                <a:latin typeface="맑은 고딕"/>
                <a:ea typeface="맑은 고딕"/>
              </a:rPr>
              <a:t>val-margin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21608" y="2532888"/>
            <a:ext cx="182880" cy="182880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59352" y="2500884"/>
            <a:ext cx="932688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F2E"/>
                </a:solidFill>
                <a:latin typeface="맑은 고딕"/>
                <a:ea typeface="맑은 고딕"/>
              </a:rPr>
              <a:t>eval-F1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52728" y="3949843"/>
            <a:ext cx="146304" cy="430133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453896" y="4195633"/>
            <a:ext cx="146304" cy="184343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655064" y="4175151"/>
            <a:ext cx="146304" cy="204825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34440" y="4443984"/>
            <a:ext cx="5303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80">
                <a:solidFill>
                  <a:srgbClr val="6B7280"/>
                </a:solidFill>
                <a:latin typeface="맑은 고딕"/>
                <a:ea typeface="맑은 고딕"/>
              </a:rPr>
              <a:t>epoch 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965960" y="3847430"/>
            <a:ext cx="146304" cy="532546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67128" y="4103462"/>
            <a:ext cx="146304" cy="276514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368296" y="4072738"/>
            <a:ext cx="146304" cy="307238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47672" y="4443984"/>
            <a:ext cx="5303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80">
                <a:solidFill>
                  <a:srgbClr val="6B7280"/>
                </a:solidFill>
                <a:latin typeface="맑은 고딕"/>
                <a:ea typeface="맑은 고딕"/>
              </a:rPr>
              <a:t>epoch 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679192" y="3724535"/>
            <a:ext cx="146304" cy="655441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880360" y="3980567"/>
            <a:ext cx="146304" cy="399409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081528" y="3929360"/>
            <a:ext cx="146304" cy="450616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60904" y="4443984"/>
            <a:ext cx="5303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80">
                <a:solidFill>
                  <a:srgbClr val="6B7280"/>
                </a:solidFill>
                <a:latin typeface="맑은 고딕"/>
                <a:ea typeface="맑은 고딕"/>
              </a:rPr>
              <a:t>epoch 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92424" y="3499226"/>
            <a:ext cx="146304" cy="880750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593592" y="3826947"/>
            <a:ext cx="146304" cy="553029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794760" y="3796224"/>
            <a:ext cx="146304" cy="583752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74136" y="4443984"/>
            <a:ext cx="5303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80">
                <a:solidFill>
                  <a:srgbClr val="6B7280"/>
                </a:solidFill>
                <a:latin typeface="맑은 고딕"/>
                <a:ea typeface="맑은 고딕"/>
              </a:rPr>
              <a:t>epoch 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05656" y="3642604"/>
            <a:ext cx="146304" cy="737372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06824" y="3540192"/>
            <a:ext cx="146304" cy="839784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07992" y="3519709"/>
            <a:ext cx="146304" cy="860267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87368" y="4443984"/>
            <a:ext cx="5303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80">
                <a:solidFill>
                  <a:srgbClr val="6B7280"/>
                </a:solidFill>
                <a:latin typeface="맑은 고딕"/>
                <a:ea typeface="맑은 고딕"/>
              </a:rPr>
              <a:t>epoch 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79576" y="4379976"/>
            <a:ext cx="3730752" cy="127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072384" y="2743200"/>
            <a:ext cx="78638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19" b="1">
                <a:solidFill>
                  <a:srgbClr val="7A8596"/>
                </a:solidFill>
                <a:latin typeface="맑은 고딕"/>
                <a:ea typeface="맑은 고딕"/>
              </a:rPr>
              <a:t>val-F1 max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41064" y="2779776"/>
            <a:ext cx="87782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19" b="1">
                <a:solidFill>
                  <a:srgbClr val="2F3A4F"/>
                </a:solidFill>
                <a:latin typeface="맑은 고딕"/>
                <a:ea typeface="맑은 고딕"/>
              </a:rPr>
              <a:t>margin max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55848" y="3017520"/>
            <a:ext cx="1737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19" b="1">
                <a:solidFill>
                  <a:srgbClr val="0F1E3D"/>
                </a:solidFill>
                <a:latin typeface="맑은 고딕"/>
                <a:ea typeface="맑은 고딕"/>
              </a:rPr>
              <a:t>example: eval-F1 0.57 → 0.84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6696" y="5029200"/>
            <a:ext cx="459028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60" b="1">
                <a:solidFill>
                  <a:srgbClr val="6B7280"/>
                </a:solidFill>
                <a:latin typeface="맑은 고딕"/>
                <a:ea typeface="맑은 고딕"/>
              </a:rPr>
              <a:t>post-hoc check: correlation with held-out eval bit_F1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60120" y="5212080"/>
            <a:ext cx="2212848" cy="603504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60120" y="5212080"/>
            <a:ext cx="64008" cy="603504"/>
          </a:xfrm>
          <a:prstGeom prst="rect">
            <a:avLst/>
          </a:prstGeom>
          <a:solidFill>
            <a:srgbClr val="7A85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88136" y="5266944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" b="1">
                <a:solidFill>
                  <a:srgbClr val="6B7280"/>
                </a:solidFill>
                <a:latin typeface="맑은 고딕"/>
                <a:ea typeface="맑은 고딕"/>
              </a:rPr>
              <a:t>val_f1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8136" y="5431536"/>
            <a:ext cx="11521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80" b="1">
                <a:solidFill>
                  <a:srgbClr val="0F1E3D"/>
                </a:solidFill>
                <a:latin typeface="맑은 고딕"/>
                <a:ea typeface="맑은 고딕"/>
              </a:rPr>
              <a:t>Spearman -0.10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76856" y="5385816"/>
            <a:ext cx="74980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80" b="1">
                <a:solidFill>
                  <a:srgbClr val="7A8596"/>
                </a:solidFill>
                <a:latin typeface="맑은 고딕"/>
                <a:ea typeface="맑은 고딕"/>
              </a:rPr>
              <a:t>weak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401568" y="5212080"/>
            <a:ext cx="2212848" cy="603504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401568" y="5212080"/>
            <a:ext cx="64008" cy="603504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529584" y="5266944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" b="1">
                <a:solidFill>
                  <a:srgbClr val="6B7280"/>
                </a:solidFill>
                <a:latin typeface="맑은 고딕"/>
                <a:ea typeface="맑은 고딕"/>
              </a:rPr>
              <a:t>val_margin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29584" y="5431536"/>
            <a:ext cx="11521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80" b="1">
                <a:solidFill>
                  <a:srgbClr val="0F1E3D"/>
                </a:solidFill>
                <a:latin typeface="맑은 고딕"/>
                <a:ea typeface="맑은 고딕"/>
              </a:rPr>
              <a:t>Spearman +0.56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18304" y="5385816"/>
            <a:ext cx="74980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80" b="1">
                <a:solidFill>
                  <a:srgbClr val="2F3A4F"/>
                </a:solidFill>
                <a:latin typeface="맑은 고딕"/>
                <a:ea typeface="맑은 고딕"/>
              </a:rPr>
              <a:t>selected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63640" y="1627632"/>
            <a:ext cx="5212080" cy="4526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263640" y="1627632"/>
            <a:ext cx="91440" cy="4526280"/>
          </a:xfrm>
          <a:prstGeom prst="rect">
            <a:avLst/>
          </a:prstGeom>
          <a:solidFill>
            <a:srgbClr val="2B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19672" y="1828800"/>
            <a:ext cx="470001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NB reject: independent bit-likelihood profile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19672" y="2176272"/>
            <a:ext cx="47000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19" b="1">
                <a:solidFill>
                  <a:srgbClr val="1A1F2E"/>
                </a:solidFill>
                <a:latin typeface="맑은 고딕"/>
                <a:ea typeface="맑은 고딕"/>
              </a:rPr>
              <a:t>No 4D/GMM fitting; four output bits are checked independently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19672" y="2432304"/>
            <a:ext cx="470001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" b="1">
                <a:solidFill>
                  <a:srgbClr val="6B7280"/>
                </a:solidFill>
                <a:latin typeface="맑은 고딕"/>
                <a:ea typeface="맑은 고딕"/>
              </a:rPr>
              <a:t>gray band = 99.7% range per bit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556248" y="2706624"/>
            <a:ext cx="1426464" cy="2267712"/>
          </a:xfrm>
          <a:prstGeom prst="rect">
            <a:avLst/>
          </a:prstGeom>
          <a:solidFill>
            <a:srgbClr val="F7F9FC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629400" y="2770632"/>
            <a:ext cx="12801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80" b="1">
                <a:solidFill>
                  <a:srgbClr val="0F1E3D"/>
                </a:solidFill>
                <a:latin typeface="맑은 고딕"/>
                <a:ea typeface="맑은 고딕"/>
              </a:rPr>
              <a:t>known single bb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629400" y="3054096"/>
            <a:ext cx="25603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60" b="1">
                <a:solidFill>
                  <a:srgbClr val="2F67F6"/>
                </a:solidFill>
                <a:latin typeface="맑은 고딕"/>
                <a:ea typeface="맑은 고딕"/>
              </a:rPr>
              <a:t>bb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40296" y="3099816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477963" y="3067812"/>
            <a:ext cx="331561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667792" y="3040380"/>
            <a:ext cx="14630" cy="118872"/>
          </a:xfrm>
          <a:prstGeom prst="rect">
            <a:avLst/>
          </a:prstGeom>
          <a:solidFill>
            <a:srgbClr val="2F6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7651882" y="3058668"/>
            <a:ext cx="82296" cy="82296"/>
          </a:xfrm>
          <a:prstGeom prst="ellipse">
            <a:avLst/>
          </a:prstGeom>
          <a:solidFill>
            <a:srgbClr val="2F67F6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629400" y="3364992"/>
            <a:ext cx="25603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60" b="1">
                <a:solidFill>
                  <a:srgbClr val="18A97D"/>
                </a:solidFill>
                <a:latin typeface="맑은 고딕"/>
                <a:ea typeface="맑은 고딕"/>
              </a:rPr>
              <a:t>fk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940296" y="3410712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967179" y="3378708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040514" y="3351276"/>
            <a:ext cx="14630" cy="118872"/>
          </a:xfrm>
          <a:prstGeom prst="rect">
            <a:avLst/>
          </a:prstGeom>
          <a:solidFill>
            <a:srgbClr val="18A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7006681" y="3369564"/>
            <a:ext cx="82296" cy="82296"/>
          </a:xfrm>
          <a:prstGeom prst="ellipse">
            <a:avLst/>
          </a:prstGeom>
          <a:solidFill>
            <a:srgbClr val="18A97D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29400" y="3675888"/>
            <a:ext cx="25603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60" b="1">
                <a:solidFill>
                  <a:srgbClr val="F5A623"/>
                </a:solidFill>
                <a:latin typeface="맑은 고딕"/>
                <a:ea typeface="맑은 고딕"/>
              </a:rPr>
              <a:t>sc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40296" y="3721608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967179" y="3689604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040514" y="3662172"/>
            <a:ext cx="14630" cy="11887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7015642" y="3680460"/>
            <a:ext cx="82296" cy="82296"/>
          </a:xfrm>
          <a:prstGeom prst="ellipse">
            <a:avLst/>
          </a:prstGeom>
          <a:solidFill>
            <a:srgbClr val="F5A623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629400" y="3986784"/>
            <a:ext cx="25603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60" b="1">
                <a:solidFill>
                  <a:srgbClr val="D93A5A"/>
                </a:solidFill>
                <a:latin typeface="맑은 고딕"/>
                <a:ea typeface="맑은 고딕"/>
              </a:rPr>
              <a:t>sr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940296" y="4032504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967179" y="4000500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040514" y="3973068"/>
            <a:ext cx="14630" cy="118872"/>
          </a:xfrm>
          <a:prstGeom prst="rect">
            <a:avLst/>
          </a:prstGeom>
          <a:solidFill>
            <a:srgbClr val="D93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6997720" y="3991356"/>
            <a:ext cx="82296" cy="82296"/>
          </a:xfrm>
          <a:prstGeom prst="ellipse">
            <a:avLst/>
          </a:prstGeom>
          <a:solidFill>
            <a:srgbClr val="D93A5A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684264" y="4535424"/>
            <a:ext cx="1170432" cy="256032"/>
          </a:xfrm>
          <a:prstGeom prst="rect">
            <a:avLst/>
          </a:prstGeom>
          <a:solidFill>
            <a:srgbClr val="E8F5EE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739128" y="4562856"/>
            <a:ext cx="106070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19" b="1">
                <a:solidFill>
                  <a:srgbClr val="2BA66B"/>
                </a:solidFill>
                <a:latin typeface="맑은 고딕"/>
                <a:ea typeface="맑은 고딕"/>
              </a:rPr>
              <a:t>ACCEPT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665976" y="4791456"/>
            <a:ext cx="1207008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1">
                <a:solidFill>
                  <a:srgbClr val="6B7280"/>
                </a:solidFill>
                <a:latin typeface="맑은 고딕"/>
                <a:ea typeface="맑은 고딕"/>
              </a:rPr>
              <a:t>4 bit profile match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65592" y="2706624"/>
            <a:ext cx="1426464" cy="2267712"/>
          </a:xfrm>
          <a:prstGeom prst="rect">
            <a:avLst/>
          </a:prstGeom>
          <a:solidFill>
            <a:srgbClr val="F7F9FC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38744" y="2770632"/>
            <a:ext cx="12801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80" b="1">
                <a:solidFill>
                  <a:srgbClr val="0F1E3D"/>
                </a:solidFill>
                <a:latin typeface="맑은 고딕"/>
                <a:ea typeface="맑은 고딕"/>
              </a:rPr>
              <a:t>known 2-combo bb+sc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38744" y="3054096"/>
            <a:ext cx="25603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60" b="1">
                <a:solidFill>
                  <a:srgbClr val="2F67F6"/>
                </a:solidFill>
                <a:latin typeface="맑은 고딕"/>
                <a:ea typeface="맑은 고딕"/>
              </a:rPr>
              <a:t>bb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549640" y="3099816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8908084" y="3067812"/>
            <a:ext cx="394289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097914" y="3040380"/>
            <a:ext cx="14630" cy="118872"/>
          </a:xfrm>
          <a:prstGeom prst="rect">
            <a:avLst/>
          </a:prstGeom>
          <a:solidFill>
            <a:srgbClr val="2F6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064081" y="3058668"/>
            <a:ext cx="82296" cy="82296"/>
          </a:xfrm>
          <a:prstGeom prst="ellipse">
            <a:avLst/>
          </a:prstGeom>
          <a:solidFill>
            <a:srgbClr val="2F67F6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38744" y="3364992"/>
            <a:ext cx="25603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60" b="1">
                <a:solidFill>
                  <a:srgbClr val="18A97D"/>
                </a:solidFill>
                <a:latin typeface="맑은 고딕"/>
                <a:ea typeface="맑은 고딕"/>
              </a:rPr>
              <a:t>fk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549640" y="3410712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576523" y="3378708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649858" y="3351276"/>
            <a:ext cx="14630" cy="118872"/>
          </a:xfrm>
          <a:prstGeom prst="rect">
            <a:avLst/>
          </a:prstGeom>
          <a:solidFill>
            <a:srgbClr val="18A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8624986" y="3369564"/>
            <a:ext cx="82296" cy="82296"/>
          </a:xfrm>
          <a:prstGeom prst="ellipse">
            <a:avLst/>
          </a:prstGeom>
          <a:solidFill>
            <a:srgbClr val="18A97D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238744" y="3675888"/>
            <a:ext cx="25603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60" b="1">
                <a:solidFill>
                  <a:srgbClr val="F5A623"/>
                </a:solidFill>
                <a:latin typeface="맑은 고딕"/>
                <a:ea typeface="맑은 고딕"/>
              </a:rPr>
              <a:t>sc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549640" y="3721608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890162" y="3689604"/>
            <a:ext cx="394289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9079992" y="3662172"/>
            <a:ext cx="14630" cy="11887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9046159" y="3680460"/>
            <a:ext cx="82296" cy="82296"/>
          </a:xfrm>
          <a:prstGeom prst="ellipse">
            <a:avLst/>
          </a:prstGeom>
          <a:solidFill>
            <a:srgbClr val="F5A623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38744" y="3986784"/>
            <a:ext cx="25603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60" b="1">
                <a:solidFill>
                  <a:srgbClr val="D93A5A"/>
                </a:solidFill>
                <a:latin typeface="맑은 고딕"/>
                <a:ea typeface="맑은 고딕"/>
              </a:rPr>
              <a:t>sr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549640" y="4032504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576523" y="4000500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649858" y="3973068"/>
            <a:ext cx="14630" cy="118872"/>
          </a:xfrm>
          <a:prstGeom prst="rect">
            <a:avLst/>
          </a:prstGeom>
          <a:solidFill>
            <a:srgbClr val="D93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8616025" y="3991356"/>
            <a:ext cx="82296" cy="82296"/>
          </a:xfrm>
          <a:prstGeom prst="ellipse">
            <a:avLst/>
          </a:prstGeom>
          <a:solidFill>
            <a:srgbClr val="D93A5A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293608" y="4535424"/>
            <a:ext cx="1170432" cy="256032"/>
          </a:xfrm>
          <a:prstGeom prst="rect">
            <a:avLst/>
          </a:prstGeom>
          <a:solidFill>
            <a:srgbClr val="E8F5EE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348472" y="4562856"/>
            <a:ext cx="106070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19" b="1">
                <a:solidFill>
                  <a:srgbClr val="2BA66B"/>
                </a:solidFill>
                <a:latin typeface="맑은 고딕"/>
                <a:ea typeface="맑은 고딕"/>
              </a:rPr>
              <a:t>ACCEPT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75320" y="4791456"/>
            <a:ext cx="1207008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1">
                <a:solidFill>
                  <a:srgbClr val="6B7280"/>
                </a:solidFill>
                <a:latin typeface="맑은 고딕"/>
                <a:ea typeface="맑은 고딕"/>
              </a:rPr>
              <a:t>bit likelihoods align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774936" y="2706624"/>
            <a:ext cx="1426464" cy="2267712"/>
          </a:xfrm>
          <a:prstGeom prst="rect">
            <a:avLst/>
          </a:prstGeom>
          <a:solidFill>
            <a:srgbClr val="F7F9FC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848088" y="2770632"/>
            <a:ext cx="12801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80" b="1">
                <a:solidFill>
                  <a:srgbClr val="0F1E3D"/>
                </a:solidFill>
                <a:latin typeface="맑은 고딕"/>
                <a:ea typeface="맑은 고딕"/>
              </a:rPr>
              <a:t>tail/OOD on bb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848088" y="3054096"/>
            <a:ext cx="25603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60" b="1">
                <a:solidFill>
                  <a:srgbClr val="2F67F6"/>
                </a:solidFill>
                <a:latin typeface="맑은 고딕"/>
                <a:ea typeface="맑은 고딕"/>
              </a:rPr>
              <a:t>bb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0158984" y="3099816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0696651" y="3067812"/>
            <a:ext cx="331561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0886480" y="3040380"/>
            <a:ext cx="14630" cy="118872"/>
          </a:xfrm>
          <a:prstGeom prst="rect">
            <a:avLst/>
          </a:prstGeom>
          <a:solidFill>
            <a:srgbClr val="2F6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0297058" y="3058668"/>
            <a:ext cx="82296" cy="82296"/>
          </a:xfrm>
          <a:prstGeom prst="ellipse">
            <a:avLst/>
          </a:prstGeom>
          <a:solidFill>
            <a:srgbClr val="CC3328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9848088" y="3364992"/>
            <a:ext cx="25603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60" b="1">
                <a:solidFill>
                  <a:srgbClr val="18A97D"/>
                </a:solidFill>
                <a:latin typeface="맑은 고딕"/>
                <a:ea typeface="맑은 고딕"/>
              </a:rPr>
              <a:t>fk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0158984" y="3410712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0185867" y="3378708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0259202" y="3351276"/>
            <a:ext cx="14630" cy="118872"/>
          </a:xfrm>
          <a:prstGeom prst="rect">
            <a:avLst/>
          </a:prstGeom>
          <a:solidFill>
            <a:srgbClr val="18A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0494203" y="3369564"/>
            <a:ext cx="82296" cy="82296"/>
          </a:xfrm>
          <a:prstGeom prst="ellipse">
            <a:avLst/>
          </a:prstGeom>
          <a:solidFill>
            <a:srgbClr val="CC3328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848088" y="3675888"/>
            <a:ext cx="25603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60" b="1">
                <a:solidFill>
                  <a:srgbClr val="F5A623"/>
                </a:solidFill>
                <a:latin typeface="맑은 고딕"/>
                <a:ea typeface="맑은 고딕"/>
              </a:rPr>
              <a:t>sc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0158984" y="3721608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185867" y="3689604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259202" y="3662172"/>
            <a:ext cx="14630" cy="11887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0476280" y="3680460"/>
            <a:ext cx="82296" cy="82296"/>
          </a:xfrm>
          <a:prstGeom prst="ellipse">
            <a:avLst/>
          </a:prstGeom>
          <a:solidFill>
            <a:srgbClr val="CC3328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9848088" y="3986784"/>
            <a:ext cx="25603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60" b="1">
                <a:solidFill>
                  <a:srgbClr val="D93A5A"/>
                </a:solidFill>
                <a:latin typeface="맑은 고딕"/>
                <a:ea typeface="맑은 고딕"/>
              </a:rPr>
              <a:t>sr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0158984" y="4032504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0185867" y="4000500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259202" y="3973068"/>
            <a:ext cx="14630" cy="118872"/>
          </a:xfrm>
          <a:prstGeom prst="rect">
            <a:avLst/>
          </a:prstGeom>
          <a:solidFill>
            <a:srgbClr val="D93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0458358" y="3991356"/>
            <a:ext cx="82296" cy="82296"/>
          </a:xfrm>
          <a:prstGeom prst="ellipse">
            <a:avLst/>
          </a:prstGeom>
          <a:solidFill>
            <a:srgbClr val="CC3328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9902952" y="4535424"/>
            <a:ext cx="1170432" cy="256032"/>
          </a:xfrm>
          <a:prstGeom prst="rect">
            <a:avLst/>
          </a:prstGeom>
          <a:solidFill>
            <a:srgbClr val="FAE8E6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957816" y="4562856"/>
            <a:ext cx="106070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19" b="1">
                <a:solidFill>
                  <a:srgbClr val="CC3328"/>
                </a:solidFill>
                <a:latin typeface="맑은 고딕"/>
                <a:ea typeface="맑은 고딕"/>
              </a:rPr>
              <a:t>REJECT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884664" y="4791456"/>
            <a:ext cx="1207008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1">
                <a:solidFill>
                  <a:srgbClr val="6B7280"/>
                </a:solidFill>
                <a:latin typeface="맑은 고딕"/>
                <a:ea typeface="맑은 고딕"/>
              </a:rPr>
              <a:t>known-profile mismatch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556248" y="5175504"/>
            <a:ext cx="4626864" cy="438912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665976" y="5248656"/>
            <a:ext cx="440740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19" b="1">
                <a:solidFill>
                  <a:srgbClr val="0F1E3D"/>
                </a:solidFill>
                <a:latin typeface="맑은 고딕"/>
                <a:ea typeface="맑은 고딕"/>
              </a:rPr>
              <a:t>Accept: four independent output bits match one known profile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665976" y="5413247"/>
            <a:ext cx="440740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40" b="1">
                <a:solidFill>
                  <a:srgbClr val="1A1F2E"/>
                </a:solidFill>
                <a:latin typeface="맑은 고딕"/>
                <a:ea typeface="맑은 고딕"/>
              </a:rPr>
              <a:t>tail/OOD is not learned as a class; reject by known-profile mismatch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665976" y="5550408"/>
            <a:ext cx="440740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19" b="1">
                <a:solidFill>
                  <a:srgbClr val="6B7280"/>
                </a:solidFill>
                <a:latin typeface="맑은 고딕"/>
                <a:ea typeface="맑은 고딕"/>
              </a:rPr>
              <a:t>separate safeguard; recipe table reports FCM-PM + val-margin only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6537960" y="5760719"/>
            <a:ext cx="2212848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6537960" y="5760719"/>
            <a:ext cx="64008" cy="384048"/>
          </a:xfrm>
          <a:prstGeom prst="rect">
            <a:avLst/>
          </a:prstGeom>
          <a:solidFill>
            <a:srgbClr val="2B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665976" y="5797295"/>
            <a:ext cx="93268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60" b="1">
                <a:solidFill>
                  <a:srgbClr val="6B7280"/>
                </a:solidFill>
                <a:latin typeface="맑은 고딕"/>
                <a:ea typeface="맑은 고딕"/>
              </a:rPr>
              <a:t>NB profile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665976" y="5925311"/>
            <a:ext cx="118872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0F1E3D"/>
                </a:solidFill>
                <a:latin typeface="맑은 고딕"/>
                <a:ea typeface="맑은 고딕"/>
              </a:rPr>
              <a:t>10 known classes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891272" y="5870447"/>
            <a:ext cx="713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19" b="1">
                <a:solidFill>
                  <a:srgbClr val="2BA66B"/>
                </a:solidFill>
                <a:latin typeface="맑은 고딕"/>
                <a:ea typeface="맑은 고딕"/>
              </a:rPr>
              <a:t>4 single + 6 combo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979408" y="5760719"/>
            <a:ext cx="2212848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8979408" y="5760719"/>
            <a:ext cx="64008" cy="384048"/>
          </a:xfrm>
          <a:prstGeom prst="rect">
            <a:avLst/>
          </a:prstGeom>
          <a:solidFill>
            <a:srgbClr val="2B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9107424" y="5797295"/>
            <a:ext cx="93268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60" b="1">
                <a:solidFill>
                  <a:srgbClr val="6B7280"/>
                </a:solidFill>
                <a:latin typeface="맑은 고딕"/>
                <a:ea typeface="맑은 고딕"/>
              </a:rPr>
              <a:t>reject rule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07424" y="5925311"/>
            <a:ext cx="118872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0F1E3D"/>
                </a:solidFill>
                <a:latin typeface="맑은 고딕"/>
                <a:ea typeface="맑은 고딕"/>
              </a:rPr>
              <a:t>no profile passes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332720" y="5870447"/>
            <a:ext cx="713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19" b="1">
                <a:solidFill>
                  <a:srgbClr val="CC3328"/>
                </a:solidFill>
                <a:latin typeface="맑은 고딕"/>
                <a:ea typeface="맑은 고딕"/>
              </a:rPr>
              <a:t>reject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P2 | 검증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Multi-label recipe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8016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40" b="1">
                <a:solidFill>
                  <a:srgbClr val="0F1E3D"/>
                </a:solidFill>
                <a:latin typeface="맑은 고딕"/>
                <a:ea typeface="맑은 고딕"/>
              </a:rPr>
              <a:t>[controlled synthetic validation] 현업 single-failure 원천에서 생성한 평가셋입니다. 단일 대표 모델은 FCM-PM + val_margin selection입니다.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64208"/>
          <a:ext cx="7205472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492"/>
                <a:gridCol w="2787124"/>
                <a:gridCol w="734590"/>
                <a:gridCol w="648168"/>
                <a:gridCol w="734590"/>
                <a:gridCol w="626562"/>
                <a:gridCol w="1317946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869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#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Recipe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bit_F1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single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2combo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FAR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Role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BCE + Label Smoothing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0.1093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0.1896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0.0668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99.47%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baseline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Sigmoid Focal Loss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0.7980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0.8724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0.7050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45.72%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loss trial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3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Asymmetric Loss (ASL)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0.6435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0.5379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0.7320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100%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FAR collapse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CutMix (random rectangle)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0.9359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0.9566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0.9070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42.05%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signal cut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5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CutMix + Pair Mask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0.9491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0.9728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0.9281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24.62%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FAR reduced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6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FCM-PM + val_f1 selection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0.9652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1.0000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0.9517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0.15%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selection ablation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ctr"/>
                      <a:r>
                        <a:rPr sz="84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7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4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FCM-PM + val_margin selection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0.9927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0.9996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0.9871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0.00%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4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selected single</a:t>
                      </a:r>
                    </a:p>
                    <a:p>
                      <a:pPr algn="l"/>
                      <a:r>
                        <a:rPr sz="84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main claim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ctr"/>
                      <a:r>
                        <a:rPr sz="84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4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vote_majority_bits Ensemble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0.9956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1.0000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0.9921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0.00%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4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champion</a:t>
                      </a:r>
                    </a:p>
                    <a:p>
                      <a:pPr algn="l"/>
                      <a:r>
                        <a:rPr sz="84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cost 5x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Knowledge Distillation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0.9799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1.0000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0.9638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0.00%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1x candidate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91856" y="1664208"/>
            <a:ext cx="3730752" cy="310896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83296" y="1664208"/>
            <a:ext cx="354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Negative-tail and deployment cost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991856" y="2066543"/>
          <a:ext cx="3730752" cy="1700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4704"/>
                <a:gridCol w="481669"/>
                <a:gridCol w="542973"/>
                <a:gridCol w="805702"/>
                <a:gridCol w="805704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74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Candidate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4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NI-FAR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4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OOD-FAR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4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Cost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4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Interp.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72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FCM-PM + val_margin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0.00%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0.00%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1x / 1x / 1x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2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selected</a:t>
                      </a:r>
                    </a:p>
                    <a:p>
                      <a:pPr algn="l"/>
                      <a:r>
                        <a:rPr sz="72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single model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72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vote_majority_bits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0.00%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0.00%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5x / 1/5x / 5x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2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best F1</a:t>
                      </a:r>
                    </a:p>
                    <a:p>
                      <a:pPr algn="l"/>
                      <a:r>
                        <a:rPr sz="72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cost 5x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72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Knowledge Distillation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0.00%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0.00%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2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1x / 1x / 1x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2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deploy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candidate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991856" y="3931920"/>
            <a:ext cx="3730752" cy="144475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1856" y="3931920"/>
            <a:ext cx="91440" cy="14447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93024" y="4096512"/>
            <a:ext cx="33101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Selected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93024" y="4407408"/>
            <a:ext cx="331012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1">
                <a:solidFill>
                  <a:srgbClr val="0F1E3D"/>
                </a:solidFill>
                <a:latin typeface="맑은 고딕"/>
                <a:ea typeface="맑은 고딕"/>
              </a:rPr>
              <a:t>FCM-PM + val_margin</a:t>
            </a:r>
          </a:p>
          <a:p>
            <a:pPr algn="l"/>
            <a:r>
              <a:rPr sz="980">
                <a:solidFill>
                  <a:srgbClr val="1A1F2E"/>
                </a:solidFill>
                <a:latin typeface="맑은 고딕"/>
                <a:ea typeface="맑은 고딕"/>
              </a:rPr>
              <a:t>대표 single model: bit_F1 0.9927 / FAR 0.00% / 1x cost</a:t>
            </a:r>
          </a:p>
          <a:p>
            <a:pPr algn="l"/>
            <a:r>
              <a:rPr sz="980">
                <a:solidFill>
                  <a:srgbClr val="1A1F2E"/>
                </a:solidFill>
                <a:latin typeface="맑은 고딕"/>
                <a:ea typeface="맑은 고딕"/>
              </a:rPr>
              <a:t>Ensemble은 최고 bit_F1 0.9956이지만 cost 5x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" y="5961888"/>
            <a:ext cx="11018520" cy="420624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85216" y="5961888"/>
            <a:ext cx="91440" cy="420624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5961888"/>
            <a:ext cx="1068933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60" b="1">
                <a:solidFill>
                  <a:srgbClr val="0F1E3D"/>
                </a:solidFill>
                <a:latin typeface="맑은 고딕"/>
                <a:ea typeface="맑은 고딕"/>
              </a:rPr>
              <a:t>대표 single model: bit_F1 0.9927 / Total FAR 0.00%. Champion ensemble: bit_F1 0.9956 / Total FAR 0.00%지만 cost는 5x / 1/5x / 5x.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6120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0" y="384048"/>
            <a:ext cx="78638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AI Specialist 인증 | 3개 과제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713232"/>
            <a:ext cx="457200" cy="279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77824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170432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Episode generation | Binary validation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212848"/>
            <a:ext cx="146304" cy="150876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75688"/>
            <a:ext cx="24688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0" b="1">
                <a:solidFill>
                  <a:srgbClr val="96A0AD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3858767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822191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P1  Failbit Map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4142231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105655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P2  Chip multi-label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425695"/>
            <a:ext cx="118872" cy="118872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4389119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P3  Trend anomaly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697480"/>
            <a:ext cx="786384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E3D"/>
                </a:solidFill>
                <a:latin typeface="맑은 고딕"/>
                <a:ea typeface="맑은 고딕"/>
              </a:rPr>
              <a:t>Trend Anomaly</a:t>
            </a:r>
          </a:p>
          <a:p>
            <a:pPr algn="l"/>
            <a:r>
              <a:rPr sz="1600">
                <a:solidFill>
                  <a:srgbClr val="556075"/>
                </a:solidFill>
                <a:latin typeface="맑은 고딕"/>
                <a:ea typeface="맑은 고딕"/>
              </a:rPr>
              <a:t>episode generation과 binary validation으로 real abnormal label 부족을 보완한 과제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0" y="4187952"/>
            <a:ext cx="7863840" cy="74980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0" y="4187952"/>
            <a:ext cx="82296" cy="7498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58768" y="4187952"/>
            <a:ext cx="1078992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96A0AD"/>
                </a:solidFill>
                <a:latin typeface="맑은 고딕"/>
                <a:ea typeface="맑은 고딕"/>
              </a:rPr>
              <a:t>Rationale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83480" y="4187952"/>
            <a:ext cx="63550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현장 trend 판정 기준을 episode 생성 규칙으로 옮기고, normal/abnormal binary validation으로 검증했습니다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5010912"/>
            <a:ext cx="23317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82296" cy="62179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5" y="5010912"/>
            <a:ext cx="20574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E3D"/>
                </a:solidFill>
                <a:latin typeface="맑은 고딕"/>
                <a:ea typeface="맑은 고딕"/>
              </a:rPr>
              <a:t>7,000</a:t>
            </a:r>
          </a:p>
          <a:p>
            <a:pPr algn="l"/>
            <a:r>
              <a:rPr sz="900" b="1">
                <a:solidFill>
                  <a:srgbClr val="6B7280"/>
                </a:solidFill>
                <a:latin typeface="맑은 고딕"/>
                <a:ea typeface="맑은 고딕"/>
              </a:rPr>
              <a:t>normal 3,500 + abnormal 3,500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5742432"/>
            <a:ext cx="23317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" y="5742432"/>
            <a:ext cx="82296" cy="62179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42415" y="5742432"/>
            <a:ext cx="20574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E3D"/>
                </a:solidFill>
                <a:latin typeface="맑은 고딕"/>
                <a:ea typeface="맑은 고딕"/>
              </a:rPr>
              <a:t>F1 0.9967</a:t>
            </a:r>
          </a:p>
          <a:p>
            <a:pPr algn="l"/>
            <a:r>
              <a:rPr sz="900" b="1">
                <a:solidFill>
                  <a:srgbClr val="6B7280"/>
                </a:solidFill>
                <a:latin typeface="맑은 고딕"/>
                <a:ea typeface="맑은 고딕"/>
              </a:rPr>
              <a:t>synthetic validation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5138928"/>
            <a:ext cx="10972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Key Result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81728" y="5138928"/>
            <a:ext cx="6858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Synthetic benchmark 7,000 series, binary-F1 0.9967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5541264"/>
            <a:ext cx="28346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Before → After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0" y="5815584"/>
            <a:ext cx="3611880" cy="65836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22192" y="5815584"/>
            <a:ext cx="3282696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6B7280"/>
                </a:solidFill>
                <a:latin typeface="맑은 고딕"/>
                <a:ea typeface="맑은 고딕"/>
              </a:rPr>
              <a:t>Before  </a:t>
            </a:r>
            <a:r>
              <a:rPr sz="1250" b="1">
                <a:solidFill>
                  <a:srgbClr val="1A1F2E"/>
                </a:solidFill>
                <a:latin typeface="맑은 고딕"/>
                <a:ea typeface="맑은 고딕"/>
              </a:rPr>
              <a:t>real abnormal label 부족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09560" y="5815584"/>
            <a:ext cx="3611880" cy="65836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09560" y="5815584"/>
            <a:ext cx="82296" cy="65836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74152" y="5815584"/>
            <a:ext cx="3282696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96A0AD"/>
                </a:solidFill>
                <a:latin typeface="맑은 고딕"/>
                <a:ea typeface="맑은 고딕"/>
              </a:rPr>
              <a:t>After 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episode benchmark 확보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7415784" y="6007608"/>
            <a:ext cx="347472" cy="274320"/>
          </a:xfrm>
          <a:prstGeom prst="rightArrow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65392" y="1170432"/>
            <a:ext cx="2395728" cy="113385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565392" y="1170432"/>
            <a:ext cx="2395728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65392" y="1426464"/>
            <a:ext cx="23957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0F1E3D"/>
                </a:solidFill>
                <a:latin typeface="맑은 고딕"/>
                <a:ea typeface="맑은 고딕"/>
              </a:rPr>
              <a:t>7,000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11696" y="1920240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A1F2E"/>
                </a:solidFill>
                <a:latin typeface="맑은 고딕"/>
                <a:ea typeface="맑은 고딕"/>
              </a:rPr>
              <a:t>normal 3,500 + abnormal 3,500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217152" y="1170432"/>
            <a:ext cx="2395728" cy="113385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217152" y="1170432"/>
            <a:ext cx="2395728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17152" y="1426464"/>
            <a:ext cx="23957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0F1E3D"/>
                </a:solidFill>
                <a:latin typeface="맑은 고딕"/>
                <a:ea typeface="맑은 고딕"/>
              </a:rPr>
              <a:t>F1 0.9967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63456" y="1920240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A1F2E"/>
                </a:solidFill>
                <a:latin typeface="맑은 고딕"/>
                <a:ea typeface="맑은 고딕"/>
              </a:rPr>
              <a:t>synthetic validation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P3 | Trend anomaly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Episode generation and binary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00784"/>
            <a:ext cx="532180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Core contribution — 판정 경험을 episode generation rule로 코드화하고, binary validation으로 검증했습니다.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514600"/>
            <a:ext cx="4983480" cy="62179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514600"/>
            <a:ext cx="82296" cy="62179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" y="2587752"/>
            <a:ext cx="1325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0" b="1">
                <a:solidFill>
                  <a:srgbClr val="0F1E3D"/>
                </a:solidFill>
                <a:latin typeface="맑은 고딕"/>
                <a:ea typeface="맑은 고딕"/>
              </a:rPr>
              <a:t>현장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95728" y="2514600"/>
            <a:ext cx="322783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40" b="0">
                <a:solidFill>
                  <a:srgbClr val="1A1F2E"/>
                </a:solidFill>
                <a:latin typeface="맑은 고딕"/>
                <a:ea typeface="맑은 고딕"/>
              </a:rPr>
              <a:t>BBD / Overlay / CD 10년 trend 판정 경험</a:t>
            </a:r>
          </a:p>
        </p:txBody>
      </p:sp>
      <p:sp>
        <p:nvSpPr>
          <p:cNvPr id="10" name="Down Arrow 9"/>
          <p:cNvSpPr/>
          <p:nvPr/>
        </p:nvSpPr>
        <p:spPr>
          <a:xfrm>
            <a:off x="3182112" y="3118104"/>
            <a:ext cx="219456" cy="201168"/>
          </a:xfrm>
          <a:prstGeom prst="downArrow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3300984"/>
            <a:ext cx="4983480" cy="62179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3300984"/>
            <a:ext cx="82296" cy="62179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" y="3374136"/>
            <a:ext cx="1325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0" b="1">
                <a:solidFill>
                  <a:srgbClr val="0F1E3D"/>
                </a:solidFill>
                <a:latin typeface="맑은 고딕"/>
                <a:ea typeface="맑은 고딕"/>
              </a:rPr>
              <a:t>Episode generation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95728" y="3300984"/>
            <a:ext cx="322783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40" b="0">
                <a:solidFill>
                  <a:srgbClr val="1A1F2E"/>
                </a:solidFill>
                <a:latin typeface="맑은 고딕"/>
                <a:ea typeface="맑은 고딕"/>
              </a:rPr>
              <a:t>Region 5종 + Noise 3종 + Anomaly 5종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3182112" y="3904488"/>
            <a:ext cx="219456" cy="201168"/>
          </a:xfrm>
          <a:prstGeom prst="downArrow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4087368"/>
            <a:ext cx="4983480" cy="62179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4087368"/>
            <a:ext cx="82296" cy="62179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2416" y="4160520"/>
            <a:ext cx="1325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0" b="1">
                <a:solidFill>
                  <a:srgbClr val="0F1E3D"/>
                </a:solidFill>
                <a:latin typeface="맑은 고딕"/>
                <a:ea typeface="맑은 고딕"/>
              </a:rPr>
              <a:t>Synthetic benchmark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95728" y="4087368"/>
            <a:ext cx="322783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40" b="0">
                <a:solidFill>
                  <a:srgbClr val="1A1F2E"/>
                </a:solidFill>
                <a:latin typeface="맑은 고딕"/>
                <a:ea typeface="맑은 고딕"/>
              </a:rPr>
              <a:t>normal 3,500 + abnormal 3,500 = 7,000개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3182112" y="4690872"/>
            <a:ext cx="219456" cy="201168"/>
          </a:xfrm>
          <a:prstGeom prst="downArrow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" y="4873752"/>
            <a:ext cx="4983480" cy="621792"/>
          </a:xfrm>
          <a:prstGeom prst="rect">
            <a:avLst/>
          </a:prstGeom>
          <a:solidFill>
            <a:srgbClr val="E8ECF2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873752"/>
            <a:ext cx="82296" cy="62179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6" y="4946904"/>
            <a:ext cx="1325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0" b="1">
                <a:solidFill>
                  <a:srgbClr val="0F1E3D"/>
                </a:solidFill>
                <a:latin typeface="맑은 고딕"/>
                <a:ea typeface="맑은 고딕"/>
              </a:rPr>
              <a:t>Binary validation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95728" y="4873752"/>
            <a:ext cx="322783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40" b="1">
                <a:solidFill>
                  <a:srgbClr val="0F1E3D"/>
                </a:solidFill>
                <a:latin typeface="맑은 고딕"/>
                <a:ea typeface="맑은 고딕"/>
              </a:rPr>
              <a:t>F1 0.9967 / abnormal recall 0.9987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1874519"/>
            <a:ext cx="160020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1874519"/>
            <a:ext cx="1600200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73368" y="2002535"/>
            <a:ext cx="1380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7,000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3368" y="2313431"/>
            <a:ext cx="13807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A1F2E"/>
                </a:solidFill>
                <a:latin typeface="맑은 고딕"/>
                <a:ea typeface="맑은 고딕"/>
              </a:rPr>
              <a:t>trend samples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3368" y="2532887"/>
            <a:ext cx="13807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60">
                <a:solidFill>
                  <a:srgbClr val="6B7280"/>
                </a:solidFill>
                <a:latin typeface="맑은 고딕"/>
                <a:ea typeface="맑은 고딕"/>
              </a:rPr>
              <a:t>3,500+3,500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46720" y="1874519"/>
            <a:ext cx="160020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46720" y="1874519"/>
            <a:ext cx="1600200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56448" y="2002535"/>
            <a:ext cx="1380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5×3×5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56448" y="2313431"/>
            <a:ext cx="13807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A1F2E"/>
                </a:solidFill>
                <a:latin typeface="맑은 고딕"/>
                <a:ea typeface="맑은 고딕"/>
              </a:rPr>
              <a:t>rule space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56448" y="2532887"/>
            <a:ext cx="13807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60">
                <a:solidFill>
                  <a:srgbClr val="6B7280"/>
                </a:solidFill>
                <a:latin typeface="맑은 고딕"/>
                <a:ea typeface="맑은 고딕"/>
              </a:rPr>
              <a:t>region/noise/anomaly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829800" y="1874519"/>
            <a:ext cx="160020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829800" y="1874519"/>
            <a:ext cx="1600200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39528" y="2002535"/>
            <a:ext cx="1380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0.9967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39528" y="2313431"/>
            <a:ext cx="13807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A1F2E"/>
                </a:solidFill>
                <a:latin typeface="맑은 고딕"/>
                <a:ea typeface="맑은 고딕"/>
              </a:rPr>
              <a:t>Binary F1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39528" y="2532887"/>
            <a:ext cx="13807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60">
                <a:solidFill>
                  <a:srgbClr val="6B7280"/>
                </a:solidFill>
                <a:latin typeface="맑은 고딕"/>
                <a:ea typeface="맑은 고딕"/>
              </a:rPr>
              <a:t>PoC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63640" y="3054096"/>
            <a:ext cx="5166360" cy="2907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3054096"/>
            <a:ext cx="5166360" cy="36576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28232" y="3108960"/>
            <a:ext cx="48463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맑은 고딕"/>
                <a:ea typeface="맑은 고딕"/>
              </a:rPr>
              <a:t>Stabilization and shortcut-control stack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64808" y="3547872"/>
            <a:ext cx="2322576" cy="566928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64808" y="3547872"/>
            <a:ext cx="54864" cy="56692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83680" y="361188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40" b="1">
                <a:solidFill>
                  <a:srgbClr val="0F1E3D"/>
                </a:solidFill>
                <a:latin typeface="맑은 고딕"/>
                <a:ea typeface="맑은 고딕"/>
              </a:rPr>
              <a:t>LR sweep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0" y="3785616"/>
            <a:ext cx="2139696" cy="2651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80">
                <a:solidFill>
                  <a:srgbClr val="6B7280"/>
                </a:solidFill>
                <a:latin typeface="맑은 고딕"/>
                <a:ea typeface="맑은 고딕"/>
              </a:rPr>
              <a:t>3e-5/3e-4 stable
1e-4/1e-3 collapse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33688" y="3547872"/>
            <a:ext cx="2322576" cy="566928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933688" y="3547872"/>
            <a:ext cx="54864" cy="56692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052560" y="361188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40" b="1">
                <a:solidFill>
                  <a:srgbClr val="0F1E3D"/>
                </a:solidFill>
                <a:latin typeface="맑은 고딕"/>
                <a:ea typeface="맑은 고딕"/>
              </a:rPr>
              <a:t>Label smoothing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52560" y="3785616"/>
            <a:ext cx="2139696" cy="2651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80">
                <a:solidFill>
                  <a:srgbClr val="6B7280"/>
                </a:solidFill>
                <a:latin typeface="맑은 고딕"/>
                <a:ea typeface="맑은 고딕"/>
              </a:rPr>
              <a:t>0.02 sweet spot
FN 4.6 -&gt; 0.8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64808" y="4233672"/>
            <a:ext cx="2322576" cy="566928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464808" y="4233672"/>
            <a:ext cx="54864" cy="56692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0" y="429768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40" b="1">
                <a:solidFill>
                  <a:srgbClr val="0F1E3D"/>
                </a:solidFill>
                <a:latin typeface="맑은 고딕"/>
                <a:ea typeface="맑은 고딕"/>
              </a:rPr>
              <a:t>Stochastic depth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83680" y="4471416"/>
            <a:ext cx="2139696" cy="2651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80">
                <a:solidFill>
                  <a:srgbClr val="6B7280"/>
                </a:solidFill>
                <a:latin typeface="맑은 고딕"/>
                <a:ea typeface="맑은 고딕"/>
              </a:rPr>
              <a:t>0.05 regularization
FP 3.8 -&gt; 1.4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933688" y="4233672"/>
            <a:ext cx="2322576" cy="566928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933688" y="4233672"/>
            <a:ext cx="54864" cy="56692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052560" y="429768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40" b="1">
                <a:solidFill>
                  <a:srgbClr val="0F1E3D"/>
                </a:solidFill>
                <a:latin typeface="맑은 고딕"/>
                <a:ea typeface="맑은 고딕"/>
              </a:rPr>
              <a:t>Focal + EMA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052560" y="4471416"/>
            <a:ext cx="2139696" cy="2651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80">
                <a:solidFill>
                  <a:srgbClr val="6B7280"/>
                </a:solidFill>
                <a:latin typeface="맑은 고딕"/>
                <a:ea typeface="맑은 고딕"/>
              </a:rPr>
              <a:t>gamma=2.0, EMA 0.95
hard-anomaly stability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64808" y="4919472"/>
            <a:ext cx="2322576" cy="566928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464808" y="4919472"/>
            <a:ext cx="54864" cy="56692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0" y="498348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40" b="1">
                <a:solidFill>
                  <a:srgbClr val="0F1E3D"/>
                </a:solidFill>
                <a:latin typeface="맑은 고딕"/>
                <a:ea typeface="맑은 고딕"/>
              </a:rPr>
              <a:t>Normal ratio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583680" y="5157216"/>
            <a:ext cx="2139696" cy="2651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80">
                <a:solidFill>
                  <a:srgbClr val="6B7280"/>
                </a:solidFill>
                <a:latin typeface="맑은 고딕"/>
                <a:ea typeface="맑은 고딕"/>
              </a:rPr>
              <a:t>hard-normal 3,300
FP/FN balance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933688" y="4919472"/>
            <a:ext cx="2322576" cy="566928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933688" y="4919472"/>
            <a:ext cx="54864" cy="56692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052560" y="498348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40" b="1">
                <a:solidFill>
                  <a:srgbClr val="0F1E3D"/>
                </a:solidFill>
                <a:latin typeface="맑은 고딕"/>
                <a:ea typeface="맑은 고딕"/>
              </a:rPr>
              <a:t>Color + median + NT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52560" y="5157216"/>
            <a:ext cx="2139696" cy="2651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80">
                <a:solidFill>
                  <a:srgbClr val="6B7280"/>
                </a:solidFill>
                <a:latin typeface="맑은 고딕"/>
                <a:ea typeface="맑은 고딕"/>
              </a:rPr>
              <a:t>color/smoothing check
val-F1 median, NT 0.9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00800" y="5705856"/>
            <a:ext cx="4892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60" b="1">
                <a:solidFill>
                  <a:srgbClr val="0F1E3D"/>
                </a:solidFill>
                <a:latin typeface="맑은 고딕"/>
                <a:ea typeface="맑은 고딕"/>
              </a:rPr>
              <a:t>Interpretation: generator validity, training stability, and shortcut checks are evaluated together.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P3 | episode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Baseline episodes and measurement-noise sampling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44168"/>
            <a:ext cx="10607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80">
                <a:solidFill>
                  <a:srgbClr val="1A1F2E"/>
                </a:solidFill>
                <a:latin typeface="맑은 고딕"/>
                <a:ea typeface="맑은 고딕"/>
              </a:rPr>
              <a:t>정상 trend는 region별 baseline 위에 episode density와 noise family를 분리해 샘플링합니다. anomaly injection은 다음 장에서 분리합니다.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664208"/>
            <a:ext cx="10744200" cy="3493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37360"/>
            <a:ext cx="7859816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60" b="1">
                <a:solidFill>
                  <a:srgbClr val="0F1E3D"/>
                </a:solidFill>
                <a:latin typeface="맑은 고딕"/>
                <a:ea typeface="맑은 고딕"/>
              </a:rPr>
              <a:t>(a) Normal baseline  -  sequential episodes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048256"/>
            <a:ext cx="7859816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80" b="1">
                <a:solidFill>
                  <a:srgbClr val="6B7280"/>
                </a:solidFill>
                <a:latin typeface="맑은 고딕"/>
                <a:ea typeface="맑은 고딕"/>
              </a:rPr>
              <a:t>gray = fleet/reference     blue = sampled observations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969264" y="2340864"/>
            <a:ext cx="7530632" cy="2651760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33856" y="4777740"/>
            <a:ext cx="7219736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33856" y="2523744"/>
            <a:ext cx="13716" cy="2267712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88720" y="2596896"/>
            <a:ext cx="1422001" cy="2121408"/>
          </a:xfrm>
          <a:prstGeom prst="rect">
            <a:avLst/>
          </a:prstGeom>
          <a:solidFill>
            <a:srgbClr val="EAF0F8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7008" y="2615184"/>
            <a:ext cx="1385425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0F1E3D"/>
                </a:solidFill>
                <a:latin typeface="맑은 고딕"/>
                <a:ea typeface="맑은 고딕"/>
              </a:rPr>
              <a:t>Dense</a:t>
            </a:r>
          </a:p>
        </p:txBody>
      </p:sp>
      <p:sp>
        <p:nvSpPr>
          <p:cNvPr id="14" name="Oval 13"/>
          <p:cNvSpPr/>
          <p:nvPr/>
        </p:nvSpPr>
        <p:spPr>
          <a:xfrm>
            <a:off x="1658525" y="314237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075808" y="301188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929036" y="349991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19402" y="37358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93246" y="36130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334527" y="304229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786970" y="426738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403346" y="326284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045827" y="446851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981621" y="35514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490818" y="296885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340558" y="337330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429438" y="308736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638942" y="424953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475965" y="385923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060472" y="351107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944168" y="29958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321446" y="32340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113397" y="360293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646169" y="386582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823538" y="33902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258800" y="40546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556806" y="38472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915404" y="434774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175964" y="337052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495819" y="308781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778811" y="415137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439299" y="37050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295429" y="400338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220773" y="384496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362257" y="341347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132399" y="388048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985183" y="365055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2316957" y="446347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850218" y="399662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322808" y="405876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2070953" y="454405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2293939" y="33649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737565" y="400411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274196" y="365968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459791" y="308620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320620" y="41698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416654" y="333460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740819" y="391687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356235" y="352275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937208" y="392804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2271572" y="390993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601383" y="349112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700946" y="392879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2443130" y="324434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474741" y="331998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545517" y="355614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986381" y="334872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261458" y="349452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1713935" y="363210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2437389" y="374799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895142" y="367994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2094279" y="315387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2371016" y="383151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2340013" y="384822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742590" y="347588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384680" y="369553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333518" y="316633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515068" y="325497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677753" y="315254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256675" y="324466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382112" y="344287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287984" y="391959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2017291" y="324213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568963" y="342773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707628" y="321813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2308321" y="403045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1833803" y="355509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1362807" y="31988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1680953" y="335060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2283438" y="325416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285004" y="399114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910960" y="324031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929442" y="312871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910777" y="401682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2326150" y="375331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579939" y="34457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463371" y="382401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916332" y="38306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664880" y="331166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2261946" y="402282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2312896" y="385588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2270399" y="379408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537343" y="358664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696971" y="313052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291003" y="336428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577534" y="374988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2441623" y="352092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2417468" y="402572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2439747" y="344383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529565" y="331521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500128" y="329424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2029679" y="394383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2297787" y="355102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2065504" y="384987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361436" y="372007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2383709" y="383369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2185900" y="354967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477596" y="384006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668415" y="385097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2460386" y="347295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753752" y="398723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2154499" y="32621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413801" y="324456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2377607" y="385627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1437513" y="387495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2471103" y="371698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690583" y="361560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418690" y="311676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2459436" y="370989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908883" y="397493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610721" y="2596896"/>
            <a:ext cx="1422001" cy="2121408"/>
          </a:xfrm>
          <a:prstGeom prst="rect">
            <a:avLst/>
          </a:prstGeom>
          <a:solidFill>
            <a:srgbClr val="FBF4E5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629009" y="2615184"/>
            <a:ext cx="1385425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6B7280"/>
                </a:solidFill>
                <a:latin typeface="맑은 고딕"/>
                <a:ea typeface="맑은 고딕"/>
              </a:rPr>
              <a:t>Sparse</a:t>
            </a:r>
          </a:p>
        </p:txBody>
      </p:sp>
      <p:sp>
        <p:nvSpPr>
          <p:cNvPr id="132" name="Oval 131"/>
          <p:cNvSpPr/>
          <p:nvPr/>
        </p:nvSpPr>
        <p:spPr>
          <a:xfrm>
            <a:off x="3220823" y="434209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3721337" y="324255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2988678" y="33788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2974269" y="386728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2998284" y="35886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2834624" y="44057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3118735" y="36538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3411590" y="439627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3204008" y="44186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3307366" y="377640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3335249" y="292246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3228880" y="319606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2672430" y="422131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2887276" y="367932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3592540" y="381742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3083268" y="375397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3375989" y="41965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2802777" y="382378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2984417" y="335218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3652585" y="373627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3384010" y="415611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3831472" y="36289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3448813" y="373267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3320776" y="404418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3244470" y="37788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3277243" y="445818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3559404" y="435007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3869350" y="332334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3381184" y="44611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3738999" y="311955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2822566" y="36271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2759960" y="32918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2760693" y="400547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3667478" y="438417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2864441" y="40831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3509701" y="312927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3793641" y="450152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2947541" y="447649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3175469" y="370223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3930190" y="427669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2873395" y="360947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3325169" y="345569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2920938" y="360507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3573219" y="345281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3364922" y="366715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2700792" y="361167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3451508" y="370371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2758051" y="394444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3655264" y="393762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2808221" y="357810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2727441" y="383951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3013502" y="350886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3201611" y="390693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3693201" y="357456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2863471" y="391088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3385423" y="379950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2789241" y="347218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3531156" y="365944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2768116" y="392064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3464534" y="385103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2782154" y="387883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2760940" y="388217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3240667" y="361557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3363700" y="391470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3010297" y="350869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3331298" y="356429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4032722" y="2596896"/>
            <a:ext cx="1422001" cy="2121408"/>
          </a:xfrm>
          <a:prstGeom prst="rect">
            <a:avLst/>
          </a:prstGeom>
          <a:solidFill>
            <a:srgbClr val="FBECEA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4051010" y="2615184"/>
            <a:ext cx="1385425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6B7280"/>
                </a:solidFill>
                <a:latin typeface="맑은 고딕"/>
                <a:ea typeface="맑은 고딕"/>
              </a:rPr>
              <a:t>Missing</a:t>
            </a:r>
          </a:p>
        </p:txBody>
      </p:sp>
      <p:sp>
        <p:nvSpPr>
          <p:cNvPr id="200" name="Oval 199"/>
          <p:cNvSpPr/>
          <p:nvPr/>
        </p:nvSpPr>
        <p:spPr>
          <a:xfrm>
            <a:off x="4229041" y="316001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4153684" y="322711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4487422" y="33989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5058304" y="337388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4727376" y="318739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4532083" y="292156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4408911" y="291687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5024603" y="38083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4331104" y="368143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5281736" y="30682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5134108" y="361056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4720887" y="428030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4590873" y="373456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4966765" y="452631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4526602" y="42764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4990982" y="39497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4605686" y="34697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4158798" y="310737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4179635" y="41243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4415475" y="31630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4197192" y="429137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5199957" y="400725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4449076" y="32944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4463268" y="36559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4290379" y="363327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4425233" y="449194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5330187" y="380177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4401254" y="449840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4484304" y="348476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4090778" y="352643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4694916" y="372803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4345804" y="373131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4095730" y="333096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4203913" y="35562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4142569" y="292876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4477538" y="327877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4836441" y="377201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5046877" y="398562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5002805" y="435432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4586319" y="343408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5345630" y="314007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5013218" y="396178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4032722" y="3566160"/>
            <a:ext cx="1422001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019" b="1">
                <a:solidFill>
                  <a:srgbClr val="CC3328"/>
                </a:solidFill>
                <a:latin typeface="맑은 고딕"/>
                <a:ea typeface="맑은 고딕"/>
              </a:rPr>
              <a:t>missing</a:t>
            </a:r>
          </a:p>
        </p:txBody>
      </p:sp>
      <p:sp>
        <p:nvSpPr>
          <p:cNvPr id="243" name="Rectangle 242"/>
          <p:cNvSpPr/>
          <p:nvPr/>
        </p:nvSpPr>
        <p:spPr>
          <a:xfrm>
            <a:off x="5454723" y="2596896"/>
            <a:ext cx="1422001" cy="2121408"/>
          </a:xfrm>
          <a:prstGeom prst="rect">
            <a:avLst/>
          </a:prstGeom>
          <a:solidFill>
            <a:srgbClr val="FBF4E5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TextBox 243"/>
          <p:cNvSpPr txBox="1"/>
          <p:nvPr/>
        </p:nvSpPr>
        <p:spPr>
          <a:xfrm>
            <a:off x="5473011" y="2615184"/>
            <a:ext cx="1385425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6B7280"/>
                </a:solidFill>
                <a:latin typeface="맑은 고딕"/>
                <a:ea typeface="맑은 고딕"/>
              </a:rPr>
              <a:t>Sparse</a:t>
            </a:r>
          </a:p>
        </p:txBody>
      </p:sp>
      <p:sp>
        <p:nvSpPr>
          <p:cNvPr id="245" name="Oval 244"/>
          <p:cNvSpPr/>
          <p:nvPr/>
        </p:nvSpPr>
        <p:spPr>
          <a:xfrm>
            <a:off x="5567276" y="428142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6649264" y="393534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6447588" y="424303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5689130" y="376297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6154840" y="428084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6537940" y="426664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6256501" y="437718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6382583" y="404517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5804750" y="29431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5681202" y="34916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5645257" y="428231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6223927" y="393606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6310291" y="40240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6135607" y="289684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6529036" y="41366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6153054" y="378201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6352482" y="30012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6451334" y="331103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5606391" y="333327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6441826" y="32328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6455213" y="45151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6141544" y="35279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6122487" y="40291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6489837" y="391810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6331386" y="302026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5699485" y="331394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6459536" y="33979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6235707" y="291208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5588801" y="33386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6368686" y="404327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6373414" y="337537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6170359" y="366462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6106323" y="30885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6651459" y="32229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6759208" y="44494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5533746" y="365515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6557357" y="450246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6084779" y="333843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5779104" y="446498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5780216" y="385902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5692234" y="376348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6726823" y="311201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6538737" y="370192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6621318" y="380099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5809101" y="389995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6124776" y="345554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5526838" y="369324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6080935" y="359663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5696742" y="361802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5914047" y="387069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5524546" y="382512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6562148" y="350401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6670309" y="380592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6639539" y="359046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5983617" y="364294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6760013" y="374287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5969351" y="366083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5863339" y="346747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5648419" y="386786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5876310" y="391924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5831332" y="357819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6155533" y="353955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5985013" y="392971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6618102" y="385629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6876724" y="2596896"/>
            <a:ext cx="1422004" cy="2121408"/>
          </a:xfrm>
          <a:prstGeom prst="rect">
            <a:avLst/>
          </a:prstGeom>
          <a:solidFill>
            <a:srgbClr val="EAF0F8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TextBox 309"/>
          <p:cNvSpPr txBox="1"/>
          <p:nvPr/>
        </p:nvSpPr>
        <p:spPr>
          <a:xfrm>
            <a:off x="6895012" y="2615184"/>
            <a:ext cx="1385428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0F1E3D"/>
                </a:solidFill>
                <a:latin typeface="맑은 고딕"/>
                <a:ea typeface="맑은 고딕"/>
              </a:rPr>
              <a:t>Dense</a:t>
            </a:r>
          </a:p>
        </p:txBody>
      </p:sp>
      <p:sp>
        <p:nvSpPr>
          <p:cNvPr id="311" name="Oval 310"/>
          <p:cNvSpPr/>
          <p:nvPr/>
        </p:nvSpPr>
        <p:spPr>
          <a:xfrm>
            <a:off x="7738250" y="441146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8133467" y="380536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7851375" y="297367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7867679" y="36416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7893595" y="39638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7298532" y="297284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8115706" y="31032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7535782" y="34632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7313284" y="412123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8178878" y="33243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7770270" y="339198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7644392" y="354764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7146883" y="316036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7198599" y="439903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7567536" y="325750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8089532" y="454967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7507431" y="312364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7178870" y="304230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7369649" y="30429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7238470" y="33212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7660078" y="436790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7889755" y="357828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7461408" y="37636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7414184" y="345417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7012586" y="335317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8167893" y="310081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7575598" y="393916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8034169" y="325074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7279158" y="33048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7443387" y="363333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8150362" y="430371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8046964" y="29276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6974550" y="40721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8076057" y="367894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7682478" y="28916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7432880" y="443376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7986621" y="431500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8173704" y="33048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7072526" y="314825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7599798" y="402644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8134476" y="409245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7759238" y="416412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7511072" y="361825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6993392" y="383368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7232581" y="396214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7744251" y="338703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7102956" y="333850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7732833" y="375554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7083336" y="316914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7594232" y="364755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7425271" y="331217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7689178" y="311323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7318012" y="353349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8132635" y="370513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8039495" y="354713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7235296" y="333408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8134710" y="376121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7325294" y="312381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7561858" y="373303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7464841" y="334360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7771325" y="396703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7225406" y="313530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7363277" y="349603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7790174" y="328836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7932051" y="379339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7569996" y="329502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8146165" y="339443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7960477" y="331891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7218785" y="381331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7309848" y="399202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7558703" y="327831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7221116" y="349273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7768772" y="398906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7125776" y="347073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7208260" y="401273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7120235" y="315186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7018905" y="347060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8057330" y="392822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7852325" y="403458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8098752" y="341079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7174262" y="397704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7869158" y="313324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7767700" y="345688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7407678" y="341308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7154125" y="310615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7291104" y="343154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8128391" y="321894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8139241" y="329706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7386297" y="387034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7962959" y="350713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7005425" y="354541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7406229" y="39617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7183573" y="344347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8055876" y="313174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7453424" y="386124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7894386" y="314141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6987578" y="316188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8084479" y="334337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7870371" y="394219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7364539" y="33576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8131086" y="367937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7269254" y="377239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7336552" y="336075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6949063" y="380881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8079997" y="369524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8113193" y="312611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7234179" y="354702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8129956" y="399387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7423329" y="333780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7477136" y="356409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8094420" y="327423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7938871" y="379279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TextBox 422"/>
          <p:cNvSpPr txBox="1"/>
          <p:nvPr/>
        </p:nvSpPr>
        <p:spPr>
          <a:xfrm>
            <a:off x="8883944" y="1737360"/>
            <a:ext cx="2482048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(b) Measurement noise</a:t>
            </a:r>
          </a:p>
        </p:txBody>
      </p:sp>
      <p:sp>
        <p:nvSpPr>
          <p:cNvPr id="424" name="TextBox 423"/>
          <p:cNvSpPr txBox="1"/>
          <p:nvPr/>
        </p:nvSpPr>
        <p:spPr>
          <a:xfrm>
            <a:off x="8883944" y="2048256"/>
            <a:ext cx="2482048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10" b="1">
                <a:solidFill>
                  <a:srgbClr val="6B7280"/>
                </a:solidFill>
                <a:latin typeface="맑은 고딕"/>
                <a:ea typeface="맑은 고딕"/>
              </a:rPr>
              <a:t>gray = fleet     color = sampled εₜ</a:t>
            </a:r>
          </a:p>
        </p:txBody>
      </p:sp>
      <p:sp>
        <p:nvSpPr>
          <p:cNvPr id="425" name="Rectangle 424"/>
          <p:cNvSpPr/>
          <p:nvPr/>
        </p:nvSpPr>
        <p:spPr>
          <a:xfrm>
            <a:off x="8883944" y="2304288"/>
            <a:ext cx="2482048" cy="859536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TextBox 425"/>
          <p:cNvSpPr txBox="1"/>
          <p:nvPr/>
        </p:nvSpPr>
        <p:spPr>
          <a:xfrm>
            <a:off x="8975384" y="2331720"/>
            <a:ext cx="1191383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0F1E3D"/>
                </a:solidFill>
                <a:latin typeface="맑은 고딕"/>
                <a:ea typeface="맑은 고딕"/>
              </a:rPr>
              <a:t>Gaussian iid</a:t>
            </a:r>
          </a:p>
        </p:txBody>
      </p:sp>
      <p:sp>
        <p:nvSpPr>
          <p:cNvPr id="427" name="TextBox 426"/>
          <p:cNvSpPr txBox="1"/>
          <p:nvPr/>
        </p:nvSpPr>
        <p:spPr>
          <a:xfrm>
            <a:off x="10025686" y="2331720"/>
            <a:ext cx="1167872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900" b="1">
                <a:solidFill>
                  <a:srgbClr val="6B7280"/>
                </a:solidFill>
                <a:latin typeface="Cambria Math"/>
                <a:ea typeface="Cambria Math"/>
              </a:rPr>
              <a:t>εₜ ~ N(0, σ²)</a:t>
            </a:r>
          </a:p>
        </p:txBody>
      </p:sp>
      <p:sp>
        <p:nvSpPr>
          <p:cNvPr id="428" name="Rectangle 427"/>
          <p:cNvSpPr/>
          <p:nvPr/>
        </p:nvSpPr>
        <p:spPr>
          <a:xfrm>
            <a:off x="9085112" y="3031236"/>
            <a:ext cx="2079712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Rectangle 428"/>
          <p:cNvSpPr/>
          <p:nvPr/>
        </p:nvSpPr>
        <p:spPr>
          <a:xfrm>
            <a:off x="9085112" y="2615184"/>
            <a:ext cx="13716" cy="429768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10779746" y="292797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10331566" y="278109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9733222" y="279233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10695504" y="269898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9479004" y="29213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9582981" y="269426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9139079" y="28552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9746136" y="299644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10906025" y="299894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9619550" y="27006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9269184" y="283742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10544772" y="282042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9555713" y="281048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10358714" y="289539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10624229" y="29524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10450466" y="271289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10817422" y="276986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10247608" y="27960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10603620" y="273864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9583234" y="275387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9387519" y="29647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10271310" y="278061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9892363" y="300047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10123741" y="274927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10749981" y="288853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11129555" y="270667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10056022" y="294325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10816768" y="297470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9152594" y="276983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9316589" y="273547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11092140" y="28653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11003146" y="279576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9116363" y="2770811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Oval 462"/>
          <p:cNvSpPr/>
          <p:nvPr/>
        </p:nvSpPr>
        <p:spPr>
          <a:xfrm>
            <a:off x="9231903" y="2891680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Oval 463"/>
          <p:cNvSpPr/>
          <p:nvPr/>
        </p:nvSpPr>
        <p:spPr>
          <a:xfrm>
            <a:off x="9347442" y="2836365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Oval 464"/>
          <p:cNvSpPr/>
          <p:nvPr/>
        </p:nvSpPr>
        <p:spPr>
          <a:xfrm>
            <a:off x="9462982" y="2692180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Oval 465"/>
          <p:cNvSpPr/>
          <p:nvPr/>
        </p:nvSpPr>
        <p:spPr>
          <a:xfrm>
            <a:off x="9578522" y="2792942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Oval 466"/>
          <p:cNvSpPr/>
          <p:nvPr/>
        </p:nvSpPr>
        <p:spPr>
          <a:xfrm>
            <a:off x="9694061" y="2840275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9809601" y="2917613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9925140" y="2889811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10040680" y="2812694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10156219" y="2754234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10271759" y="2794475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10387298" y="2786786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10502838" y="2831146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10618378" y="2721889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10733917" y="2858506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10849457" y="2870965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10964996" y="2758256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11080536" y="2822887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Rectangle 479"/>
          <p:cNvSpPr/>
          <p:nvPr/>
        </p:nvSpPr>
        <p:spPr>
          <a:xfrm>
            <a:off x="8883944" y="3255264"/>
            <a:ext cx="2482048" cy="859536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TextBox 480"/>
          <p:cNvSpPr txBox="1"/>
          <p:nvPr/>
        </p:nvSpPr>
        <p:spPr>
          <a:xfrm>
            <a:off x="8975384" y="3282696"/>
            <a:ext cx="1191383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0F1E3D"/>
                </a:solidFill>
                <a:latin typeface="맑은 고딕"/>
                <a:ea typeface="맑은 고딕"/>
              </a:rPr>
              <a:t>Equipment-correlated</a:t>
            </a:r>
          </a:p>
        </p:txBody>
      </p:sp>
      <p:sp>
        <p:nvSpPr>
          <p:cNvPr id="482" name="TextBox 481"/>
          <p:cNvSpPr txBox="1"/>
          <p:nvPr/>
        </p:nvSpPr>
        <p:spPr>
          <a:xfrm>
            <a:off x="10025686" y="3282696"/>
            <a:ext cx="1167872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900" b="1">
                <a:solidFill>
                  <a:srgbClr val="6B7280"/>
                </a:solidFill>
                <a:latin typeface="Cambria Math"/>
                <a:ea typeface="Cambria Math"/>
              </a:rPr>
              <a:t>εₜ = ρεₜ₋₁ + ηₜ</a:t>
            </a:r>
          </a:p>
        </p:txBody>
      </p:sp>
      <p:sp>
        <p:nvSpPr>
          <p:cNvPr id="483" name="Rectangle 482"/>
          <p:cNvSpPr/>
          <p:nvPr/>
        </p:nvSpPr>
        <p:spPr>
          <a:xfrm>
            <a:off x="9085112" y="3982212"/>
            <a:ext cx="2079712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Rectangle 483"/>
          <p:cNvSpPr/>
          <p:nvPr/>
        </p:nvSpPr>
        <p:spPr>
          <a:xfrm>
            <a:off x="9085112" y="3566160"/>
            <a:ext cx="13716" cy="429768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Oval 484"/>
          <p:cNvSpPr/>
          <p:nvPr/>
        </p:nvSpPr>
        <p:spPr>
          <a:xfrm>
            <a:off x="10479362" y="368498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Oval 485"/>
          <p:cNvSpPr/>
          <p:nvPr/>
        </p:nvSpPr>
        <p:spPr>
          <a:xfrm>
            <a:off x="9717930" y="369101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Oval 486"/>
          <p:cNvSpPr/>
          <p:nvPr/>
        </p:nvSpPr>
        <p:spPr>
          <a:xfrm>
            <a:off x="10722608" y="380476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Oval 487"/>
          <p:cNvSpPr/>
          <p:nvPr/>
        </p:nvSpPr>
        <p:spPr>
          <a:xfrm>
            <a:off x="9200238" y="365734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Oval 488"/>
          <p:cNvSpPr/>
          <p:nvPr/>
        </p:nvSpPr>
        <p:spPr>
          <a:xfrm>
            <a:off x="9890756" y="380545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Oval 489"/>
          <p:cNvSpPr/>
          <p:nvPr/>
        </p:nvSpPr>
        <p:spPr>
          <a:xfrm>
            <a:off x="10397967" y="365396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Oval 490"/>
          <p:cNvSpPr/>
          <p:nvPr/>
        </p:nvSpPr>
        <p:spPr>
          <a:xfrm>
            <a:off x="9409079" y="385340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Oval 491"/>
          <p:cNvSpPr/>
          <p:nvPr/>
        </p:nvSpPr>
        <p:spPr>
          <a:xfrm>
            <a:off x="9920895" y="371738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Oval 492"/>
          <p:cNvSpPr/>
          <p:nvPr/>
        </p:nvSpPr>
        <p:spPr>
          <a:xfrm>
            <a:off x="9708363" y="393848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Oval 493"/>
          <p:cNvSpPr/>
          <p:nvPr/>
        </p:nvSpPr>
        <p:spPr>
          <a:xfrm>
            <a:off x="9718275" y="381086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Oval 494"/>
          <p:cNvSpPr/>
          <p:nvPr/>
        </p:nvSpPr>
        <p:spPr>
          <a:xfrm>
            <a:off x="9811488" y="37613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Oval 495"/>
          <p:cNvSpPr/>
          <p:nvPr/>
        </p:nvSpPr>
        <p:spPr>
          <a:xfrm>
            <a:off x="10866036" y="395282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Oval 496"/>
          <p:cNvSpPr/>
          <p:nvPr/>
        </p:nvSpPr>
        <p:spPr>
          <a:xfrm>
            <a:off x="9825213" y="368896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Oval 497"/>
          <p:cNvSpPr/>
          <p:nvPr/>
        </p:nvSpPr>
        <p:spPr>
          <a:xfrm>
            <a:off x="10582749" y="369110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Oval 498"/>
          <p:cNvSpPr/>
          <p:nvPr/>
        </p:nvSpPr>
        <p:spPr>
          <a:xfrm>
            <a:off x="9080874" y="392147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Oval 499"/>
          <p:cNvSpPr/>
          <p:nvPr/>
        </p:nvSpPr>
        <p:spPr>
          <a:xfrm>
            <a:off x="9949940" y="389464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Oval 500"/>
          <p:cNvSpPr/>
          <p:nvPr/>
        </p:nvSpPr>
        <p:spPr>
          <a:xfrm>
            <a:off x="9913468" y="391526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Oval 501"/>
          <p:cNvSpPr/>
          <p:nvPr/>
        </p:nvSpPr>
        <p:spPr>
          <a:xfrm>
            <a:off x="10027205" y="367752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Oval 502"/>
          <p:cNvSpPr/>
          <p:nvPr/>
        </p:nvSpPr>
        <p:spPr>
          <a:xfrm>
            <a:off x="9099504" y="380592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Oval 503"/>
          <p:cNvSpPr/>
          <p:nvPr/>
        </p:nvSpPr>
        <p:spPr>
          <a:xfrm>
            <a:off x="10401055" y="392416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Oval 504"/>
          <p:cNvSpPr/>
          <p:nvPr/>
        </p:nvSpPr>
        <p:spPr>
          <a:xfrm>
            <a:off x="9253812" y="382923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Oval 505"/>
          <p:cNvSpPr/>
          <p:nvPr/>
        </p:nvSpPr>
        <p:spPr>
          <a:xfrm>
            <a:off x="9839900" y="379038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Oval 506"/>
          <p:cNvSpPr/>
          <p:nvPr/>
        </p:nvSpPr>
        <p:spPr>
          <a:xfrm>
            <a:off x="9372055" y="371738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Oval 507"/>
          <p:cNvSpPr/>
          <p:nvPr/>
        </p:nvSpPr>
        <p:spPr>
          <a:xfrm>
            <a:off x="10152513" y="392934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Oval 508"/>
          <p:cNvSpPr/>
          <p:nvPr/>
        </p:nvSpPr>
        <p:spPr>
          <a:xfrm>
            <a:off x="9294910" y="378577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Oval 509"/>
          <p:cNvSpPr/>
          <p:nvPr/>
        </p:nvSpPr>
        <p:spPr>
          <a:xfrm>
            <a:off x="10742433" y="39430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Oval 510"/>
          <p:cNvSpPr/>
          <p:nvPr/>
        </p:nvSpPr>
        <p:spPr>
          <a:xfrm>
            <a:off x="9479066" y="366568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Oval 511"/>
          <p:cNvSpPr/>
          <p:nvPr/>
        </p:nvSpPr>
        <p:spPr>
          <a:xfrm>
            <a:off x="11029978" y="394586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Oval 512"/>
          <p:cNvSpPr/>
          <p:nvPr/>
        </p:nvSpPr>
        <p:spPr>
          <a:xfrm>
            <a:off x="10072605" y="364149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Oval 513"/>
          <p:cNvSpPr/>
          <p:nvPr/>
        </p:nvSpPr>
        <p:spPr>
          <a:xfrm>
            <a:off x="10994815" y="37519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Oval 514"/>
          <p:cNvSpPr/>
          <p:nvPr/>
        </p:nvSpPr>
        <p:spPr>
          <a:xfrm>
            <a:off x="10949171" y="382862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Oval 515"/>
          <p:cNvSpPr/>
          <p:nvPr/>
        </p:nvSpPr>
        <p:spPr>
          <a:xfrm>
            <a:off x="10783491" y="367677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Oval 516"/>
          <p:cNvSpPr/>
          <p:nvPr/>
        </p:nvSpPr>
        <p:spPr>
          <a:xfrm>
            <a:off x="9110586" y="3905605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Oval 517"/>
          <p:cNvSpPr/>
          <p:nvPr/>
        </p:nvSpPr>
        <p:spPr>
          <a:xfrm>
            <a:off x="9214572" y="3880792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Oval 518"/>
          <p:cNvSpPr/>
          <p:nvPr/>
        </p:nvSpPr>
        <p:spPr>
          <a:xfrm>
            <a:off x="9318558" y="3856393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Oval 519"/>
          <p:cNvSpPr/>
          <p:nvPr/>
        </p:nvSpPr>
        <p:spPr>
          <a:xfrm>
            <a:off x="9422543" y="3806025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Oval 520"/>
          <p:cNvSpPr/>
          <p:nvPr/>
        </p:nvSpPr>
        <p:spPr>
          <a:xfrm>
            <a:off x="9526529" y="3780784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Oval 521"/>
          <p:cNvSpPr/>
          <p:nvPr/>
        </p:nvSpPr>
        <p:spPr>
          <a:xfrm>
            <a:off x="9630514" y="3756066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Oval 522"/>
          <p:cNvSpPr/>
          <p:nvPr/>
        </p:nvSpPr>
        <p:spPr>
          <a:xfrm>
            <a:off x="9734500" y="3719638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Oval 523"/>
          <p:cNvSpPr/>
          <p:nvPr/>
        </p:nvSpPr>
        <p:spPr>
          <a:xfrm>
            <a:off x="9838486" y="3682997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Oval 524"/>
          <p:cNvSpPr/>
          <p:nvPr/>
        </p:nvSpPr>
        <p:spPr>
          <a:xfrm>
            <a:off x="9942471" y="3693077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Oval 525"/>
          <p:cNvSpPr/>
          <p:nvPr/>
        </p:nvSpPr>
        <p:spPr>
          <a:xfrm>
            <a:off x="10046457" y="3719823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Oval 526"/>
          <p:cNvSpPr/>
          <p:nvPr/>
        </p:nvSpPr>
        <p:spPr>
          <a:xfrm>
            <a:off x="10150442" y="3748139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Oval 527"/>
          <p:cNvSpPr/>
          <p:nvPr/>
        </p:nvSpPr>
        <p:spPr>
          <a:xfrm>
            <a:off x="10254428" y="3781238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Oval 528"/>
          <p:cNvSpPr/>
          <p:nvPr/>
        </p:nvSpPr>
        <p:spPr>
          <a:xfrm>
            <a:off x="10358414" y="3820464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Oval 529"/>
          <p:cNvSpPr/>
          <p:nvPr/>
        </p:nvSpPr>
        <p:spPr>
          <a:xfrm>
            <a:off x="10462399" y="3866262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Oval 530"/>
          <p:cNvSpPr/>
          <p:nvPr/>
        </p:nvSpPr>
        <p:spPr>
          <a:xfrm>
            <a:off x="10566385" y="3842075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Oval 531"/>
          <p:cNvSpPr/>
          <p:nvPr/>
        </p:nvSpPr>
        <p:spPr>
          <a:xfrm>
            <a:off x="10670370" y="3819799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Oval 532"/>
          <p:cNvSpPr/>
          <p:nvPr/>
        </p:nvSpPr>
        <p:spPr>
          <a:xfrm>
            <a:off x="10774356" y="3793194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Oval 533"/>
          <p:cNvSpPr/>
          <p:nvPr/>
        </p:nvSpPr>
        <p:spPr>
          <a:xfrm>
            <a:off x="10878342" y="3766420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Oval 534"/>
          <p:cNvSpPr/>
          <p:nvPr/>
        </p:nvSpPr>
        <p:spPr>
          <a:xfrm>
            <a:off x="10982327" y="3733627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Oval 535"/>
          <p:cNvSpPr/>
          <p:nvPr/>
        </p:nvSpPr>
        <p:spPr>
          <a:xfrm>
            <a:off x="11086313" y="3709722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Rectangle 536"/>
          <p:cNvSpPr/>
          <p:nvPr/>
        </p:nvSpPr>
        <p:spPr>
          <a:xfrm>
            <a:off x="8883944" y="4206240"/>
            <a:ext cx="2482048" cy="859536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TextBox 537"/>
          <p:cNvSpPr txBox="1"/>
          <p:nvPr/>
        </p:nvSpPr>
        <p:spPr>
          <a:xfrm>
            <a:off x="8975384" y="4233672"/>
            <a:ext cx="1191383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0F1E3D"/>
                </a:solidFill>
                <a:latin typeface="맑은 고딕"/>
                <a:ea typeface="맑은 고딕"/>
              </a:rPr>
              <a:t>Laplacian / heavy-tail</a:t>
            </a:r>
          </a:p>
        </p:txBody>
      </p:sp>
      <p:sp>
        <p:nvSpPr>
          <p:cNvPr id="539" name="TextBox 538"/>
          <p:cNvSpPr txBox="1"/>
          <p:nvPr/>
        </p:nvSpPr>
        <p:spPr>
          <a:xfrm>
            <a:off x="10025686" y="4233672"/>
            <a:ext cx="1167872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900" b="1">
                <a:solidFill>
                  <a:srgbClr val="6B7280"/>
                </a:solidFill>
                <a:latin typeface="Cambria Math"/>
                <a:ea typeface="Cambria Math"/>
              </a:rPr>
              <a:t>εₜ ~ Laplace(0, b)</a:t>
            </a:r>
          </a:p>
        </p:txBody>
      </p:sp>
      <p:sp>
        <p:nvSpPr>
          <p:cNvPr id="540" name="Rectangle 539"/>
          <p:cNvSpPr/>
          <p:nvPr/>
        </p:nvSpPr>
        <p:spPr>
          <a:xfrm>
            <a:off x="9085112" y="4933188"/>
            <a:ext cx="2079712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Rectangle 540"/>
          <p:cNvSpPr/>
          <p:nvPr/>
        </p:nvSpPr>
        <p:spPr>
          <a:xfrm>
            <a:off x="9085112" y="4517136"/>
            <a:ext cx="13716" cy="429768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Oval 541"/>
          <p:cNvSpPr/>
          <p:nvPr/>
        </p:nvSpPr>
        <p:spPr>
          <a:xfrm>
            <a:off x="10315481" y="475640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Oval 542"/>
          <p:cNvSpPr/>
          <p:nvPr/>
        </p:nvSpPr>
        <p:spPr>
          <a:xfrm>
            <a:off x="10372720" y="467592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Oval 543"/>
          <p:cNvSpPr/>
          <p:nvPr/>
        </p:nvSpPr>
        <p:spPr>
          <a:xfrm>
            <a:off x="9942281" y="476715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Oval 544"/>
          <p:cNvSpPr/>
          <p:nvPr/>
        </p:nvSpPr>
        <p:spPr>
          <a:xfrm>
            <a:off x="9954069" y="47923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Oval 545"/>
          <p:cNvSpPr/>
          <p:nvPr/>
        </p:nvSpPr>
        <p:spPr>
          <a:xfrm>
            <a:off x="9997846" y="471953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Oval 546"/>
          <p:cNvSpPr/>
          <p:nvPr/>
        </p:nvSpPr>
        <p:spPr>
          <a:xfrm>
            <a:off x="9117266" y="47791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Oval 547"/>
          <p:cNvSpPr/>
          <p:nvPr/>
        </p:nvSpPr>
        <p:spPr>
          <a:xfrm>
            <a:off x="10086675" y="465250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Oval 548"/>
          <p:cNvSpPr/>
          <p:nvPr/>
        </p:nvSpPr>
        <p:spPr>
          <a:xfrm>
            <a:off x="10656648" y="483229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Oval 549"/>
          <p:cNvSpPr/>
          <p:nvPr/>
        </p:nvSpPr>
        <p:spPr>
          <a:xfrm>
            <a:off x="10021762" y="463412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Oval 550"/>
          <p:cNvSpPr/>
          <p:nvPr/>
        </p:nvSpPr>
        <p:spPr>
          <a:xfrm>
            <a:off x="10052811" y="461019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Oval 551"/>
          <p:cNvSpPr/>
          <p:nvPr/>
        </p:nvSpPr>
        <p:spPr>
          <a:xfrm>
            <a:off x="9335804" y="471697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Oval 552"/>
          <p:cNvSpPr/>
          <p:nvPr/>
        </p:nvSpPr>
        <p:spPr>
          <a:xfrm>
            <a:off x="9259389" y="47207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Oval 553"/>
          <p:cNvSpPr/>
          <p:nvPr/>
        </p:nvSpPr>
        <p:spPr>
          <a:xfrm>
            <a:off x="10129641" y="458831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Oval 554"/>
          <p:cNvSpPr/>
          <p:nvPr/>
        </p:nvSpPr>
        <p:spPr>
          <a:xfrm>
            <a:off x="10392258" y="46019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Oval 555"/>
          <p:cNvSpPr/>
          <p:nvPr/>
        </p:nvSpPr>
        <p:spPr>
          <a:xfrm>
            <a:off x="10594080" y="483152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Oval 556"/>
          <p:cNvSpPr/>
          <p:nvPr/>
        </p:nvSpPr>
        <p:spPr>
          <a:xfrm>
            <a:off x="10132387" y="459276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Oval 557"/>
          <p:cNvSpPr/>
          <p:nvPr/>
        </p:nvSpPr>
        <p:spPr>
          <a:xfrm>
            <a:off x="10116669" y="469957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Oval 558"/>
          <p:cNvSpPr/>
          <p:nvPr/>
        </p:nvSpPr>
        <p:spPr>
          <a:xfrm>
            <a:off x="11046184" y="461980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Oval 559"/>
          <p:cNvSpPr/>
          <p:nvPr/>
        </p:nvSpPr>
        <p:spPr>
          <a:xfrm>
            <a:off x="10851111" y="490363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Oval 560"/>
          <p:cNvSpPr/>
          <p:nvPr/>
        </p:nvSpPr>
        <p:spPr>
          <a:xfrm>
            <a:off x="10591177" y="484384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Oval 561"/>
          <p:cNvSpPr/>
          <p:nvPr/>
        </p:nvSpPr>
        <p:spPr>
          <a:xfrm>
            <a:off x="9471508" y="489888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Oval 562"/>
          <p:cNvSpPr/>
          <p:nvPr/>
        </p:nvSpPr>
        <p:spPr>
          <a:xfrm>
            <a:off x="10091600" y="48906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Oval 563"/>
          <p:cNvSpPr/>
          <p:nvPr/>
        </p:nvSpPr>
        <p:spPr>
          <a:xfrm>
            <a:off x="10973754" y="462935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Oval 564"/>
          <p:cNvSpPr/>
          <p:nvPr/>
        </p:nvSpPr>
        <p:spPr>
          <a:xfrm>
            <a:off x="10708259" y="48820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Oval 565"/>
          <p:cNvSpPr/>
          <p:nvPr/>
        </p:nvSpPr>
        <p:spPr>
          <a:xfrm>
            <a:off x="9204907" y="469067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Oval 566"/>
          <p:cNvSpPr/>
          <p:nvPr/>
        </p:nvSpPr>
        <p:spPr>
          <a:xfrm>
            <a:off x="10641289" y="46272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Oval 567"/>
          <p:cNvSpPr/>
          <p:nvPr/>
        </p:nvSpPr>
        <p:spPr>
          <a:xfrm>
            <a:off x="10933192" y="466561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Oval 568"/>
          <p:cNvSpPr/>
          <p:nvPr/>
        </p:nvSpPr>
        <p:spPr>
          <a:xfrm>
            <a:off x="10764921" y="462224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Oval 569"/>
          <p:cNvSpPr/>
          <p:nvPr/>
        </p:nvSpPr>
        <p:spPr>
          <a:xfrm>
            <a:off x="10113121" y="487847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Oval 570"/>
          <p:cNvSpPr/>
          <p:nvPr/>
        </p:nvSpPr>
        <p:spPr>
          <a:xfrm>
            <a:off x="9501905" y="466161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Oval 571"/>
          <p:cNvSpPr/>
          <p:nvPr/>
        </p:nvSpPr>
        <p:spPr>
          <a:xfrm>
            <a:off x="10121001" y="46801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Oval 572"/>
          <p:cNvSpPr/>
          <p:nvPr/>
        </p:nvSpPr>
        <p:spPr>
          <a:xfrm>
            <a:off x="9145255" y="46349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Oval 573"/>
          <p:cNvSpPr/>
          <p:nvPr/>
        </p:nvSpPr>
        <p:spPr>
          <a:xfrm>
            <a:off x="9116363" y="4696506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Oval 574"/>
          <p:cNvSpPr/>
          <p:nvPr/>
        </p:nvSpPr>
        <p:spPr>
          <a:xfrm>
            <a:off x="9231903" y="4676414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Oval 575"/>
          <p:cNvSpPr/>
          <p:nvPr/>
        </p:nvSpPr>
        <p:spPr>
          <a:xfrm>
            <a:off x="9347442" y="4754192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Oval 576"/>
          <p:cNvSpPr/>
          <p:nvPr/>
        </p:nvSpPr>
        <p:spPr>
          <a:xfrm>
            <a:off x="9462982" y="4781338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Oval 577"/>
          <p:cNvSpPr/>
          <p:nvPr/>
        </p:nvSpPr>
        <p:spPr>
          <a:xfrm>
            <a:off x="9578522" y="4706853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Oval 578"/>
          <p:cNvSpPr/>
          <p:nvPr/>
        </p:nvSpPr>
        <p:spPr>
          <a:xfrm>
            <a:off x="9694061" y="4688810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Oval 579"/>
          <p:cNvSpPr/>
          <p:nvPr/>
        </p:nvSpPr>
        <p:spPr>
          <a:xfrm>
            <a:off x="9809601" y="4705092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Oval 580"/>
          <p:cNvSpPr/>
          <p:nvPr/>
        </p:nvSpPr>
        <p:spPr>
          <a:xfrm>
            <a:off x="9925140" y="4707998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Oval 581"/>
          <p:cNvSpPr/>
          <p:nvPr/>
        </p:nvSpPr>
        <p:spPr>
          <a:xfrm>
            <a:off x="10040680" y="4746415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Oval 582"/>
          <p:cNvSpPr/>
          <p:nvPr/>
        </p:nvSpPr>
        <p:spPr>
          <a:xfrm>
            <a:off x="10156219" y="4748960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Oval 583"/>
          <p:cNvSpPr/>
          <p:nvPr/>
        </p:nvSpPr>
        <p:spPr>
          <a:xfrm>
            <a:off x="10271759" y="4706001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Oval 584"/>
          <p:cNvSpPr/>
          <p:nvPr/>
        </p:nvSpPr>
        <p:spPr>
          <a:xfrm>
            <a:off x="10387298" y="4754270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Oval 585"/>
          <p:cNvSpPr/>
          <p:nvPr/>
        </p:nvSpPr>
        <p:spPr>
          <a:xfrm>
            <a:off x="10502838" y="4556544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Oval 586"/>
          <p:cNvSpPr/>
          <p:nvPr/>
        </p:nvSpPr>
        <p:spPr>
          <a:xfrm>
            <a:off x="10618378" y="4894855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Oval 587"/>
          <p:cNvSpPr/>
          <p:nvPr/>
        </p:nvSpPr>
        <p:spPr>
          <a:xfrm>
            <a:off x="10733917" y="4581298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Oval 588"/>
          <p:cNvSpPr/>
          <p:nvPr/>
        </p:nvSpPr>
        <p:spPr>
          <a:xfrm>
            <a:off x="10849457" y="4870100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Oval 589"/>
          <p:cNvSpPr/>
          <p:nvPr/>
        </p:nvSpPr>
        <p:spPr>
          <a:xfrm>
            <a:off x="10964996" y="4544166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Oval 590"/>
          <p:cNvSpPr/>
          <p:nvPr/>
        </p:nvSpPr>
        <p:spPr>
          <a:xfrm>
            <a:off x="11080536" y="4911358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Rectangle 591"/>
          <p:cNvSpPr/>
          <p:nvPr/>
        </p:nvSpPr>
        <p:spPr>
          <a:xfrm>
            <a:off x="713232" y="5230368"/>
            <a:ext cx="263347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Rectangle 592"/>
          <p:cNvSpPr/>
          <p:nvPr/>
        </p:nvSpPr>
        <p:spPr>
          <a:xfrm>
            <a:off x="713232" y="5230368"/>
            <a:ext cx="2633472" cy="23774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TextBox 593"/>
          <p:cNvSpPr txBox="1"/>
          <p:nvPr/>
        </p:nvSpPr>
        <p:spPr>
          <a:xfrm>
            <a:off x="804672" y="5230368"/>
            <a:ext cx="2450592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40" b="1">
                <a:solidFill>
                  <a:srgbClr val="FFFFFF"/>
                </a:solidFill>
                <a:latin typeface="맑은 고딕"/>
                <a:ea typeface="맑은 고딕"/>
              </a:rPr>
              <a:t>Episode</a:t>
            </a:r>
          </a:p>
        </p:txBody>
      </p:sp>
      <p:sp>
        <p:nvSpPr>
          <p:cNvPr id="595" name="TextBox 594"/>
          <p:cNvSpPr txBox="1"/>
          <p:nvPr/>
        </p:nvSpPr>
        <p:spPr>
          <a:xfrm>
            <a:off x="804672" y="5541264"/>
            <a:ext cx="245059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10" b="1">
                <a:solidFill>
                  <a:srgbClr val="0F1E3D"/>
                </a:solidFill>
                <a:latin typeface="Cambria Math"/>
                <a:ea typeface="Cambria Math"/>
              </a:rPr>
              <a:t>K ~ U(Kmin,Kmax),  L_k ~ U(Lmin,Lmax)</a:t>
            </a:r>
          </a:p>
        </p:txBody>
      </p:sp>
      <p:sp>
        <p:nvSpPr>
          <p:cNvPr id="596" name="TextBox 595"/>
          <p:cNvSpPr txBox="1"/>
          <p:nvPr/>
        </p:nvSpPr>
        <p:spPr>
          <a:xfrm>
            <a:off x="841248" y="5797296"/>
            <a:ext cx="23774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19">
                <a:solidFill>
                  <a:srgbClr val="1A1F2E"/>
                </a:solidFill>
                <a:latin typeface="맑은 고딕"/>
                <a:ea typeface="맑은 고딕"/>
              </a:rPr>
              <a:t>구간 개수와 길이를 먼저 결정</a:t>
            </a:r>
          </a:p>
        </p:txBody>
      </p:sp>
      <p:sp>
        <p:nvSpPr>
          <p:cNvPr id="597" name="Rectangle 596"/>
          <p:cNvSpPr/>
          <p:nvPr/>
        </p:nvSpPr>
        <p:spPr>
          <a:xfrm>
            <a:off x="3511296" y="5230368"/>
            <a:ext cx="263347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Rectangle 597"/>
          <p:cNvSpPr/>
          <p:nvPr/>
        </p:nvSpPr>
        <p:spPr>
          <a:xfrm>
            <a:off x="3511296" y="5230368"/>
            <a:ext cx="2633472" cy="23774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TextBox 598"/>
          <p:cNvSpPr txBox="1"/>
          <p:nvPr/>
        </p:nvSpPr>
        <p:spPr>
          <a:xfrm>
            <a:off x="3602736" y="5230368"/>
            <a:ext cx="2450592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40" b="1">
                <a:solidFill>
                  <a:srgbClr val="FFFFFF"/>
                </a:solidFill>
                <a:latin typeface="맑은 고딕"/>
                <a:ea typeface="맑은 고딕"/>
              </a:rPr>
              <a:t>Density</a:t>
            </a:r>
          </a:p>
        </p:txBody>
      </p:sp>
      <p:sp>
        <p:nvSpPr>
          <p:cNvPr id="600" name="TextBox 599"/>
          <p:cNvSpPr txBox="1"/>
          <p:nvPr/>
        </p:nvSpPr>
        <p:spPr>
          <a:xfrm>
            <a:off x="3602736" y="5541264"/>
            <a:ext cx="245059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10" b="1">
                <a:solidFill>
                  <a:srgbClr val="0F1E3D"/>
                </a:solidFill>
                <a:latin typeface="Cambria Math"/>
                <a:ea typeface="Cambria Math"/>
              </a:rPr>
              <a:t>m_k ~ Cat(dense,sparse,very_sparse,thin,missing)</a:t>
            </a:r>
          </a:p>
        </p:txBody>
      </p:sp>
      <p:sp>
        <p:nvSpPr>
          <p:cNvPr id="601" name="TextBox 600"/>
          <p:cNvSpPr txBox="1"/>
          <p:nvPr/>
        </p:nvSpPr>
        <p:spPr>
          <a:xfrm>
            <a:off x="3639312" y="5797296"/>
            <a:ext cx="23774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19">
                <a:solidFill>
                  <a:srgbClr val="1A1F2E"/>
                </a:solidFill>
                <a:latin typeface="맑은 고딕"/>
                <a:ea typeface="맑은 고딕"/>
              </a:rPr>
              <a:t>구간별 관측 point 수를 결정</a:t>
            </a:r>
          </a:p>
        </p:txBody>
      </p:sp>
      <p:sp>
        <p:nvSpPr>
          <p:cNvPr id="602" name="Rectangle 601"/>
          <p:cNvSpPr/>
          <p:nvPr/>
        </p:nvSpPr>
        <p:spPr>
          <a:xfrm>
            <a:off x="6309360" y="5230368"/>
            <a:ext cx="263347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Rectangle 602"/>
          <p:cNvSpPr/>
          <p:nvPr/>
        </p:nvSpPr>
        <p:spPr>
          <a:xfrm>
            <a:off x="6309360" y="5230368"/>
            <a:ext cx="2633472" cy="23774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TextBox 603"/>
          <p:cNvSpPr txBox="1"/>
          <p:nvPr/>
        </p:nvSpPr>
        <p:spPr>
          <a:xfrm>
            <a:off x="6400800" y="5230368"/>
            <a:ext cx="2450592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40" b="1">
                <a:solidFill>
                  <a:srgbClr val="FFFFFF"/>
                </a:solidFill>
                <a:latin typeface="맑은 고딕"/>
                <a:ea typeface="맑은 고딕"/>
              </a:rPr>
              <a:t>Noise</a:t>
            </a:r>
          </a:p>
        </p:txBody>
      </p:sp>
      <p:sp>
        <p:nvSpPr>
          <p:cNvPr id="605" name="TextBox 604"/>
          <p:cNvSpPr txBox="1"/>
          <p:nvPr/>
        </p:nvSpPr>
        <p:spPr>
          <a:xfrm>
            <a:off x="6400800" y="5541264"/>
            <a:ext cx="245059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10" b="1">
                <a:solidFill>
                  <a:srgbClr val="0F1E3D"/>
                </a:solidFill>
                <a:latin typeface="Cambria Math"/>
                <a:ea typeface="Cambria Math"/>
              </a:rPr>
              <a:t>ε_t ∈ {N(0,σ²), AR(1), Laplace(0,b)}</a:t>
            </a:r>
          </a:p>
        </p:txBody>
      </p:sp>
      <p:sp>
        <p:nvSpPr>
          <p:cNvPr id="606" name="TextBox 605"/>
          <p:cNvSpPr txBox="1"/>
          <p:nvPr/>
        </p:nvSpPr>
        <p:spPr>
          <a:xfrm>
            <a:off x="6437376" y="5797296"/>
            <a:ext cx="23774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19">
                <a:solidFill>
                  <a:srgbClr val="1A1F2E"/>
                </a:solidFill>
                <a:latin typeface="맑은 고딕"/>
                <a:ea typeface="맑은 고딕"/>
              </a:rPr>
              <a:t>측정 산포 family를 episode별 부여</a:t>
            </a:r>
          </a:p>
        </p:txBody>
      </p:sp>
      <p:sp>
        <p:nvSpPr>
          <p:cNvPr id="607" name="Rectangle 606"/>
          <p:cNvSpPr/>
          <p:nvPr/>
        </p:nvSpPr>
        <p:spPr>
          <a:xfrm>
            <a:off x="9107424" y="5230368"/>
            <a:ext cx="263347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Rectangle 607"/>
          <p:cNvSpPr/>
          <p:nvPr/>
        </p:nvSpPr>
        <p:spPr>
          <a:xfrm>
            <a:off x="9107424" y="5230368"/>
            <a:ext cx="2633472" cy="23774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TextBox 608"/>
          <p:cNvSpPr txBox="1"/>
          <p:nvPr/>
        </p:nvSpPr>
        <p:spPr>
          <a:xfrm>
            <a:off x="9198864" y="5230368"/>
            <a:ext cx="2450592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40" b="1">
                <a:solidFill>
                  <a:srgbClr val="FFFFFF"/>
                </a:solidFill>
                <a:latin typeface="맑은 고딕"/>
                <a:ea typeface="맑은 고딕"/>
              </a:rPr>
              <a:t>Output</a:t>
            </a:r>
          </a:p>
        </p:txBody>
      </p:sp>
      <p:sp>
        <p:nvSpPr>
          <p:cNvPr id="610" name="TextBox 609"/>
          <p:cNvSpPr txBox="1"/>
          <p:nvPr/>
        </p:nvSpPr>
        <p:spPr>
          <a:xfrm>
            <a:off x="9198864" y="5541264"/>
            <a:ext cx="245059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10" b="1">
                <a:solidFill>
                  <a:srgbClr val="0F1E3D"/>
                </a:solidFill>
                <a:latin typeface="Cambria Math"/>
                <a:ea typeface="Cambria Math"/>
              </a:rPr>
              <a:t>y_t = μ_region(t) + ε_t  if active</a:t>
            </a:r>
          </a:p>
        </p:txBody>
      </p:sp>
      <p:sp>
        <p:nvSpPr>
          <p:cNvPr id="611" name="TextBox 610"/>
          <p:cNvSpPr txBox="1"/>
          <p:nvPr/>
        </p:nvSpPr>
        <p:spPr>
          <a:xfrm>
            <a:off x="9235440" y="5797296"/>
            <a:ext cx="23774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19">
                <a:solidFill>
                  <a:srgbClr val="1A1F2E"/>
                </a:solidFill>
                <a:latin typeface="맑은 고딕"/>
                <a:ea typeface="맑은 고딕"/>
              </a:rPr>
              <a:t>missing 구간 제외 후 normal trend 생성</a:t>
            </a:r>
          </a:p>
        </p:txBody>
      </p:sp>
      <p:sp>
        <p:nvSpPr>
          <p:cNvPr id="612" name="TextBox 61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613" name="TextBox 61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P3 | binary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Anomaly injection rules and binary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10515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20">
                <a:solidFill>
                  <a:srgbClr val="1A1F2E"/>
                </a:solidFill>
                <a:latin typeface="맑은 고딕"/>
                <a:ea typeface="맑은 고딕"/>
              </a:rPr>
              <a:t>Normal baseline에 5가지 anomaly injection rule을 더해 normal/abnormal binary validation을 수행했습니다.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1700784"/>
            <a:ext cx="3246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rend_mean_shift_view.png"/>
          <p:cNvPicPr>
            <a:picLocks noChangeAspect="1"/>
          </p:cNvPicPr>
          <p:nvPr/>
        </p:nvPicPr>
        <p:blipFill>
          <a:blip r:embed="rId2"/>
          <a:srcRect t="18971" b="18971"/>
          <a:stretch>
            <a:fillRect/>
          </a:stretch>
        </p:blipFill>
        <p:spPr>
          <a:xfrm>
            <a:off x="1106424" y="1755648"/>
            <a:ext cx="3136392" cy="1627632"/>
          </a:xfrm>
          <a:prstGeom prst="rect">
            <a:avLst/>
          </a:prstGeom>
          <a:effectLst/>
        </p:spPr>
      </p:pic>
      <p:sp>
        <p:nvSpPr>
          <p:cNvPr id="8" name="Rectangle 7"/>
          <p:cNvSpPr/>
          <p:nvPr/>
        </p:nvSpPr>
        <p:spPr>
          <a:xfrm>
            <a:off x="1161288" y="1810512"/>
            <a:ext cx="1078992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97864" y="1819656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19" b="1">
                <a:solidFill>
                  <a:srgbClr val="0F1E3D"/>
                </a:solidFill>
                <a:latin typeface="맑은 고딕"/>
                <a:ea typeface="맑은 고딕"/>
              </a:rPr>
              <a:t>Mean shift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62272" y="1700784"/>
            <a:ext cx="3246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rend_standard_deviation_view.png"/>
          <p:cNvPicPr>
            <a:picLocks noChangeAspect="1"/>
          </p:cNvPicPr>
          <p:nvPr/>
        </p:nvPicPr>
        <p:blipFill>
          <a:blip r:embed="rId3"/>
          <a:srcRect t="18971" b="18971"/>
          <a:stretch>
            <a:fillRect/>
          </a:stretch>
        </p:blipFill>
        <p:spPr>
          <a:xfrm>
            <a:off x="4517136" y="1755648"/>
            <a:ext cx="3136392" cy="1627632"/>
          </a:xfrm>
          <a:prstGeom prst="rect">
            <a:avLst/>
          </a:prstGeom>
          <a:effectLst/>
        </p:spPr>
      </p:pic>
      <p:sp>
        <p:nvSpPr>
          <p:cNvPr id="12" name="Rectangle 11"/>
          <p:cNvSpPr/>
          <p:nvPr/>
        </p:nvSpPr>
        <p:spPr>
          <a:xfrm>
            <a:off x="4572000" y="1810512"/>
            <a:ext cx="1078992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08576" y="1819656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19" b="1">
                <a:solidFill>
                  <a:srgbClr val="0F1E3D"/>
                </a:solidFill>
                <a:latin typeface="맑은 고딕"/>
                <a:ea typeface="맑은 고딕"/>
              </a:rPr>
              <a:t>Std change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72984" y="1700784"/>
            <a:ext cx="3246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rend_spike_view.png"/>
          <p:cNvPicPr>
            <a:picLocks noChangeAspect="1"/>
          </p:cNvPicPr>
          <p:nvPr/>
        </p:nvPicPr>
        <p:blipFill>
          <a:blip r:embed="rId4"/>
          <a:srcRect t="18971" b="18971"/>
          <a:stretch>
            <a:fillRect/>
          </a:stretch>
        </p:blipFill>
        <p:spPr>
          <a:xfrm>
            <a:off x="7927848" y="1755648"/>
            <a:ext cx="3136392" cy="1627632"/>
          </a:xfrm>
          <a:prstGeom prst="rect">
            <a:avLst/>
          </a:prstGeom>
          <a:effectLst/>
        </p:spPr>
      </p:pic>
      <p:sp>
        <p:nvSpPr>
          <p:cNvPr id="16" name="Rectangle 15"/>
          <p:cNvSpPr/>
          <p:nvPr/>
        </p:nvSpPr>
        <p:spPr>
          <a:xfrm>
            <a:off x="7982712" y="1810512"/>
            <a:ext cx="1078992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19288" y="1819656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19" b="1">
                <a:solidFill>
                  <a:srgbClr val="0F1E3D"/>
                </a:solidFill>
                <a:latin typeface="맑은 고딕"/>
                <a:ea typeface="맑은 고딕"/>
              </a:rPr>
              <a:t>Spike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51560" y="3566160"/>
            <a:ext cx="3246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trend_drift_view.png"/>
          <p:cNvPicPr>
            <a:picLocks noChangeAspect="1"/>
          </p:cNvPicPr>
          <p:nvPr/>
        </p:nvPicPr>
        <p:blipFill>
          <a:blip r:embed="rId5"/>
          <a:srcRect t="18971" b="18971"/>
          <a:stretch>
            <a:fillRect/>
          </a:stretch>
        </p:blipFill>
        <p:spPr>
          <a:xfrm>
            <a:off x="1106424" y="3621024"/>
            <a:ext cx="3136392" cy="1627632"/>
          </a:xfrm>
          <a:prstGeom prst="rect">
            <a:avLst/>
          </a:prstGeom>
          <a:effectLst/>
        </p:spPr>
      </p:pic>
      <p:sp>
        <p:nvSpPr>
          <p:cNvPr id="20" name="Rectangle 19"/>
          <p:cNvSpPr/>
          <p:nvPr/>
        </p:nvSpPr>
        <p:spPr>
          <a:xfrm>
            <a:off x="1161288" y="3675888"/>
            <a:ext cx="1078992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97864" y="3685032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19" b="1">
                <a:solidFill>
                  <a:srgbClr val="0F1E3D"/>
                </a:solidFill>
                <a:latin typeface="맑은 고딕"/>
                <a:ea typeface="맑은 고딕"/>
              </a:rPr>
              <a:t>Drift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62272" y="3566160"/>
            <a:ext cx="3246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trend_context_view.png"/>
          <p:cNvPicPr>
            <a:picLocks noChangeAspect="1"/>
          </p:cNvPicPr>
          <p:nvPr/>
        </p:nvPicPr>
        <p:blipFill>
          <a:blip r:embed="rId6"/>
          <a:srcRect t="18971" b="18971"/>
          <a:stretch>
            <a:fillRect/>
          </a:stretch>
        </p:blipFill>
        <p:spPr>
          <a:xfrm>
            <a:off x="4517136" y="3621024"/>
            <a:ext cx="3136392" cy="1627632"/>
          </a:xfrm>
          <a:prstGeom prst="rect">
            <a:avLst/>
          </a:prstGeom>
          <a:effectLst/>
        </p:spPr>
      </p:pic>
      <p:sp>
        <p:nvSpPr>
          <p:cNvPr id="24" name="Rectangle 23"/>
          <p:cNvSpPr/>
          <p:nvPr/>
        </p:nvSpPr>
        <p:spPr>
          <a:xfrm>
            <a:off x="4572000" y="3675888"/>
            <a:ext cx="1078992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08576" y="3685032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19" b="1">
                <a:solidFill>
                  <a:srgbClr val="0F1E3D"/>
                </a:solidFill>
                <a:latin typeface="맑은 고딕"/>
                <a:ea typeface="맑은 고딕"/>
              </a:rPr>
              <a:t>Context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72984" y="3566160"/>
            <a:ext cx="3246120" cy="173736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872984" y="3566160"/>
            <a:ext cx="91440" cy="173736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92440" y="3712464"/>
            <a:ext cx="28620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Injection equations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10728" y="4005072"/>
            <a:ext cx="2770632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1A1F2E"/>
                </a:solidFill>
                <a:latin typeface="Consolas"/>
                <a:ea typeface="Consolas"/>
              </a:rPr>
              <a:t>mean:  y_t = x_t + δ</a:t>
            </a:r>
          </a:p>
          <a:p>
            <a:pPr algn="l"/>
            <a:r>
              <a:rPr sz="900">
                <a:solidFill>
                  <a:srgbClr val="1A1F2E"/>
                </a:solidFill>
                <a:latin typeface="Consolas"/>
                <a:ea typeface="Consolas"/>
              </a:rPr>
              <a:t>scale: y_t = μ + A(x_t - μ)</a:t>
            </a:r>
          </a:p>
          <a:p>
            <a:pPr algn="l"/>
            <a:r>
              <a:rPr sz="900">
                <a:solidFill>
                  <a:srgbClr val="1A1F2E"/>
                </a:solidFill>
                <a:latin typeface="Consolas"/>
                <a:ea typeface="Consolas"/>
              </a:rPr>
              <a:t>spike: y_t = x_t + Σ A_i 1(t=t_i)</a:t>
            </a:r>
          </a:p>
          <a:p>
            <a:pPr algn="l"/>
            <a:r>
              <a:rPr sz="900">
                <a:solidFill>
                  <a:srgbClr val="1A1F2E"/>
                </a:solidFill>
                <a:latin typeface="Consolas"/>
                <a:ea typeface="Consolas"/>
              </a:rPr>
              <a:t>drift: y_t = x_t + r(t-s)</a:t>
            </a:r>
          </a:p>
          <a:p>
            <a:pPr algn="l"/>
            <a:r>
              <a:rPr sz="900">
                <a:solidFill>
                  <a:srgbClr val="1A1F2E"/>
                </a:solidFill>
                <a:latin typeface="Consolas"/>
                <a:ea typeface="Consolas"/>
              </a:rPr>
              <a:t>context: fleet/reference-relative shift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5394960"/>
            <a:ext cx="10561320" cy="45720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5468112"/>
            <a:ext cx="1965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Test 1,500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6112" y="5687568"/>
            <a:ext cx="1965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40">
                <a:solidFill>
                  <a:srgbClr val="6B7280"/>
                </a:solidFill>
                <a:latin typeface="맑은 고딕"/>
                <a:ea typeface="맑은 고딕"/>
              </a:rPr>
              <a:t>normal 750 / abnormal 5종×150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35224" y="5477256"/>
            <a:ext cx="12700" cy="292608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08376" y="5468112"/>
            <a:ext cx="1965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F1 0.9967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08376" y="5687568"/>
            <a:ext cx="1965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40">
                <a:solidFill>
                  <a:srgbClr val="6B7280"/>
                </a:solidFill>
                <a:latin typeface="맑은 고딕"/>
                <a:ea typeface="맑은 고딕"/>
              </a:rPr>
              <a:t>TN=746 / FP=4 / FN=1 / TP=749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47488" y="5477256"/>
            <a:ext cx="12700" cy="292608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20640" y="5468112"/>
            <a:ext cx="1965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2BA66B"/>
                </a:solidFill>
                <a:latin typeface="맑은 고딕"/>
                <a:ea typeface="맑은 고딕"/>
              </a:rPr>
              <a:t>Recall 0.9987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0640" y="5687568"/>
            <a:ext cx="1965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40">
                <a:solidFill>
                  <a:srgbClr val="6B7280"/>
                </a:solidFill>
                <a:latin typeface="맑은 고딕"/>
                <a:ea typeface="맑은 고딕"/>
              </a:rPr>
              <a:t>abnormal class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59752" y="5477256"/>
            <a:ext cx="12700" cy="292608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232904" y="5468112"/>
            <a:ext cx="1965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2BA66B"/>
                </a:solidFill>
                <a:latin typeface="맑은 고딕"/>
                <a:ea typeface="맑은 고딕"/>
              </a:rPr>
              <a:t>5-seed best 0.9987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32904" y="5687568"/>
            <a:ext cx="1965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40">
                <a:solidFill>
                  <a:srgbClr val="6B7280"/>
                </a:solidFill>
                <a:latin typeface="맑은 고딕"/>
                <a:ea typeface="맑은 고딕"/>
              </a:rPr>
              <a:t>TN=748 / FP=2 / FN=0 / TP=750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272016" y="5477256"/>
            <a:ext cx="12700" cy="292608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45168" y="5468112"/>
            <a:ext cx="1965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threshold 0.9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45168" y="5687568"/>
            <a:ext cx="1965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40">
                <a:solidFill>
                  <a:srgbClr val="6B7280"/>
                </a:solidFill>
                <a:latin typeface="맑은 고딕"/>
                <a:ea typeface="맑은 고딕"/>
              </a:rPr>
              <a:t>p(normal) ≥ 0.9 → Normal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22960" y="5907024"/>
            <a:ext cx="1051560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22960" y="5907024"/>
            <a:ext cx="91440" cy="27432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" y="5907024"/>
            <a:ext cx="101498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Validation controls: LR sweep, color/smoothing, label smoothing, stochastic depth, focal+EMA, val-F1 median, normal threshold 0.9; red marks are explanation overlay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robustness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Robustness and input sensitivity checks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성능 과장이 아니라 입력 표현과 checkpoint 선택 민감도를 확인한 검증 장입니다. main claim은 synthetic binary-F1 0.9967로 유지합니다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1517904" y="2377440"/>
            <a:ext cx="447141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63640" y="2377440"/>
            <a:ext cx="447141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517904" y="4434840"/>
            <a:ext cx="447141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4434840"/>
            <a:ext cx="447141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09344" y="2432304"/>
            <a:ext cx="4288536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Claim boundary — binary F1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04060" y="3443370"/>
            <a:ext cx="713232" cy="113646"/>
          </a:xfrm>
          <a:prstGeom prst="rect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64208" y="3205626"/>
            <a:ext cx="13929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0.9967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584448"/>
            <a:ext cx="13929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Main claim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4208" y="3785616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59352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96996" y="3329723"/>
            <a:ext cx="713232" cy="227293"/>
          </a:xfrm>
          <a:prstGeom prst="rect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57144" y="3091979"/>
            <a:ext cx="13929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0.9971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57144" y="3584448"/>
            <a:ext cx="13929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Base run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57144" y="3785616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57144" y="3959352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89932" y="2875135"/>
            <a:ext cx="713232" cy="681881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50080" y="2637391"/>
            <a:ext cx="13929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0.9987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50080" y="3584448"/>
            <a:ext cx="13929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5-seed best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50080" y="3785616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50080" y="3959352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2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664208" y="3557016"/>
            <a:ext cx="4178808" cy="0"/>
          </a:xfrm>
          <a:prstGeom prst="line">
            <a:avLst/>
          </a:prstGeom>
          <a:ln w="1397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355080" y="2432304"/>
            <a:ext cx="4288536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5-seed robustness — summary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9944" y="2944368"/>
            <a:ext cx="1319784" cy="1115568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83096" y="3072384"/>
            <a:ext cx="1173480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6B7280"/>
                </a:solidFill>
                <a:latin typeface="맑은 고딕"/>
                <a:ea typeface="맑은 고딕"/>
              </a:rPr>
              <a:t>Mean F1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83096" y="3328416"/>
            <a:ext cx="1173480" cy="3474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0F1E3D"/>
                </a:solidFill>
                <a:latin typeface="맑은 고딕"/>
                <a:ea typeface="맑은 고딕"/>
              </a:rPr>
              <a:t>0.9967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83096" y="3703320"/>
            <a:ext cx="11734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040">
                <a:solidFill>
                  <a:srgbClr val="6B7280"/>
                </a:solidFill>
                <a:latin typeface="맑은 고딕"/>
                <a:ea typeface="맑은 고딕"/>
              </a:rPr>
              <a:t>main claim boundary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39456" y="2944368"/>
            <a:ext cx="1319784" cy="1115568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12608" y="3072384"/>
            <a:ext cx="1173480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6B7280"/>
                </a:solidFill>
                <a:latin typeface="맑은 고딕"/>
                <a:ea typeface="맑은 고딕"/>
              </a:rPr>
              <a:t>Best F1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12608" y="3328416"/>
            <a:ext cx="1173480" cy="3474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0F1E3D"/>
                </a:solidFill>
                <a:latin typeface="맑은 고딕"/>
                <a:ea typeface="맑은 고딕"/>
              </a:rPr>
              <a:t>0.9987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12608" y="3703320"/>
            <a:ext cx="11734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040">
                <a:solidFill>
                  <a:srgbClr val="6B7280"/>
                </a:solidFill>
                <a:latin typeface="맑은 고딕"/>
                <a:ea typeface="맑은 고딕"/>
              </a:rPr>
              <a:t>best seed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68968" y="2944368"/>
            <a:ext cx="1319784" cy="1115568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42120" y="3072384"/>
            <a:ext cx="1173480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6B7280"/>
                </a:solidFill>
                <a:latin typeface="맑은 고딕"/>
                <a:ea typeface="맑은 고딕"/>
              </a:rPr>
              <a:t>Test split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42120" y="3328416"/>
            <a:ext cx="1173480" cy="3474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0F1E3D"/>
                </a:solidFill>
                <a:latin typeface="맑은 고딕"/>
                <a:ea typeface="맑은 고딕"/>
              </a:rPr>
              <a:t>1,500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42120" y="3703320"/>
            <a:ext cx="11734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750 normal / 750 abnormal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19672" y="4187952"/>
            <a:ext cx="3959352" cy="219456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11112" y="4206240"/>
            <a:ext cx="3776472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0F1E3D"/>
                </a:solidFill>
                <a:latin typeface="맑은 고딕"/>
                <a:ea typeface="맑은 고딕"/>
              </a:rPr>
              <a:t>main claim uses mean boundary, not best seed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609344" y="4489704"/>
            <a:ext cx="428853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Smoothing — 후속 3-epoch median best 선택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09344" y="4727448"/>
            <a:ext cx="1097280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val F1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929384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497718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3066053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634388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4202723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4771057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5339392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1929384" y="5471159"/>
            <a:ext cx="284167" cy="124098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2213551" y="5388428"/>
            <a:ext cx="284167" cy="82731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2497718" y="5326380"/>
            <a:ext cx="284168" cy="62048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2781886" y="4954088"/>
            <a:ext cx="284167" cy="372292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066053" y="4954088"/>
            <a:ext cx="284167" cy="496389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3350220" y="5305697"/>
            <a:ext cx="284168" cy="144780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3634388" y="5243648"/>
            <a:ext cx="284167" cy="62049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3918555" y="5202282"/>
            <a:ext cx="284168" cy="41366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4202723" y="5160917"/>
            <a:ext cx="284167" cy="41365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4486890" y="5150575"/>
            <a:ext cx="284167" cy="10342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4771057" y="5140234"/>
            <a:ext cx="284168" cy="10341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5055225" y="5129892"/>
            <a:ext cx="284167" cy="10342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5339392" y="5129892"/>
            <a:ext cx="284168" cy="10342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1929384" y="5388428"/>
            <a:ext cx="284167" cy="82731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213551" y="5326380"/>
            <a:ext cx="284167" cy="62048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497718" y="5326380"/>
            <a:ext cx="284168" cy="0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781886" y="5305697"/>
            <a:ext cx="284167" cy="20683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3066053" y="5305697"/>
            <a:ext cx="284167" cy="0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3350220" y="5243648"/>
            <a:ext cx="284168" cy="62049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3634388" y="5202282"/>
            <a:ext cx="284167" cy="41366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3918555" y="5160917"/>
            <a:ext cx="284168" cy="41365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4202723" y="5150575"/>
            <a:ext cx="284167" cy="10342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4486890" y="5140234"/>
            <a:ext cx="284167" cy="10341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4771057" y="5140234"/>
            <a:ext cx="284168" cy="0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/>
          <p:cNvSpPr/>
          <p:nvPr/>
        </p:nvSpPr>
        <p:spPr>
          <a:xfrm>
            <a:off x="3015761" y="4903796"/>
            <a:ext cx="100584" cy="100584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Diamond 75"/>
          <p:cNvSpPr/>
          <p:nvPr/>
        </p:nvSpPr>
        <p:spPr>
          <a:xfrm>
            <a:off x="4702477" y="5071654"/>
            <a:ext cx="137160" cy="137160"/>
          </a:xfrm>
          <a:prstGeom prst="diamond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1929384" y="5760720"/>
            <a:ext cx="3694176" cy="0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1929384" y="4855464"/>
            <a:ext cx="0" cy="90525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1929384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1728216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2497718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2296550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3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3066053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2864885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5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3634388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3433220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7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4202723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4001555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9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4771057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4569889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11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5339392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5138224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700784" y="5934456"/>
            <a:ext cx="4151376" cy="12801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050">
                <a:solidFill>
                  <a:srgbClr val="6B7280"/>
                </a:solidFill>
                <a:latin typeface="맑은 고딕"/>
                <a:ea typeface="맑은 고딕"/>
              </a:rPr>
              <a:t>epoch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609344" y="6067044"/>
            <a:ext cx="4288536" cy="1554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CC3328"/>
                </a:solidFill>
                <a:latin typeface="맑은 고딕"/>
                <a:ea typeface="맑은 고딕"/>
              </a:rPr>
              <a:t>● single-epoch spike    </a:t>
            </a:r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◆ median best → test 0.9987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55080" y="4480560"/>
            <a:ext cx="4288536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Rendering sensitivity check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355080" y="4718304"/>
            <a:ext cx="42885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080" b="1">
                <a:solidFill>
                  <a:srgbClr val="0F1E3D"/>
                </a:solidFill>
                <a:latin typeface="맑은 고딕"/>
                <a:ea typeface="맑은 고딕"/>
              </a:rPr>
              <a:t>color sensitivity check; not used as main claim</a:t>
            </a:r>
          </a:p>
        </p:txBody>
      </p:sp>
      <p:pic>
        <p:nvPicPr>
          <p:cNvPr id="97" name="Picture 96" descr="p3r_color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2340" y="4965192"/>
            <a:ext cx="996696" cy="996696"/>
          </a:xfrm>
          <a:prstGeom prst="rect">
            <a:avLst/>
          </a:prstGeom>
        </p:spPr>
      </p:pic>
      <p:sp>
        <p:nvSpPr>
          <p:cNvPr id="98" name="TextBox 97"/>
          <p:cNvSpPr txBox="1"/>
          <p:nvPr/>
        </p:nvSpPr>
        <p:spPr>
          <a:xfrm>
            <a:off x="7155180" y="5989320"/>
            <a:ext cx="127101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Before (파랑)</a:t>
            </a:r>
          </a:p>
        </p:txBody>
      </p:sp>
      <p:pic>
        <p:nvPicPr>
          <p:cNvPr id="99" name="Picture 98" descr="p3r_color_c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9660" y="4965192"/>
            <a:ext cx="996696" cy="996696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8572500" y="5989320"/>
            <a:ext cx="127101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After (빨강)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로드맵 | 완료 시기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완료 시기 및 현장 적용 로드맵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1080" y="603504"/>
            <a:ext cx="1325880" cy="402336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완료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04120" y="603504"/>
            <a:ext cx="1325880" cy="402336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6B7280"/>
                </a:solidFill>
                <a:latin typeface="맑은 고딕"/>
                <a:ea typeface="맑은 고딕"/>
              </a:rPr>
              <a:t>예정 2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3730752"/>
            <a:ext cx="9902952" cy="381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31570" y="3127248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" y="3603498"/>
            <a:ext cx="292608" cy="292608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4320" y="2084831"/>
            <a:ext cx="2286000" cy="1060704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2084831"/>
            <a:ext cx="2286000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084831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2024.10</a:t>
            </a:r>
          </a:p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P1 착수</a:t>
            </a:r>
          </a:p>
          <a:p>
            <a:pPr algn="ctr"/>
            <a:r>
              <a:rPr sz="950">
                <a:solidFill>
                  <a:srgbClr val="6B7280"/>
                </a:solidFill>
                <a:latin typeface="맑은 고딕"/>
                <a:ea typeface="맑은 고딕"/>
              </a:rPr>
              <a:t>파이프라인과 viewer 설계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12160" y="3877056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77286" y="3603498"/>
            <a:ext cx="292608" cy="292608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980590" y="4206240"/>
            <a:ext cx="2286000" cy="1060704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980590" y="4206240"/>
            <a:ext cx="2286000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72030" y="4206240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2025.03</a:t>
            </a:r>
          </a:p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P2 모델 개발</a:t>
            </a:r>
          </a:p>
          <a:p>
            <a:pPr algn="ctr"/>
            <a:r>
              <a:rPr sz="950">
                <a:solidFill>
                  <a:srgbClr val="6B7280"/>
                </a:solidFill>
                <a:latin typeface="맑은 고딕"/>
                <a:ea typeface="맑은 고딕"/>
              </a:rPr>
              <a:t>FCM-PM, val-margin 검증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92750" y="3127248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957876" y="3603498"/>
            <a:ext cx="292608" cy="292608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961180" y="2084831"/>
            <a:ext cx="2286000" cy="1060704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61180" y="2084831"/>
            <a:ext cx="2286000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52620" y="2084831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2025.05</a:t>
            </a:r>
          </a:p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P1 viewer 양산 개시</a:t>
            </a:r>
          </a:p>
          <a:p>
            <a:pPr algn="ctr"/>
            <a:r>
              <a:rPr sz="950">
                <a:solidFill>
                  <a:srgbClr val="6B7280"/>
                </a:solidFill>
                <a:latin typeface="맑은 고딕"/>
                <a:ea typeface="맑은 고딕"/>
              </a:rPr>
              <a:t>DRAM 전제품, 일 2만 wafer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73340" y="3877056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938466" y="3603498"/>
            <a:ext cx="292608" cy="292608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941770" y="4206240"/>
            <a:ext cx="2286000" cy="1060704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41770" y="4206240"/>
            <a:ext cx="2286000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3210" y="4206240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2026.01</a:t>
            </a:r>
          </a:p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P3 Trend anomaly PoC</a:t>
            </a:r>
          </a:p>
          <a:p>
            <a:pPr algn="ctr"/>
            <a:r>
              <a:rPr sz="950">
                <a:solidFill>
                  <a:srgbClr val="6B7280"/>
                </a:solidFill>
                <a:latin typeface="맑은 고딕"/>
                <a:ea typeface="맑은 고딕"/>
              </a:rPr>
              <a:t>episode generation, binary validation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53930" y="3127248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919056" y="3603498"/>
            <a:ext cx="292608" cy="292608"/>
          </a:xfrm>
          <a:prstGeom prst="ellipse">
            <a:avLst/>
          </a:prstGeom>
          <a:solidFill>
            <a:srgbClr val="FFFFFF"/>
          </a:solidFill>
          <a:ln w="28575">
            <a:solidFill>
              <a:srgbClr val="96A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22360" y="2084831"/>
            <a:ext cx="2286000" cy="1060704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22360" y="2084831"/>
            <a:ext cx="2286000" cy="64008"/>
          </a:xfrm>
          <a:prstGeom prst="rect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13800" y="2084831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6B7280"/>
                </a:solidFill>
                <a:latin typeface="맑은 고딕"/>
                <a:ea typeface="맑은 고딕"/>
              </a:rPr>
              <a:t>2026.09</a:t>
            </a:r>
          </a:p>
          <a:p>
            <a:pPr algn="ctr"/>
            <a:r>
              <a:rPr sz="1150" b="1">
                <a:solidFill>
                  <a:srgbClr val="5A6474"/>
                </a:solidFill>
                <a:latin typeface="맑은 고딕"/>
                <a:ea typeface="맑은 고딕"/>
              </a:rPr>
              <a:t>P1/P2 모델 배포 검증</a:t>
            </a:r>
          </a:p>
          <a:p>
            <a:pPr algn="ctr"/>
            <a:r>
              <a:rPr sz="950">
                <a:solidFill>
                  <a:srgbClr val="737D8C"/>
                </a:solidFill>
                <a:latin typeface="맑은 고딕"/>
                <a:ea typeface="맑은 고딕"/>
              </a:rPr>
              <a:t>GPU 할당 후 양산 적용 검증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034520" y="3877056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899646" y="3603498"/>
            <a:ext cx="292608" cy="292608"/>
          </a:xfrm>
          <a:prstGeom prst="ellipse">
            <a:avLst/>
          </a:prstGeom>
          <a:solidFill>
            <a:srgbClr val="FFFFFF"/>
          </a:solidFill>
          <a:ln w="28575">
            <a:solidFill>
              <a:srgbClr val="96A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400032" y="4206240"/>
            <a:ext cx="2286000" cy="1060704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400032" y="4206240"/>
            <a:ext cx="2286000" cy="64008"/>
          </a:xfrm>
          <a:prstGeom prst="rect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91472" y="4206240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6B7280"/>
                </a:solidFill>
                <a:latin typeface="맑은 고딕"/>
                <a:ea typeface="맑은 고딕"/>
              </a:rPr>
              <a:t>2026.12</a:t>
            </a:r>
          </a:p>
          <a:p>
            <a:pPr algn="ctr"/>
            <a:r>
              <a:rPr sz="1150" b="1">
                <a:solidFill>
                  <a:srgbClr val="5A6474"/>
                </a:solidFill>
                <a:latin typeface="맑은 고딕"/>
                <a:ea typeface="맑은 고딕"/>
              </a:rPr>
              <a:t>P3 Trend anomaly 현업 검증</a:t>
            </a:r>
          </a:p>
          <a:p>
            <a:pPr algn="ctr"/>
            <a:r>
              <a:rPr sz="950">
                <a:solidFill>
                  <a:srgbClr val="737D8C"/>
                </a:solidFill>
                <a:latin typeface="맑은 고딕"/>
                <a:ea typeface="맑은 고딕"/>
              </a:rPr>
              <a:t>real trend 기준 검증 완료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989320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96A0AD"/>
                </a:solidFill>
                <a:latin typeface="맑은 고딕"/>
                <a:ea typeface="맑은 고딕"/>
              </a:rPr>
              <a:t>● 완료 / 진행 중</a:t>
            </a:r>
            <a:r>
              <a:rPr sz="1050" b="1">
                <a:solidFill>
                  <a:srgbClr val="6B7280"/>
                </a:solidFill>
                <a:latin typeface="맑은 고딕"/>
                <a:ea typeface="맑은 고딕"/>
              </a:rPr>
              <a:t>       ○ 예정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5989320"/>
            <a:ext cx="5212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>
                <a:solidFill>
                  <a:srgbClr val="6B7280"/>
                </a:solidFill>
                <a:latin typeface="맑은 고딕"/>
                <a:ea typeface="맑은 고딕"/>
              </a:rPr>
              <a:t>P1/P2=2026.09 GPU 배포 검증 / P3=2026.12 현업 검증 완료 / 향후=현업 확대 적용, chip classifier 대체, image+measure-value multimodal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58368"/>
            <a:ext cx="100584" cy="25603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결론 | AI Specialist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24128"/>
            <a:ext cx="123444" cy="768096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060704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제조품질 데이터를 운영형 AI 자산으로 전환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2194560"/>
            <a:ext cx="10424160" cy="2212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08000"/>
              </a:lnSpc>
              <a:spcAft>
                <a:spcPts val="1100"/>
              </a:spcAft>
            </a:pPr>
            <a:r>
              <a:rPr sz="156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560" b="1">
                <a:solidFill>
                  <a:srgbClr val="0F1E3D"/>
                </a:solidFill>
                <a:latin typeface="맑은 고딕"/>
                <a:ea typeface="맑은 고딕"/>
              </a:rPr>
              <a:t>P1</a:t>
            </a:r>
            <a:r>
              <a:rPr sz="1560">
                <a:solidFill>
                  <a:srgbClr val="1A1F2E"/>
                </a:solidFill>
                <a:latin typeface="맑은 고딕"/>
                <a:ea typeface="맑은 고딕"/>
              </a:rPr>
              <a:t> — 좌표 보존 Failbit Map과 viewer를 운영 자산으로 만들고, Known 및 Unknown 검토 flow까지 연결했습니다</a:t>
            </a:r>
          </a:p>
          <a:p>
            <a:pPr marL="274320" indent="-274320">
              <a:lnSpc>
                <a:spcPct val="108000"/>
              </a:lnSpc>
              <a:spcAft>
                <a:spcPts val="1100"/>
              </a:spcAft>
            </a:pPr>
            <a:r>
              <a:rPr sz="156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560" b="1">
                <a:solidFill>
                  <a:srgbClr val="0F1E3D"/>
                </a:solidFill>
                <a:latin typeface="맑은 고딕"/>
                <a:ea typeface="맑은 고딕"/>
              </a:rPr>
              <a:t>P2/P3</a:t>
            </a:r>
            <a:r>
              <a:rPr sz="1560">
                <a:solidFill>
                  <a:srgbClr val="1A1F2E"/>
                </a:solidFill>
                <a:latin typeface="맑은 고딕"/>
                <a:ea typeface="맑은 고딕"/>
              </a:rPr>
              <a:t> — 2-combo GT와 real abnormal label 부족을 synthetic validation 구조로 보완했습니다</a:t>
            </a:r>
          </a:p>
          <a:p>
            <a:pPr marL="274320" indent="-274320">
              <a:lnSpc>
                <a:spcPct val="108000"/>
              </a:lnSpc>
              <a:spcAft>
                <a:spcPts val="1100"/>
              </a:spcAft>
            </a:pPr>
            <a:r>
              <a:rPr sz="156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560" b="1">
                <a:solidFill>
                  <a:srgbClr val="0F1E3D"/>
                </a:solidFill>
                <a:latin typeface="맑은 고딕"/>
                <a:ea typeface="맑은 고딕"/>
              </a:rPr>
              <a:t>핵심</a:t>
            </a:r>
            <a:r>
              <a:rPr sz="1560">
                <a:solidFill>
                  <a:srgbClr val="1A1F2E"/>
                </a:solidFill>
                <a:latin typeface="맑은 고딕"/>
                <a:ea typeface="맑은 고딕"/>
              </a:rPr>
              <a:t> — 데이터 생성 → 모델 → viewer → human review → label/retrain으로 이어지는 제조품질 AI 개발 체계를 구축했습니다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86968" y="4590288"/>
            <a:ext cx="2400300" cy="164592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86968" y="4590288"/>
            <a:ext cx="2400300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4681728"/>
            <a:ext cx="221742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2300" b="1">
                <a:solidFill>
                  <a:srgbClr val="0F1E3D"/>
                </a:solidFill>
                <a:latin typeface="맑은 고딕"/>
                <a:ea typeface="맑은 고딕"/>
              </a:rPr>
              <a:t>일 2만</a:t>
            </a:r>
          </a:p>
          <a:p>
            <a:pPr algn="ctr">
              <a:spcAft>
                <a:spcPts val="200"/>
              </a:spcAft>
            </a:pPr>
            <a:r>
              <a:rPr sz="1320" b="1">
                <a:solidFill>
                  <a:srgbClr val="1A1F2E"/>
                </a:solidFill>
                <a:latin typeface="맑은 고딕"/>
                <a:ea typeface="맑은 고딕"/>
              </a:rPr>
              <a:t>wafer viewer</a:t>
            </a:r>
          </a:p>
          <a:p>
            <a:pPr algn="ctr"/>
            <a:r>
              <a:rPr sz="1140">
                <a:solidFill>
                  <a:srgbClr val="556075"/>
                </a:solidFill>
                <a:latin typeface="맑은 고딕"/>
                <a:ea typeface="맑은 고딕"/>
              </a:rPr>
              <a:t>양산 운영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61588" y="4590288"/>
            <a:ext cx="2400300" cy="164592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61588" y="4590288"/>
            <a:ext cx="2400300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3028" y="4681728"/>
            <a:ext cx="221742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2300" b="1">
                <a:solidFill>
                  <a:srgbClr val="0F1E3D"/>
                </a:solidFill>
                <a:latin typeface="맑은 고딕"/>
                <a:ea typeface="맑은 고딕"/>
              </a:rPr>
              <a:t>F1 0.95</a:t>
            </a:r>
          </a:p>
          <a:p>
            <a:pPr algn="ctr">
              <a:spcAft>
                <a:spcPts val="200"/>
              </a:spcAft>
            </a:pPr>
            <a:r>
              <a:rPr sz="1320" b="1">
                <a:solidFill>
                  <a:srgbClr val="1A1F2E"/>
                </a:solidFill>
                <a:latin typeface="맑은 고딕"/>
                <a:ea typeface="맑은 고딕"/>
              </a:rPr>
              <a:t>Known validation</a:t>
            </a:r>
          </a:p>
          <a:p>
            <a:pPr algn="ctr"/>
            <a:r>
              <a:rPr sz="1140">
                <a:solidFill>
                  <a:srgbClr val="556075"/>
                </a:solidFill>
                <a:latin typeface="맑은 고딕"/>
                <a:ea typeface="맑은 고딕"/>
              </a:rPr>
              <a:t>실전 데이터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6208" y="4590288"/>
            <a:ext cx="2400300" cy="164592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6208" y="4590288"/>
            <a:ext cx="2400300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4681728"/>
            <a:ext cx="221742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2300" b="1">
                <a:solidFill>
                  <a:srgbClr val="0F1E3D"/>
                </a:solidFill>
                <a:latin typeface="맑은 고딕"/>
                <a:ea typeface="맑은 고딕"/>
              </a:rPr>
              <a:t>13→7</a:t>
            </a:r>
          </a:p>
          <a:p>
            <a:pPr algn="ctr">
              <a:spcAft>
                <a:spcPts val="200"/>
              </a:spcAft>
            </a:pPr>
            <a:r>
              <a:rPr sz="1320" b="1">
                <a:solidFill>
                  <a:srgbClr val="1A1F2E"/>
                </a:solidFill>
                <a:latin typeface="맑은 고딕"/>
                <a:ea typeface="맑은 고딕"/>
              </a:rPr>
              <a:t>Unknown review</a:t>
            </a:r>
          </a:p>
          <a:p>
            <a:pPr algn="ctr"/>
            <a:r>
              <a:rPr sz="1140">
                <a:solidFill>
                  <a:srgbClr val="556075"/>
                </a:solidFill>
                <a:latin typeface="맑은 고딕"/>
                <a:ea typeface="맑은 고딕"/>
              </a:rPr>
              <a:t>현업 후보 확인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10828" y="4590288"/>
            <a:ext cx="2400300" cy="164592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10828" y="4590288"/>
            <a:ext cx="2400300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02268" y="4681728"/>
            <a:ext cx="221742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2300" b="1">
                <a:solidFill>
                  <a:srgbClr val="0F1E3D"/>
                </a:solidFill>
                <a:latin typeface="맑은 고딕"/>
                <a:ea typeface="맑은 고딕"/>
              </a:rPr>
              <a:t>P2/P3</a:t>
            </a:r>
          </a:p>
          <a:p>
            <a:pPr algn="ctr">
              <a:spcAft>
                <a:spcPts val="200"/>
              </a:spcAft>
            </a:pPr>
            <a:r>
              <a:rPr sz="1320" b="1">
                <a:solidFill>
                  <a:srgbClr val="1A1F2E"/>
                </a:solidFill>
                <a:latin typeface="맑은 고딕"/>
                <a:ea typeface="맑은 고딕"/>
              </a:rPr>
              <a:t>label scarcity</a:t>
            </a:r>
          </a:p>
          <a:p>
            <a:pPr algn="ctr"/>
            <a:r>
              <a:rPr sz="1140">
                <a:solidFill>
                  <a:srgbClr val="556075"/>
                </a:solidFill>
                <a:latin typeface="맑은 고딕"/>
                <a:ea typeface="맑은 고딕"/>
              </a:rPr>
              <a:t>synthetic validation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