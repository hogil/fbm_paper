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'26 AI Specialist 면접 심사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AI Specialist 인증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반도체 공정 이해를 바탕으로 데이터 처리 구조, viewer backend/frontend, AI model까지 직접 설계한 3개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P1/P2/P3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3개 과제 핵심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Failbit Map failure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478024"/>
            <a:ext cx="1408176" cy="1408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114800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14800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48매 단위 조회 한계, human review 부담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81728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81728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좌표 보존 Failbit Map + 대량 viewer + Known 및 Unknown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175504"/>
            <a:ext cx="3230880" cy="47548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5175504"/>
            <a:ext cx="73152" cy="47548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248656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[양산 운영] 일 2만 wafer/day, 공수 90%↓ + 수율 개선 사례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1312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01312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01312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02480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2288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Chip multi-label classification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29328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hip_eval_scratch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478024"/>
            <a:ext cx="1408176" cy="140817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584192" y="4114800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98592" y="4114800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2-combo failure GT 부족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4192" y="4681728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98592" y="4681728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single source → FCM-PM + val-margin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11040" y="5175504"/>
            <a:ext cx="3230880" cy="47548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11040" y="5175504"/>
            <a:ext cx="73152" cy="47548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84192" y="5248656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98592" y="5248656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[controlled synthetic] bit-F1 0.9927 / FAR 0.00%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62544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62544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62544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63712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3712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3520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90560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464" y="2478024"/>
            <a:ext cx="2190496" cy="140817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345424" y="4114800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9824" y="4114800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real anomaly label scarcity, validation bottleneck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5424" y="4681728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9824" y="4681728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episode generation + binary validation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72272" y="5175504"/>
            <a:ext cx="3230880" cy="47548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72272" y="5175504"/>
            <a:ext cx="73152" cy="47548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45424" y="5248656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59824" y="5248656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[synthetic trend PoC] benchmark 7,000, binary-F1 0.9967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제조품질 AI | Domain-informed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Failbit Map
Known &amp; Unknown 분석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대량 Failbit Map을 검색, 검토, 모델 학습이 가능한 운영 구조로 확장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48매 단위 수작업 검토를 대량 Failbit Map 변환, 검색, 검토 체계로 확장했습니다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양산 운영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viewer + 처리 구조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실전 검증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Known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P1은 양산 운영, P2/P3은 validation/PoC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조회 48매 한계, 수작업 검토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wafer 규모의 변환, 검색, 검토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Data asset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좌표 보존 FBM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AI 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Known &amp; Unknown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Coordinate-preserving Failbit Map operating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15287" y="1783080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5287" y="1783080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EDS Test  (raw fail-map log)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286000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1879" y="2258568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Cython parsing + hourly batch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287" y="2551176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2633472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(32색 palette PNG) + chip annotation (FTN / QTN / BIN)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916936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좌표 보존: 이미지, 좌표, 계측값을 같은 wafer 좌표계에 맞춰 저장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6119" y="3255264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79" y="3227832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같은 자산을 Known 및 Unknown 두 경로가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15287" y="3520440"/>
            <a:ext cx="425196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98167" y="3566160"/>
            <a:ext cx="3886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Known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7895" y="3849624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ConvNeXtV2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7895" y="4105656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ROI-YOLO  (selective)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7895" y="4361688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object-id map  [dev]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520440"/>
            <a:ext cx="425196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3566160"/>
            <a:ext cx="3886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Unknown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7055" y="3849624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InfoNCE + grid36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7055" y="4105656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HDBSCAN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7055" y="4361688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candidate groups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986119" y="4645152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1879" y="4617720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두 경로 결과를 한 화면으로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5287" y="4910328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5287" y="4992624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Analysis UI — fast view / overlay / labeling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5287" y="5276088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운영 viewer (mapviewer): Numba composite + pyvips tile streaming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6119" y="5614416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1879" y="5586984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human-in-the-loop: register → label → retrain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15287" y="5879592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5287" y="5879592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Organizational asset base  (image-measure aligned, multimodal-ready)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Concept + field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Failbit Map as discrete spatial-grade representation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5650992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22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Data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EDS Failbit Map은 Memory Cell Block 단위 불량 정도를 Grade 0~7로 표현한 wafer-level data입니다</a:t>
            </a:r>
          </a:p>
          <a:p>
            <a:pPr marL="274320" indent="-274320">
              <a:lnSpc>
                <a:spcPct val="112000"/>
              </a:lnSpc>
              <a:spcAft>
                <a:spcPts val="22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Scale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wafer 1장은 약 1,000만 block 규모입니다. chip당 1개, wafer 내 약 800개 수준의 Measure 값만으로는 불량 위치와 형상 분석이 부족합니다</a:t>
            </a:r>
          </a:p>
          <a:p>
            <a:pPr marL="274320" indent="-274320">
              <a:lnSpc>
                <a:spcPct val="112000"/>
              </a:lnSpc>
              <a:spcAft>
                <a:spcPts val="22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Storage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palette PNG는 grade index를 저장하고, positions JSON은 chip/block 좌표를 보존해 viewer overlay와 모델 입력을 같은 좌표계로 맞춥니다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5412" y="1316736"/>
            <a:ext cx="4334256" cy="4681728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5412" y="1316736"/>
            <a:ext cx="4334256" cy="34747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90004" y="1316736"/>
            <a:ext cx="40050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wafer Failbit Map / Edge-Ring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5412" y="1664208"/>
            <a:ext cx="4334256" cy="43342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810512"/>
            <a:ext cx="4041648" cy="4041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6772" y="6053328"/>
            <a:ext cx="5431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A384C"/>
                </a:solidFill>
                <a:latin typeface="맑은 고딕"/>
                <a:ea typeface="맑은 고딕"/>
              </a:rPr>
              <a:t>최외곽 chip에서 동일 scratch성 fail pattern이 반복되어 edge-ring 형태로 관찰됨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데이터 생성 (fail-map)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8단계 grade → palette PNG 무손실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Motivation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병목은 변환 속도와 저장 공간입니다. wafer 한 장은 약 1,000만 test result를 포함하고 하루 약 2만 장이 누적되므로, raw log 그대로는 대량 조회와 분석이 어렵습니다. Cython으로 hex-to-grade 변환을 가속하고, EDS 값이 8단계 이산 grade라는 특성을 이용해 32-color palette PNG로 저장 용량을 약 75% 줄였습니다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Hex-to-grade conversion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Raw: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090B0C0D0E0F090A0B0C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Decoding: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"0C" -&gt; "C" -&gt; 12 (hex to decimal) -&gt; 3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interpreter-based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Cython: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compiled integer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Grade: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0 2 3 4 5 6 0 1 2 3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1. Hex-to-grade conversion accelerated by Cython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RGB PNG vs Palette-indexed PNG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Palette-indexed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P[3] = (123,54,24)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RGB_to_Palette: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(123,54,24) -&gt; (3)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2. Palette-indexed PNG for failbit map compression.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viewer 처리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Numba and pyvips for large-scale Failbit Map viewer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Numba는 메모리에 올라온 grade array의 composite 루프를 native code로 JIT 컴파일하고, pyvips는 대형 PNG를 필요한 stripe/tile만 decode해 viewer peak memory를 낮춥니다.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615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31773" y="2587843"/>
            <a:ext cx="4720132" cy="137726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4361" y="2709367"/>
            <a:ext cx="848563" cy="324063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4361" y="2717468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2030" y="2689113"/>
            <a:ext cx="212140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Interpreter overhead inside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2709367"/>
            <a:ext cx="954633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A8A8A"/>
                </a:solidFill>
                <a:latin typeface="맑은 고딕"/>
                <a:ea typeface="맑은 고딕"/>
              </a:rPr>
              <a:t>N times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...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552285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2294778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296302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370021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4368454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00784" y="3730166"/>
            <a:ext cx="3394252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per-pixel interpreter dispatch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1773" y="4208160"/>
            <a:ext cx="4720132" cy="174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4361" y="4329684"/>
            <a:ext cx="848563" cy="324063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4361" y="4337785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AFTER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45512" y="4309430"/>
            <a:ext cx="222747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First call JIT-compiles typed loop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914" y="4694255"/>
            <a:ext cx="981151" cy="28355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710458"/>
            <a:ext cx="928115" cy="251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dtype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2188707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69794" y="4653747"/>
            <a:ext cx="928115" cy="364571"/>
          </a:xfrm>
          <a:prstGeom prst="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96312" y="4669950"/>
            <a:ext cx="875080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JIT
compile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477463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89603" y="4653747"/>
            <a:ext cx="1538020" cy="38482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42639" y="4669950"/>
            <a:ext cx="1431950" cy="35241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C1C1C"/>
                </a:solidFill>
                <a:latin typeface="맑은 고딕"/>
                <a:ea typeface="맑은 고딕"/>
              </a:rPr>
              <a:t>native loop
reused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7844" y="5281620"/>
            <a:ext cx="1087221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4361" y="5297823"/>
            <a:ext cx="1034186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data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188707" y="5366686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310688" y="5139842"/>
            <a:ext cx="2280513" cy="587364"/>
          </a:xfrm>
          <a:prstGeom prst="rect">
            <a:avLst/>
          </a:prstGeom>
          <a:solidFill>
            <a:srgbClr val="5A5A5A"/>
          </a:solidFill>
          <a:ln w="10160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90241" y="5200604"/>
            <a:ext cx="2121408" cy="4658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native loop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4670755" y="5366686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62448" y="5281620"/>
            <a:ext cx="530352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62448" y="5297823"/>
            <a:ext cx="530352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1543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601053" y="2648605"/>
            <a:ext cx="4720132" cy="115447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733641" y="2770129"/>
            <a:ext cx="769010" cy="303809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3641" y="2782281"/>
            <a:ext cx="769010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PILLOW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61757" y="2790383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full-frame buffer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13194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82140" y="3260274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82140" y="3316986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82140" y="3373697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07124" y="351142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7396581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688275" y="3154954"/>
            <a:ext cx="769010" cy="40507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67828" y="3215716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67828" y="3272427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67828" y="3329138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67828" y="3385849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67828" y="344256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29169" y="3576236"/>
            <a:ext cx="1087221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full RGB frame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563356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81567" y="3142801"/>
            <a:ext cx="1113739" cy="518501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08084" y="3171157"/>
            <a:ext cx="1060704" cy="1377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full-image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61120" y="3349392"/>
            <a:ext cx="954633" cy="267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10074859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499140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568086" y="3256224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568086" y="330483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568086" y="335344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568086" y="3402052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66552" y="351142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01053" y="4147398"/>
            <a:ext cx="4720132" cy="127599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733641" y="4268922"/>
            <a:ext cx="848563" cy="303809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33641" y="4281074"/>
            <a:ext cx="848563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LIBVIPS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61757" y="4289176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active-stripe buffer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13194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82140" y="4815779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82140" y="4872490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882140" y="4929201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07124" y="509933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7396581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88275" y="4702356"/>
            <a:ext cx="769010" cy="40507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67828" y="4763118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67828" y="4819829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67828" y="487654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67828" y="4933252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67828" y="4989963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08722" y="5123639"/>
            <a:ext cx="928115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RGB stripe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8563356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81567" y="4674001"/>
            <a:ext cx="1113739" cy="607618"/>
          </a:xfrm>
          <a:prstGeom prst="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08084" y="4686153"/>
            <a:ext cx="1060704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streaming
C pipeline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34602" y="5026420"/>
            <a:ext cx="1060704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F5F5F"/>
                </a:solidFill>
                <a:latin typeface="맑은 고딕"/>
                <a:ea typeface="맑은 고딕"/>
              </a:rPr>
              <a:t>decode/encode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10074859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499140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8086" y="4811728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8086" y="486033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8086" y="490894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8086" y="4957556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366552" y="509933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078370" y="5706953"/>
            <a:ext cx="3765499" cy="283555"/>
          </a:xfrm>
          <a:prstGeom prst="rect">
            <a:avLst/>
          </a:prstGeom>
          <a:solidFill>
            <a:srgbClr val="EAEAEA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078370" y="5731258"/>
            <a:ext cx="3765499" cy="2349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same output with bounded active rows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Known 2단계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Known validation: CNN tuning and ROI cascade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8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80" b="1">
                <a:solidFill>
                  <a:srgbClr val="0F1E3D"/>
                </a:solidFill>
                <a:latin typeface="맑은 고딕"/>
                <a:ea typeface="맑은 고딕"/>
              </a:rPr>
              <a:t>1-stage CNN</a:t>
            </a:r>
            <a:r>
              <a:rPr sz="1480">
                <a:solidFill>
                  <a:srgbClr val="1A1F2E"/>
                </a:solidFill>
                <a:latin typeface="맑은 고딕"/>
                <a:ea typeface="맑은 고딕"/>
              </a:rPr>
              <a:t> — 위치·국소 pattern 중심 특성에서는 CNN의 locality inductive bias가 더 sample-efficient하다고 판단했습니다. ConvNeXtV2는 MaxViT와 F1 0.87 동급이면서 더 가벼웠습니다</a:t>
            </a:r>
          </a:p>
          <a:p>
            <a:pPr marL="274320" indent="-274320">
              <a:spcAft>
                <a:spcPts val="500"/>
              </a:spcAft>
            </a:pPr>
            <a:r>
              <a:rPr sz="148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80" b="1">
                <a:solidFill>
                  <a:srgbClr val="0F1E3D"/>
                </a:solidFill>
                <a:latin typeface="맑은 고딕"/>
                <a:ea typeface="맑은 고딕"/>
              </a:rPr>
              <a:t>Tuning</a:t>
            </a:r>
            <a:r>
              <a:rPr sz="1480">
                <a:solidFill>
                  <a:srgbClr val="1A1F2E"/>
                </a:solidFill>
                <a:latin typeface="맑은 고딕"/>
                <a:ea typeface="맑은 고딕"/>
              </a:rPr>
              <a:t> — Optuna로 schedule, focal loss, class-imbalance, augmentation strength를 조정해 F1 0.92까지 올렸습니다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706624"/>
            <a:ext cx="3017520" cy="2907792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706624"/>
            <a:ext cx="2907792" cy="2907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614416"/>
            <a:ext cx="35661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① Before / raw wafer-level image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2706624"/>
            <a:ext cx="3017520" cy="2907792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1_roi_crop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2584" y="2706624"/>
            <a:ext cx="2907792" cy="2907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43400" y="5614416"/>
            <a:ext cx="35661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② ROI crop (low-confidence region)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706624"/>
            <a:ext cx="3017520" cy="2907792"/>
          </a:xfrm>
          <a:prstGeom prst="rect">
            <a:avLst/>
          </a:prstGeom>
          <a:solidFill>
            <a:srgbClr val="E4EAF4"/>
          </a:solidFill>
          <a:ln w="24130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1_chip_yolo_box_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2706624"/>
            <a:ext cx="2907792" cy="29077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257032" y="2779776"/>
            <a:ext cx="1024128" cy="29260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Detection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5614416"/>
            <a:ext cx="35661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③ After / chip-level fail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ConvNeXtV2 1차 분류 후 low-confidence image만 2-stage ROI-YOLO로 보내 chip-level failure pattern을 2차 분류합니다. Optuna 0.92 → 2-stage 0.95. (자문: 연세대학교 인공지능학과 전해곤 교수)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Known 16-class backbone scan and staged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[실전 현업 데이터 validation] 16 class / 1,500 labeled / 4:1 stratified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19072"/>
          <a:ext cx="10972800" cy="374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095"/>
                <a:gridCol w="3477718"/>
                <a:gridCol w="1259173"/>
                <a:gridCol w="485681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Stage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Configuration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Weighted 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Decision / note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ImageNet pretrained CNN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starting point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Swin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EffNetV2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MaxViT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119.5M params / 74.2G FLOPs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selected: 88.6M / 45.1G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HPO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schedule / focal / imbalance / augmentation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Cascade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 + ROI-YOLO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low-confidence only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" y="5650992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5650992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5779008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0.78 → 0.87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6089904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backbone gain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5650992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5650992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5779008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0.87 → 0.92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6089904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Optuna HPO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02752" y="5650992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5650992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779008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0.92 → 0.95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089904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ROI-YOLO cascade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칩 식별 지도 (후속 개발)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차세대 Stage-2: ROI detection → chip identity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Current Stage-2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ROI-YOLO는 field-validated 구조지만, 선택된 ROI 안에서 box regression, classification, NMS를 수행하므로 class 확장과 detector annotation cost가 남습니다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Object-id map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제품별 chip coordinate를 재사용해 fixed crop classification으로 바꾸고, chip별 class id를 32×32 wafer grid에 되돌려 배치합니다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Metric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selected obj-only: val F1 0.9946 / hold-out F1 0.9872. 별도 raw+obj-id 5-seed val F1 0.9838 ± 0.0092</a:t>
            </a:r>
          </a:p>
        </p:txBody>
      </p:sp>
      <p:pic>
        <p:nvPicPr>
          <p:cNvPr id="6" name="Picture 5" descr="AAN585_00P_18_20260501_010000_97.6_2_EE_NORMAL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200400"/>
            <a:ext cx="2340864" cy="23408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24712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raw intensity</a:t>
            </a:r>
          </a:p>
        </p:txBody>
      </p:sp>
      <p:pic>
        <p:nvPicPr>
          <p:cNvPr id="9" name="Picture 8" descr="AAN585_00P_18_20260501_010000_97.6_2_EE_NORMAL_obj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3200400"/>
            <a:ext cx="2340864" cy="23408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803904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6452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object-id grid</a:t>
            </a:r>
          </a:p>
        </p:txBody>
      </p:sp>
      <p:pic>
        <p:nvPicPr>
          <p:cNvPr id="12" name="Picture 11" descr="ACZ452_00P_14_20260501_010000_97.6_2_PT_NORMAL_r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200400"/>
            <a:ext cx="2340864" cy="234086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83096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5644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raw intensity</a:t>
            </a:r>
          </a:p>
        </p:txBody>
      </p:sp>
      <p:pic>
        <p:nvPicPr>
          <p:cNvPr id="15" name="Picture 14" descr="ACZ452_00P_14_20260501_010000_97.6_2_PT_NORMAL_obj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00400"/>
            <a:ext cx="2340864" cy="234086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162288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4836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object-id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Field-validated 대표 성과는 ROI-YOLO 2-stage F1 0.95이고, object-id map은 detector cost와 class 확장 부담을 줄이기 위한 차세대 Stage-2 구조입니다.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Contrastive clustering for Unknown candidates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Embedding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same-wafer views를 alignment target으로 두고, other wafers를 contrastive reference로 사용합니다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Review output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HDBSCAN 결과는 자동 판정이 아니라 엔지니어가 검토할 신규 failure 후보 group입니다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42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bank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615184"/>
            <a:ext cx="2999232" cy="2999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Center Bank-Boundary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86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broken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2615184"/>
            <a:ext cx="2999232" cy="2999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6626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BrokenRing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30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fer_crescent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615184"/>
            <a:ext cx="2999232" cy="2999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670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CrescentArc (신규)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실제 현업 데이터 2,000장 review: 13개 후보 중 7개 신규 failure 확인. 화면 이미지는 후속 튜닝용 생성/개발 예시입니다.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contrastive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False-negative-aware contrastive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SimCLR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positive-pair alignment와 in-batch negative contrast로 wafer pattern embedding을 학습합니다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cosine similarity가 높은 near-positive candidate를 negative set에서 제외해 false-negative push를 방지합니다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_simclr_framework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065" y="2631186"/>
            <a:ext cx="2919548" cy="2263140"/>
          </a:xfrm>
          <a:prstGeom prst="rect">
            <a:avLst/>
          </a:prstGeom>
        </p:spPr>
      </p:pic>
      <p:pic>
        <p:nvPicPr>
          <p:cNvPr id="8" name="Picture 7" descr="ref_simclr_los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46" y="4962906"/>
            <a:ext cx="3236786" cy="9429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SimCLR: positive-pair alignment with in-batch negative contrast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086039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836200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01053" y="4431411"/>
            <a:ext cx="4720133" cy="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94983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Positive</a:t>
            </a:r>
          </a:p>
        </p:txBody>
      </p:sp>
      <p:sp>
        <p:nvSpPr>
          <p:cNvPr id="15" name="Oval 14"/>
          <p:cNvSpPr/>
          <p:nvPr/>
        </p:nvSpPr>
        <p:spPr>
          <a:xfrm>
            <a:off x="6834938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708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17" name="Oval 16"/>
          <p:cNvSpPr/>
          <p:nvPr/>
        </p:nvSpPr>
        <p:spPr>
          <a:xfrm>
            <a:off x="7338243" y="3277896"/>
            <a:ext cx="318211" cy="318211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6967526" y="3437001"/>
            <a:ext cx="529822" cy="274320"/>
          </a:xfrm>
          <a:prstGeom prst="line">
            <a:avLst/>
          </a:prstGeom>
          <a:ln w="19685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67061" y="317982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p⁺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4983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PULL TERM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4983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similar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4983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pull closer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5144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Negative</a:t>
            </a:r>
          </a:p>
        </p:txBody>
      </p:sp>
      <p:sp>
        <p:nvSpPr>
          <p:cNvPr id="24" name="Oval 23"/>
          <p:cNvSpPr/>
          <p:nvPr/>
        </p:nvSpPr>
        <p:spPr>
          <a:xfrm>
            <a:off x="8585100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8870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26" name="Isosceles Triangle 25"/>
          <p:cNvSpPr/>
          <p:nvPr/>
        </p:nvSpPr>
        <p:spPr>
          <a:xfrm>
            <a:off x="9179625" y="3763259"/>
            <a:ext cx="307604" cy="307604"/>
          </a:xfrm>
          <a:prstGeom prst="triangl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717688" y="3711321"/>
            <a:ext cx="615739" cy="205740"/>
          </a:xfrm>
          <a:prstGeom prst="line">
            <a:avLst/>
          </a:prstGeom>
          <a:ln w="12700">
            <a:solidFill>
              <a:srgbClr val="5560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00839" y="413994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n⁻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5144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PUSH TERM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5144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far away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5144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weak push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5306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False negative risk</a:t>
            </a:r>
          </a:p>
        </p:txBody>
      </p:sp>
      <p:sp>
        <p:nvSpPr>
          <p:cNvPr id="33" name="Oval 32"/>
          <p:cNvSpPr/>
          <p:nvPr/>
        </p:nvSpPr>
        <p:spPr>
          <a:xfrm>
            <a:off x="10335262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9031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35" name="Oval 34"/>
          <p:cNvSpPr/>
          <p:nvPr/>
        </p:nvSpPr>
        <p:spPr>
          <a:xfrm>
            <a:off x="10724010" y="3449346"/>
            <a:ext cx="318211" cy="318211"/>
          </a:xfrm>
          <a:prstGeom prst="ellipse">
            <a:avLst/>
          </a:prstGeom>
          <a:solidFill>
            <a:srgbClr val="C5CBD6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10467850" y="3608451"/>
            <a:ext cx="415265" cy="102870"/>
          </a:xfrm>
          <a:prstGeom prst="line">
            <a:avLst/>
          </a:prstGeom>
          <a:ln w="2032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52828" y="3351275"/>
            <a:ext cx="530352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h⁻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95306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EXCLUDED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5306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too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5306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protect cluster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filter: potential false-negative exclusion preserves cluster compactness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queue와 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MoCo queue와 NeCo patch consistency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561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300"/>
              </a:spcAft>
            </a:pPr>
            <a:r>
              <a:rPr sz="13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MoCo</a:t>
            </a:r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 — queue로 minibatch 밖 negative dictionary를 확장해 contrastive reference set을 넓힙니다</a:t>
            </a:r>
          </a:p>
          <a:p>
            <a:pPr marL="274320" indent="-274320">
              <a:spcAft>
                <a:spcPts val="300"/>
              </a:spcAft>
            </a:pPr>
            <a:r>
              <a:rPr sz="13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NeCo</a:t>
            </a:r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 — patch-neighbor consistency로 같은 failure pattern의 local structure가 view마다 흔들리지 않게 정규화합니다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011680"/>
            <a:ext cx="3273552" cy="39684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2011680"/>
            <a:ext cx="3273552" cy="347472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011680"/>
            <a:ext cx="327355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맑은 고딕"/>
                <a:ea typeface="맑은 고딕"/>
              </a:rPr>
              <a:t>MoCo queue</a:t>
            </a:r>
          </a:p>
        </p:txBody>
      </p:sp>
      <p:pic>
        <p:nvPicPr>
          <p:cNvPr id="9" name="Picture 8" descr="ref_moco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574" y="2523744"/>
            <a:ext cx="2504868" cy="20299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77824" y="4782312"/>
            <a:ext cx="2944368" cy="10058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873752"/>
            <a:ext cx="27249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Role in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157216"/>
            <a:ext cx="272491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maintains queue negatives beyond the current minibatch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2816" y="2011680"/>
            <a:ext cx="7214616" cy="39684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42816" y="2011680"/>
            <a:ext cx="7214616" cy="347472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42816" y="2011680"/>
            <a:ext cx="72146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맑은 고딕"/>
                <a:ea typeface="맑은 고딕"/>
              </a:rPr>
              <a:t>NeCo patch consistency</a:t>
            </a:r>
          </a:p>
        </p:txBody>
      </p:sp>
      <p:pic>
        <p:nvPicPr>
          <p:cNvPr id="16" name="Picture 15" descr="ref_neco_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486965"/>
            <a:ext cx="6958584" cy="278018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43984" y="5148072"/>
            <a:ext cx="6812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NeCo mechanism adapted from original paper figure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07408" y="5358384"/>
            <a:ext cx="2221992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5422392"/>
            <a:ext cx="207568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ROI-aligned patches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632704"/>
            <a:ext cx="2075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align shared
source-region patches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39128" y="5358384"/>
            <a:ext cx="2221992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5422392"/>
            <a:ext cx="207568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neighbor ordering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632704"/>
            <a:ext cx="2075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rank reference patches
by similarity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70848" y="5358384"/>
            <a:ext cx="2221992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422392"/>
            <a:ext cx="207568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consistency loss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632704"/>
            <a:ext cx="2075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match teacher/student
neighbor ranks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Unknown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Contrastive recipe ablation on generated evaluation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[생성 데이터 개발 지표] 실전 현업 review와 분리한 모델 개발용 ablation입니다.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99648" cy="3931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005"/>
                <a:gridCol w="5371489"/>
                <a:gridCol w="1342872"/>
                <a:gridCol w="1175013"/>
                <a:gridCol w="1622637"/>
                <a:gridCol w="91763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 (per class 500, normal 2000)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M1 capture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M2 noise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M3 Completeness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Sil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Global InfoNCE only (baseline)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0.9337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15.78%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0.582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Local DenseCL (LW=0.5)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0.9361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13.87%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0.9502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0.514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MoCo Queue 4096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9.45%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0.9474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0.573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Neg-sim filter 0.72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8.23%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NeCo 0.2 (5-tool full)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0.6104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(Local DenseCL 제외 4-tool)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+ noise threshold τ=0.5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0.9619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8" y="5833872"/>
            <a:ext cx="10744200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5833872"/>
            <a:ext cx="91440" cy="3108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10378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Noise 15.78% → 0.00%  /  Capture 0.9337 → 0.9619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Result +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양산 운영과 모델 검증 단계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Production operation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Processing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94376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4376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Production 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94192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Bulk wafer review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384280" y="1522476"/>
            <a:ext cx="146304" cy="237744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48256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Model validation / deploy waiting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4376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94376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Unknown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048256"/>
            <a:ext cx="2971800" cy="338328"/>
          </a:xfrm>
          <a:prstGeom prst="roundRect">
            <a:avLst/>
          </a:prstGeom>
          <a:solidFill>
            <a:srgbClr val="E6EAEF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GPU server → 2026.9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양산 운영 중 — 처리 구조 + viewer (2025.5~)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DRAM D1a/b/c/d 전제품 분석 파트에서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매일 사용 중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일 2만 wafer 처리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분석 공수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90% 이상 절감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P3WN 수율 +0.02%p 개선 1건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의 정량 산정 기여를 창출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조회 48매 한계를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조회 viewer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로 확장하고, 검토 방식을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변환과 검색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중심으로 재구성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공수 절감과 P3WN 수율 개선 1건을 합산한 정량 산정 기준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123억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정량 산정 기여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812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812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4812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공수 90%↓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812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검토 시간 절감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757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757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757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수율 +0.02%p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757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P3WN 1건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validation 완료, 서버 배포 준비 단계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Known validation 완료(실전 16종/1,500장), Unknown 현업 review 완료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classification model은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2026년 9월 GPU 서버 배포 검증 예정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이며, 서버 성능은 배포 환경에서 별도 검증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사내 인정: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 수상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MTC 제안 1등급 확정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삼성 논문상 초록 통과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Unknown 13→7은 분류 성능 지표가 아니라 현업 후보 검토 결과입니다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validation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Known real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168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168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168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현업 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168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Unknown candidate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113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5113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5113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113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GPU 배포 검증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라벨 부족 대응 | Multi-label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Chip Multi-label
FCM-PM classification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single-failure source에서 2-combo supervision을 구성한 synthetic validation 과제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실제 2-combo GT가 부족한 조건에서 single-failure source를 조합해 학습 신호와 평가 구조를 구성했습니다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single-source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supervision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tail control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FAR 억제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Synthetic PoC, 2-combo learning signal + negative-tail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2-combo GT 부족, FAR tail 발생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FCM-PM + val-margin으로 tail 억제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2-combo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synthetic PoC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FAR tail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negative control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Single-failure source to 2-combo evaluation setting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3154680" cy="44622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64208"/>
            <a:ext cx="91440" cy="44622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20240"/>
            <a:ext cx="2651760" cy="4050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Problem</a:t>
            </a:r>
          </a:p>
          <a:p>
            <a:pPr algn="l"/>
            <a:r>
              <a:rPr sz="1380" b="1">
                <a:solidFill>
                  <a:srgbClr val="0F1E3D"/>
                </a:solidFill>
                <a:latin typeface="맑은 고딕"/>
                <a:ea typeface="맑은 고딕"/>
              </a:rPr>
              <a:t>real 2-combo GT 부족
limited supervision / validation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Source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single-failure source만 보유
직접적인 2-combo supervision 없음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Eval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3,850-chip benchmark
2-combo/negative tail 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664208"/>
            <a:ext cx="74066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41648" y="1664208"/>
            <a:ext cx="91440" cy="19019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1810512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Source bank: single-failure 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103120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train split 이후 train source 안에서만 synthetic combination을 생성합니다.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eval_bank_boundary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414016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1713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ip_eval_fork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414016"/>
            <a:ext cx="768096" cy="7680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7161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eval_scratch_sel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414016"/>
            <a:ext cx="768096" cy="7680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609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_eval_scratch_rot_sele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2414016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739128" y="3621024"/>
            <a:ext cx="1463040" cy="256032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3611880"/>
            <a:ext cx="2468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evaluation requires combo classes and negative tail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3968496"/>
            <a:ext cx="740664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41648" y="3968496"/>
            <a:ext cx="91440" cy="2157984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1104" y="4114800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Eval target: 3,850-chip controlled 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4407408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single 4 + 2-combo 6 + Normal/Invalid/OOD negative tail.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ip_combo_bb_fork_selec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773168"/>
            <a:ext cx="896112" cy="896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25696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bb+fk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6712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ip_combo_bb_scratch_select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4728" y="4773168"/>
            <a:ext cx="896112" cy="8961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33288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bb+sc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4304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hip_combo_fork_scratch_rot_selec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773168"/>
            <a:ext cx="896112" cy="8961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0880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fk+sr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1896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ip_eval_normal_select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773168"/>
            <a:ext cx="896112" cy="8961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48472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9488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hip_eval_invalid_select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504" y="4773168"/>
            <a:ext cx="896112" cy="8961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656064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invalid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" y="5321808"/>
            <a:ext cx="2642616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37667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Design implication: distribution gap requires probability modeling and reject logic.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FCM-PM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FCM-PM: coverage + loss masking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744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2-combo GT가 부족한 조건에서 FCM은 failure coverage를 보존하고, Pair Mask는 합성 배경 loss를 분리해 FAR tail을 낮춥니다.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9344"/>
            <a:ext cx="10744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Mixup은 0~7 grade 의미를 흐리고, diffusion은 label·compute 부담이 큽니다. 원값을 보존하는 CutMix 계열을 채택했습니다. (자문: 연세대학교 인공지능학과 박은병 교수)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10512"/>
            <a:ext cx="107716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cm_pm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345" y="1920240"/>
            <a:ext cx="10155405" cy="18836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9551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9551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1  (A∪B)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4343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343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2  (A∪B)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Normal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2-combo pos. prob 낮음
FAR 낮지만 recall 약함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pos. prob 상승
FAR tail 동반 상승 가능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690104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8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82128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2-combo signal 유지
pseudo-background loss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266944"/>
            <a:ext cx="10259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" y="5266944"/>
            <a:ext cx="91440" cy="69494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5376672"/>
            <a:ext cx="14264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Formula + ablation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5321808"/>
            <a:ext cx="8412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FCM mixed views: y_mixed = y_A ∪ y_B  (multi-label target)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views: y_masked ∈ {y_A,y_B}; L_total = L_BCE(mixed)+w·L_BCE(masked)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reduces synthetic-background FAR; final result is reported on the validation slide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selection + NB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val-margin selection and negative-tail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91440" cy="45262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val-margin checkpoint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194560"/>
            <a:ext cx="47000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Consolas"/>
                <a:ea typeface="Consolas"/>
              </a:rPr>
              <a:t>val_margin = mean(p_positive) - max(p_negative)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2532888"/>
            <a:ext cx="182880" cy="18288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2184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8024" y="2532888"/>
            <a:ext cx="182880" cy="18288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5768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val-margin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21608" y="2532888"/>
            <a:ext cx="182880" cy="182880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9352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eval-F1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52728" y="3949843"/>
            <a:ext cx="146304" cy="430133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53896" y="4195633"/>
            <a:ext cx="146304" cy="184343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55064" y="4175151"/>
            <a:ext cx="146304" cy="204825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3847430"/>
            <a:ext cx="146304" cy="532546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67128" y="4103462"/>
            <a:ext cx="146304" cy="27651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68296" y="4072738"/>
            <a:ext cx="146304" cy="307238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7672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9192" y="3724535"/>
            <a:ext cx="146304" cy="655441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0360" y="3980567"/>
            <a:ext cx="146304" cy="39940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81528" y="3929360"/>
            <a:ext cx="146304" cy="450616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60904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2424" y="3499226"/>
            <a:ext cx="146304" cy="88075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93592" y="3826947"/>
            <a:ext cx="146304" cy="55302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94760" y="3796224"/>
            <a:ext cx="146304" cy="583752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74136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05656" y="3642604"/>
            <a:ext cx="146304" cy="737372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06824" y="3540192"/>
            <a:ext cx="146304" cy="83978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7992" y="3519709"/>
            <a:ext cx="146304" cy="860267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87368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9576" y="4379976"/>
            <a:ext cx="3730752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72384" y="2743200"/>
            <a:ext cx="7863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val-F1 max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1064" y="2779776"/>
            <a:ext cx="8778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margin 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3017520"/>
            <a:ext cx="14996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dev series: 0.57 → 0.84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" y="5029200"/>
            <a:ext cx="45902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post-hoc check: correlation with held-out eval bit_F1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230368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0120" y="5230368"/>
            <a:ext cx="64008" cy="731520"/>
          </a:xfrm>
          <a:prstGeom prst="rect">
            <a:avLst/>
          </a:prstGeom>
          <a:solidFill>
            <a:srgbClr val="7A8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8136" y="530352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val_f1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" y="55961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-0.10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95144" y="5541264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weak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01568" y="5230368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01568" y="5230368"/>
            <a:ext cx="64008" cy="73152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9584" y="530352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val_margin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9584" y="55961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+0.56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36592" y="5541264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selected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1627632"/>
            <a:ext cx="91440" cy="4526280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1967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NB reject: independent bit-likelihood profile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672" y="2176272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4 output bits independently checked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9672" y="2432304"/>
            <a:ext cx="4700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band = 99.7% range per bit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56248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29400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single bb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29400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0296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77963" y="3241548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667792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651882" y="3232404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29400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40296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67179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40514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006681" y="3543300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40296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67179" y="386334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040514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015642" y="3854196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29400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0296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67179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40514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997720" y="4165092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84264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39128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65976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4 bit profile match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65592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38744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2-combo bb+sc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38744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49640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908084" y="3241548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97914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064081" y="3232404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38744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49640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576523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49858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624986" y="3543300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38744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49640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890162" y="3863340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079992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046159" y="3854196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38744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549640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576523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649858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616025" y="4165092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293608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48472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75320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bit likelihoods align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774936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848088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tail/OOD on bb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48088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158984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696651" y="3241548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886480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297058" y="3232404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848088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8984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85867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59202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494203" y="3543300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48088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158984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185867" y="386334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259202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76280" y="3854196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848088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158984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185867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259202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458358" y="4165092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902952" y="4535424"/>
            <a:ext cx="1170432" cy="256032"/>
          </a:xfrm>
          <a:prstGeom prst="rect">
            <a:avLst/>
          </a:prstGeom>
          <a:solidFill>
            <a:srgbClr val="FAE8E6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957816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884664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known-profile mismatch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56248" y="5102352"/>
            <a:ext cx="4626864" cy="530352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665976" y="5175504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One known profile matched → ACCEPT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665976" y="5413247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No profile matched → REJECT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537960" y="5742432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537960" y="5742432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65976" y="57790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NB profile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65976" y="5925312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10 known classes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91272" y="5861304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4 single + 6 combo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979408" y="5742432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979408" y="5742432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07424" y="57790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reject rule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07424" y="5925312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 profile passes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332720" y="5861304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Multi-label recipe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[controlled synthetic validation] 현업 single-failure 원천에서 생성한 평가셋입니다. 단일 대표 모델은 FCM-PM + val_margin selection입니다.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64208"/>
          <a:ext cx="75895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56"/>
                <a:gridCol w="3031382"/>
                <a:gridCol w="774440"/>
                <a:gridCol w="685933"/>
                <a:gridCol w="774440"/>
                <a:gridCol w="641679"/>
                <a:gridCol w="130549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bit_F1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single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2combo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Role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BCE + Label Smoothing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0.1093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0.1896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0.0668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99.47%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Sigmoid Focal Loss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0.7980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0.8724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0.7050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45.72%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loss trial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Asymmetric Loss (ASL)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0.6435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0.5379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0.7320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collapse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(random rectangle)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0.9566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0.9070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42.05%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signal cut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+ Pair Mask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0.9491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0.9728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24.62%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reduced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val_f1 selection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0.9652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0.9517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selection ablation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 selection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0.9871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 single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main claim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 Ensemble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0.9956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champion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0.9799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0.9638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0" y="1664208"/>
            <a:ext cx="3310128" cy="3657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664208"/>
            <a:ext cx="3127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Negative-tail and deployment 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2212848"/>
            <a:ext cx="331012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2212848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2304288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9216" y="2304288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NI/OOD FAR 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7072" y="2670048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670048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selected single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182112"/>
            <a:ext cx="33101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3182112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7072" y="3273552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273552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best-F1 reference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3639312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5x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639312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upper-bound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4151376"/>
            <a:ext cx="331012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4151376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4242816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KD student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9216" y="4242816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single-student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4608576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4608576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deploy candidate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Episode generation | Binary validation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episode generation과 binary validation으로 real abnormal label 부족을 보완한 과제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현장 trend 판정 기준을 episode 생성 규칙으로 옮기고, normal/abnormal binary validation으로 검증했습니다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benchmark 확보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binary 검증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validation 완료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Synthetic benchmark 기반 episode generation + binary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real abnormal label 부족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episode benchmark 확보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Benchmark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Validation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binary gate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Episode generation and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53218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Core contribution — 판정 경험을 episode generation rule로 코드화하고, binary validation으로 검증했습니다.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587752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현장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514600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BBD / Overlay / CD 10년 trend 판정 경험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82112" y="3118104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00984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00984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374136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300984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Region 5종 + Noise 3종 + Anomaly 5종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82112" y="3904488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87368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87368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6052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Synthetic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087368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 = 7,000개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182112" y="4690872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73752"/>
            <a:ext cx="4983480" cy="621792"/>
          </a:xfrm>
          <a:prstGeom prst="rect">
            <a:avLst/>
          </a:prstGeom>
          <a:solidFill>
            <a:srgbClr val="E8ECF2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873752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946904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Binary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4873752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F1 0.9967 / abnormal recall 0.9987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domain coding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region/noise/anomaly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baseline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fleet-bound stats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2980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952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Robust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shortcut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color/median/NT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054096"/>
            <a:ext cx="516636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054096"/>
            <a:ext cx="5166360" cy="36576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310896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맑은 고딕"/>
                <a:ea typeface="맑은 고딕"/>
              </a:rPr>
              <a:t>Stabilization and shortcut-control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6480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6480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LR sweep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3e-5/3e-4 stable
1e-4/1e-3 collapse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5256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Label smoothing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0.02 sweet spot
FN 4.6 -&gt; 0.8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6480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6480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Stochastic depth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0.05 regularization
FP 3.8 -&gt; 1.4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368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5256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Focal + EMA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gamma=2.0, EMA 0.95
hard-anomaly stability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6480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480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 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hard-normal 3,300
FP/FN balance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3368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Color + median + 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color/smoothing check
val-F1 median, NT 0.9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episode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Baseline episodes and measurement-noise sampling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44168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정상 trend는 region별 baseline 위에 episode density와 noise family를 분리해 샘플링합니다. anomaly injection은 다음 장에서 분리합니다.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664208"/>
            <a:ext cx="1074420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7859816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48256"/>
            <a:ext cx="785981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2340864"/>
            <a:ext cx="7530632" cy="26517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3856" y="4777740"/>
            <a:ext cx="7219736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3856" y="2523744"/>
            <a:ext cx="13716" cy="22677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2596896"/>
            <a:ext cx="1422001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658525" y="31423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08" y="30118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9036" y="34999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9402" y="3735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93246" y="361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34527" y="30422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6970" y="42673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03346" y="3262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45827" y="44685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81621" y="3551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0818" y="2968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40558" y="33733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29438" y="3087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38942" y="424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965" y="3859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0472" y="35110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44168" y="2995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1446" y="32340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13397" y="36029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46169" y="3865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23538" y="3390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58800" y="40546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556806" y="3847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15404" y="43477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175964" y="33705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95819" y="30878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778811" y="41513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39299" y="3705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95429" y="4003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20773" y="3844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62257" y="3413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32399" y="38804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985183" y="3650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16957" y="44634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50218" y="3996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22808" y="4058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70953" y="45440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293939" y="33649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737565" y="40041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74196" y="36596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59791" y="30862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20620" y="4169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16654" y="3334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740819" y="39168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56235" y="35227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7208" y="39280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71572" y="39099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601383" y="34911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700946" y="39287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443130" y="3244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74741" y="3319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545517" y="35561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86381" y="3348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61458" y="34945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713935" y="3632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37389" y="37479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95142" y="36799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094279" y="31538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71016" y="38315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340013" y="3848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42590" y="34758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384680" y="36955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33518" y="31663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515068" y="32549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77753" y="31525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256675" y="32446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82112" y="34428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87984" y="39195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17291" y="32421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68963" y="34277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07628" y="32181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308321" y="40304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833803" y="35550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362807" y="31988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680953" y="3350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283438" y="32541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285004" y="39911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910960" y="32403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929442" y="31287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910777" y="40168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6150" y="3753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579939" y="3445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463371" y="3824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916332" y="3830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64880" y="33116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61946" y="402282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312896" y="3855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270399" y="379408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7343" y="3586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696971" y="31305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291003" y="33642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577534" y="374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441623" y="35209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17468" y="4025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439747" y="34438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29565" y="33152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500128" y="3294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29679" y="39438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297787" y="3551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065504" y="38498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361436" y="37200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383709" y="383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85900" y="35496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77596" y="3840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8415" y="38509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460386" y="3472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53752" y="39872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154499" y="3262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413801" y="32445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77607" y="3856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437513" y="38749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471103" y="37169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90583" y="3615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18690" y="31167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59436" y="3709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908883" y="39749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10721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29009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220823" y="43420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21337" y="32425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88678" y="33788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974269" y="38672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98284" y="3588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834624" y="44057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118735" y="3653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411590" y="4396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204008" y="44186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07366" y="37764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335249" y="29224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28880" y="31960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672430" y="422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887276" y="36793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92540" y="38174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83268" y="37539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75989" y="41965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802777" y="38237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984417" y="33521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52585" y="37362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84010" y="41561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831472" y="3628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448813" y="3732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320776" y="40441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244470" y="3778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77243" y="44581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59404" y="435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69350" y="3323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81184" y="4461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738999" y="3119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822566" y="36271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759960" y="32918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760693" y="400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67478" y="4384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864441" y="40831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509701" y="3129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93641" y="4501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947541" y="44764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175469" y="3702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930190" y="42766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73395" y="36094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325169" y="34556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920938" y="36050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73219" y="34528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364922" y="3667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700792" y="3611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451508" y="37037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758051" y="39444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55264" y="39376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808221" y="35781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727441" y="38395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3013502" y="35088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201611" y="39069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93201" y="357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863471" y="3910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85423" y="37995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789241" y="34721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1156" y="36594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768116" y="392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64534" y="3851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782154" y="3878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760940" y="38821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240667" y="36155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363700" y="39147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010297" y="3508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331298" y="35642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032722" y="2596896"/>
            <a:ext cx="1422001" cy="2121408"/>
          </a:xfrm>
          <a:prstGeom prst="rect">
            <a:avLst/>
          </a:prstGeom>
          <a:solidFill>
            <a:srgbClr val="F7F0E6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51010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Very sparse</a:t>
            </a:r>
          </a:p>
        </p:txBody>
      </p:sp>
      <p:sp>
        <p:nvSpPr>
          <p:cNvPr id="200" name="Oval 199"/>
          <p:cNvSpPr/>
          <p:nvPr/>
        </p:nvSpPr>
        <p:spPr>
          <a:xfrm>
            <a:off x="4229041" y="31600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53684" y="32271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87422" y="33989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58304" y="33738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27376" y="3187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32083" y="29215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408911" y="29168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24603" y="38083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31104" y="3681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281736" y="3068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34108" y="3610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20887" y="42803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90873" y="3734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66765" y="4526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26602" y="42764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0982" y="3949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605686" y="346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58798" y="3107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79635" y="4124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415475" y="316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97192" y="4291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199957" y="40072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49076" y="3294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63268" y="3655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90379" y="36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25233" y="44919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30187" y="3801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01254" y="4498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84304" y="34847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90778" y="35264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94916" y="37280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45804" y="373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95730" y="3330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203913" y="35562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42569" y="2928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77538" y="3278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6441" y="37720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46877" y="3985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2805" y="43543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86319" y="3434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45630" y="314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3218" y="396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54646" y="36839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205612" y="36134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009719" y="36761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273006" y="35782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725364" y="36838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097480" y="36809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824110" y="3703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946577" y="36358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385312" y="3411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265306" y="3522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230392" y="36841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454723" y="2596896"/>
            <a:ext cx="1422001" cy="2121408"/>
          </a:xfrm>
          <a:prstGeom prst="rect">
            <a:avLst/>
          </a:prstGeom>
          <a:solidFill>
            <a:srgbClr val="F2F4F7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473011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255" name="Oval 254"/>
          <p:cNvSpPr/>
          <p:nvPr/>
        </p:nvSpPr>
        <p:spPr>
          <a:xfrm>
            <a:off x="6223927" y="39360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310291" y="40240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135607" y="28968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529036" y="4136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153054" y="37820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352482" y="30012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51334" y="3311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606391" y="33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6441826" y="32328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455213" y="45151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141544" y="35279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22487" y="40291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489837" y="3918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331386" y="30202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699485" y="33139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6459536" y="33979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235707" y="2912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5588801" y="3338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6368686" y="40432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373414" y="3375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170359" y="366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106323" y="3088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651459" y="32229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59208" y="4449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5533746" y="3655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6557357" y="45024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084779" y="33384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779104" y="44649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780216" y="38590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692234" y="3763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6726823" y="3112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557764" y="37379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42783" y="4061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806591" y="43853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6131584" y="29326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5996" y="370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6086449" y="33938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690915" y="3463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914635" y="42896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513637" y="41407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6581867" y="3091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93220" y="40779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39539" y="362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983617" y="36611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760013" y="37277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5969351" y="3673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863339" y="35441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648419" y="38110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876310" y="38453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6876724" y="2596896"/>
            <a:ext cx="1422004" cy="2121408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895012" y="2615184"/>
            <a:ext cx="1385428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06" name="Oval 305"/>
          <p:cNvSpPr/>
          <p:nvPr/>
        </p:nvSpPr>
        <p:spPr>
          <a:xfrm>
            <a:off x="7251480" y="33335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7585252" y="32072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7409698" y="44825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8061475" y="42426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7738250" y="4411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8133467" y="38053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7851375" y="29736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867679" y="3641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893595" y="3963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298532" y="29728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8115706" y="31032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7535782" y="3463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313284" y="4121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8178878" y="3324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770270" y="3391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644392" y="35476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146883" y="3160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198599" y="43990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567536" y="32575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8089532" y="4549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507431" y="3123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178870" y="30423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369649" y="30429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238470" y="3321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660078" y="4367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889755" y="35782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461408" y="3763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414184" y="34541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012586" y="33531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8167893" y="3100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7575598" y="39391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8034169" y="32507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7279158" y="3304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443387" y="3633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8150362" y="4303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046964" y="2927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6974550" y="4072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8076057" y="36789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7682478" y="2891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432880" y="44337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986621" y="43150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73704" y="3304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876724" y="3566160"/>
            <a:ext cx="1422004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8883944" y="1737360"/>
            <a:ext cx="24820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8883944" y="2048256"/>
            <a:ext cx="24820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883944" y="2304288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75384" y="2331720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373172" y="2331720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9085112" y="3031236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085112" y="2615184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9295437" y="2723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10155023" y="2898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11026682" y="2911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10414950" y="2925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10019757" y="28549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9150897" y="29311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9552345" y="29765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0411119" y="2773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9334787" y="2756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0391955" y="2903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9301856" y="26961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10159330" y="28652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9875751" y="27466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0318686" y="26763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9695730" y="2824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11062971" y="2885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10906648" y="2829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9556903" y="27544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1066453" y="29054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9707951" y="26800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0104994" y="28955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9942165" y="27578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10456559" y="29782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540302" y="26841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9771702" y="28117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10488195" y="2738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10726317" y="2916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10118654" y="27406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11085679" y="27757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0774026" y="27490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9529190" y="2923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682028" y="29870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116363" y="28783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9231903" y="28265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9347442" y="281428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9462982" y="274757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9578522" y="29248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9694061" y="299253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9809601" y="278036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9925140" y="276551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040680" y="27789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0156219" y="26319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0271759" y="281180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10387298" y="280797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10502838" y="275503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10618378" y="279896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10733917" y="26974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10849457" y="292493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10964996" y="28573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11080536" y="302384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883944" y="3255264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75384" y="3282696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Equip. correlated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10373172" y="3282696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085112" y="3982212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9085112" y="3566160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11006103" y="37325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9454464" y="39327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10620759" y="3634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10450475" y="3748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846223" y="3733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420667" y="3624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9650569" y="3739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1055848" y="3664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74059" y="3692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9810339" y="38950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0778192" y="37666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9171094" y="37801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9843791" y="3927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9470091" y="37441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0934140" y="36338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9923002" y="3891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10663101" y="36372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9141140" y="364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10982147" y="3708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622794" y="3920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9773819" y="37137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11060371" y="3827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9613896" y="3860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726847" y="37148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076496" y="38732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10974625" y="38331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11030341" y="3631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9555027" y="3780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11058474" y="39387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872492" y="37067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9962800" y="3786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10998832" y="3684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110586" y="390291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214572" y="38869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9318558" y="383937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9422543" y="382507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9526529" y="378800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9630514" y="37560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34500" y="372398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838486" y="368394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9942471" y="368543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46457" y="372189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150442" y="37481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254428" y="37736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0358414" y="3817999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462399" y="38484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566385" y="384209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10670370" y="38202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10774356" y="380255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0878342" y="374642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0982327" y="371958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1086313" y="372098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8883944" y="4206240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8975384" y="4233672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10373172" y="4233672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9085112" y="4933188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9085112" y="4517136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619550" y="46026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269184" y="47393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544772" y="4722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9555713" y="47124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358714" y="47973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624229" y="4854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450466" y="4614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17422" y="4671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247608" y="46979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0603620" y="46405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9583234" y="4655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9387519" y="4866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0271310" y="46825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9892363" y="49024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0123741" y="46512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0749981" y="4790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1129555" y="4608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056022" y="4845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10816768" y="48766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9152594" y="46717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16589" y="4637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1092140" y="47673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1003146" y="46977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869948" y="4723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9609270" y="48315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035440" y="46097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0308467" y="4779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521292" y="46965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362660" y="46421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598800" y="47726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423882" y="46420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092319" y="46828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116363" y="473729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231903" y="474527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9347442" y="473671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462982" y="471310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578522" y="472033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694061" y="476226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809601" y="47183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925140" y="472502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040680" y="475664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10156219" y="470910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271759" y="473734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387298" y="473882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502838" y="455654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618378" y="4894855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733917" y="458129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849457" y="487010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964996" y="454416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1080536" y="491135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713232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713232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TextBox 519"/>
          <p:cNvSpPr txBox="1"/>
          <p:nvPr/>
        </p:nvSpPr>
        <p:spPr>
          <a:xfrm>
            <a:off x="804672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Episode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804672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K ~ U(Kmin,Kmax),  L_k ~ U(Lmin,Lmax)</a:t>
            </a:r>
          </a:p>
        </p:txBody>
      </p:sp>
      <p:sp>
        <p:nvSpPr>
          <p:cNvPr id="522" name="TextBox 521"/>
          <p:cNvSpPr txBox="1"/>
          <p:nvPr/>
        </p:nvSpPr>
        <p:spPr>
          <a:xfrm>
            <a:off x="841248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 개수와 길이를 먼저 결정</a:t>
            </a:r>
          </a:p>
        </p:txBody>
      </p:sp>
      <p:sp>
        <p:nvSpPr>
          <p:cNvPr id="523" name="Rectangle 522"/>
          <p:cNvSpPr/>
          <p:nvPr/>
        </p:nvSpPr>
        <p:spPr>
          <a:xfrm>
            <a:off x="3511296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3511296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TextBox 524"/>
          <p:cNvSpPr txBox="1"/>
          <p:nvPr/>
        </p:nvSpPr>
        <p:spPr>
          <a:xfrm>
            <a:off x="3602736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Density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3602736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m_k ~ Cat(5 density types)</a:t>
            </a:r>
          </a:p>
        </p:txBody>
      </p:sp>
      <p:sp>
        <p:nvSpPr>
          <p:cNvPr id="527" name="TextBox 526"/>
          <p:cNvSpPr txBox="1"/>
          <p:nvPr/>
        </p:nvSpPr>
        <p:spPr>
          <a:xfrm>
            <a:off x="3639312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구간별 관측 point 수를 결정</a:t>
            </a:r>
          </a:p>
        </p:txBody>
      </p:sp>
      <p:sp>
        <p:nvSpPr>
          <p:cNvPr id="528" name="Rectangle 527"/>
          <p:cNvSpPr/>
          <p:nvPr/>
        </p:nvSpPr>
        <p:spPr>
          <a:xfrm>
            <a:off x="6309360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6309360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TextBox 529"/>
          <p:cNvSpPr txBox="1"/>
          <p:nvPr/>
        </p:nvSpPr>
        <p:spPr>
          <a:xfrm>
            <a:off x="6400800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Noise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6400800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ε_t ~ N / AR(1) / Laplace</a:t>
            </a:r>
          </a:p>
        </p:txBody>
      </p:sp>
      <p:sp>
        <p:nvSpPr>
          <p:cNvPr id="532" name="TextBox 531"/>
          <p:cNvSpPr txBox="1"/>
          <p:nvPr/>
        </p:nvSpPr>
        <p:spPr>
          <a:xfrm>
            <a:off x="6437376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측정 산포 family를 episode별 부여</a:t>
            </a:r>
          </a:p>
        </p:txBody>
      </p:sp>
      <p:sp>
        <p:nvSpPr>
          <p:cNvPr id="533" name="Rectangle 532"/>
          <p:cNvSpPr/>
          <p:nvPr/>
        </p:nvSpPr>
        <p:spPr>
          <a:xfrm>
            <a:off x="9107424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9107424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TextBox 534"/>
          <p:cNvSpPr txBox="1"/>
          <p:nvPr/>
        </p:nvSpPr>
        <p:spPr>
          <a:xfrm>
            <a:off x="9198864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536" name="TextBox 535"/>
          <p:cNvSpPr txBox="1"/>
          <p:nvPr/>
        </p:nvSpPr>
        <p:spPr>
          <a:xfrm>
            <a:off x="9198864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y_t = μ_region(t) + ε_t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9235440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active 구간만 연결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binary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Anomaly injection rules and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20">
                <a:solidFill>
                  <a:srgbClr val="1A1F2E"/>
                </a:solidFill>
                <a:latin typeface="맑은 고딕"/>
                <a:ea typeface="맑은 고딕"/>
              </a:rPr>
              <a:t>Normal baseline에 5가지 anomaly injection rule을 더해 normal/abnormal binary validation을 수행했습니다.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_view.png"/>
          <p:cNvPicPr>
            <a:picLocks noChangeAspect="1"/>
          </p:cNvPicPr>
          <p:nvPr/>
        </p:nvPicPr>
        <p:blipFill>
          <a:blip r:embed="rId2"/>
          <a:srcRect t="18971" b="18971"/>
          <a:stretch>
            <a:fillRect/>
          </a:stretch>
        </p:blipFill>
        <p:spPr>
          <a:xfrm>
            <a:off x="1106424" y="1755648"/>
            <a:ext cx="3136392" cy="1627632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1161288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Mean shift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_standard_deviation_view.png"/>
          <p:cNvPicPr>
            <a:picLocks noChangeAspect="1"/>
          </p:cNvPicPr>
          <p:nvPr/>
        </p:nvPicPr>
        <p:blipFill>
          <a:blip r:embed="rId3"/>
          <a:srcRect t="18971" b="18971"/>
          <a:stretch>
            <a:fillRect/>
          </a:stretch>
        </p:blipFill>
        <p:spPr>
          <a:xfrm>
            <a:off x="4517136" y="1755648"/>
            <a:ext cx="3136392" cy="1627632"/>
          </a:xfrm>
          <a:prstGeom prst="rect">
            <a:avLst/>
          </a:prstGeom>
          <a:effectLst/>
        </p:spPr>
      </p:pic>
      <p:sp>
        <p:nvSpPr>
          <p:cNvPr id="12" name="Rectangle 11"/>
          <p:cNvSpPr/>
          <p:nvPr/>
        </p:nvSpPr>
        <p:spPr>
          <a:xfrm>
            <a:off x="4572000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Std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72984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end_spike_view.png"/>
          <p:cNvPicPr>
            <a:picLocks noChangeAspect="1"/>
          </p:cNvPicPr>
          <p:nvPr/>
        </p:nvPicPr>
        <p:blipFill>
          <a:blip r:embed="rId4"/>
          <a:srcRect t="18971" b="18971"/>
          <a:stretch>
            <a:fillRect/>
          </a:stretch>
        </p:blipFill>
        <p:spPr>
          <a:xfrm>
            <a:off x="7927848" y="1755648"/>
            <a:ext cx="3136392" cy="1627632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982712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_drift_view.png"/>
          <p:cNvPicPr>
            <a:picLocks noChangeAspect="1"/>
          </p:cNvPicPr>
          <p:nvPr/>
        </p:nvPicPr>
        <p:blipFill>
          <a:blip r:embed="rId5"/>
          <a:srcRect t="18971" b="18971"/>
          <a:stretch>
            <a:fillRect/>
          </a:stretch>
        </p:blipFill>
        <p:spPr>
          <a:xfrm>
            <a:off x="1106424" y="3621024"/>
            <a:ext cx="3136392" cy="1627632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1161288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7864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rend_context_view.png"/>
          <p:cNvPicPr>
            <a:picLocks noChangeAspect="1"/>
          </p:cNvPicPr>
          <p:nvPr/>
        </p:nvPicPr>
        <p:blipFill>
          <a:blip r:embed="rId6"/>
          <a:srcRect t="18971" b="18971"/>
          <a:stretch>
            <a:fillRect/>
          </a:stretch>
        </p:blipFill>
        <p:spPr>
          <a:xfrm>
            <a:off x="4517136" y="3621024"/>
            <a:ext cx="3136392" cy="1627632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4572000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4" y="3566160"/>
            <a:ext cx="3246120" cy="17373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984" y="3566160"/>
            <a:ext cx="91440" cy="173736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712464"/>
            <a:ext cx="28620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Injection equations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005072"/>
            <a:ext cx="2770632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mean:  y_t = x_t + δ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scale: y_t = μ + A(x_t - μ)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spike: y_t = x_t + Σ A_i 1(t=t_i)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drift: y_t = x_t + r(t-s)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context: fleet/reference-relative shift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21808"/>
            <a:ext cx="10561320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Test 1,500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normal 750 / abnormal 750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TN746 / FP4 / FN1 / TP749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7488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abnormal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2904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5-seed best 0.9987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TN748 / FP2 / FN0 / TP750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2016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168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threshold 0.9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p(normal) ≥ 0.9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robustness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Robustness and input sensitivity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입력 표현·checkpoint 선택 민감도 확인 장입니다. main claim은 binary-F1 0.9967입니다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Validation option ablation — binary 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04060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Main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6996" y="3329723"/>
            <a:ext cx="713232" cy="227293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7144" y="3091979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71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71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71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9932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080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5-seed best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0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5-seed robustness —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9944" y="2944368"/>
            <a:ext cx="1319784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3096" y="3072384"/>
            <a:ext cx="11734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Mean F1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3096" y="3328416"/>
            <a:ext cx="1173480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703320"/>
            <a:ext cx="11734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main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39456" y="2944368"/>
            <a:ext cx="1319784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12608" y="3072384"/>
            <a:ext cx="11734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Best F1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12608" y="3328416"/>
            <a:ext cx="1173480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2608" y="3703320"/>
            <a:ext cx="11734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reference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68968" y="2944368"/>
            <a:ext cx="1319784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2120" y="3072384"/>
            <a:ext cx="11734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Test split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2120" y="3328416"/>
            <a:ext cx="1173480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0F1E3D"/>
                </a:solidFill>
                <a:latin typeface="맑은 고딕"/>
                <a:ea typeface="맑은 고딕"/>
              </a:rPr>
              <a:t>1,500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42120" y="3703320"/>
            <a:ext cx="11734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750/750 split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929384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49771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06605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63438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20272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771057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339392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929384" y="5471159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213551" y="5388428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497718" y="5326380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781886" y="4954088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66053" y="4954088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350220" y="5305697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634388" y="5243648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918555" y="5202282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202723" y="5160917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486890" y="5150575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771057" y="5140234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055225" y="5129892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339392" y="5129892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929384" y="5388428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213551" y="5326380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497718" y="5326380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781886" y="5305697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066053" y="5305697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350220" y="5243648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634388" y="5202282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918555" y="5160917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202723" y="5150575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486890" y="5140234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771057" y="5140234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3015761" y="490379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Diamond 73"/>
          <p:cNvSpPr/>
          <p:nvPr/>
        </p:nvSpPr>
        <p:spPr>
          <a:xfrm>
            <a:off x="4702477" y="507165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929384" y="5760720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929384" y="4855464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929384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728216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49771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29655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06605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286488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63438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343322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20272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400155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771057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4569889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339392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138224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00784" y="5934456"/>
            <a:ext cx="4151376" cy="12801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609344" y="6067044"/>
            <a:ext cx="428853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single-epoch spike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Rendering sensitivity check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same train/val/test color policy; label-independent</a:t>
            </a:r>
          </a:p>
        </p:txBody>
      </p:sp>
      <p:pic>
        <p:nvPicPr>
          <p:cNvPr id="95" name="Picture 94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7" name="Picture 96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로드맵 | 완료 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완료 시기 및 현장 적용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603504"/>
            <a:ext cx="1325880" cy="402336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완료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603504"/>
            <a:ext cx="1325880" cy="402336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예정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730752"/>
            <a:ext cx="9902952" cy="381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157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2024.10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착수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파이프라인과 viewer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1216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728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8059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059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203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2025.03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P2 모델 개발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FCM-PM, val-margin 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275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787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6118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118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5262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2025.05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viewer 양산 개시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DRAM 전제품, 일 2만 wafer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334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93846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177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177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321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2026.01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P3 Trend anomaly PoC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episode generation, binary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393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1905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2360" y="2084831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2360" y="2084831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380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2026.09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P1/P2 모델 배포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GPU 할당 후 양산 적용 검증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3452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89964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0032" y="4206240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4206240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2026.12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P3 Trend anomaly 현업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real trend 기준 검증 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98932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● 완료 / 진행 중</a:t>
            </a: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       ○ 예정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989320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P1/P2=2026.09 GPU 배포 검증 / P3=2026.12 현업 검증 완료 / 향후=현업 확대 적용, chip classifier 대체, image+measure-value multimodal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AI Specialist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제조품질 데이터를 운영형 AI 자산으로 전환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194560"/>
            <a:ext cx="1042416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100"/>
              </a:spcAft>
            </a:pPr>
            <a:r>
              <a:rPr sz="15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560" b="1">
                <a:solidFill>
                  <a:srgbClr val="0F1E3D"/>
                </a:solidFill>
                <a:latin typeface="맑은 고딕"/>
                <a:ea typeface="맑은 고딕"/>
              </a:rPr>
              <a:t>P1</a:t>
            </a:r>
            <a:r>
              <a:rPr sz="1560">
                <a:solidFill>
                  <a:srgbClr val="1A1F2E"/>
                </a:solidFill>
                <a:latin typeface="맑은 고딕"/>
                <a:ea typeface="맑은 고딕"/>
              </a:rPr>
              <a:t> — 좌표 보존 Failbit Map과 viewer를 운영 자산으로 만들고, Known 및 Unknown 검토 flow까지 연결했습니다</a:t>
            </a:r>
          </a:p>
          <a:p>
            <a:pPr marL="274320" indent="-274320">
              <a:lnSpc>
                <a:spcPct val="108000"/>
              </a:lnSpc>
              <a:spcAft>
                <a:spcPts val="1100"/>
              </a:spcAft>
            </a:pPr>
            <a:r>
              <a:rPr sz="15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560" b="1">
                <a:solidFill>
                  <a:srgbClr val="0F1E3D"/>
                </a:solidFill>
                <a:latin typeface="맑은 고딕"/>
                <a:ea typeface="맑은 고딕"/>
              </a:rPr>
              <a:t>P2/P3</a:t>
            </a:r>
            <a:r>
              <a:rPr sz="1560">
                <a:solidFill>
                  <a:srgbClr val="1A1F2E"/>
                </a:solidFill>
                <a:latin typeface="맑은 고딕"/>
                <a:ea typeface="맑은 고딕"/>
              </a:rPr>
              <a:t> — 2-combo GT와 real abnormal label 부족을 synthetic validation 구조로 보완했습니다</a:t>
            </a:r>
          </a:p>
          <a:p>
            <a:pPr marL="274320" indent="-274320">
              <a:lnSpc>
                <a:spcPct val="108000"/>
              </a:lnSpc>
              <a:spcAft>
                <a:spcPts val="1100"/>
              </a:spcAft>
            </a:pPr>
            <a:r>
              <a:rPr sz="15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560" b="1">
                <a:solidFill>
                  <a:srgbClr val="0F1E3D"/>
                </a:solidFill>
                <a:latin typeface="맑은 고딕"/>
                <a:ea typeface="맑은 고딕"/>
              </a:rPr>
              <a:t>조직 확산</a:t>
            </a:r>
            <a:r>
              <a:rPr sz="1560">
                <a:solidFill>
                  <a:srgbClr val="1A1F2E"/>
                </a:solidFill>
                <a:latin typeface="맑은 고딕"/>
                <a:ea typeface="맑은 고딕"/>
              </a:rPr>
              <a:t> — 현업 시연, 모델 개발 자문, 코드·기술 공유로 제조품질 AI 활용을 확산했습니다</a:t>
            </a:r>
          </a:p>
          <a:p>
            <a:pPr marL="274320" indent="-274320">
              <a:lnSpc>
                <a:spcPct val="108000"/>
              </a:lnSpc>
              <a:spcAft>
                <a:spcPts val="1100"/>
              </a:spcAft>
            </a:pPr>
            <a:r>
              <a:rPr sz="15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560" b="1">
                <a:solidFill>
                  <a:srgbClr val="0F1E3D"/>
                </a:solidFill>
                <a:latin typeface="맑은 고딕"/>
                <a:ea typeface="맑은 고딕"/>
              </a:rPr>
              <a:t>핵심</a:t>
            </a:r>
            <a:r>
              <a:rPr sz="1560">
                <a:solidFill>
                  <a:srgbClr val="1A1F2E"/>
                </a:solidFill>
                <a:latin typeface="맑은 고딕"/>
                <a:ea typeface="맑은 고딕"/>
              </a:rPr>
              <a:t> — 데이터 생성 → 모델 → viewer → human review → label/retrain으로 이어지는 제조품질 AI 개발 체계를 구축했습니다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4590288"/>
            <a:ext cx="240030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4590288"/>
            <a:ext cx="2400300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4681728"/>
            <a:ext cx="22174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300" b="1">
                <a:solidFill>
                  <a:srgbClr val="0F1E3D"/>
                </a:solidFill>
                <a:latin typeface="맑은 고딕"/>
                <a:ea typeface="맑은 고딕"/>
              </a:rPr>
              <a:t>일 2만</a:t>
            </a:r>
          </a:p>
          <a:p>
            <a:pPr algn="ctr">
              <a:spcAft>
                <a:spcPts val="200"/>
              </a:spcAft>
            </a:pPr>
            <a:r>
              <a:rPr sz="1320" b="1">
                <a:solidFill>
                  <a:srgbClr val="1A1F2E"/>
                </a:solidFill>
                <a:latin typeface="맑은 고딕"/>
                <a:ea typeface="맑은 고딕"/>
              </a:rPr>
              <a:t>wafer viewer</a:t>
            </a:r>
          </a:p>
          <a:p>
            <a:pPr algn="ctr"/>
            <a:r>
              <a:rPr sz="1140">
                <a:solidFill>
                  <a:srgbClr val="556075"/>
                </a:solidFill>
                <a:latin typeface="맑은 고딕"/>
                <a:ea typeface="맑은 고딕"/>
              </a:rPr>
              <a:t>양산 운영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1588" y="4590288"/>
            <a:ext cx="240030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61588" y="4590288"/>
            <a:ext cx="2400300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3028" y="4681728"/>
            <a:ext cx="22174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300" b="1">
                <a:solidFill>
                  <a:srgbClr val="0F1E3D"/>
                </a:solidFill>
                <a:latin typeface="맑은 고딕"/>
                <a:ea typeface="맑은 고딕"/>
              </a:rPr>
              <a:t>F1 0.95</a:t>
            </a:r>
          </a:p>
          <a:p>
            <a:pPr algn="ctr">
              <a:spcAft>
                <a:spcPts val="200"/>
              </a:spcAft>
            </a:pPr>
            <a:r>
              <a:rPr sz="1320" b="1">
                <a:solidFill>
                  <a:srgbClr val="1A1F2E"/>
                </a:solidFill>
                <a:latin typeface="맑은 고딕"/>
                <a:ea typeface="맑은 고딕"/>
              </a:rPr>
              <a:t>Known validation</a:t>
            </a:r>
          </a:p>
          <a:p>
            <a:pPr algn="ctr"/>
            <a:r>
              <a:rPr sz="1140">
                <a:solidFill>
                  <a:srgbClr val="556075"/>
                </a:solidFill>
                <a:latin typeface="맑은 고딕"/>
                <a:ea typeface="맑은 고딕"/>
              </a:rPr>
              <a:t>실전 데이터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4590288"/>
            <a:ext cx="240030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4590288"/>
            <a:ext cx="2400300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4681728"/>
            <a:ext cx="22174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300" b="1">
                <a:solidFill>
                  <a:srgbClr val="0F1E3D"/>
                </a:solidFill>
                <a:latin typeface="맑은 고딕"/>
                <a:ea typeface="맑은 고딕"/>
              </a:rPr>
              <a:t>13→7</a:t>
            </a:r>
          </a:p>
          <a:p>
            <a:pPr algn="ctr">
              <a:spcAft>
                <a:spcPts val="200"/>
              </a:spcAft>
            </a:pPr>
            <a:r>
              <a:rPr sz="1320" b="1">
                <a:solidFill>
                  <a:srgbClr val="1A1F2E"/>
                </a:solidFill>
                <a:latin typeface="맑은 고딕"/>
                <a:ea typeface="맑은 고딕"/>
              </a:rPr>
              <a:t>Unknown review</a:t>
            </a:r>
          </a:p>
          <a:p>
            <a:pPr algn="ctr"/>
            <a:r>
              <a:rPr sz="1140">
                <a:solidFill>
                  <a:srgbClr val="556075"/>
                </a:solidFill>
                <a:latin typeface="맑은 고딕"/>
                <a:ea typeface="맑은 고딕"/>
              </a:rPr>
              <a:t>현업 후보 확인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0828" y="4590288"/>
            <a:ext cx="240030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0828" y="4590288"/>
            <a:ext cx="2400300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2268" y="4681728"/>
            <a:ext cx="22174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300" b="1">
                <a:solidFill>
                  <a:srgbClr val="0F1E3D"/>
                </a:solidFill>
                <a:latin typeface="맑은 고딕"/>
                <a:ea typeface="맑은 고딕"/>
              </a:rPr>
              <a:t>P2/P3</a:t>
            </a:r>
          </a:p>
          <a:p>
            <a:pPr algn="ctr">
              <a:spcAft>
                <a:spcPts val="200"/>
              </a:spcAft>
            </a:pPr>
            <a:r>
              <a:rPr sz="1320" b="1">
                <a:solidFill>
                  <a:srgbClr val="1A1F2E"/>
                </a:solidFill>
                <a:latin typeface="맑은 고딕"/>
                <a:ea typeface="맑은 고딕"/>
              </a:rPr>
              <a:t>label scarcity</a:t>
            </a:r>
          </a:p>
          <a:p>
            <a:pPr algn="ctr"/>
            <a:r>
              <a:rPr sz="1140">
                <a:solidFill>
                  <a:srgbClr val="556075"/>
                </a:solidFill>
                <a:latin typeface="맑은 고딕"/>
                <a:ea typeface="맑은 고딕"/>
              </a:rPr>
              <a:t>synthetic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