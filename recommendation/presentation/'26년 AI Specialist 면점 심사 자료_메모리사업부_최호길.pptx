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929E"/>
                </a:solidFill>
                <a:latin typeface="맑은 고딕"/>
                <a:ea typeface="맑은 고딕"/>
              </a:rPr>
              <a:t>'26 AI Specialist 면접 심사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35024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F1E3D"/>
                </a:solidFill>
                <a:latin typeface="맑은 고딕"/>
                <a:ea typeface="맑은 고딕"/>
              </a:rPr>
              <a:t>AI Specialist 인증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9260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>
                <a:solidFill>
                  <a:srgbClr val="475569"/>
                </a:solidFill>
                <a:latin typeface="맑은 고딕"/>
                <a:ea typeface="맑은 고딕"/>
              </a:rPr>
              <a:t>반도체 공정 이해를 바탕으로 데이터 처리 구조, viewer backend/frontend, AI model까지 직접 설계한 3개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Failbit Map 불량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Chip multi-label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82712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992624"/>
            <a:ext cx="3840480" cy="2032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1846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최호길  |  메모리제조센터 QIE그룹 Data Science 파트</a:t>
            </a:r>
          </a:p>
          <a:p>
            <a:pPr algn="l"/>
            <a:r>
              <a:rPr sz="1250">
                <a:solidFill>
                  <a:srgbClr val="6B7280"/>
                </a:solidFill>
                <a:latin typeface="맑은 고딕"/>
                <a:ea typeface="맑은 고딕"/>
              </a:rPr>
              <a:t>제조품질 AI / Data Science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5989320"/>
            <a:ext cx="10387584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6108192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삼성전자 메모리제조센터 | QIE그룹 Data Science</a:t>
            </a:r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    AI Specialist 인증 사내 경연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108192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P1/P2/P3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3개 과제 핵심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Failbit Map failure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2478024"/>
            <a:ext cx="1408176" cy="1408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4114800"/>
            <a:ext cx="8778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14800"/>
            <a:ext cx="21701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48매 단위 조회 한계, human review 부담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81728"/>
            <a:ext cx="8778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81728"/>
            <a:ext cx="21701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좌표 보존 Failbit Map + 대량 viewer + Known 및 Unknown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75504"/>
            <a:ext cx="3230880" cy="475488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5175504"/>
            <a:ext cx="73152" cy="47548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48656"/>
            <a:ext cx="8778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248656"/>
            <a:ext cx="21701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[양산 운영] 일 2만 wafer/day, 공수 90%↓ + 수율 개선 사례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1312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01312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1312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02480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2288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Chip multi-label 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9328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ip_eval_scratch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478024"/>
            <a:ext cx="1408176" cy="14081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84192" y="4114800"/>
            <a:ext cx="8778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98592" y="4114800"/>
            <a:ext cx="21701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2-combo failure GT 부족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4192" y="4681728"/>
            <a:ext cx="8778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98592" y="4681728"/>
            <a:ext cx="21701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single source → FCM-PM + val-margin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11040" y="5175504"/>
            <a:ext cx="3230880" cy="475488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1040" y="5175504"/>
            <a:ext cx="73152" cy="47548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4192" y="5248656"/>
            <a:ext cx="8778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8592" y="5248656"/>
            <a:ext cx="21701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[controlled synthetic] bit-F1 0.9927 / FAR 0.00%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62544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62544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62544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63712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3712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3520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90560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rend_spi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464" y="2478024"/>
            <a:ext cx="2190496" cy="140817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345424" y="4114800"/>
            <a:ext cx="8778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Problem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9824" y="4114800"/>
            <a:ext cx="21701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real anomaly label scarcity, validation bottleneck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5424" y="4681728"/>
            <a:ext cx="8778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Approach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9824" y="4681728"/>
            <a:ext cx="21701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episode generation + binary validation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2272" y="5175504"/>
            <a:ext cx="3230880" cy="475488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72272" y="5175504"/>
            <a:ext cx="73152" cy="47548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45424" y="5248656"/>
            <a:ext cx="8778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59824" y="5248656"/>
            <a:ext cx="21701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[synthetic trend PoC] benchmark 7,000, binary-F1 0.9967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84048"/>
            <a:ext cx="7863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| 3개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778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제조품질 AI | Domain-informed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46304" cy="150876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2468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58767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822191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05655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5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19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E3D"/>
                </a:solidFill>
                <a:latin typeface="맑은 고딕"/>
                <a:ea typeface="맑은 고딕"/>
              </a:rPr>
              <a:t>Failbit Map
Known &amp; Unknown 분석</a:t>
            </a:r>
          </a:p>
          <a:p>
            <a:pPr algn="l"/>
            <a:r>
              <a:rPr sz="1600">
                <a:solidFill>
                  <a:srgbClr val="556075"/>
                </a:solidFill>
                <a:latin typeface="맑은 고딕"/>
                <a:ea typeface="맑은 고딕"/>
              </a:rPr>
              <a:t>대량 Failbit Map을 검색, 검토, 모델 학습이 가능한 운영 구조로 확장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187952"/>
            <a:ext cx="7863840" cy="7498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187952"/>
            <a:ext cx="82296" cy="7498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4187952"/>
            <a:ext cx="107899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6A0AD"/>
                </a:solidFill>
                <a:latin typeface="맑은 고딕"/>
                <a:ea typeface="맑은 고딕"/>
              </a:rPr>
              <a:t>Rationale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187952"/>
            <a:ext cx="6355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1A1F2E"/>
                </a:solidFill>
                <a:latin typeface="맑은 고딕"/>
                <a:ea typeface="맑은 고딕"/>
              </a:rPr>
              <a:t>48매 단위 수작업 검토를 대량 Failbit Map 변환, 검색, 검토 체계로 확장했습니다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1091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1091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501091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양산 운영</a:t>
            </a:r>
          </a:p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viewer + 처리 구조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4243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74243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" y="57424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실전 검증</a:t>
            </a:r>
          </a:p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Known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13892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Key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513892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P1은 양산 운영, P2/P3은 validation/PoC 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541264"/>
            <a:ext cx="2834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Before → After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815584"/>
            <a:ext cx="361188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2219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Before  </a:t>
            </a:r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조회 48매 한계, 수작업 검토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5815584"/>
            <a:ext cx="361188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5815584"/>
            <a:ext cx="82296" cy="65836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6A0AD"/>
                </a:solidFill>
                <a:latin typeface="맑은 고딕"/>
                <a:ea typeface="맑은 고딕"/>
              </a:rPr>
              <a:t>After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대량 wafer 규모의 변환, 검색, 검토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415784" y="6007608"/>
            <a:ext cx="347472" cy="274320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6539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6539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Data asset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좌표 보존 FBM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1715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AI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Known &amp; Unknown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Coordinate-preserving Failbit Map operating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5287" y="1783080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287" y="1783080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EDS Test  (raw fail-map log)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286000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1879" y="2258568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Cython parsing + hourly 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5287" y="2551176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287" y="2633472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(32색 palette PNG) + chip annotation (FTN / QTN / BIN)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5287" y="2916936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좌표 보존: 이미지, 좌표, 계측값을 같은 wafer 좌표계에 맞춰 저장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6119" y="3255264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3227832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같은 자산을 Known 및 Unknown 두 경로가 공유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5287" y="3520440"/>
            <a:ext cx="425196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98167" y="3566160"/>
            <a:ext cx="3886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Known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7895" y="3849624"/>
            <a:ext cx="38313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ConvNeXtV2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7895" y="4105656"/>
            <a:ext cx="38313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→ ROI-YOLO  (selective)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7895" y="4361688"/>
            <a:ext cx="38313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→ object-id map  [dev]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3520440"/>
            <a:ext cx="425196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3566160"/>
            <a:ext cx="3886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Unknown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7055" y="3849624"/>
            <a:ext cx="38313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InfoNCE + grid36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7055" y="4105656"/>
            <a:ext cx="38313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→ HDBSCAN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7055" y="4361688"/>
            <a:ext cx="383133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→ candidate groups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86119" y="4645152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1879" y="4617720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두 경로 결과를 한 화면으로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15287" y="4910328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5287" y="4992624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Analysis UI — fast view / overlay / labeling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5287" y="5276088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운영 viewer (mapviewer): Numba composite + pyvips tile streaming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86119" y="5614416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1879" y="5586984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human-in-the-loop: register → label → retrain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15287" y="5879592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15287" y="5879592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Organizational asset base  (image-measure aligned, multimodal-ready)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Concept + field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Failbit Map as discrete spatial-grade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650992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22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Data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EDS Failbit Map은 Memory Cell Block 단위 불량 정도를 Grade 0~7로 표현한 wafer-level data입니다</a:t>
            </a:r>
          </a:p>
          <a:p>
            <a:pPr marL="274320" indent="-274320">
              <a:lnSpc>
                <a:spcPct val="112000"/>
              </a:lnSpc>
              <a:spcAft>
                <a:spcPts val="22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Scale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wafer 1장은 약 1,000만 block 규모입니다. chip당 1개, wafer 내 약 800개 수준의 Measure 값만으로는 불량 위치와 형상 분석이 부족합니다</a:t>
            </a:r>
          </a:p>
          <a:p>
            <a:pPr marL="274320" indent="-274320">
              <a:lnSpc>
                <a:spcPct val="112000"/>
              </a:lnSpc>
              <a:spcAft>
                <a:spcPts val="22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Storage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palette PNG는 grade index를 저장하고, positions JSON은 chip/block 좌표를 보존해 viewer overlay와 모델 입력을 같은 좌표계로 맞춥니다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5412" y="1316736"/>
            <a:ext cx="4334256" cy="4681728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5412" y="1316736"/>
            <a:ext cx="4334256" cy="34747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90004" y="1316736"/>
            <a:ext cx="4005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wafer Failbit Map / Edge-Ring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5412" y="1664208"/>
            <a:ext cx="4334256" cy="43342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edge_ring_scratch_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1810512"/>
            <a:ext cx="4041648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6772" y="6053328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384C"/>
                </a:solidFill>
                <a:latin typeface="맑은 고딕"/>
                <a:ea typeface="맑은 고딕"/>
              </a:rPr>
              <a:t>최외곽 chip에서 동일 scratch성 fail pattern이 반복되어 edge-ring 형태로 관찰됨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데이터 생성 (fail-map)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8단계 grade → palette PNG 무손실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Motivation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병목은 변환 속도와 저장 공간입니다. wafer 한 장은 약 1,000만 test result를 포함하고 하루 약 2만 장이 누적되므로, raw log 그대로는 대량 조회와 분석이 어렵습니다. Cython으로 hex-to-grade 변환을 가속하고, EDS 값이 8단계 이산 grade라는 특성을 이용해 32-color palette PNG로 저장 용량을 약 75% 줄였습니다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15184"/>
            <a:ext cx="5303520" cy="3410712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809744" cy="3154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Hex-to-grade conversion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Raw: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090B0C0D0E0F090A0B0C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Decoding: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"0C" -&gt; "C" -&gt; 12 (hex to decimal) -&gt; 3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interpreter-based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Cython: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compiled integer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Grade: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0 2 3 4 5 6 0 1 2 3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1. Hex-to-grade conversion accelerated by Cython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615184"/>
            <a:ext cx="5303520" cy="3410712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809744" cy="3154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RGB PNG vs Palette-indexed PNG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Palette-indexed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P[3] = (123,54,24)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RGB_to_Palette: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(123,54,24) -&gt;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2. Palette-indexed PNG for failbit map compression.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viewer 처리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Numba and pyvips for large-scale Failbit Map 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Numba는 메모리에 올라온 grade array의 composite 루프를 native code로 JIT 컴파일하고, pyvips는 대형 PNG를 필요한 stripe/tile만 decode해 viewer peak memory를 낮춥니다.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15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1773" y="2587843"/>
            <a:ext cx="4720132" cy="13772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4361" y="2709367"/>
            <a:ext cx="848563" cy="324063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4361" y="2717468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2030" y="2689113"/>
            <a:ext cx="212140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Interpreter overhead inside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544" y="2709367"/>
            <a:ext cx="954633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A8A8A"/>
                </a:solidFill>
                <a:latin typeface="맑은 고딕"/>
                <a:ea typeface="맑은 고딕"/>
              </a:rPr>
              <a:t>N times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552285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2294778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296302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370021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368454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00784" y="3730166"/>
            <a:ext cx="3394252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per-pixel interpreter dispatch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1773" y="4208160"/>
            <a:ext cx="4720132" cy="174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4361" y="4329684"/>
            <a:ext cx="848563" cy="324063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4361" y="4337785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5512" y="4309430"/>
            <a:ext cx="222747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First call JIT-compiles typed loop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914" y="4694255"/>
            <a:ext cx="981151" cy="28355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4710458"/>
            <a:ext cx="928115" cy="2511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dtype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188707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9794" y="4653747"/>
            <a:ext cx="928115" cy="364571"/>
          </a:xfrm>
          <a:prstGeom prst="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96312" y="4669950"/>
            <a:ext cx="875080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JIT
compile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477463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89603" y="4653747"/>
            <a:ext cx="1538020" cy="38482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2639" y="4669950"/>
            <a:ext cx="1431950" cy="3524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C1C1C"/>
                </a:solidFill>
                <a:latin typeface="맑은 고딕"/>
                <a:ea typeface="맑은 고딕"/>
              </a:rPr>
              <a:t>native loop
reused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" y="5281620"/>
            <a:ext cx="1087221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4361" y="5297823"/>
            <a:ext cx="1034186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data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188707" y="5366686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10688" y="5139842"/>
            <a:ext cx="2280513" cy="587364"/>
          </a:xfrm>
          <a:prstGeom prst="rect">
            <a:avLst/>
          </a:prstGeom>
          <a:solidFill>
            <a:srgbClr val="5A5A5A"/>
          </a:solidFill>
          <a:ln w="1016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90241" y="5200604"/>
            <a:ext cx="2121408" cy="4658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native loop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670755" y="5366686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62448" y="5281620"/>
            <a:ext cx="530352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62448" y="5297823"/>
            <a:ext cx="530352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result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1543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601053" y="2648605"/>
            <a:ext cx="4720132" cy="11544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33641" y="2770129"/>
            <a:ext cx="769010" cy="303809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33641" y="2782281"/>
            <a:ext cx="769010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PILLOW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1757" y="2790383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full-frame buffer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13194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82140" y="3260274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2140" y="3316986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82140" y="3373697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07124" y="351142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7396581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88275" y="3154954"/>
            <a:ext cx="769010" cy="40507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67828" y="3215716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67828" y="3272427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67828" y="3329138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67828" y="3385849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67828" y="344256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29169" y="3576236"/>
            <a:ext cx="1087221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C1C"/>
                </a:solidFill>
                <a:latin typeface="맑은 고딕"/>
                <a:ea typeface="맑은 고딕"/>
              </a:rPr>
              <a:t>full RGB frame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8563356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81567" y="3142801"/>
            <a:ext cx="1113739" cy="518501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08084" y="3171157"/>
            <a:ext cx="1060704" cy="137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full-image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3349392"/>
            <a:ext cx="954633" cy="267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decode
encode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10074859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99140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68086" y="3256224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68086" y="330483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68086" y="335344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568086" y="3402052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66552" y="351142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01053" y="4147398"/>
            <a:ext cx="4720132" cy="127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733641" y="4268922"/>
            <a:ext cx="848563" cy="303809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33641" y="4281074"/>
            <a:ext cx="848563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LIBVIPS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1757" y="4289176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active-stripe buffer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13194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2140" y="4815779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82140" y="4872490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2140" y="4929201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07124" y="509933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7396581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88275" y="4702356"/>
            <a:ext cx="769010" cy="40507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67828" y="4763118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67828" y="4819829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67828" y="487654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67828" y="4933252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767828" y="4989963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08722" y="5123639"/>
            <a:ext cx="928115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80" b="1">
                <a:solidFill>
                  <a:srgbClr val="1C1C1C"/>
                </a:solidFill>
                <a:latin typeface="맑은 고딕"/>
                <a:ea typeface="맑은 고딕"/>
              </a:rPr>
              <a:t>RGB stripe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8563356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881567" y="4674001"/>
            <a:ext cx="1113739" cy="607618"/>
          </a:xfrm>
          <a:prstGeom prst="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08084" y="4686153"/>
            <a:ext cx="1060704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C1C"/>
                </a:solidFill>
                <a:latin typeface="맑은 고딕"/>
                <a:ea typeface="맑은 고딕"/>
              </a:rPr>
              <a:t>streaming
C pipeline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61120" y="4957556"/>
            <a:ext cx="954633" cy="2025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5F5F5F"/>
                </a:solidFill>
                <a:latin typeface="맑은 고딕"/>
                <a:ea typeface="맑은 고딕"/>
              </a:rPr>
              <a:t>decode
encode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10074859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499140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68086" y="4811728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568086" y="486033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68086" y="490894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568086" y="4957556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366552" y="509933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078370" y="5706953"/>
            <a:ext cx="3765499" cy="283555"/>
          </a:xfrm>
          <a:prstGeom prst="rect">
            <a:avLst/>
          </a:prstGeom>
          <a:solidFill>
            <a:srgbClr val="EAEAEA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078370" y="5731258"/>
            <a:ext cx="3765499" cy="2349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same output with bounded active rows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Known 2단계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Known validation: CNN tuning → selective ROI-YOLO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1-stage CNN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1,500장 labeled data와 위치·국소 pattern 중심 특성에서는 CNN의 locality inductive bias가 더 sample-efficient하다고 판단했습니다. 동일 split에서 ConvNeXtV2와 MaxViT는 F1 0.87 동급이었고, ConvNeXtV2가 더 가벼워 채택했습니다</a:t>
            </a:r>
          </a:p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Tuning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Optuna로 warmup→cosine, focal loss, class-imbalance, augmentation strength를 조정해 F1 0.92까지 올렸습니다</a:t>
            </a:r>
          </a:p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2-stage ROI-YOLO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low-confidence wafer만 ROI chip failure pattern으로 2차 분류해 최종 F1 0.95를 달성했습니다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944368"/>
            <a:ext cx="2779776" cy="2670048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944368"/>
            <a:ext cx="2670048" cy="2670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" y="5614416"/>
            <a:ext cx="3685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① Before / raw wafer-level 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36592" y="2944368"/>
            <a:ext cx="2779776" cy="2670048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_roi_crop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944368"/>
            <a:ext cx="2670048" cy="2670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83964" y="5614416"/>
            <a:ext cx="3685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② ROI crop (low-confidence region)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21624" y="2944368"/>
            <a:ext cx="2779776" cy="2670048"/>
          </a:xfrm>
          <a:prstGeom prst="rect">
            <a:avLst/>
          </a:prstGeom>
          <a:solidFill>
            <a:srgbClr val="E4EAF4"/>
          </a:solidFill>
          <a:ln w="24130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1_chip_yolo_box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944368"/>
            <a:ext cx="2670048" cy="26700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94776" y="3017520"/>
            <a:ext cx="1024128" cy="29260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Detection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8996" y="5614416"/>
            <a:ext cx="3685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③ After / chip-level fail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ConvNeXtV2 1차 분류 후 low-confidence image만 2-stage ROI-YOLO로 보내 chip-level failure pattern을 2차 분류합니다. Optuna 0.92 → 2-stage 0.95. (자문: 연세대학교 인공지능학과 전해곤 교수)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Known 16-class backbone scan and staged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 b="1">
                <a:solidFill>
                  <a:srgbClr val="0F1E3D"/>
                </a:solidFill>
                <a:latin typeface="맑은 고딕"/>
                <a:ea typeface="맑은 고딕"/>
              </a:rPr>
              <a:t>[실전 현업 데이터 validation] 16 class / 1,500 labeled / 4:1 stratified split.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19072"/>
          <a:ext cx="10972800" cy="374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095"/>
                <a:gridCol w="3477718"/>
                <a:gridCol w="1259173"/>
                <a:gridCol w="485681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Stage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Configuration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Weighted 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Decision / note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42748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ImageNet pretrained CNN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starting point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2748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ViT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same split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2748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Swin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same split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2748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EffNetV2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same split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2748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MaxViT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119.5M params / 74.2G FLOPs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2748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selected: 88.6M params / 45.1G FLOPs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2748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HPO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warmup→cosine schedule, focal loss, class-imbalance weighting, augmentation strength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2748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Cascade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 + ROI-YOLO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low-confidence wafer only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" y="5650992"/>
            <a:ext cx="3401568" cy="71323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779008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0.78 → 0.87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6089904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backbone 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650992"/>
            <a:ext cx="3401568" cy="71323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5650992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5779008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0.87 → 0.92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6089904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Optuna HPO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2752" y="5650992"/>
            <a:ext cx="3401568" cy="71323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5650992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5779008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0.92 → 0.95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089904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ROI-YOLO cascade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칩 식별 지도 (후속 개발)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차세대 Stage-2: ROI detection → chip identity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Current Stage-2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ROI-YOLO는 field-validated 구조지만, 선택된 ROI 안에서 box regression, classification, NMS를 수행하므로 class 확장과 detector annotation cost가 남습니다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Object-id map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제품별 chip coordinate를 재사용해 fixed crop classification으로 바꾸고, chip별 class id를 32×32 wafer grid에 되돌려 배치합니다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Metric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selected obj-only: val F1 0.9946 / hold-out F1 0.9872. 별도 raw+obj-id 5-seed val F1 0.9838 ± 0.0092</a:t>
            </a:r>
          </a:p>
        </p:txBody>
      </p:sp>
      <p:pic>
        <p:nvPicPr>
          <p:cNvPr id="6" name="Picture 5" descr="AAN585_00P_18_20260501_010000_97.6_2_EE_NORMAL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3200400"/>
            <a:ext cx="2340864" cy="23408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24712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raw intensity</a:t>
            </a:r>
          </a:p>
        </p:txBody>
      </p:sp>
      <p:pic>
        <p:nvPicPr>
          <p:cNvPr id="9" name="Picture 8" descr="AAN585_00P_18_20260501_010000_97.6_2_EE_NORMAL_obj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3200400"/>
            <a:ext cx="2340864" cy="23408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03904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6452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object-id grid</a:t>
            </a:r>
          </a:p>
        </p:txBody>
      </p:sp>
      <p:pic>
        <p:nvPicPr>
          <p:cNvPr id="12" name="Picture 11" descr="ACZ452_00P_14_20260501_010000_97.6_2_PT_NORMAL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200400"/>
            <a:ext cx="2340864" cy="23408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83096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5644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raw intensity</a:t>
            </a:r>
          </a:p>
        </p:txBody>
      </p:sp>
      <p:pic>
        <p:nvPicPr>
          <p:cNvPr id="15" name="Picture 14" descr="ACZ452_00P_14_20260501_010000_97.6_2_PT_NORMAL_obj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200400"/>
            <a:ext cx="2340864" cy="23408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162288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4836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object-id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Field-validated 대표 성과는 ROI-YOLO 2-stage F1 0.95이고, object-id map은 detector cost와 class 확장 부담을 줄이기 위한 차세대 Stage-2 구조입니다.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Contrastive clustering for Unknown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Embedding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same-wafer views를 alignment target으로 두고, other wafers를 contrastive reference로 사용합니다</a:t>
            </a:r>
          </a:p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Review output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HDBSCAN 결과는 자동 판정이 아니라 엔지니어가 검토할 신규 failure 후보 group입니다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42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bank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615184"/>
            <a:ext cx="2999232" cy="2999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82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Center Bank-Boundary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86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broken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615184"/>
            <a:ext cx="2999232" cy="2999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626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BrokenRing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30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fer_crescentar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615184"/>
            <a:ext cx="2999232" cy="2999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8670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CrescentArc 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실제 현업 데이터 2,000장 review: 13개 후보 중 7개 신규 failure 확인. 화면 이미지는 후속 튜닝용 생성/개발 예시입니다.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contrastive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False-negative-aware contrastive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SimCLR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positive-pair alignment와 in-batch negative contrast로 wafer pattern embedding을 학습합니다</a:t>
            </a:r>
          </a:p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Negative similarity filter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cosine similarity가 높은 near-positive candidate를 negative set에서 제외해 false-negative push를 방지합니다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_simclr_framework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065" y="2631186"/>
            <a:ext cx="2919548" cy="2263140"/>
          </a:xfrm>
          <a:prstGeom prst="rect">
            <a:avLst/>
          </a:prstGeom>
        </p:spPr>
      </p:pic>
      <p:pic>
        <p:nvPicPr>
          <p:cNvPr id="8" name="Picture 7" descr="ref_simclr_los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446" y="4962906"/>
            <a:ext cx="3236786" cy="942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SimCLR: positive-pair alignment with in-batch negative contrast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086039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36200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01053" y="4431411"/>
            <a:ext cx="4720133" cy="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94983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Positive</a:t>
            </a:r>
          </a:p>
        </p:txBody>
      </p:sp>
      <p:sp>
        <p:nvSpPr>
          <p:cNvPr id="15" name="Oval 14"/>
          <p:cNvSpPr/>
          <p:nvPr/>
        </p:nvSpPr>
        <p:spPr>
          <a:xfrm>
            <a:off x="6834938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708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17" name="Oval 16"/>
          <p:cNvSpPr/>
          <p:nvPr/>
        </p:nvSpPr>
        <p:spPr>
          <a:xfrm>
            <a:off x="7338243" y="3277896"/>
            <a:ext cx="318211" cy="31821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6967526" y="3437001"/>
            <a:ext cx="529822" cy="274320"/>
          </a:xfrm>
          <a:prstGeom prst="line">
            <a:avLst/>
          </a:prstGeom>
          <a:ln w="19685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67061" y="317982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p⁺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4983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PULL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4983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similar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4983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pull closer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5144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Negative</a:t>
            </a:r>
          </a:p>
        </p:txBody>
      </p:sp>
      <p:sp>
        <p:nvSpPr>
          <p:cNvPr id="24" name="Oval 23"/>
          <p:cNvSpPr/>
          <p:nvPr/>
        </p:nvSpPr>
        <p:spPr>
          <a:xfrm>
            <a:off x="8585100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8870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26" name="Isosceles Triangle 25"/>
          <p:cNvSpPr/>
          <p:nvPr/>
        </p:nvSpPr>
        <p:spPr>
          <a:xfrm>
            <a:off x="9179625" y="3763259"/>
            <a:ext cx="307604" cy="307604"/>
          </a:xfrm>
          <a:prstGeom prst="triangl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717688" y="3711321"/>
            <a:ext cx="615739" cy="205740"/>
          </a:xfrm>
          <a:prstGeom prst="line">
            <a:avLst/>
          </a:prstGeom>
          <a:ln w="12700">
            <a:solidFill>
              <a:srgbClr val="5560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00839" y="413994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n⁻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5144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PUSH 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5144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far 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5144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weak push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5306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False negative risk</a:t>
            </a:r>
          </a:p>
        </p:txBody>
      </p:sp>
      <p:sp>
        <p:nvSpPr>
          <p:cNvPr id="33" name="Oval 32"/>
          <p:cNvSpPr/>
          <p:nvPr/>
        </p:nvSpPr>
        <p:spPr>
          <a:xfrm>
            <a:off x="10335262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9031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35" name="Oval 34"/>
          <p:cNvSpPr/>
          <p:nvPr/>
        </p:nvSpPr>
        <p:spPr>
          <a:xfrm>
            <a:off x="10724010" y="3449346"/>
            <a:ext cx="318211" cy="318211"/>
          </a:xfrm>
          <a:prstGeom prst="ellipse">
            <a:avLst/>
          </a:prstGeom>
          <a:solidFill>
            <a:srgbClr val="C5CBD6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10467850" y="3608451"/>
            <a:ext cx="415265" cy="102870"/>
          </a:xfrm>
          <a:prstGeom prst="line">
            <a:avLst/>
          </a:prstGeom>
          <a:ln w="20320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052828" y="3351275"/>
            <a:ext cx="530352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h⁻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5306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EXCLUDED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5306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too close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5306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protect 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Negative similarity filter: potential false-negative exclusion preserves cluster compactness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queue와 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MoCo queue와 NeCo patch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561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300"/>
              </a:spcAft>
            </a:pPr>
            <a:r>
              <a:rPr sz="13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20" b="1">
                <a:solidFill>
                  <a:srgbClr val="0F1E3D"/>
                </a:solidFill>
                <a:latin typeface="맑은 고딕"/>
                <a:ea typeface="맑은 고딕"/>
              </a:rPr>
              <a:t>MoCo</a:t>
            </a:r>
            <a:r>
              <a:rPr sz="1320">
                <a:solidFill>
                  <a:srgbClr val="1A1F2E"/>
                </a:solidFill>
                <a:latin typeface="맑은 고딕"/>
                <a:ea typeface="맑은 고딕"/>
              </a:rPr>
              <a:t> — queue로 minibatch 밖 negative dictionary를 확장해 contrastive reference set을 넓힙니다</a:t>
            </a:r>
          </a:p>
          <a:p>
            <a:pPr marL="274320" indent="-274320">
              <a:spcAft>
                <a:spcPts val="300"/>
              </a:spcAft>
            </a:pPr>
            <a:r>
              <a:rPr sz="13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20" b="1">
                <a:solidFill>
                  <a:srgbClr val="0F1E3D"/>
                </a:solidFill>
                <a:latin typeface="맑은 고딕"/>
                <a:ea typeface="맑은 고딕"/>
              </a:rPr>
              <a:t>NeCo</a:t>
            </a:r>
            <a:r>
              <a:rPr sz="1320">
                <a:solidFill>
                  <a:srgbClr val="1A1F2E"/>
                </a:solidFill>
                <a:latin typeface="맑은 고딕"/>
                <a:ea typeface="맑은 고딕"/>
              </a:rPr>
              <a:t> — patch-neighbor consistency로 같은 failure pattern의 local structure가 view마다 흔들리지 않게 정규화합니다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11680"/>
            <a:ext cx="3273552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11680"/>
            <a:ext cx="3273552" cy="347472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32735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맑은 고딕"/>
                <a:ea typeface="맑은 고딕"/>
              </a:rPr>
              <a:t>MoCo queue</a:t>
            </a:r>
          </a:p>
        </p:txBody>
      </p:sp>
      <p:pic>
        <p:nvPicPr>
          <p:cNvPr id="9" name="Picture 8" descr="ref_moco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74" y="2523744"/>
            <a:ext cx="2504868" cy="20299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7824" y="4782312"/>
            <a:ext cx="2944368" cy="10058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873752"/>
            <a:ext cx="27249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Role in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157216"/>
            <a:ext cx="272491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60">
                <a:solidFill>
                  <a:srgbClr val="1A1F2E"/>
                </a:solidFill>
                <a:latin typeface="맑은 고딕"/>
                <a:ea typeface="맑은 고딕"/>
              </a:rPr>
              <a:t>maintains queue negatives beyond the current minibatch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2011680"/>
            <a:ext cx="7214616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42816" y="2011680"/>
            <a:ext cx="7214616" cy="347472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2816" y="2011680"/>
            <a:ext cx="72146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맑은 고딕"/>
                <a:ea typeface="맑은 고딕"/>
              </a:rPr>
              <a:t>NeCo patch consistency</a:t>
            </a:r>
          </a:p>
        </p:txBody>
      </p:sp>
      <p:pic>
        <p:nvPicPr>
          <p:cNvPr id="16" name="Picture 15" descr="ref_neco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486965"/>
            <a:ext cx="6958584" cy="27801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43984" y="5148072"/>
            <a:ext cx="68122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NeCo mechanism adapted from original paper figure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5358384"/>
            <a:ext cx="2221992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5422392"/>
            <a:ext cx="207568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ROI-aligned patches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632704"/>
            <a:ext cx="2075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align shared
source-region patches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9128" y="5358384"/>
            <a:ext cx="2221992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5422392"/>
            <a:ext cx="207568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neighbor ordering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632704"/>
            <a:ext cx="2075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rank reference patches
by similarity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0848" y="5358384"/>
            <a:ext cx="2221992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5422392"/>
            <a:ext cx="207568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consistency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632704"/>
            <a:ext cx="2075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match teacher/student
neighbor ranks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Unknown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Contrastive recipe ablation on generated evaluation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[생성 데이터 개발 지표] 실전 현업 review와 분리한 모델 개발용 ablation입니다.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99648" cy="393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005"/>
                <a:gridCol w="5371489"/>
                <a:gridCol w="1342872"/>
                <a:gridCol w="1175013"/>
                <a:gridCol w="1622637"/>
                <a:gridCol w="917632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 (per class 500, normal 2000)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M1 capture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M2 noise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M3 Completeness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Sil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Global InfoNCE only (baseline)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0.9337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15.78%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0.582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Local DenseCL (LW=0.5)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0.9361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13.87%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0.9502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0.514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MoCo Queue 4096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9.45%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0.9474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0.573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Neg-sim filter 0.72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8.23%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NeCo 0.2 (5-tool full)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0.6104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(Local DenseCL 제외 4-tool)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+ noise threshold τ=0.5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0.9619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8" y="5833872"/>
            <a:ext cx="10744200" cy="31089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5833872"/>
            <a:ext cx="91440" cy="3108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33872"/>
            <a:ext cx="10378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Final generated-set metric: capture 0.9619 / noise 0.00% / Completeness 0.9679 / Silhouette 0.781.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Result +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양산 운영과 모델 검증 단계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Production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Processing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4376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Production 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Bulk wafer 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1384280" y="1522476"/>
            <a:ext cx="146304" cy="237744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48256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Model validation / deploy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Known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376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Unknown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2048256"/>
            <a:ext cx="2971800" cy="338328"/>
          </a:xfrm>
          <a:prstGeom prst="roundRect">
            <a:avLst/>
          </a:prstGeom>
          <a:solidFill>
            <a:srgbClr val="E6EAEF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GPU server → 2026.9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양산 운영 중 — 처리 구조 + viewer (2025.5~)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DRAM D1a/b/c/d 전제품 분석 파트에서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매일 사용 중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일 2만 wafer 처리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분석 공수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90% 이상 절감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과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P3WN 수율 +0.02%p 개선 1건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의 사업 기여를 창출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조회 48매 한계를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대량 조회 viewer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로 확장하고, 검토 방식을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변환과 검색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중심으로 재구성</a:t>
            </a:r>
          </a:p>
          <a:p>
            <a:pPr marL="420624" indent="-420624" lvl="1">
              <a:lnSpc>
                <a:spcPct val="104000"/>
              </a:lnSpc>
              <a:spcAft>
                <a:spcPts val="400"/>
              </a:spcAft>
            </a:pPr>
            <a:r>
              <a:rPr sz="1150" b="0">
                <a:solidFill>
                  <a:srgbClr val="6E7B8E"/>
                </a:solidFill>
                <a:latin typeface="맑은 고딕"/>
                <a:ea typeface="맑은 고딕"/>
              </a:rPr>
              <a:t>–  </a:t>
            </a:r>
            <a:r>
              <a:rPr sz="1150">
                <a:solidFill>
                  <a:srgbClr val="4A5666"/>
                </a:solidFill>
                <a:latin typeface="맑은 고딕"/>
                <a:ea typeface="맑은 고딕"/>
              </a:rPr>
              <a:t>올해 기여는 공수 절감과 P3WN 수율 개선 1건을 합산한 기준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123억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올해 총 사업 기여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4812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4812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4812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공수 90%↓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812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검토 시간 절감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757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2757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757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수율 +0.02%p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757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P3WN 1건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모델 — validation 완료, 서버 배포 준비 단계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Known validation 완료(실전 16종/1,500장), Unknown 현업 review 완료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classification model은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2026년 9월 GPU 서버 배포 검증 예정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이며, 서버 성능은 배포 환경에서 별도 검증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사내 인정: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'25 AI 센터 DS BP Good Challenger 수상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MTC 제안 1등급 확정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삼성 논문상 초록 통과</a:t>
            </a:r>
          </a:p>
          <a:p>
            <a:pPr marL="420624" indent="-420624" lvl="1">
              <a:lnSpc>
                <a:spcPct val="104000"/>
              </a:lnSpc>
              <a:spcAft>
                <a:spcPts val="400"/>
              </a:spcAft>
            </a:pPr>
            <a:r>
              <a:rPr sz="1150" b="0">
                <a:solidFill>
                  <a:srgbClr val="6E7B8E"/>
                </a:solidFill>
                <a:latin typeface="맑은 고딕"/>
                <a:ea typeface="맑은 고딕"/>
              </a:rPr>
              <a:t>–  </a:t>
            </a:r>
            <a:r>
              <a:rPr sz="1150">
                <a:solidFill>
                  <a:srgbClr val="4A5666"/>
                </a:solidFill>
                <a:latin typeface="맑은 고딕"/>
                <a:ea typeface="맑은 고딕"/>
              </a:rPr>
              <a:t>Unknown 13→7은 분류 성능 지표가 아니라 현업 후보 검토 결과입니다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validation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Known real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168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7168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168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현업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168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Unknown candidate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5113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5113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5113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2026.09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113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GPU 배포 검증 예정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84048"/>
            <a:ext cx="7863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| 3개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778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라벨 부족 대응 | Multi-label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46304" cy="150876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2468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58767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822191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05655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5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19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E3D"/>
                </a:solidFill>
                <a:latin typeface="맑은 고딕"/>
                <a:ea typeface="맑은 고딕"/>
              </a:rPr>
              <a:t>Chip Multi-label
FCM-PM classification</a:t>
            </a:r>
          </a:p>
          <a:p>
            <a:pPr algn="l"/>
            <a:r>
              <a:rPr sz="1600">
                <a:solidFill>
                  <a:srgbClr val="556075"/>
                </a:solidFill>
                <a:latin typeface="맑은 고딕"/>
                <a:ea typeface="맑은 고딕"/>
              </a:rPr>
              <a:t>single-failure source에서 2-combo supervision을 구성한 synthetic validation 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187952"/>
            <a:ext cx="7863840" cy="7498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187952"/>
            <a:ext cx="82296" cy="7498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4187952"/>
            <a:ext cx="107899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6A0AD"/>
                </a:solidFill>
                <a:latin typeface="맑은 고딕"/>
                <a:ea typeface="맑은 고딕"/>
              </a:rPr>
              <a:t>Rationale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187952"/>
            <a:ext cx="6355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1A1F2E"/>
                </a:solidFill>
                <a:latin typeface="맑은 고딕"/>
                <a:ea typeface="맑은 고딕"/>
              </a:rPr>
              <a:t>실제 2-combo GT가 부족한 조건에서 single-failure source를 조합해 학습 신호와 평가 구조를 구성했습니다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1091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1091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501091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single-source</a:t>
            </a:r>
          </a:p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supervision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4243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74243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" y="57424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tail control</a:t>
            </a:r>
          </a:p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FAR 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13892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Key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513892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Synthetic PoC, 2-combo learning signal + negative-tail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541264"/>
            <a:ext cx="2834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Before → After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815584"/>
            <a:ext cx="361188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2219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Before  </a:t>
            </a:r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2-combo GT 부족, FAR tail 발생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5815584"/>
            <a:ext cx="361188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5815584"/>
            <a:ext cx="82296" cy="65836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6A0AD"/>
                </a:solidFill>
                <a:latin typeface="맑은 고딕"/>
                <a:ea typeface="맑은 고딕"/>
              </a:rPr>
              <a:t>After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FCM-PM + val-margin으로 tail 억제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415784" y="6007608"/>
            <a:ext cx="347472" cy="274320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6539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6539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2-combo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synthetic PoC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1715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FAR tail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negative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Chip multi-label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Single-failure source to 2-combo evaluation setting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3154680" cy="446227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91440" cy="44622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2651760" cy="4050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Problem</a:t>
            </a:r>
          </a:p>
          <a:p>
            <a:pPr algn="l"/>
            <a:r>
              <a:rPr sz="1380" b="1">
                <a:solidFill>
                  <a:srgbClr val="0F1E3D"/>
                </a:solidFill>
                <a:latin typeface="맑은 고딕"/>
                <a:ea typeface="맑은 고딕"/>
              </a:rPr>
              <a:t>real 2-combo GT 부족
limited supervision / validation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Source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single-failure source만 보유
직접적인 2-combo supervision 없음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Eval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3,850-chip benchmark
2-combo/negative tail 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664208"/>
            <a:ext cx="74066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41648" y="1664208"/>
            <a:ext cx="91440" cy="19019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810512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Source bank: single-failure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103120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train split 이후 train source 안에서만 synthetic combination을 생성합니다.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ip_eval_bank_boundary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414016"/>
            <a:ext cx="768096" cy="7680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1713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ip_eval_fork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414016"/>
            <a:ext cx="768096" cy="7680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7161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ip_eval_scratch_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414016"/>
            <a:ext cx="768096" cy="7680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609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ip_eval_scratch_rot_sele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2414016"/>
            <a:ext cx="768096" cy="7680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739128" y="3621024"/>
            <a:ext cx="1463040" cy="256032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3611880"/>
            <a:ext cx="2468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evaluation requires combo classes and negative 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3968496"/>
            <a:ext cx="74066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41648" y="3968496"/>
            <a:ext cx="91440" cy="2157984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4114800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Eval target: 3,850-chip controlled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4407408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single 4 + 2-combo 6 + Normal/Invalid/OOD negative tail.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ip_combo_bb_fork_sele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4773168"/>
            <a:ext cx="896112" cy="8961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25696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bb+fk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6712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ip_combo_bb_scratch_sel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4773168"/>
            <a:ext cx="896112" cy="8961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33288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bb+sc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04304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ip_combo_fork_scratch_rot_selec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4773168"/>
            <a:ext cx="896112" cy="8961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40880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fk+sr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1896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hip_eval_normal_selec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9912" y="4773168"/>
            <a:ext cx="896112" cy="8961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48472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19488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hip_eval_invalid_selec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7504" y="4773168"/>
            <a:ext cx="896112" cy="8961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656064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invalid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" y="5321808"/>
            <a:ext cx="264261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376672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Design implication: distribution gap requires probability modeling and reject logic.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FCM-PM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FCM-PM: coverage + loss masking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744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>
                <a:solidFill>
                  <a:srgbClr val="1A1F2E"/>
                </a:solidFill>
                <a:latin typeface="맑은 고딕"/>
                <a:ea typeface="맑은 고딕"/>
              </a:rPr>
              <a:t>2-combo GT가 부족한 조건에서 FCM은 failure coverage를 보존하고, Pair Mask는 합성 배경 loss를 분리해 FAR tail을 낮춥니다.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10744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>
                <a:solidFill>
                  <a:srgbClr val="6B7280"/>
                </a:solidFill>
                <a:latin typeface="맑은 고딕"/>
                <a:ea typeface="맑은 고딕"/>
              </a:rPr>
              <a:t>Mixup은 0~7 grade 의미를 흐리고, diffusion은 label·compute 부담이 큽니다. 원값을 보존하는 CutMix 계열을 채택했습니다. (자문: 연세대학교 인공지능학과 박은병 교수)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10512"/>
            <a:ext cx="107716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cm_pm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45" y="1920240"/>
            <a:ext cx="10155405" cy="18836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69551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9551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FCM mixed view 1  (A∪B)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4343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4343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FCM mixed view 2  (A∪B)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Normal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2-combo pos. prob 낮음
FAR 낮지만 recall 약함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05656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pos. prob 상승
FAR tail 동반 상승 가능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690104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82128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2128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FCM-PM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1">
                <a:solidFill>
                  <a:srgbClr val="0F1E3D"/>
                </a:solidFill>
                <a:latin typeface="맑은 고딕"/>
                <a:ea typeface="맑은 고딕"/>
              </a:rPr>
              <a:t>2-combo signal 유지
pseudo-background loss 차단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266944"/>
            <a:ext cx="10259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" y="5266944"/>
            <a:ext cx="91440" cy="694944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376672"/>
            <a:ext cx="142646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Formula + ablation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5321808"/>
            <a:ext cx="8412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Cambria Math"/>
                <a:ea typeface="Cambria Math"/>
              </a:rPr>
              <a:t>FCM mixed views: y_mixed = y_A ∪ y_B  (multi-label target)</a:t>
            </a:r>
          </a:p>
          <a:p>
            <a:pPr algn="l"/>
            <a:r>
              <a:rPr sz="1050" b="1">
                <a:solidFill>
                  <a:srgbClr val="0F1E3D"/>
                </a:solidFill>
                <a:latin typeface="Cambria Math"/>
                <a:ea typeface="Cambria Math"/>
              </a:rPr>
              <a:t>Pair Mask views: y_masked ∈ {y_A,y_B}; L_total = L_BCE(mixed)+w·L_BCE(masked)</a:t>
            </a:r>
          </a:p>
          <a:p>
            <a:pPr algn="l"/>
            <a:r>
              <a:rPr sz="1050" b="1">
                <a:solidFill>
                  <a:srgbClr val="0F1E3D"/>
                </a:solidFill>
                <a:latin typeface="Cambria Math"/>
                <a:ea typeface="Cambria Math"/>
              </a:rPr>
              <a:t>Pair Mask reduces synthetic-background FAR; final result is reported on the validation slide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selection + NB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val-margin selection and negative-tail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27632"/>
            <a:ext cx="52120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91440" cy="45262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val-margin checkpoint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4700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Consolas"/>
                <a:ea typeface="Consolas"/>
              </a:rPr>
              <a:t>val_margin = mean(p_positive) - max(p_negative)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532888"/>
            <a:ext cx="182880" cy="18288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2184" y="2500884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8024" y="2532888"/>
            <a:ext cx="182880" cy="182880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2500884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21608" y="2532888"/>
            <a:ext cx="182880" cy="182880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2500884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eval-F1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2728" y="3949843"/>
            <a:ext cx="146304" cy="430133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3896" y="4195633"/>
            <a:ext cx="146304" cy="184343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55064" y="4175151"/>
            <a:ext cx="146304" cy="204825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epoch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3847430"/>
            <a:ext cx="146304" cy="532546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7128" y="4103462"/>
            <a:ext cx="146304" cy="27651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68296" y="4072738"/>
            <a:ext cx="146304" cy="307238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7672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epoch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9192" y="3724535"/>
            <a:ext cx="146304" cy="655441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360" y="3980567"/>
            <a:ext cx="146304" cy="39940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81528" y="3929360"/>
            <a:ext cx="146304" cy="450616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60904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epoch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2424" y="3499226"/>
            <a:ext cx="146304" cy="88075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93592" y="3826947"/>
            <a:ext cx="146304" cy="55302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94760" y="3796224"/>
            <a:ext cx="146304" cy="583752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4136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epoch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5656" y="3642604"/>
            <a:ext cx="146304" cy="737372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3540192"/>
            <a:ext cx="146304" cy="83978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07992" y="3519709"/>
            <a:ext cx="146304" cy="860267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7368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epoch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79576" y="4379976"/>
            <a:ext cx="3730752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72384" y="2743200"/>
            <a:ext cx="7863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7A8596"/>
                </a:solidFill>
                <a:latin typeface="맑은 고딕"/>
                <a:ea typeface="맑은 고딕"/>
              </a:rPr>
              <a:t>val-F1 max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1064" y="2779776"/>
            <a:ext cx="877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F3A4F"/>
                </a:solidFill>
                <a:latin typeface="맑은 고딕"/>
                <a:ea typeface="맑은 고딕"/>
              </a:rPr>
              <a:t>margin 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017520"/>
            <a:ext cx="14996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dev series: 0.57 → 0.84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" y="50292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post-hoc check: correlation with held-out eval bit_F1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5212080"/>
            <a:ext cx="2212848" cy="603504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0120" y="5212080"/>
            <a:ext cx="64008" cy="603504"/>
          </a:xfrm>
          <a:prstGeom prst="rect">
            <a:avLst/>
          </a:prstGeom>
          <a:solidFill>
            <a:srgbClr val="7A8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" y="526694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val_f1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" y="5431536"/>
            <a:ext cx="11521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Spearman -0.10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76856" y="5385816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7A8596"/>
                </a:solidFill>
                <a:latin typeface="맑은 고딕"/>
                <a:ea typeface="맑은 고딕"/>
              </a:rPr>
              <a:t>weak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01568" y="5212080"/>
            <a:ext cx="2212848" cy="603504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01568" y="5212080"/>
            <a:ext cx="64008" cy="60350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5266944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val_margin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9584" y="5431536"/>
            <a:ext cx="11521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Spearman +0.56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8304" y="5385816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2F3A4F"/>
                </a:solidFill>
                <a:latin typeface="맑은 고딕"/>
                <a:ea typeface="맑은 고딕"/>
              </a:rPr>
              <a:t>selected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627632"/>
            <a:ext cx="52120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1627632"/>
            <a:ext cx="91440" cy="4526280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9672" y="1828800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NB reject: independent bit-likelihood profile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9672" y="2176272"/>
            <a:ext cx="4700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No 4D/GMM fitting; four output bits are checked independently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9672" y="2432304"/>
            <a:ext cx="4700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gray band = 99.7% range per bit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56248" y="2706624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9400" y="276148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known single bb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3054096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0296" y="3099816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77963" y="3067812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67792" y="3040380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651882" y="3058668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29400" y="336499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0296" y="341071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67179" y="3378708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40514" y="3351276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006681" y="3369564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367588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0296" y="372160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67179" y="368960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40514" y="3662172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015642" y="3680460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29400" y="398678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0296" y="403250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67179" y="400050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40514" y="3973068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997720" y="3991356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84264" y="4535424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39128" y="4562856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5976" y="4782312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4 bit profile match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65592" y="2706624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38744" y="276148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known 2-combo bb+sc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38744" y="3054096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49640" y="3099816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908084" y="3067812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97914" y="3040380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064081" y="3058668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38744" y="336499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49640" y="341071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6523" y="3378708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49858" y="3351276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624986" y="3369564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38744" y="367588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49640" y="372160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890162" y="3689604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79992" y="3662172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046159" y="3680460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38744" y="398678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49640" y="403250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576523" y="400050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49858" y="3973068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616025" y="3991356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293608" y="4535424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48472" y="4562856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75320" y="4782312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bit likelihoods align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774936" y="2706624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848088" y="276148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tail/OOD on bb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48088" y="3054096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158984" y="3099816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696651" y="3067812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886480" y="3040380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297058" y="3058668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848088" y="336499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8984" y="341071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85867" y="3378708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59202" y="3351276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494203" y="3369564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848088" y="367588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158984" y="372160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185867" y="368960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259202" y="3662172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476280" y="3680460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848088" y="398678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158984" y="403250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185867" y="400050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259202" y="3973068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458358" y="3991356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902952" y="4535424"/>
            <a:ext cx="1170432" cy="256032"/>
          </a:xfrm>
          <a:prstGeom prst="rect">
            <a:avLst/>
          </a:prstGeom>
          <a:solidFill>
            <a:srgbClr val="FAE8E6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957816" y="4562856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884664" y="4782312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known-profile mismatch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56248" y="5175504"/>
            <a:ext cx="4626864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665976" y="5248656"/>
            <a:ext cx="44074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Accept: four independent output bits match one known profile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665976" y="5413247"/>
            <a:ext cx="44074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tail/OOD is not learned as a class; reject by known-profile mismatch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37960" y="5742432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37960" y="5742432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665976" y="5779008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NB profile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65976" y="5925312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10 known classes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91272" y="5861304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2BA66B"/>
                </a:solidFill>
                <a:latin typeface="맑은 고딕"/>
                <a:ea typeface="맑은 고딕"/>
              </a:rPr>
              <a:t>4 single + 6 combo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979408" y="5742432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979408" y="5742432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107424" y="5779008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reject rule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107424" y="5925312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no profile passes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332720" y="5861304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Multi-label recipe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[controlled synthetic validation] 현업 single-failure 원천에서 생성한 평가셋입니다. 단일 대표 모델은 FCM-PM + val_margin selection입니다.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64208"/>
          <a:ext cx="7205472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92"/>
                <a:gridCol w="2787124"/>
                <a:gridCol w="734590"/>
                <a:gridCol w="648168"/>
                <a:gridCol w="734590"/>
                <a:gridCol w="626562"/>
                <a:gridCol w="1317946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bit_F1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single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2combo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FAR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Role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BCE + Label Smoothing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0.1093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0.1896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0.0668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99.47%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Sigmoid Focal Loss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0.7980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0.8724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0.7050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45.72%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loss trial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Asymmetric Loss (ASL)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0.6435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0.5379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0.7320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collapse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(random rectangle)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0.9566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0.9070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42.05%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signal cut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+ Pair Mask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0.9491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0.9728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24.62%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reduced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val_f1 selection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0.9652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0.9517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selection ablation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val_margin selection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0.9871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 single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main claim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vote_majority_bits Ensemble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0.9956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champion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cost 5x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Knowledge Distillation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0.9799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0.9638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1x candidate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91856" y="1664208"/>
            <a:ext cx="3730752" cy="31089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1664208"/>
            <a:ext cx="354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Negative-tail and deployment cost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1856" y="2066543"/>
          <a:ext cx="3730752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704"/>
                <a:gridCol w="481669"/>
                <a:gridCol w="542973"/>
                <a:gridCol w="805702"/>
                <a:gridCol w="80570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Candidate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NI-FAR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OOD-FAR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Cost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(L/T/P)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Interp.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1x / 1x / 1x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single model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Ensemble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5x / 1/5x / 5x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best F1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cost 5x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KD student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1x / 1x / 1x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deploy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candidate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991856" y="3931920"/>
            <a:ext cx="3730752" cy="144475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1856" y="3931920"/>
            <a:ext cx="91440" cy="14447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4096512"/>
            <a:ext cx="33101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Selected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4352544"/>
            <a:ext cx="331012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Representative setting</a:t>
            </a:r>
          </a:p>
          <a:p>
            <a:pPr algn="l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대표 claim은 1x cost single model</a:t>
            </a:r>
          </a:p>
          <a:p>
            <a:pPr algn="l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Ensemble은 upper-bound reference</a:t>
            </a:r>
          </a:p>
          <a:p>
            <a:pPr algn="l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KD는 single-student 배포 후보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84048"/>
            <a:ext cx="7863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| 3개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778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Episode generation | Binary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46304" cy="150876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2468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58767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822191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05655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5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19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  <a:p>
            <a:pPr algn="l"/>
            <a:r>
              <a:rPr sz="1600">
                <a:solidFill>
                  <a:srgbClr val="556075"/>
                </a:solidFill>
                <a:latin typeface="맑은 고딕"/>
                <a:ea typeface="맑은 고딕"/>
              </a:rPr>
              <a:t>episode generation과 binary validation으로 real abnormal label 부족을 보완한 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187952"/>
            <a:ext cx="7863840" cy="7498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187952"/>
            <a:ext cx="82296" cy="7498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4187952"/>
            <a:ext cx="107899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6A0AD"/>
                </a:solidFill>
                <a:latin typeface="맑은 고딕"/>
                <a:ea typeface="맑은 고딕"/>
              </a:rPr>
              <a:t>Rationale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187952"/>
            <a:ext cx="6355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1A1F2E"/>
                </a:solidFill>
                <a:latin typeface="맑은 고딕"/>
                <a:ea typeface="맑은 고딕"/>
              </a:rPr>
              <a:t>현장 trend 판정 기준을 episode 생성 규칙으로 옮기고, normal/abnormal binary validation으로 검증했습니다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1091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1091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501091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benchmark 확보</a:t>
            </a:r>
          </a:p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episode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4243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74243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" y="57424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binary 검증</a:t>
            </a:r>
          </a:p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validation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13892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Key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513892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Synthetic benchmark 기반 episode generation + binary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541264"/>
            <a:ext cx="2834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Before → After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815584"/>
            <a:ext cx="361188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2219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Before  </a:t>
            </a:r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real abnormal label 부족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5815584"/>
            <a:ext cx="361188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5815584"/>
            <a:ext cx="82296" cy="65836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6A0AD"/>
                </a:solidFill>
                <a:latin typeface="맑은 고딕"/>
                <a:ea typeface="맑은 고딕"/>
              </a:rPr>
              <a:t>After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episode benchmark 확보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415784" y="6007608"/>
            <a:ext cx="347472" cy="274320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6539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6539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Benchmark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episode generation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1715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binary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Trend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Episode generation and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53218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Core contribution — 판정 경험을 episode generation rule로 코드화하고, binary validation으로 검증했습니다.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58775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현장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514600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BBD / Overlay / CD 10년 trend 판정 경험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82112" y="3118104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00984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00984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374136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Episode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300984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Region 5종 + Noise 3종 + Anomaly 5종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82112" y="3904488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087368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87368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6052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Synthetic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087368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normal 3,500 + abnormal 3,500 = 7,000개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82112" y="4690872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73752"/>
            <a:ext cx="4983480" cy="621792"/>
          </a:xfrm>
          <a:prstGeom prst="rect">
            <a:avLst/>
          </a:prstGeom>
          <a:solidFill>
            <a:srgbClr val="E8ECF2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73752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946904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Binary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873752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F1 0.9967 / abnormal recall 0.9987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domain 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region/noise/anomaly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baseline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fleet-bound stats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952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Robust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F2E"/>
                </a:solidFill>
                <a:latin typeface="맑은 고딕"/>
                <a:ea typeface="맑은 고딕"/>
              </a:rPr>
              <a:t>shortcut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color/median/threshold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054096"/>
            <a:ext cx="516636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054096"/>
            <a:ext cx="5166360" cy="36576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3108960"/>
            <a:ext cx="4846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맑은 고딕"/>
                <a:ea typeface="맑은 고딕"/>
              </a:rPr>
              <a:t>Stabilization and shortcut-control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6480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6480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LR sweep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3e-5/3e-4 stable
1e-4/1e-3 collapse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368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Label smoothing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0.02 sweet spot
FN 4.6 -&gt; 0.8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6480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6480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Stochastic depth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0.05 regularization
FP 3.8 -&gt; 1.4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368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3368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Focal + EMA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gamma=2.0, EMA 0.95
hard-anomaly stability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6480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6480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Normal 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hard-normal 3,300
FP/FN balance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3368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3368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Color + median + 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color/smoothing check
val-F1 median, NT 0.9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episode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Baseline episodes and measurement-noise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4416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정상 trend는 region별 baseline 위에 episode density와 noise family를 분리해 샘플링합니다. anomaly injection은 다음 장에서 분리합니다.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1074420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7859816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(a) Normal baseline  -  sequential episodes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48256"/>
            <a:ext cx="785981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gray = fleet/reference     blue = sampled 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2340864"/>
            <a:ext cx="7530632" cy="2651760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" y="4777740"/>
            <a:ext cx="7219736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3856" y="2523744"/>
            <a:ext cx="13716" cy="2267712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596896"/>
            <a:ext cx="1422001" cy="2121408"/>
          </a:xfrm>
          <a:prstGeom prst="rect">
            <a:avLst/>
          </a:prstGeom>
          <a:solidFill>
            <a:srgbClr val="EAF0F8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Dense</a:t>
            </a:r>
          </a:p>
        </p:txBody>
      </p:sp>
      <p:sp>
        <p:nvSpPr>
          <p:cNvPr id="14" name="Oval 13"/>
          <p:cNvSpPr/>
          <p:nvPr/>
        </p:nvSpPr>
        <p:spPr>
          <a:xfrm>
            <a:off x="1658525" y="31423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75808" y="30118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29036" y="34999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19402" y="3735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93246" y="361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34527" y="30422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86970" y="42673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03346" y="32628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45827" y="44685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81621" y="3551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90818" y="2968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40558" y="33733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9438" y="3087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38942" y="42495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75965" y="3859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0472" y="35110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44168" y="2995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1446" y="32340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13397" y="36029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46169" y="3865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23538" y="3390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58800" y="40546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56806" y="3847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15404" y="43477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75964" y="337052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95819" y="30878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778811" y="41513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39299" y="37050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95429" y="40033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20773" y="38449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62257" y="3413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32399" y="38804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985183" y="3650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16957" y="44634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50218" y="39966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22808" y="40587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70953" y="45440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93939" y="33649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737565" y="40041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74196" y="36596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59791" y="30862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20620" y="4169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16654" y="33346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740819" y="39168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56235" y="35227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37208" y="39280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271572" y="390993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01383" y="349112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700946" y="39287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443130" y="32443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474741" y="331998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545517" y="35561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986381" y="3348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61458" y="34945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713935" y="363210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437389" y="37479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95142" y="36799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094279" y="315387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371016" y="38315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340013" y="384822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742590" y="34758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384680" y="369553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333518" y="31663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515068" y="325497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677753" y="315254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256675" y="32446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382112" y="34428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87984" y="39195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017291" y="32421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568963" y="34277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07628" y="32181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308321" y="40304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33803" y="355509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362807" y="31988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680953" y="3350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283438" y="325416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285004" y="399114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910960" y="32403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929442" y="31287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910777" y="40168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326150" y="37533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579939" y="34457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463371" y="38240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916332" y="38306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664880" y="33116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261946" y="402282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312896" y="385588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270399" y="379408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537343" y="35866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696971" y="31305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291003" y="33642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77534" y="374988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441623" y="35209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417468" y="4025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439747" y="34438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529565" y="33152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500128" y="32942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029679" y="39438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297787" y="35510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065504" y="38498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361436" y="37200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383709" y="383369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185900" y="354967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77596" y="38400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668415" y="38509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460386" y="34729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753752" y="39872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154499" y="32621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413801" y="32445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377607" y="38562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437513" y="38749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471103" y="371698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690583" y="3615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18690" y="311676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459436" y="37098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908883" y="39749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10721" y="2596896"/>
            <a:ext cx="1422001" cy="2121408"/>
          </a:xfrm>
          <a:prstGeom prst="rect">
            <a:avLst/>
          </a:prstGeom>
          <a:solidFill>
            <a:srgbClr val="FBF4E5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629009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Sparse</a:t>
            </a:r>
          </a:p>
        </p:txBody>
      </p:sp>
      <p:sp>
        <p:nvSpPr>
          <p:cNvPr id="132" name="Oval 131"/>
          <p:cNvSpPr/>
          <p:nvPr/>
        </p:nvSpPr>
        <p:spPr>
          <a:xfrm>
            <a:off x="3220823" y="43420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721337" y="32425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988678" y="33788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974269" y="38672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998284" y="3588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834624" y="44057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18735" y="36538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411590" y="43962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204008" y="44186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307366" y="37764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335249" y="29224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228880" y="31960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672430" y="422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887276" y="36793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592540" y="38174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083268" y="37539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375989" y="41965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802777" y="38237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984417" y="33521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652585" y="37362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384010" y="41561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831472" y="36289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448813" y="37326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320776" y="40441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244470" y="3778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277243" y="44581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559404" y="435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869350" y="33233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381184" y="44611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738999" y="3119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822566" y="36271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59960" y="32918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760693" y="40054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67478" y="43841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864441" y="40831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509701" y="31292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793641" y="45015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947541" y="447649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175469" y="3702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930190" y="42766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873395" y="36094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325169" y="345569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920938" y="360507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573219" y="34528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364922" y="366715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700792" y="361167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451508" y="37037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758051" y="394444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655264" y="393762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808221" y="35781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727441" y="38395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3013502" y="35088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201611" y="39069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693201" y="35745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863471" y="391088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385423" y="37995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789241" y="34721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531156" y="365944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68116" y="39206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464534" y="38510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782154" y="38788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760940" y="388217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240667" y="36155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363700" y="391470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010297" y="35086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331298" y="35642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032722" y="2596896"/>
            <a:ext cx="1422001" cy="2121408"/>
          </a:xfrm>
          <a:prstGeom prst="rect">
            <a:avLst/>
          </a:prstGeom>
          <a:solidFill>
            <a:srgbClr val="F7F0E6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051010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Very sparse</a:t>
            </a:r>
          </a:p>
        </p:txBody>
      </p:sp>
      <p:sp>
        <p:nvSpPr>
          <p:cNvPr id="200" name="Oval 199"/>
          <p:cNvSpPr/>
          <p:nvPr/>
        </p:nvSpPr>
        <p:spPr>
          <a:xfrm>
            <a:off x="4229041" y="31600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153684" y="32271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487422" y="33989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058304" y="33738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727376" y="31873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532083" y="29215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408911" y="29168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024603" y="38083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331104" y="36814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281736" y="3068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134108" y="36105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720887" y="42803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590873" y="37345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966765" y="4526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526602" y="42764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990982" y="39497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605686" y="34697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158798" y="3107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179635" y="41243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415475" y="316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197192" y="4291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199957" y="40072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449076" y="3294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463268" y="3655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290379" y="36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425233" y="449194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330187" y="3801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401254" y="44984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484304" y="34847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090778" y="35264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694916" y="37280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345804" y="373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095730" y="333096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4203913" y="35562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4142569" y="29287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477538" y="3278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836441" y="377201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5046877" y="39856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002805" y="43543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586319" y="3434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345630" y="314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013218" y="39617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4154646" y="36839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5205612" y="36134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009719" y="36761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273006" y="35782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725364" y="36838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097480" y="36809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824110" y="37035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946577" y="36358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385312" y="3411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265306" y="352290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230392" y="36841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454723" y="2596896"/>
            <a:ext cx="1422001" cy="2121408"/>
          </a:xfrm>
          <a:prstGeom prst="rect">
            <a:avLst/>
          </a:prstGeom>
          <a:solidFill>
            <a:srgbClr val="F2F4F7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473011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Thin</a:t>
            </a:r>
          </a:p>
        </p:txBody>
      </p:sp>
      <p:sp>
        <p:nvSpPr>
          <p:cNvPr id="255" name="Oval 254"/>
          <p:cNvSpPr/>
          <p:nvPr/>
        </p:nvSpPr>
        <p:spPr>
          <a:xfrm>
            <a:off x="6223927" y="39360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6310291" y="40240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6135607" y="28968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6529036" y="41366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153054" y="378201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6352482" y="30012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6451334" y="33110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5606391" y="33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441826" y="32328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455213" y="45151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6141544" y="35279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122487" y="40291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6489837" y="3918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331386" y="30202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699485" y="33139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6459536" y="33979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6235707" y="29120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588801" y="33386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6368686" y="40432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6373414" y="3375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170359" y="36646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106323" y="30885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6651459" y="32229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6759208" y="4449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533746" y="36551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6557357" y="45024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084779" y="33384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779104" y="44649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80216" y="38590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692234" y="37634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726823" y="31120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6557764" y="37379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6642783" y="4061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806591" y="43853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131584" y="29326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515996" y="37096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6086449" y="33938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5690915" y="3463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5914635" y="42896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513637" y="41407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6581867" y="3091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693220" y="40779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39539" y="36261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983617" y="36611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6760013" y="37277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69351" y="3673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5863339" y="354413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5648419" y="38110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5876310" y="384531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6876724" y="2596896"/>
            <a:ext cx="1422004" cy="2121408"/>
          </a:xfrm>
          <a:prstGeom prst="rect">
            <a:avLst/>
          </a:prstGeom>
          <a:solidFill>
            <a:srgbClr val="FBECEA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895012" y="2615184"/>
            <a:ext cx="1385428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06" name="Oval 305"/>
          <p:cNvSpPr/>
          <p:nvPr/>
        </p:nvSpPr>
        <p:spPr>
          <a:xfrm>
            <a:off x="7251480" y="33335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585252" y="32072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7409698" y="44825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8061475" y="42426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738250" y="44114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8133467" y="38053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851375" y="29736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867679" y="36416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7893595" y="39638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298532" y="29728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8115706" y="31032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7535782" y="3463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7313284" y="4121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8178878" y="33243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770270" y="33919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7644392" y="35476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146883" y="3160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7198599" y="439903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7567536" y="32575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8089532" y="45496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507431" y="31236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178870" y="30423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369649" y="30429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38470" y="3321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660078" y="4367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889755" y="35782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7461408" y="3763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414184" y="34541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012586" y="33531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8167893" y="31008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575598" y="39391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8034169" y="32507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279158" y="3304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443387" y="3633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8150362" y="4303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046964" y="2927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974550" y="40721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8076057" y="36789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7682478" y="2891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432880" y="44337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7986621" y="43150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8173704" y="3304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876724" y="3566160"/>
            <a:ext cx="142200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CC3328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8883944" y="1737360"/>
            <a:ext cx="24820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(b) Measurement noise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883944" y="2048256"/>
            <a:ext cx="2482048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gray = fleet     color = sampled εₜ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883944" y="2304288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975384" y="2331720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Gaussian iid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0373172" y="2331720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6B7280"/>
                </a:solidFill>
                <a:latin typeface="Cambria Math"/>
                <a:ea typeface="Cambria Math"/>
              </a:rPr>
              <a:t>εₜ ~ N(0, σ²)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9085112" y="3031236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085112" y="2615184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295437" y="2723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0155023" y="28980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1026682" y="29111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0414950" y="29253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0019757" y="28549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150897" y="29311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9552345" y="29765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411119" y="27731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9334787" y="2756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391955" y="29034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9301856" y="26961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159330" y="28652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9875751" y="27466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0318686" y="26763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9695730" y="2824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1062971" y="28856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0906648" y="28297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9556903" y="27544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1066453" y="29054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9707951" y="26800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104994" y="28955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9942165" y="275781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0456559" y="29782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9540302" y="26841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9771702" y="28117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0488195" y="27382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726317" y="29168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0118654" y="27406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1085679" y="27757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774026" y="27490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9529190" y="2923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682028" y="29870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116363" y="28783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9231903" y="282653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9347442" y="281428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9462982" y="274757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9578522" y="29248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9694061" y="299253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9809601" y="278036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9925140" y="276551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040680" y="277898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0156219" y="26319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0271759" y="281180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0387298" y="280797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0502838" y="275503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0618378" y="279896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0733917" y="269745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0849457" y="292493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964996" y="28573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1080536" y="3023846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8883944" y="3255264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8975384" y="3282696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Equip. correlated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0373172" y="3282696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6B7280"/>
                </a:solidFill>
                <a:latin typeface="Cambria Math"/>
                <a:ea typeface="Cambria Math"/>
              </a:rPr>
              <a:t>εₜ = ρεₜ₋₁ + ηₜ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9085112" y="3982212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9085112" y="3566160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1006103" y="37325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9454464" y="39327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0620759" y="36344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0450475" y="3748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846223" y="37333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420667" y="3624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9650569" y="3739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1055848" y="3664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74059" y="3692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9810339" y="38950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0778192" y="37666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9171094" y="37801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9843791" y="39273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9470091" y="37441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0934140" y="36338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9923002" y="3891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0663101" y="36372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9141140" y="36445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10982147" y="3708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0622794" y="3920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9773819" y="37137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11060371" y="38275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9613896" y="3860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9726847" y="37148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9076496" y="38732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0974625" y="38331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11030341" y="3631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9555027" y="3780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11058474" y="39387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9872492" y="37067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9962800" y="3786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0998832" y="3684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110586" y="3902912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214572" y="388699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9318558" y="383937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9422543" y="3825071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9526529" y="3788003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9630514" y="375604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9734500" y="372398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838486" y="368394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9942471" y="3685430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10046457" y="3721896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0150442" y="37481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0254428" y="3773621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0358414" y="3817999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0462399" y="38484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0566385" y="384209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0670370" y="382023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0774356" y="380255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0878342" y="374642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0982327" y="371958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11086313" y="372098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8883944" y="4206240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8975384" y="4233672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Laplacian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10373172" y="4233672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6B7280"/>
                </a:solidFill>
                <a:latin typeface="Cambria Math"/>
                <a:ea typeface="Cambria Math"/>
              </a:rPr>
              <a:t>εₜ ~ Laplace(0, b)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9085112" y="4933188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9085112" y="4517136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9619550" y="46026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9269184" y="47393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10544772" y="4722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9555713" y="47124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0358714" y="47973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0624229" y="4854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450466" y="4614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0817422" y="46718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0247608" y="46979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0603620" y="46405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9583234" y="46558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9387519" y="48666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0271310" y="468256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9892363" y="49024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0123741" y="46512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0749981" y="4790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1129555" y="4608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0056022" y="4845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0816768" y="48766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9152594" y="46717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9316589" y="4637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1092140" y="47673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1003146" y="46977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0869948" y="4723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9609270" y="48315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1035440" y="46097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0308467" y="4779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9521292" y="46965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9362660" y="46421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9598800" y="47726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0423882" y="46420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9092319" y="46828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9116363" y="473729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9231903" y="474527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9347442" y="473671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9462982" y="4713103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9578522" y="4720339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9694061" y="476226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9809601" y="4718392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9925140" y="472502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0040680" y="4756647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0156219" y="470910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0271759" y="473734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10387298" y="473882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10502838" y="4556544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0618378" y="4894855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0733917" y="458129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10849457" y="4870100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10964996" y="4544166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11080536" y="491135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713232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713232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804672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Episode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04672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Cambria Math"/>
                <a:ea typeface="Cambria Math"/>
              </a:rPr>
              <a:t>K ~ U(Kmin,Kmax),  L_k ~ U(Lmin,Lmax)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41248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구간 개수와 길이를 먼저 결정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3511296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3511296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3602736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Density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3602736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Cambria Math"/>
                <a:ea typeface="Cambria Math"/>
              </a:rPr>
              <a:t>m_k ~ Cat(dense,sparse,very_sparse,thin,missing)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3639312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구간별 관측 point 수를 결정</a:t>
            </a:r>
          </a:p>
        </p:txBody>
      </p:sp>
      <p:sp>
        <p:nvSpPr>
          <p:cNvPr id="528" name="Rectangle 527"/>
          <p:cNvSpPr/>
          <p:nvPr/>
        </p:nvSpPr>
        <p:spPr>
          <a:xfrm>
            <a:off x="6309360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6309360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6400800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Noise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6400800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Cambria Math"/>
                <a:ea typeface="Cambria Math"/>
              </a:rPr>
              <a:t>ε_t ∈ {N(0,σ²), AR(1), Laplace(0,b)}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6437376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측정 산포 family를 episode별 부여</a:t>
            </a:r>
          </a:p>
        </p:txBody>
      </p:sp>
      <p:sp>
        <p:nvSpPr>
          <p:cNvPr id="533" name="Rectangle 532"/>
          <p:cNvSpPr/>
          <p:nvPr/>
        </p:nvSpPr>
        <p:spPr>
          <a:xfrm>
            <a:off x="9107424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9107424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9198864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9198864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Cambria Math"/>
                <a:ea typeface="Cambria Math"/>
              </a:rPr>
              <a:t>y_t = μ_region(t) + ε_t  if active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9235440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1A1F2E"/>
                </a:solidFill>
                <a:latin typeface="맑은 고딕"/>
                <a:ea typeface="맑은 고딕"/>
              </a:rPr>
              <a:t>missing 구간 제외 후 normal trend 생성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binary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Anomaly injection rules and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20">
                <a:solidFill>
                  <a:srgbClr val="1A1F2E"/>
                </a:solidFill>
                <a:latin typeface="맑은 고딕"/>
                <a:ea typeface="맑은 고딕"/>
              </a:rPr>
              <a:t>Normal baseline에 5가지 anomaly injection rule을 더해 normal/abnormal binary validation을 수행했습니다.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_mean_shift_view.png"/>
          <p:cNvPicPr>
            <a:picLocks noChangeAspect="1"/>
          </p:cNvPicPr>
          <p:nvPr/>
        </p:nvPicPr>
        <p:blipFill>
          <a:blip r:embed="rId2"/>
          <a:srcRect t="18971" b="18971"/>
          <a:stretch>
            <a:fillRect/>
          </a:stretch>
        </p:blipFill>
        <p:spPr>
          <a:xfrm>
            <a:off x="1106424" y="1755648"/>
            <a:ext cx="3136392" cy="1627632"/>
          </a:xfrm>
          <a:prstGeom prst="rect">
            <a:avLst/>
          </a:prstGeom>
          <a:effectLst/>
        </p:spPr>
      </p:pic>
      <p:sp>
        <p:nvSpPr>
          <p:cNvPr id="8" name="Rectangle 7"/>
          <p:cNvSpPr/>
          <p:nvPr/>
        </p:nvSpPr>
        <p:spPr>
          <a:xfrm>
            <a:off x="1161288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Mean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_standard_deviation_view.png"/>
          <p:cNvPicPr>
            <a:picLocks noChangeAspect="1"/>
          </p:cNvPicPr>
          <p:nvPr/>
        </p:nvPicPr>
        <p:blipFill>
          <a:blip r:embed="rId3"/>
          <a:srcRect t="18971" b="18971"/>
          <a:stretch>
            <a:fillRect/>
          </a:stretch>
        </p:blipFill>
        <p:spPr>
          <a:xfrm>
            <a:off x="4517136" y="1755648"/>
            <a:ext cx="3136392" cy="1627632"/>
          </a:xfrm>
          <a:prstGeom prst="rect">
            <a:avLst/>
          </a:prstGeom>
          <a:effectLst/>
        </p:spPr>
      </p:pic>
      <p:sp>
        <p:nvSpPr>
          <p:cNvPr id="12" name="Rectangle 11"/>
          <p:cNvSpPr/>
          <p:nvPr/>
        </p:nvSpPr>
        <p:spPr>
          <a:xfrm>
            <a:off x="4572000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Std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2984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_spike_view.png"/>
          <p:cNvPicPr>
            <a:picLocks noChangeAspect="1"/>
          </p:cNvPicPr>
          <p:nvPr/>
        </p:nvPicPr>
        <p:blipFill>
          <a:blip r:embed="rId4"/>
          <a:srcRect t="18971" b="18971"/>
          <a:stretch>
            <a:fillRect/>
          </a:stretch>
        </p:blipFill>
        <p:spPr>
          <a:xfrm>
            <a:off x="7927848" y="1755648"/>
            <a:ext cx="3136392" cy="1627632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7982712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Spike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end_drift_view.png"/>
          <p:cNvPicPr>
            <a:picLocks noChangeAspect="1"/>
          </p:cNvPicPr>
          <p:nvPr/>
        </p:nvPicPr>
        <p:blipFill>
          <a:blip r:embed="rId5"/>
          <a:srcRect t="18971" b="18971"/>
          <a:stretch>
            <a:fillRect/>
          </a:stretch>
        </p:blipFill>
        <p:spPr>
          <a:xfrm>
            <a:off x="1106424" y="3621024"/>
            <a:ext cx="3136392" cy="1627632"/>
          </a:xfrm>
          <a:prstGeom prst="rect">
            <a:avLst/>
          </a:prstGeom>
          <a:effectLst/>
        </p:spPr>
      </p:pic>
      <p:sp>
        <p:nvSpPr>
          <p:cNvPr id="20" name="Rectangle 19"/>
          <p:cNvSpPr/>
          <p:nvPr/>
        </p:nvSpPr>
        <p:spPr>
          <a:xfrm>
            <a:off x="1161288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Drift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rend_context_view.png"/>
          <p:cNvPicPr>
            <a:picLocks noChangeAspect="1"/>
          </p:cNvPicPr>
          <p:nvPr/>
        </p:nvPicPr>
        <p:blipFill>
          <a:blip r:embed="rId6"/>
          <a:srcRect t="18971" b="18971"/>
          <a:stretch>
            <a:fillRect/>
          </a:stretch>
        </p:blipFill>
        <p:spPr>
          <a:xfrm>
            <a:off x="4517136" y="3621024"/>
            <a:ext cx="3136392" cy="1627632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4572000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E3D"/>
                </a:solidFill>
                <a:latin typeface="맑은 고딕"/>
                <a:ea typeface="맑은 고딕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2984" y="3566160"/>
            <a:ext cx="3246120" cy="173736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72984" y="3566160"/>
            <a:ext cx="91440" cy="173736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712464"/>
            <a:ext cx="2862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Injection equations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005072"/>
            <a:ext cx="2770632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mean:  y_t = x_t + δ</a:t>
            </a:r>
          </a:p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scale: y_t = μ + A(x_t - μ)</a:t>
            </a:r>
          </a:p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spike: y_t = x_t + Σ A_i 1(t=t_i)</a:t>
            </a:r>
          </a:p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drift: y_t = x_t + r(t-s)</a:t>
            </a:r>
          </a:p>
          <a:p>
            <a:pPr algn="l"/>
            <a:r>
              <a:rPr sz="1050">
                <a:solidFill>
                  <a:srgbClr val="1A1F2E"/>
                </a:solidFill>
                <a:latin typeface="Consolas"/>
                <a:ea typeface="Consolas"/>
              </a:rPr>
              <a:t>context: fleet/reference-relative shift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21808"/>
            <a:ext cx="10561320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Test 1,500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normal 750 / abnormal 750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8376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F1 0.9967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8376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TN746 / FP4 / FN1 / TP749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7488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Recall 0.9987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abnormal class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9752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2904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5-seed best 0.9987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TN748 / FP2 / FN0 / TP750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8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threshold 0.9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p(normal) ≥ 0.9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P3 | robustness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Robustness and input sensitivity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입력 표현·checkpoint 선택 민감도 확인 장입니다. main claim은 binary-F1 0.9967입니다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7904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Validation option ablation — binary 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4060" y="3443370"/>
            <a:ext cx="713232" cy="113646"/>
          </a:xfrm>
          <a:prstGeom prst="rect">
            <a:avLst/>
          </a:prstGeom>
          <a:solidFill>
            <a:srgbClr val="AE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8" y="3205626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Main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6996" y="3329723"/>
            <a:ext cx="713232" cy="227293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7144" y="3091979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7144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Base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7144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7144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89932" y="2875135"/>
            <a:ext cx="713232" cy="681881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0080" y="2637391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5-seed best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080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80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64208" y="3557016"/>
            <a:ext cx="4178808" cy="0"/>
          </a:xfrm>
          <a:prstGeom prst="line">
            <a:avLst/>
          </a:prstGeom>
          <a:ln w="1397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55080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5-seed robustness —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9944" y="2944368"/>
            <a:ext cx="1319784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072384"/>
            <a:ext cx="117348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Mean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3328416"/>
            <a:ext cx="1173480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맑은 고딕"/>
                <a:ea typeface="맑은 고딕"/>
              </a:rPr>
              <a:t>main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703320"/>
            <a:ext cx="11734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not best seed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39456" y="2944368"/>
            <a:ext cx="1319784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2608" y="3072384"/>
            <a:ext cx="117348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Best seed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12608" y="3328416"/>
            <a:ext cx="1173480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맑은 고딕"/>
                <a:ea typeface="맑은 고딕"/>
              </a:rPr>
              <a:t>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3703320"/>
            <a:ext cx="11734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not main claim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68968" y="2944368"/>
            <a:ext cx="1319784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2120" y="3072384"/>
            <a:ext cx="117348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Test split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2120" y="3328416"/>
            <a:ext cx="1173480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F1E3D"/>
                </a:solidFill>
                <a:latin typeface="맑은 고딕"/>
                <a:ea typeface="맑은 고딕"/>
              </a:rPr>
              <a:t>1,500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2120" y="3703320"/>
            <a:ext cx="11734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750/750 split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9344" y="4489704"/>
            <a:ext cx="42885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Smoothing — 후속 3-epoch median best 선택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9344" y="4727448"/>
            <a:ext cx="109728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val F1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929384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49771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06605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63438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0272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771057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339392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929384" y="5471159"/>
            <a:ext cx="284167" cy="12409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213551" y="5388428"/>
            <a:ext cx="284167" cy="8273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497718" y="5326380"/>
            <a:ext cx="284168" cy="6204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1886" y="4954088"/>
            <a:ext cx="284167" cy="37229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066053" y="4954088"/>
            <a:ext cx="284167" cy="49638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50220" y="5305697"/>
            <a:ext cx="284168" cy="144780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634388" y="5243648"/>
            <a:ext cx="284167" cy="6204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918555" y="5202282"/>
            <a:ext cx="284168" cy="41366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202723" y="5160917"/>
            <a:ext cx="284167" cy="41365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486890" y="5150575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771057" y="5140234"/>
            <a:ext cx="284168" cy="1034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055225" y="5129892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339392" y="5129892"/>
            <a:ext cx="284168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929384" y="5388428"/>
            <a:ext cx="284167" cy="8273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13551" y="5326380"/>
            <a:ext cx="284167" cy="62048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497718" y="5326380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781886" y="5305697"/>
            <a:ext cx="284167" cy="20683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066053" y="5305697"/>
            <a:ext cx="284167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350220" y="5243648"/>
            <a:ext cx="284168" cy="62049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634388" y="5202282"/>
            <a:ext cx="284167" cy="41366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918555" y="5160917"/>
            <a:ext cx="284168" cy="41365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202723" y="5150575"/>
            <a:ext cx="284167" cy="10342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486890" y="5140234"/>
            <a:ext cx="284167" cy="1034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771057" y="5140234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3015761" y="4903796"/>
            <a:ext cx="100584" cy="100584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iamond 73"/>
          <p:cNvSpPr/>
          <p:nvPr/>
        </p:nvSpPr>
        <p:spPr>
          <a:xfrm>
            <a:off x="4702477" y="5071654"/>
            <a:ext cx="137160" cy="137160"/>
          </a:xfrm>
          <a:prstGeom prst="diamond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929384" y="5760720"/>
            <a:ext cx="3694176" cy="0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929384" y="4855464"/>
            <a:ext cx="0" cy="90525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929384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28216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49771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29655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06605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86488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63438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43322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20272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00155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771057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569889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339392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138224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00784" y="5934456"/>
            <a:ext cx="4151376" cy="1280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epoch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09344" y="6067044"/>
            <a:ext cx="4288536" cy="1554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CC3328"/>
                </a:solidFill>
                <a:latin typeface="맑은 고딕"/>
                <a:ea typeface="맑은 고딕"/>
              </a:rPr>
              <a:t>● single-epoch spike    </a:t>
            </a:r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◆ median best → test 0.9987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55080" y="4480560"/>
            <a:ext cx="428853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Rendering sensitivity check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55080" y="4718304"/>
            <a:ext cx="42885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80" b="1">
                <a:solidFill>
                  <a:srgbClr val="0F1E3D"/>
                </a:solidFill>
                <a:latin typeface="맑은 고딕"/>
                <a:ea typeface="맑은 고딕"/>
              </a:rPr>
              <a:t>same train/val/test color policy; label-independent</a:t>
            </a:r>
          </a:p>
        </p:txBody>
      </p:sp>
      <p:pic>
        <p:nvPicPr>
          <p:cNvPr id="95" name="Picture 94" descr="p3r_colo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0" y="4965192"/>
            <a:ext cx="996696" cy="996696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715518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Before (파랑)</a:t>
            </a:r>
          </a:p>
        </p:txBody>
      </p:sp>
      <p:pic>
        <p:nvPicPr>
          <p:cNvPr id="97" name="Picture 96" descr="p3r_color_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0" y="4965192"/>
            <a:ext cx="996696" cy="996696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57250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After (빨강)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로드맵 | 완료 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완료 시기 및 현장 적용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603504"/>
            <a:ext cx="1325880" cy="402336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완료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4120" y="603504"/>
            <a:ext cx="1325880" cy="402336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6B7280"/>
                </a:solidFill>
                <a:latin typeface="맑은 고딕"/>
                <a:ea typeface="맑은 고딕"/>
              </a:rPr>
              <a:t>예정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730752"/>
            <a:ext cx="9902952" cy="381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157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2024.10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착수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파이프라인과 viewer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216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728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8059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59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203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2025.03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P2 모델 개발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FCM-PM, val-margin 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275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787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6118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118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262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2025.05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viewer 양산 개시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DRAM 전제품, 일 2만 wafer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334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3846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177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177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321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2026.01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P3 Trend anomaly PoC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episode generation, binary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393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1905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22360" y="2084831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22360" y="2084831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380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2026.09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P1/P2 모델 배포 검증</a:t>
            </a:r>
          </a:p>
          <a:p>
            <a:pPr algn="ctr"/>
            <a:r>
              <a:rPr sz="1050">
                <a:solidFill>
                  <a:srgbClr val="737D8C"/>
                </a:solidFill>
                <a:latin typeface="맑은 고딕"/>
                <a:ea typeface="맑은 고딕"/>
              </a:rPr>
              <a:t>GPU 할당 후 양산 적용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3452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9964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00032" y="4206240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0032" y="4206240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2026.12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P3 Trend anomaly 현업 검증</a:t>
            </a:r>
          </a:p>
          <a:p>
            <a:pPr algn="ctr"/>
            <a:r>
              <a:rPr sz="1050">
                <a:solidFill>
                  <a:srgbClr val="737D8C"/>
                </a:solidFill>
                <a:latin typeface="맑은 고딕"/>
                <a:ea typeface="맑은 고딕"/>
              </a:rPr>
              <a:t>real trend 기준 검증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96A0AD"/>
                </a:solidFill>
                <a:latin typeface="맑은 고딕"/>
                <a:ea typeface="맑은 고딕"/>
              </a:rPr>
              <a:t>● 완료 / 진행 중</a:t>
            </a:r>
            <a:r>
              <a:rPr sz="1050" b="1">
                <a:solidFill>
                  <a:srgbClr val="6B7280"/>
                </a:solidFill>
                <a:latin typeface="맑은 고딕"/>
                <a:ea typeface="맑은 고딕"/>
              </a:rPr>
              <a:t>       ○ 예정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989320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P1/P2=2026.09 GPU 배포 검증 / P3=2026.12 현업 검증 완료 / 향후=현업 확대 적용, chip classifier 대체, image+measure-value multimodal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100584" cy="2560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결론 | AI Specialist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" cy="76809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06070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제조품질 데이터를 운영형 AI 자산으로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94560"/>
            <a:ext cx="10424160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8000"/>
              </a:lnSpc>
              <a:spcAft>
                <a:spcPts val="1100"/>
              </a:spcAft>
            </a:pPr>
            <a:r>
              <a:rPr sz="15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560" b="1">
                <a:solidFill>
                  <a:srgbClr val="0F1E3D"/>
                </a:solidFill>
                <a:latin typeface="맑은 고딕"/>
                <a:ea typeface="맑은 고딕"/>
              </a:rPr>
              <a:t>P1</a:t>
            </a:r>
            <a:r>
              <a:rPr sz="1560">
                <a:solidFill>
                  <a:srgbClr val="1A1F2E"/>
                </a:solidFill>
                <a:latin typeface="맑은 고딕"/>
                <a:ea typeface="맑은 고딕"/>
              </a:rPr>
              <a:t> — 좌표 보존 Failbit Map과 viewer를 운영 자산으로 만들고, Known 및 Unknown 검토 flow까지 연결했습니다</a:t>
            </a:r>
          </a:p>
          <a:p>
            <a:pPr marL="274320" indent="-274320">
              <a:lnSpc>
                <a:spcPct val="108000"/>
              </a:lnSpc>
              <a:spcAft>
                <a:spcPts val="1100"/>
              </a:spcAft>
            </a:pPr>
            <a:r>
              <a:rPr sz="15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560" b="1">
                <a:solidFill>
                  <a:srgbClr val="0F1E3D"/>
                </a:solidFill>
                <a:latin typeface="맑은 고딕"/>
                <a:ea typeface="맑은 고딕"/>
              </a:rPr>
              <a:t>P2/P3</a:t>
            </a:r>
            <a:r>
              <a:rPr sz="1560">
                <a:solidFill>
                  <a:srgbClr val="1A1F2E"/>
                </a:solidFill>
                <a:latin typeface="맑은 고딕"/>
                <a:ea typeface="맑은 고딕"/>
              </a:rPr>
              <a:t> — 2-combo GT와 real abnormal label 부족을 synthetic validation 구조로 보완했습니다</a:t>
            </a:r>
          </a:p>
          <a:p>
            <a:pPr marL="274320" indent="-274320">
              <a:lnSpc>
                <a:spcPct val="108000"/>
              </a:lnSpc>
              <a:spcAft>
                <a:spcPts val="1100"/>
              </a:spcAft>
            </a:pPr>
            <a:r>
              <a:rPr sz="156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560" b="1">
                <a:solidFill>
                  <a:srgbClr val="0F1E3D"/>
                </a:solidFill>
                <a:latin typeface="맑은 고딕"/>
                <a:ea typeface="맑은 고딕"/>
              </a:rPr>
              <a:t>핵심</a:t>
            </a:r>
            <a:r>
              <a:rPr sz="1560">
                <a:solidFill>
                  <a:srgbClr val="1A1F2E"/>
                </a:solidFill>
                <a:latin typeface="맑은 고딕"/>
                <a:ea typeface="맑은 고딕"/>
              </a:rPr>
              <a:t> — 데이터 생성 → 모델 → viewer → human review → label/retrain으로 이어지는 제조품질 AI 개발 체계를 구축했습니다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4590288"/>
            <a:ext cx="2400300" cy="1645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4590288"/>
            <a:ext cx="2400300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681728"/>
            <a:ext cx="22174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300" b="1">
                <a:solidFill>
                  <a:srgbClr val="0F1E3D"/>
                </a:solidFill>
                <a:latin typeface="맑은 고딕"/>
                <a:ea typeface="맑은 고딕"/>
              </a:rPr>
              <a:t>일 2만</a:t>
            </a:r>
          </a:p>
          <a:p>
            <a:pPr algn="ctr">
              <a:spcAft>
                <a:spcPts val="200"/>
              </a:spcAft>
            </a:pPr>
            <a:r>
              <a:rPr sz="1320" b="1">
                <a:solidFill>
                  <a:srgbClr val="1A1F2E"/>
                </a:solidFill>
                <a:latin typeface="맑은 고딕"/>
                <a:ea typeface="맑은 고딕"/>
              </a:rPr>
              <a:t>wafer viewer</a:t>
            </a:r>
          </a:p>
          <a:p>
            <a:pPr algn="ctr"/>
            <a:r>
              <a:rPr sz="1140">
                <a:solidFill>
                  <a:srgbClr val="556075"/>
                </a:solidFill>
                <a:latin typeface="맑은 고딕"/>
                <a:ea typeface="맑은 고딕"/>
              </a:rPr>
              <a:t>양산 운영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1588" y="4590288"/>
            <a:ext cx="2400300" cy="1645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1588" y="4590288"/>
            <a:ext cx="2400300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3028" y="4681728"/>
            <a:ext cx="22174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300" b="1">
                <a:solidFill>
                  <a:srgbClr val="0F1E3D"/>
                </a:solidFill>
                <a:latin typeface="맑은 고딕"/>
                <a:ea typeface="맑은 고딕"/>
              </a:rPr>
              <a:t>F1 0.95</a:t>
            </a:r>
          </a:p>
          <a:p>
            <a:pPr algn="ctr">
              <a:spcAft>
                <a:spcPts val="200"/>
              </a:spcAft>
            </a:pPr>
            <a:r>
              <a:rPr sz="1320" b="1">
                <a:solidFill>
                  <a:srgbClr val="1A1F2E"/>
                </a:solidFill>
                <a:latin typeface="맑은 고딕"/>
                <a:ea typeface="맑은 고딕"/>
              </a:rPr>
              <a:t>Known validation</a:t>
            </a:r>
          </a:p>
          <a:p>
            <a:pPr algn="ctr"/>
            <a:r>
              <a:rPr sz="1140">
                <a:solidFill>
                  <a:srgbClr val="556075"/>
                </a:solidFill>
                <a:latin typeface="맑은 고딕"/>
                <a:ea typeface="맑은 고딕"/>
              </a:rPr>
              <a:t>실전 데이터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4590288"/>
            <a:ext cx="2400300" cy="1645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4590288"/>
            <a:ext cx="2400300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4681728"/>
            <a:ext cx="22174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300" b="1">
                <a:solidFill>
                  <a:srgbClr val="0F1E3D"/>
                </a:solidFill>
                <a:latin typeface="맑은 고딕"/>
                <a:ea typeface="맑은 고딕"/>
              </a:rPr>
              <a:t>13→7</a:t>
            </a:r>
          </a:p>
          <a:p>
            <a:pPr algn="ctr">
              <a:spcAft>
                <a:spcPts val="200"/>
              </a:spcAft>
            </a:pPr>
            <a:r>
              <a:rPr sz="1320" b="1">
                <a:solidFill>
                  <a:srgbClr val="1A1F2E"/>
                </a:solidFill>
                <a:latin typeface="맑은 고딕"/>
                <a:ea typeface="맑은 고딕"/>
              </a:rPr>
              <a:t>Unknown review</a:t>
            </a:r>
          </a:p>
          <a:p>
            <a:pPr algn="ctr"/>
            <a:r>
              <a:rPr sz="1140">
                <a:solidFill>
                  <a:srgbClr val="556075"/>
                </a:solidFill>
                <a:latin typeface="맑은 고딕"/>
                <a:ea typeface="맑은 고딕"/>
              </a:rPr>
              <a:t>현업 후보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0828" y="4590288"/>
            <a:ext cx="2400300" cy="1645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0828" y="4590288"/>
            <a:ext cx="2400300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2268" y="4681728"/>
            <a:ext cx="22174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300" b="1">
                <a:solidFill>
                  <a:srgbClr val="0F1E3D"/>
                </a:solidFill>
                <a:latin typeface="맑은 고딕"/>
                <a:ea typeface="맑은 고딕"/>
              </a:rPr>
              <a:t>P2/P3</a:t>
            </a:r>
          </a:p>
          <a:p>
            <a:pPr algn="ctr">
              <a:spcAft>
                <a:spcPts val="200"/>
              </a:spcAft>
            </a:pPr>
            <a:r>
              <a:rPr sz="1320" b="1">
                <a:solidFill>
                  <a:srgbClr val="1A1F2E"/>
                </a:solidFill>
                <a:latin typeface="맑은 고딕"/>
                <a:ea typeface="맑은 고딕"/>
              </a:rPr>
              <a:t>label scarcity</a:t>
            </a:r>
          </a:p>
          <a:p>
            <a:pPr algn="ctr"/>
            <a:r>
              <a:rPr sz="1140">
                <a:solidFill>
                  <a:srgbClr val="556075"/>
                </a:solidFill>
                <a:latin typeface="맑은 고딕"/>
                <a:ea typeface="맑은 고딕"/>
              </a:rPr>
              <a:t>synthetic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6B7280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