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기본 baseline에 노이즈 3종과 밀도(밀집/희소/결핍)를 episode마다 가중치로 조합해 여러 episode를 순차 생성하고 이어 붙여 정상 trend를 만듭니다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한 trend는 여러 설비(fleet)가 함께 찍히고 그중 한 설비(target)를 판정. episode = 시작과 끝이 있는 자기완결 구간을 단어 뜻 그대로 사용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06624"/>
            <a:ext cx="10972800" cy="3236976"/>
          </a:xfrm>
          <a:prstGeom prst="rect">
            <a:avLst/>
          </a:prstGeom>
          <a:solidFill>
            <a:srgbClr val="FFFFFF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06624"/>
            <a:ext cx="8172541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8172541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3310128"/>
            <a:ext cx="7843357" cy="2542032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5637276"/>
            <a:ext cx="7532461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9264" y="3493008"/>
            <a:ext cx="13716" cy="2157984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24128" y="3566160"/>
            <a:ext cx="1484546" cy="2011680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584448"/>
            <a:ext cx="144797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514187" y="4095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51928" y="39731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97960" y="44290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58437" y="4649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30999" y="45346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74304" y="40016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48930" y="51459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46497" y="4207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920478" y="53337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853124" y="44772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387286" y="39330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29659" y="43107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73869" y="40437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93644" y="51292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322676" y="47646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935841" y="44394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13835" y="39582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0581" y="41807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991360" y="45252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501225" y="47708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687291" y="43265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143892" y="4947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407481" y="47535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783661" y="52209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056995" y="43081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392532" y="40441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640370" y="50375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84213" y="46206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33289" y="48993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104001" y="47513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252422" y="43483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011294" y="47845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856861" y="45697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204901" y="5329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715279" y="48930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2011" y="49510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946836" y="540434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180755" y="43029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597103" y="49000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11015" y="4578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305710" y="4042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59716" y="50547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260151" y="42644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679" y="48166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96683" y="44428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806981" y="4827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158222" y="481005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454205" y="44129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558794" y="48279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338440" y="4178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321170" y="42506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395519" y="44745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858636" y="42778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097122" y="4416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572438" y="45465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332409" y="46564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762791" y="45919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971980" y="409309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262685" y="47356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30118" y="47515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602540" y="43984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226564" y="46067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72819" y="41049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363533" y="41889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534430" y="409184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92097" y="41791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223866" y="436715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24987" y="48192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91106" y="41767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420149" y="43527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565813" y="4154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196826" y="49243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698356" y="4473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203587" y="413575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537791" y="42796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170686" y="41882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21856" y="48870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779408" y="41750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798823" y="40692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779216" y="49114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215554" y="46615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431678" y="436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309226" y="47285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785051" y="47348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520907" y="424272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148110" y="49171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201631" y="475879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156990" y="47001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386933" y="45034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554617" y="4070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28158" y="42926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429152" y="46582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336857" y="44411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311482" y="491985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34885" y="436805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78762" y="42460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347839" y="422620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904120" y="48422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185760" y="44697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941753" y="47531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202147" y="4630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276019" y="473775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068226" y="44684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324169" y="474380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524620" y="47541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356567" y="4395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614265" y="488335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035239" y="41957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257155" y="417909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269609" y="47591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282064" y="4776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367824" y="46270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547907" y="45309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62291" y="405791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355568" y="46203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77226" y="4871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508674" y="3566160"/>
            <a:ext cx="1484546" cy="2011680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526962" y="3584448"/>
            <a:ext cx="144797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145909" y="52157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670962" y="4188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902382" y="43160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887266" y="47722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912459" y="45119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740775" y="52752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038815" y="45727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346028" y="5266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128269" y="52871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236694" y="4687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265945" y="38896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154360" y="41452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570629" y="51028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796008" y="45966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35851" y="47256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01610" y="46663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08682" y="507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707367" y="4731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897912" y="42910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598839" y="46498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317096" y="50419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786496" y="4549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385077" y="46464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250762" y="4937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170715" y="46895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205095" y="53241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501089" y="52231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826232" y="42641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314131" y="53268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689489" y="40737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728126" y="45478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662451" y="42346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663220" y="49012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14463" y="52550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772053" y="49737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448949" y="40828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746810" y="5364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859228" y="53412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3098331" y="46180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890054" y="51546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781447" y="45313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255371" y="43877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831134" y="45209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516339" y="437658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297528" y="457982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599876" y="4527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388484" y="46144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660025" y="48427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602525" y="483631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712728" y="44953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627870" y="47432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928370" y="44297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125973" y="48072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642377" y="44920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770767" y="48109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319064" y="47053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692789" y="43949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472153" y="45725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670598" y="482021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402168" y="47542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685344" y="47805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663060" y="47837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167001" y="45309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296244" y="48145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925003" y="44295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262207" y="44822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3993220" y="3566160"/>
            <a:ext cx="1484546" cy="2011680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011508" y="3584448"/>
            <a:ext cx="144797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00" name="Oval 199"/>
          <p:cNvSpPr/>
          <p:nvPr/>
        </p:nvSpPr>
        <p:spPr>
          <a:xfrm>
            <a:off x="4196385" y="4111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117333" y="41742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467434" y="43347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066305" y="43113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719152" y="41371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514284" y="3888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385074" y="38844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030951" y="47171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303451" y="4598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300691" y="40258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45826" y="45324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12344" y="5157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75957" y="46482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970277" y="53877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08534" y="51543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995682" y="48492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591496" y="44008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122698" y="40623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144557" y="50122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391959" y="41143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162974" y="51683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214903" y="49029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427207" y="42371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442096" y="45748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260730" y="4553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402195" y="5355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351517" y="47110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377041" y="53617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64163" y="4414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051343" y="44538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685101" y="46421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318872" y="46451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056538" y="42712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170024" y="44816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05673" y="3895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57065" y="42224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833565" y="46832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054317" y="48827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008085" y="5227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571180" y="4367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67718" y="40929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019008" y="48604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3993220" y="4480560"/>
            <a:ext cx="148454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77766" y="3566160"/>
            <a:ext cx="1484546" cy="2011680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5496054" y="3584448"/>
            <a:ext cx="144797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245" name="Oval 244"/>
          <p:cNvSpPr/>
          <p:nvPr/>
        </p:nvSpPr>
        <p:spPr>
          <a:xfrm>
            <a:off x="5593058" y="51590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6728093" y="48357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6516530" y="51231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5720886" y="4674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6209429" y="51584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6611312" y="51452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6316074" y="52484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6448338" y="49383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842175" y="3909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5712569" y="44213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674862" y="51598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281903" y="48364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372501" y="49186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189253" y="38657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601971" y="50237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207555" y="46925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416761" y="3963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6520460" y="4252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5634091" y="42734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510485" y="41796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524528" y="53773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195482" y="4455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175490" y="49233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560850" y="48196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6394631" y="39810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5731749" y="42553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529063" y="43338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6294261" y="38799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5615638" y="42783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433759" y="49365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438719" y="43127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225708" y="45829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158533" y="40448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730396" y="41703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6843427" y="53159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5557884" y="45740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631680" y="53655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6135933" y="42782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815271" y="53304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816438" y="47644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5724142" y="46752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809456" y="40667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613080" y="461279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6699830" y="47067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5846616" y="480058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6178224" y="43791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5550105" y="460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6132171" y="45129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728585" y="4533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956860" y="47728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547698" y="47296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637673" y="44251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751293" y="47114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6718970" y="4507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6029940" y="45568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6845526" y="46516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6014955" y="45738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903592" y="43904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677824" y="4770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5917217" y="48188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5869969" y="44954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6210535" y="44588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6031408" y="482881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6696451" y="47591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6962312" y="3566160"/>
            <a:ext cx="1484549" cy="2011680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6980600" y="3584448"/>
            <a:ext cx="1447973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311" name="Oval 310"/>
          <p:cNvSpPr/>
          <p:nvPr/>
        </p:nvSpPr>
        <p:spPr>
          <a:xfrm>
            <a:off x="7863298" y="52804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8277891" y="47143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981969" y="39375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999072" y="45614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8026259" y="486244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7402021" y="3936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8259259" y="40584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650902" y="43948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7417496" y="50094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8325528" y="42650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896887" y="43282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764837" y="44736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242936" y="41118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297189" y="52688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7684214" y="42026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8231802" y="54095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621162" y="40775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276492" y="40016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476624" y="40022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339014" y="42622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781293" y="5239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8022230" y="45022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572882" y="46754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523343" y="4386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7102055" y="4291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8314004" y="40562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7692671" y="48393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8173724" y="41963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381697" y="4246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7553977" y="4553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295615" y="51798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8187146" y="38945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7062154" y="49635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8217666" y="45962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804791" y="38608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542956" y="53013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8123845" y="51903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8320101" y="4246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7164935" y="41005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7718058" y="49208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8278950" y="49825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7885315" y="50494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7625263" y="45334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7081454" y="47377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7332716" y="485956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870212" y="431419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7196548" y="42681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7858218" y="4663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7175937" y="41075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7712620" y="45612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7535132" y="42432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7812360" y="405456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7422458" y="445308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8278200" y="461584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8180359" y="44660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7335568" y="4263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8280379" y="466902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7430108" y="406459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7678612" y="46422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7576699" y="427301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898653" y="48642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325178" y="40754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470009" y="44175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7918453" y="42206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8067491" y="46995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7687162" y="42269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8292413" y="43212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8097352" y="42496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7318223" y="47184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7413882" y="48878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7675299" y="42111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7320672" y="44144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7895970" y="488509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7220520" y="43935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7307167" y="49075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7214699" y="40911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7108254" y="439345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8199094" y="48273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7983741" y="49282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8242606" y="43367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7271453" y="487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8001424" y="40735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7894845" y="43804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7516650" y="43389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7250299" y="40478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7394193" y="43564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8273742" y="415480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8285139" y="4228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7494191" y="477251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8099960" y="44280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7094094" y="44643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7515128" y="48591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7281234" y="43677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8197566" y="407211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7564706" y="47638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8027925" y="40812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7075346" y="410069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8227613" y="42728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8002698" y="484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7471334" y="42863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8276572" y="45914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371239" y="46796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7441934" y="4289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7034887" y="471416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8222905" y="46064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8257777" y="40667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7334394" y="446591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8275385" y="48896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7533092" y="42675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7589615" y="44820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8238056" y="42072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8074656" y="46989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9032077" y="2706624"/>
            <a:ext cx="2580803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9032077" y="3017520"/>
            <a:ext cx="2580803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1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9032077" y="3273552"/>
            <a:ext cx="2580803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9123517" y="3300984"/>
            <a:ext cx="1238785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10219246" y="3300984"/>
            <a:ext cx="121725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9233245" y="3963924"/>
            <a:ext cx="2178467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9233245" y="3584448"/>
            <a:ext cx="13716" cy="39319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1009131" y="38699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10539669" y="37293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9912912" y="37401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10920888" y="36507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646623" y="38637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755537" y="3646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9290556" y="38004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9926439" y="39355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11141406" y="393794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9793842" y="36523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426839" y="37833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10762999" y="37670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9726974" y="37575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10568105" y="38388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10846229" y="38934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0664214" y="36640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1048596" y="37186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10451724" y="374364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0824641" y="36887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755802" y="37033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550793" y="39051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10476551" y="37289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10079610" y="39394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321975" y="36989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977952" y="38322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1375550" y="36581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251041" y="3884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1047910" y="39147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9304712" y="37185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9476495" y="36856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1336358" y="38100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1243138" y="37434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9267239" y="371909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9388265" y="383482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9509291" y="378185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9630317" y="364380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9751343" y="374028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9872369" y="378560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993395" y="385965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10114421" y="383303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235447" y="3759195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10356473" y="370322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477499" y="374175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598525" y="373439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719551" y="377686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840577" y="367225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961603" y="380305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1082629" y="381498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11203655" y="370707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11324681" y="3768954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Rectangle 479"/>
          <p:cNvSpPr/>
          <p:nvPr/>
        </p:nvSpPr>
        <p:spPr>
          <a:xfrm>
            <a:off x="9032077" y="4187952"/>
            <a:ext cx="2580803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TextBox 480"/>
          <p:cNvSpPr txBox="1"/>
          <p:nvPr/>
        </p:nvSpPr>
        <p:spPr>
          <a:xfrm>
            <a:off x="9123517" y="4215384"/>
            <a:ext cx="1238785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Correlated / hunting</a:t>
            </a:r>
          </a:p>
        </p:txBody>
      </p:sp>
      <p:sp>
        <p:nvSpPr>
          <p:cNvPr id="482" name="TextBox 481"/>
          <p:cNvSpPr txBox="1"/>
          <p:nvPr/>
        </p:nvSpPr>
        <p:spPr>
          <a:xfrm>
            <a:off x="10219246" y="4215384"/>
            <a:ext cx="121725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83" name="Rectangle 482"/>
          <p:cNvSpPr/>
          <p:nvPr/>
        </p:nvSpPr>
        <p:spPr>
          <a:xfrm>
            <a:off x="9233245" y="4878324"/>
            <a:ext cx="2178467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Rectangle 483"/>
          <p:cNvSpPr/>
          <p:nvPr/>
        </p:nvSpPr>
        <p:spPr>
          <a:xfrm>
            <a:off x="9233245" y="4498848"/>
            <a:ext cx="13716" cy="39319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694483" y="45986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9896894" y="46044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10949279" y="47133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354619" y="45722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10077926" y="47140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0609222" y="45689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9573377" y="47599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10109497" y="46297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9886873" y="48414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9897256" y="47192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994894" y="4671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11099518" y="48551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10009271" y="46024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802779" y="46045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229587" y="48251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10139921" y="47994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10101717" y="4819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10220855" y="45915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249102" y="47144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10612457" y="48276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410737" y="47368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10024656" y="46995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534595" y="46297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352113" y="48326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9453787" y="46951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970045" y="48457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9646688" y="45802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1271245" y="48484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268411" y="455704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1234412" y="4662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1186601" y="47362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1013053" y="4590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9261188" y="480949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9370112" y="4785733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9479035" y="4762372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9587958" y="471414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9696882" y="4689980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9805805" y="466631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9914728" y="4631437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10023652" y="459635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10132575" y="4606006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10241498" y="4631613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10350422" y="4658725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10459345" y="4690416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10568268" y="472797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10677192" y="477182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10786115" y="474866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10895038" y="472733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11003962" y="4701863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11112885" y="467622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11221808" y="4644831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11330732" y="462194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Rectangle 536"/>
          <p:cNvSpPr/>
          <p:nvPr/>
        </p:nvSpPr>
        <p:spPr>
          <a:xfrm>
            <a:off x="9032077" y="5102352"/>
            <a:ext cx="2580803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TextBox 537"/>
          <p:cNvSpPr txBox="1"/>
          <p:nvPr/>
        </p:nvSpPr>
        <p:spPr>
          <a:xfrm>
            <a:off x="9123517" y="5129784"/>
            <a:ext cx="1238785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0219246" y="5129784"/>
            <a:ext cx="1217250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9233245" y="5792724"/>
            <a:ext cx="2178467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9233245" y="5413248"/>
            <a:ext cx="13716" cy="39319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10522820" y="56284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10582777" y="5551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10131898" y="56386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10144246" y="5662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10190101" y="5593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9267708" y="56501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10283149" y="55289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10880187" y="57010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10215153" y="5511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10247677" y="54884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9496622" y="55906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9416580" y="55942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10328155" y="54674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10603243" y="54805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10814648" y="57003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10331032" y="54717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10314567" y="5573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11288220" y="54976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11083884" y="57693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10811607" y="57121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9638770" y="57648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10288308" y="57568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11212351" y="55067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10934249" y="5748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9359510" y="55654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10864098" y="55047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11169862" y="55414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10993601" y="54999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10310851" y="57452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9670611" y="55376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10319105" y="55554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9297025" y="5512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9267239" y="556326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9388265" y="553958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9509291" y="563124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9630317" y="5663231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9751343" y="557545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9872369" y="5554196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9993395" y="557338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10114421" y="557680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10235447" y="562207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10356473" y="562507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10477499" y="557445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10598525" y="563133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10719551" y="565983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10840577" y="5634051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10961603" y="5420819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11082629" y="577633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11203655" y="5456371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11324681" y="5736834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593" name="TextBox 59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94" name="TextBox 59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백본·누적 개선과 smoothing·color (binary gate, 5-seed)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백본 비교와 누적 개선(F1 0.9967→0.9987), checkpoint 평활화(smoothing window)와 color 변경 효과를 한 화면에 정리했습니다 (threshold 0.9)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Backbone sweep — F1 (5-seed)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7430" y="2875135"/>
            <a:ext cx="39002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4208" y="2637391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dinov3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3898" y="3017194"/>
            <a:ext cx="390022" cy="539822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60676" y="2779450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60676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0676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60676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10366" y="3443370"/>
            <a:ext cx="39002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57144" y="3205626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57144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tiny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57144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57144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06834" y="3216076"/>
            <a:ext cx="390022" cy="340940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53612" y="2978332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53612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swin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53612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53612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03302" y="3102429"/>
            <a:ext cx="390022" cy="454587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50080" y="2864685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50080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maxvit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0080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0080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99770" y="3301311"/>
            <a:ext cx="390022" cy="255705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46548" y="3063567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6548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effv2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6548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6548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baseline → BKM combined → best backbone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49796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9944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99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99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99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42732" y="3045606"/>
            <a:ext cx="713232" cy="511410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02880" y="2807862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028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BKM combined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028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028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35668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95816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95816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Best backbone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95816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95816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409944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window — 후속 3-epoch median 으로 best 선택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64208" y="4736592"/>
            <a:ext cx="419709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>
                <a:solidFill>
                  <a:srgbClr val="0F1E3D"/>
                </a:solidFill>
                <a:latin typeface="맑은 고딕"/>
                <a:ea typeface="맑은 고딕"/>
              </a:rPr>
              <a:t>단일 epoch 최고 F1은 초기 hunting spike(학습 덜 됨),</a:t>
            </a:r>
          </a:p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후속 3-epoch median 이 더 높은 plateau 를 best 선택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1700784" y="5745479"/>
            <a:ext cx="320040" cy="11626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020824" y="5667973"/>
            <a:ext cx="320040" cy="7750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340864" y="5609844"/>
            <a:ext cx="320040" cy="5812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660904" y="5261065"/>
            <a:ext cx="320040" cy="34877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80944" y="5261065"/>
            <a:ext cx="320040" cy="46503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300984" y="5590467"/>
            <a:ext cx="320040" cy="13563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621024" y="5532337"/>
            <a:ext cx="320040" cy="5813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41064" y="5493584"/>
            <a:ext cx="320040" cy="38753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61104" y="5454831"/>
            <a:ext cx="320040" cy="38753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581144" y="5445143"/>
            <a:ext cx="320040" cy="968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901184" y="5435454"/>
            <a:ext cx="320040" cy="968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221224" y="5425766"/>
            <a:ext cx="320040" cy="968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541264" y="5425766"/>
            <a:ext cx="320040" cy="968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700784" y="5667973"/>
            <a:ext cx="320040" cy="7750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20824" y="5609844"/>
            <a:ext cx="320040" cy="58129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40864" y="5609844"/>
            <a:ext cx="320040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660904" y="5590467"/>
            <a:ext cx="320040" cy="19377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980944" y="5590467"/>
            <a:ext cx="320040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300984" y="5532337"/>
            <a:ext cx="320040" cy="5813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621024" y="5493584"/>
            <a:ext cx="320040" cy="3875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941064" y="5454831"/>
            <a:ext cx="320040" cy="3875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261104" y="5445143"/>
            <a:ext cx="320040" cy="9688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4581144" y="5435454"/>
            <a:ext cx="320040" cy="9689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901184" y="5435454"/>
            <a:ext cx="320040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930652" y="5210773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Diamond 85"/>
          <p:cNvSpPr/>
          <p:nvPr/>
        </p:nvSpPr>
        <p:spPr>
          <a:xfrm>
            <a:off x="4832604" y="5366874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1700784" y="6016752"/>
            <a:ext cx="4160520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609344" y="6030468"/>
            <a:ext cx="42885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단일 최고(hunting)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480560"/>
            <a:ext cx="428853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Color 변경 전후 — 배경 대비 색차↑(빨강) → 분리도 향상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718304"/>
            <a:ext cx="42885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색 단변수 5-seed: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F1 +0.0008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·  놓친 불량 −0.8  ·  오경보 −0.4</a:t>
            </a:r>
          </a:p>
        </p:txBody>
      </p:sp>
      <p:pic>
        <p:nvPicPr>
          <p:cNvPr id="91" name="Picture 90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4965192"/>
            <a:ext cx="996696" cy="996696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15518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93" name="Picture 92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965192"/>
            <a:ext cx="996696" cy="996696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857250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옵션을 누적 적용하며 성능이 올라가는 전체 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728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 옵션 (누적)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조건값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F1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FN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FP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0.9967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정상 비율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700 → 3300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0.9972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Label Smoothing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0.9976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Stochastic Depth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0.05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0.9979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EMA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0.9981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Focal γ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2.0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0.9983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Abnormal weight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1.5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0.9984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Color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c01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0.9985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Smoothing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win5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0.9986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+ Best backbone</a:t>
                      </a:r>
                    </a:p>
                  </a:txBody>
                  <a:tcPr anchor="ctr" marL="889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convnext.tiny.dinov3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0.9987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25312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"/>
              </a:spcAft>
            </a:pPr>
            <a:r>
              <a:rPr sz="1250">
                <a:solidFill>
                  <a:srgbClr val="3A485C"/>
                </a:solidFill>
                <a:latin typeface="맑은 고딕"/>
                <a:ea typeface="맑은 고딕"/>
              </a:rPr>
              <a:t>baseline 에 옵션을 하나씩 누적 적용하고 최적 백본까지 반영 → F1 0.9967 → 0.9987, 놓친 불량(FN)과 오경보(FP) 감소 (binary gate, 5-seed, threshold 0.9)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