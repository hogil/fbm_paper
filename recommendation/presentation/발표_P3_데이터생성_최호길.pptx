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9611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A929E"/>
                </a:solidFill>
                <a:latin typeface="맑은 고딕"/>
                <a:ea typeface="맑은 고딕"/>
              </a:rPr>
              <a:t>AI Specialist 인증 — Project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35024"/>
            <a:ext cx="10607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>
                <a:solidFill>
                  <a:srgbClr val="0F1E3D"/>
                </a:solidFill>
                <a:latin typeface="맑은 고딕"/>
                <a:ea typeface="맑은 고딕"/>
              </a:rPr>
              <a:t>계측 trend 이상탐지 데이터 생성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292608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>
                <a:solidFill>
                  <a:srgbClr val="475569"/>
                </a:solidFill>
                <a:latin typeface="맑은 고딕"/>
                <a:ea typeface="맑은 고딕"/>
              </a:rPr>
              <a:t>이상 유형별 검증 데이터가 없던 문제를, 현장에서 trend를 보던 판정 기준을 생성 규칙으로 옮겨 풀었습니다. 정상 baseline 위에 이상을 합성해 평가셋을 만들고 1차 gate로 확인했습니다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5B9BD5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19656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Failbit Map 불량 분석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54296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5B9BD5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7528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Chip multi-label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82712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82712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2168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5B9BD5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Trend anomaly generator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6968" y="4992624"/>
            <a:ext cx="3840480" cy="2032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5184648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최호길  |  메모리제조센터 QIE그룹 Data Science 파트</a:t>
            </a:r>
          </a:p>
          <a:p>
            <a:pPr algn="l"/>
            <a:r>
              <a:rPr sz="1250">
                <a:solidFill>
                  <a:srgbClr val="6B7280"/>
                </a:solidFill>
                <a:latin typeface="맑은 고딕"/>
                <a:ea typeface="맑은 고딕"/>
              </a:rPr>
              <a:t>제조품질 AI / Data Science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6968" y="5989320"/>
            <a:ext cx="10387584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6108192"/>
            <a:ext cx="7772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삼성전자 메모리제조센터 | QIE그룹 Data Science</a:t>
            </a:r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    AI Specialist 인증 사내 경연 발표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108192"/>
            <a:ext cx="167335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1">
                <a:solidFill>
                  <a:srgbClr val="5B9BD5"/>
                </a:solidFill>
                <a:latin typeface="맑은 고딕"/>
                <a:ea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순차 episode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순차 episode 기반 trend 생성 (Sequential Episode-Based)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fleet(여러 설비)가 함께 찍은 한 trend에서 한 설비(target)를 판정합니다. episode(자기완결 구간)를 순차 생성해 이어 붙여 정상 baseline을 만듭니다</a:t>
            </a:r>
          </a:p>
          <a:p>
            <a:pPr marL="420624" indent="-420624" lvl="1">
              <a:spcAft>
                <a:spcPts val="500"/>
              </a:spcAft>
            </a:pPr>
            <a:r>
              <a:rPr sz="135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350">
                <a:solidFill>
                  <a:srgbClr val="4A5666"/>
                </a:solidFill>
                <a:latin typeface="맑은 고딕"/>
                <a:ea typeface="맑은 고딕"/>
              </a:rPr>
              <a:t>episode마다 길이/밀도/결측이 다르고, 노이즈는 chart당 1종 (episode = segment, 강화학습 개념 차용)</a:t>
            </a:r>
          </a:p>
        </p:txBody>
      </p:sp>
      <p:sp>
        <p:nvSpPr>
          <p:cNvPr id="6" name="Rectangle 5"/>
          <p:cNvSpPr/>
          <p:nvPr/>
        </p:nvSpPr>
        <p:spPr>
          <a:xfrm>
            <a:off x="1635513" y="2697624"/>
            <a:ext cx="8981933" cy="3254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3_deck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4513" y="2706624"/>
            <a:ext cx="8963933" cy="32369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현업(BBD / Overlay / CD) trend 판정 경험을 영역(밀도·결측), 노이즈, 이상 규칙으로 코드화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생성 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정상 baseline 위에 이상 5종을 현장 발생 방식대로 합성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정상(Normal)에 더해 Mean shift / Variance / Spike / Trend drift / Contextual 5종을 만듭니다. 이상은 주로 trend 오른쪽 끝 구간에 주입하고(분홍 음영), context만 전체가 fleet에서 벗어납니다</a:t>
            </a:r>
          </a:p>
          <a:p>
            <a:pPr marL="420624" indent="-420624" lvl="1">
              <a:spcAft>
                <a:spcPts val="500"/>
              </a:spcAft>
            </a:pPr>
            <a:r>
              <a:rPr sz="135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350">
                <a:solidFill>
                  <a:srgbClr val="4A5666"/>
                </a:solidFill>
                <a:latin typeface="맑은 고딕"/>
                <a:ea typeface="맑은 고딕"/>
              </a:rPr>
              <a:t>이상 강도는 그 설비의 정상 산포(σ) 배수로 정해 너무 약해 보이지 않게 보정합니다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06640" y="3200400"/>
            <a:ext cx="4206240" cy="384048"/>
          </a:xfrm>
          <a:prstGeom prst="roundRect">
            <a:avLst/>
          </a:prstGeom>
          <a:solidFill>
            <a:srgbClr val="E6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06640" y="3200400"/>
            <a:ext cx="82296" cy="384048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0" y="3200400"/>
            <a:ext cx="387705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정상 3,500 + 이상 3,500 = 7,000</a:t>
            </a:r>
          </a:p>
        </p:txBody>
      </p:sp>
      <p:sp>
        <p:nvSpPr>
          <p:cNvPr id="9" name="Rectangle 8"/>
          <p:cNvSpPr/>
          <p:nvPr/>
        </p:nvSpPr>
        <p:spPr>
          <a:xfrm>
            <a:off x="3467549" y="3630312"/>
            <a:ext cx="5317862" cy="232228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3_deck_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6549" y="3639312"/>
            <a:ext cx="5299862" cy="23042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회색 = 다른 설비(fleet), 파랑 = 판정 대상 정상, 빨강 = 주입된 이상, 분홍 음영 = 이상 구간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조건별 실험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조건별 실험으로 성능을 끌어올렸다 (F1 0.9944 → 0.9988)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여러 학습 조건을 단독(single-axis)으로 바꿔 </a:t>
            </a:r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14개 축 × 5-seed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로 검증했습니다 (baseline F1 0.9944, 놓친 불량 FN 4.6)</a:t>
            </a:r>
          </a:p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정상 비율↑, </a:t>
            </a:r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stochastic depth 0.05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, </a:t>
            </a:r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label smoothing 0.02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가 특히 효과적 — 놓친 불량을 </a:t>
            </a:r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4.6 → 0.8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로, F1을 </a:t>
            </a:r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0.9988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까지 올렸습니다</a:t>
            </a:r>
          </a:p>
          <a:p>
            <a:pPr marL="420624" indent="-420624" lvl="1">
              <a:spcAft>
                <a:spcPts val="500"/>
              </a:spcAft>
            </a:pPr>
            <a:r>
              <a:rPr sz="130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300">
                <a:solidFill>
                  <a:srgbClr val="4A5666"/>
                </a:solidFill>
                <a:latin typeface="맑은 고딕"/>
                <a:ea typeface="맑은 고딕"/>
              </a:rPr>
              <a:t>각 막대는 단독 조건 실험. normal threshold(NT)를 올리면 FN↓ / FP↑ — 운영은 0.9 균형점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06640" y="3474720"/>
            <a:ext cx="4206240" cy="384048"/>
          </a:xfrm>
          <a:prstGeom prst="roundRect">
            <a:avLst/>
          </a:prstGeom>
          <a:solidFill>
            <a:srgbClr val="E6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06640" y="3474720"/>
            <a:ext cx="82296" cy="384048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0" y="3474720"/>
            <a:ext cx="387705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F1 0.9944 → 0.9988 / FN 4.6 → 0.8</a:t>
            </a:r>
          </a:p>
        </p:txBody>
      </p:sp>
      <p:sp>
        <p:nvSpPr>
          <p:cNvPr id="9" name="Rectangle 8"/>
          <p:cNvSpPr/>
          <p:nvPr/>
        </p:nvSpPr>
        <p:spPr>
          <a:xfrm>
            <a:off x="2858146" y="3904632"/>
            <a:ext cx="6536668" cy="204796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3_deck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7146" y="3913632"/>
            <a:ext cx="6518668" cy="20299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binary F1(좌)과 놓친 불량 FN(우) — 점선 = baseline, 막대 = 각 조건 단독 적용 (5-seed 평균)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백본 × 데이터셋 × 운영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백본/데이터셋/임계값까지 동일 프로토콜로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백본을 키우면(ConvNeXtV2 Tiny→</a:t>
            </a:r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Base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) 놓친 불량이 4.6→1.2로 줄고, 노이즈를 15% 키운 데이터셋에서도 F1 0.9944→</a:t>
            </a:r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0.9960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으로 강건합니다 (모두 5-seed)</a:t>
            </a:r>
          </a:p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운영 임계값(NT)을 올리면 FN↓ / FP↑ — 현장 비용에 맞춰 조절, 기본 0.9</a:t>
            </a:r>
          </a:p>
          <a:p>
            <a:pPr marL="420624" indent="-420624" lvl="1">
              <a:spcAft>
                <a:spcPts val="500"/>
              </a:spcAft>
            </a:pPr>
            <a:r>
              <a:rPr sz="130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300">
                <a:solidFill>
                  <a:srgbClr val="4A5666"/>
                </a:solidFill>
                <a:latin typeface="맑은 고딕"/>
                <a:ea typeface="맑은 고딕"/>
              </a:rPr>
              <a:t>백본 6종·데이터셋 강도 변형 8종을 동일 baseline·5-seed·자동 controller로 비교하는 프레임워크를 갖췄고, 첫 비교셀 검증 후 순차 확장 중입니다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1219172" y="3319416"/>
            <a:ext cx="9814616" cy="2633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3_deck_robu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8172" y="3328416"/>
            <a:ext cx="9796616" cy="261518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백본(좌) / 데이터셋 강건성(중) / 운영 임계값 NT trade-off(우) — 동일 baseline·5-seed 고정 비교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