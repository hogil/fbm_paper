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— Project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계측 trend 이상탐지 데이터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>
                <a:solidFill>
                  <a:srgbClr val="475569"/>
                </a:solidFill>
                <a:latin typeface="맑은 고딕"/>
                <a:ea typeface="맑은 고딕"/>
              </a:rPr>
              <a:t>이상 유형별 검증 데이터가 없던 문제를, 현장에서 trend를 보던 판정 기준을 생성 규칙으로 옮겨 풀었습니다. 정상 baseline 위에 이상을 합성해 평가셋을 만들고 1차 gate로 확인했습니다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 generator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Data Science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>제조품질 AI / Data Science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Data Science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순차 episode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순차 episode 기반 trend 생성 (Sequential Episode-Based)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기본 baseline에 노이즈 3종과 밀도(밀집/희소/결핍)를 episode마다 가중치로 조합해 여러 episode를 순차 생성하고 이어 붙여 정상 trend를 만듭니다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한 trend는 여러 설비(fleet)가 함께 찍히고 그중 한 설비(target)를 판정. episode = 시작과 끝이 있는 자기완결 구간을 단어 뜻 그대로 사용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706624"/>
            <a:ext cx="10972800" cy="3236976"/>
          </a:xfrm>
          <a:prstGeom prst="rect">
            <a:avLst/>
          </a:prstGeom>
          <a:solidFill>
            <a:srgbClr val="FFFFFF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743200"/>
            <a:ext cx="106984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(a) Normal baseline  —  sequential episodes</a:t>
            </a:r>
            <a:r>
              <a:rPr sz="1050">
                <a:solidFill>
                  <a:srgbClr val="6B7280"/>
                </a:solidFill>
                <a:latin typeface="맑은 고딕"/>
                <a:ea typeface="맑은 고딕"/>
              </a:rPr>
              <a:t>    gray = fleet,  blue = target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255264"/>
            <a:ext cx="2003942" cy="1347825"/>
          </a:xfrm>
          <a:prstGeom prst="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017520"/>
            <a:ext cx="202223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10" name="Oval 9"/>
          <p:cNvSpPr/>
          <p:nvPr/>
        </p:nvSpPr>
        <p:spPr>
          <a:xfrm>
            <a:off x="917990" y="4220300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7459" y="4012131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71146" y="4131551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07382" y="381215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39831" y="4193547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584915" y="3582069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734079" y="3848949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856248" y="3619378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03112" y="359722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118219" y="4220009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48976" y="3960370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405733" y="3590547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529040" y="3588439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58095" y="3758818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793636" y="3934839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11713" y="3598903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416159" y="3595914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820605" y="3630055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225051" y="3467703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629497" y="3598984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90910" y="3255264"/>
            <a:ext cx="1329865" cy="1347825"/>
          </a:xfrm>
          <a:prstGeom prst="rect">
            <a:avLst/>
          </a:prstGeom>
          <a:solidFill>
            <a:srgbClr val="FBF4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90910" y="3017520"/>
            <a:ext cx="1348153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C98A22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32" name="Oval 31"/>
          <p:cNvSpPr/>
          <p:nvPr/>
        </p:nvSpPr>
        <p:spPr>
          <a:xfrm>
            <a:off x="2960199" y="3816858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144594" y="395144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346571" y="3903803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553689" y="410067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8773" y="3966300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940553" y="3809276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119727" y="4112696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1795" y="3634820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815872" y="3507255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239063" y="3255264"/>
            <a:ext cx="925419" cy="1347825"/>
          </a:xfrm>
          <a:prstGeom prst="rect">
            <a:avLst/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39063" y="3017520"/>
            <a:ext cx="943707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CC3328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182770" y="3255264"/>
            <a:ext cx="1869127" cy="1347825"/>
          </a:xfrm>
          <a:prstGeom prst="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82770" y="3017520"/>
            <a:ext cx="1887415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45" name="Oval 44"/>
          <p:cNvSpPr/>
          <p:nvPr/>
        </p:nvSpPr>
        <p:spPr>
          <a:xfrm>
            <a:off x="5226041" y="3923980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354702" y="4067173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476890" y="3982703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588644" y="3638554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737077" y="367143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857919" y="3662333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993374" y="385142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092244" y="4091798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233547" y="3794231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361762" y="397247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494538" y="3603989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596602" y="4218068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747366" y="4044456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46383" y="359831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988242" y="4009463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315018" y="3717294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692501" y="3669293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069984" y="3518612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6447467" y="3546990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824950" y="3626311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070185" y="3255264"/>
            <a:ext cx="1195050" cy="1347825"/>
          </a:xfrm>
          <a:prstGeom prst="rect">
            <a:avLst/>
          </a:prstGeom>
          <a:solidFill>
            <a:srgbClr val="F2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70185" y="3017520"/>
            <a:ext cx="1213338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6B7280"/>
                </a:solidFill>
                <a:latin typeface="맑은 고딕"/>
                <a:ea typeface="맑은 고딕"/>
              </a:rPr>
              <a:t>Thin</a:t>
            </a:r>
          </a:p>
        </p:txBody>
      </p:sp>
      <p:sp>
        <p:nvSpPr>
          <p:cNvPr id="67" name="Oval 66"/>
          <p:cNvSpPr/>
          <p:nvPr/>
        </p:nvSpPr>
        <p:spPr>
          <a:xfrm>
            <a:off x="7184011" y="4215241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509162" y="367359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7796875" y="390189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106836" y="409436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536775" y="3475074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283523" y="3255264"/>
            <a:ext cx="1734312" cy="1347825"/>
          </a:xfrm>
          <a:prstGeom prst="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83523" y="3017520"/>
            <a:ext cx="175260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74" name="Oval 73"/>
          <p:cNvSpPr/>
          <p:nvPr/>
        </p:nvSpPr>
        <p:spPr>
          <a:xfrm>
            <a:off x="8318851" y="3834736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452003" y="361227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565741" y="383736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671352" y="4175094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798198" y="4161494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8905070" y="4051014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027176" y="4034417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9145436" y="4227217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9247234" y="3613960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9364099" y="3718400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9486315" y="3564239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599814" y="373998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704972" y="3657911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845743" y="398330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959264" y="4223969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8404986" y="3632436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755506" y="3583361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9106026" y="3611993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9456546" y="3628428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9807066" y="3453945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036123" y="3255264"/>
            <a:ext cx="1329865" cy="1347825"/>
          </a:xfrm>
          <a:prstGeom prst="rect">
            <a:avLst/>
          </a:prstGeom>
          <a:solidFill>
            <a:srgbClr val="FBF4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036123" y="3017520"/>
            <a:ext cx="1348153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C98A22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96" name="Oval 95"/>
          <p:cNvSpPr/>
          <p:nvPr/>
        </p:nvSpPr>
        <p:spPr>
          <a:xfrm>
            <a:off x="10118814" y="3834856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0311522" y="3628368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0504530" y="359942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0675293" y="4246101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892349" y="3669568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1078352" y="3976932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55369" y="3555945"/>
            <a:ext cx="45720" cy="45720"/>
          </a:xfrm>
          <a:prstGeom prst="ellipse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0287008" y="3481222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0961085" y="3467257"/>
            <a:ext cx="37490" cy="37490"/>
          </a:xfrm>
          <a:prstGeom prst="ellipse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686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3258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7830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2402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6974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1546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6118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0690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5262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9834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4406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58978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3550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68122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72694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77266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81838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6410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90982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5554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0126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4698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927080" y="3923690"/>
            <a:ext cx="251460" cy="10972"/>
          </a:xfrm>
          <a:prstGeom prst="rect">
            <a:avLst/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77240" y="4676241"/>
            <a:ext cx="10698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(b) Measurement noise  —  one type per chart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77240" y="4932273"/>
            <a:ext cx="3383280" cy="965607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77240" y="4959705"/>
            <a:ext cx="3383280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Gaussian iid</a:t>
            </a:r>
          </a:p>
        </p:txBody>
      </p:sp>
      <p:sp>
        <p:nvSpPr>
          <p:cNvPr id="131" name="Oval 130"/>
          <p:cNvSpPr/>
          <p:nvPr/>
        </p:nvSpPr>
        <p:spPr>
          <a:xfrm>
            <a:off x="922630" y="5383408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26236" y="5284499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329842" y="5532811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533449" y="5456675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737055" y="5320495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940662" y="5350833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144268" y="5378663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347874" y="5383570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2551481" y="5312975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2755087" y="5525382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2958694" y="5567555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3162300" y="5413357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365906" y="5418578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3569513" y="5302163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3773119" y="5306933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3976726" y="5377272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77240" y="5696712"/>
            <a:ext cx="338328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50">
                <a:solidFill>
                  <a:srgbClr val="6B7280"/>
                </a:solidFill>
                <a:latin typeface="맑은 고딕"/>
                <a:ea typeface="맑은 고딕"/>
              </a:rPr>
              <a:t>base dispersion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434840" y="4932273"/>
            <a:ext cx="3383280" cy="965607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434840" y="4959705"/>
            <a:ext cx="3383280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Correlated AR(1)</a:t>
            </a:r>
          </a:p>
        </p:txBody>
      </p:sp>
      <p:sp>
        <p:nvSpPr>
          <p:cNvPr id="150" name="Oval 149"/>
          <p:cNvSpPr/>
          <p:nvPr/>
        </p:nvSpPr>
        <p:spPr>
          <a:xfrm>
            <a:off x="4580230" y="5456604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4783836" y="5402730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4987442" y="5455179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5191049" y="5515672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5394655" y="5431515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5598262" y="5425709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5801868" y="5475203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6005474" y="5457675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6209081" y="5517060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6412687" y="5492455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6616294" y="5409512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6819900" y="5361118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7023506" y="5347028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7227113" y="5397623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7430719" y="5422142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7634326" y="5469527"/>
            <a:ext cx="38404" cy="38404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4434840" y="5696712"/>
            <a:ext cx="338328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50">
                <a:solidFill>
                  <a:srgbClr val="6B7280"/>
                </a:solidFill>
                <a:latin typeface="맑은 고딕"/>
                <a:ea typeface="맑은 고딕"/>
              </a:rPr>
              <a:t>equipment drift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8092440" y="4932273"/>
            <a:ext cx="3383280" cy="965607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092440" y="4959705"/>
            <a:ext cx="3383280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Laplacian</a:t>
            </a:r>
          </a:p>
        </p:txBody>
      </p:sp>
      <p:sp>
        <p:nvSpPr>
          <p:cNvPr id="169" name="Oval 168"/>
          <p:cNvSpPr/>
          <p:nvPr/>
        </p:nvSpPr>
        <p:spPr>
          <a:xfrm>
            <a:off x="8237830" y="5443835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8441436" y="5425766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8645042" y="5444372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8848649" y="5410447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9044939" y="5198949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9255862" y="5402398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9459468" y="5446822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9663074" y="5459914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9866681" y="5449926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0070287" y="5446412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0273894" y="5447337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0470184" y="5642468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0681106" y="5441414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0884713" y="5402677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1088319" y="5424637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1291926" y="5412403"/>
            <a:ext cx="38404" cy="38404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8092440" y="5696712"/>
            <a:ext cx="338328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50">
                <a:solidFill>
                  <a:srgbClr val="6B7280"/>
                </a:solidFill>
                <a:latin typeface="맑은 고딕"/>
                <a:ea typeface="맑은 고딕"/>
              </a:rPr>
              <a:t>hunting (heavy-tail)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현업(BBD / Overlay / CD) trend 판정 경험을 영역(밀도·결측), 노이즈, 이상 규칙으로 코드화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생성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정상 baseline 위에 이상 5종을 현장 발생 방식대로 합성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정상(Normal)에 더해 Mean shift / Variance / Spike / Trend drift / Contextual 5종을 만듭니다. 이상은 주로 trend 오른쪽 끝 구간에 주입하고(분홍 음영), context만 전체가 fleet에서 벗어납니다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이상 강도는 그 설비의 정상 산포(σ) 배수로 정해 너무 약해 보이지 않게 보정합니다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3200400"/>
            <a:ext cx="4206240" cy="384048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3200400"/>
            <a:ext cx="82296" cy="38404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3200400"/>
            <a:ext cx="38770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정상 3,500 + 이상 3,500 = 7,000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467549" y="3630312"/>
            <a:ext cx="5317862" cy="232228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3_deck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6549" y="3639312"/>
            <a:ext cx="5299862" cy="23042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회색 = 다른 설비(fleet), 파랑 = 판정 대상 정상, 빨강 = 주입된 이상, 분홍 음영 = 이상 구간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결과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백본·누적 개선 표와 smoothing·color 효과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백본 비교와 누적 개선을 표로 정리하고, checkpoint 평활화(smoothing window)와 rendering color 변경의 효과를 학습 곡선과 전후 이미지로 함께 제시하였습니다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1751147" y="2514744"/>
            <a:ext cx="2499540" cy="11701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3_backbone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0147" y="2523744"/>
            <a:ext cx="2481540" cy="11521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-124646" y="3767328"/>
            <a:ext cx="625112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Backbone sweep — 백본별 F1 / FN / FP</a:t>
            </a:r>
          </a:p>
        </p:txBody>
      </p:sp>
      <p:sp>
        <p:nvSpPr>
          <p:cNvPr id="9" name="Rectangle 8"/>
          <p:cNvSpPr/>
          <p:nvPr/>
        </p:nvSpPr>
        <p:spPr>
          <a:xfrm>
            <a:off x="7439990" y="2514744"/>
            <a:ext cx="3624106" cy="11701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3_progression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8990" y="2523744"/>
            <a:ext cx="3606106" cy="11521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26480" y="3767328"/>
            <a:ext cx="625112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baseline → BKM combined → best backbone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24559" y="4361832"/>
            <a:ext cx="2552716" cy="11701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3_smoothing_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3559" y="4370832"/>
            <a:ext cx="2534716" cy="1152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-124646" y="5614416"/>
            <a:ext cx="625112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Smoothing window — 안정적 checkpoint로 test↑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75685" y="4361832"/>
            <a:ext cx="2552716" cy="11701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3_color_beforeaf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4685" y="4370832"/>
            <a:ext cx="2534716" cy="11521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26480" y="5614416"/>
            <a:ext cx="625112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Color 변경 전후 — target 색 분리도 향상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백본·BKM combined·best backbone 수치는 순위 기반 임의값(실측 입력 시 교체) · smoothing/color 는 실제 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결과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옵션을 누적 적용하며 성능이 올라가는 전체 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baseline 에서 시작해 단변수에서 검증한 옵션을 하나씩 누적 적용하고 최적 백본까지 반영하면서, F1 이 0.9944→0.9992로 오르고 놓친 불량(FN)과 오경보(FP)가 함께 줄어드는 과정을 정리하였습니다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2701091" y="2661048"/>
            <a:ext cx="6850778" cy="3291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3_cumulative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0091" y="2670048"/>
            <a:ext cx="6832778" cy="3273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누적 적용 단계별 성능 (수치는 순위 기반 임의값, 실측 입력 시 교체) · 통합 BKM 은 GPU 확보 후 확정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