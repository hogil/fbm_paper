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9611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— Project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35024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0F1E3D"/>
                </a:solidFill>
                <a:latin typeface="맑은 고딕"/>
                <a:ea typeface="맑은 고딕"/>
              </a:rPr>
              <a:t>계측 trend 이상탐지 데이터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29260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>
                <a:solidFill>
                  <a:srgbClr val="475569"/>
                </a:solidFill>
                <a:latin typeface="맑은 고딕"/>
                <a:ea typeface="맑은 고딕"/>
              </a:rPr>
              <a:t>이상 유형별 검증 데이터가 없던 문제를, 현장에서 trend를 보던 판정 기준을 생성 규칙으로 옮겨 풀었습니다. 정상 baseline 위에 이상을 합성해 평가셋을 만들고 1차 gate로 확인했습니다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Failbit Map 불량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82712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82712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Trend anomaly generator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992624"/>
            <a:ext cx="3840480" cy="2032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18464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최호길  |  메모리제조센터 QIE그룹 Data Science 파트</a:t>
            </a:r>
          </a:p>
          <a:p>
            <a:pPr algn="l"/>
            <a:r>
              <a:rPr sz="1250">
                <a:solidFill>
                  <a:srgbClr val="6B7280"/>
                </a:solidFill>
                <a:latin typeface="맑은 고딕"/>
                <a:ea typeface="맑은 고딕"/>
              </a:rPr>
              <a:t>제조품질 AI / Data Science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5989320"/>
            <a:ext cx="10387584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6108192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삼성전자 메모리제조센터 | QIE그룹 Data Science</a:t>
            </a:r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    AI Specialist 인증 사내 경연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108192"/>
            <a:ext cx="167335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순차 episode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순차 episode 기반 trend 생성 (Sequential Episode-Based)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기본 baseline에 노이즈 3종과 밀도(밀집/희소/결핍)를 episode마다 가중치로 조합해 여러 episode를 순차 생성하고 이어 붙여 정상 trend를 만듭니다</a:t>
            </a:r>
          </a:p>
          <a:p>
            <a:pPr marL="420624" indent="-420624" lvl="1">
              <a:spcAft>
                <a:spcPts val="500"/>
              </a:spcAft>
            </a:pPr>
            <a:r>
              <a:rPr sz="13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50">
                <a:solidFill>
                  <a:srgbClr val="4A5666"/>
                </a:solidFill>
                <a:latin typeface="맑은 고딕"/>
                <a:ea typeface="맑은 고딕"/>
              </a:rPr>
              <a:t>한 trend는 여러 설비(fleet)가 함께 찍히고 그중 한 설비(target)를 판정. episode = 시작과 끝이 있는 자기완결 구간을 단어 뜻 그대로 사용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706624"/>
            <a:ext cx="10972800" cy="3236976"/>
          </a:xfrm>
          <a:prstGeom prst="rect">
            <a:avLst/>
          </a:prstGeom>
          <a:solidFill>
            <a:srgbClr val="FFFFFF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06624"/>
            <a:ext cx="53492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60" b="1">
                <a:solidFill>
                  <a:srgbClr val="0F1E3D"/>
                </a:solidFill>
                <a:latin typeface="맑은 고딕"/>
                <a:ea typeface="맑은 고딕"/>
              </a:rPr>
              <a:t>(a) Normal baseline  -  sequential episodes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349240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80" b="1">
                <a:solidFill>
                  <a:srgbClr val="6B7280"/>
                </a:solidFill>
                <a:latin typeface="맑은 고딕"/>
                <a:ea typeface="맑은 고딕"/>
              </a:rPr>
              <a:t>gray = fleet/reference     blue = sampled observations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" y="3310128"/>
            <a:ext cx="5020056" cy="2542032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9264" y="5637276"/>
            <a:ext cx="4709160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69264" y="3493008"/>
            <a:ext cx="13716" cy="2157984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24128" y="3566160"/>
            <a:ext cx="919886" cy="2011680"/>
          </a:xfrm>
          <a:prstGeom prst="rect">
            <a:avLst/>
          </a:prstGeom>
          <a:solidFill>
            <a:srgbClr val="EAF0F8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3584448"/>
            <a:ext cx="883310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14" name="Oval 13"/>
          <p:cNvSpPr/>
          <p:nvPr/>
        </p:nvSpPr>
        <p:spPr>
          <a:xfrm>
            <a:off x="1334075" y="409783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587115" y="397594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98112" y="443179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28430" y="465213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12569" y="453743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37602" y="400435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11964" y="5148665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9334" y="421036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568935" y="533653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530000" y="447997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838777" y="393575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747659" y="431353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95157" y="4046445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322199" y="513199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223370" y="4767425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577815" y="444222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507289" y="396094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29670" y="418349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609909" y="452802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326582" y="477358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434139" y="432932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698081" y="494991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272392" y="475627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489846" y="522372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647849" y="431093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841809" y="404687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407016" y="504030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201136" y="462342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13894" y="490206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675022" y="475409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760817" y="435105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621431" y="478727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532160" y="457250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733347" y="533182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450317" y="489575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30496" y="4953795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584171" y="540708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719390" y="430573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382005" y="490274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01018" y="458103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213563" y="404536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29170" y="505754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92604" y="426996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385412" y="482212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156668" y="444838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502220" y="483270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701094" y="481553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302477" y="441838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361696" y="483342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803133" y="418437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227153" y="425610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269250" y="448005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531467" y="428335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100297" y="442161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369422" y="455208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799718" y="466197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477200" y="459744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595643" y="409858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760241" y="474117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741801" y="4757020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386465" y="440394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173587" y="461222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143157" y="411040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251139" y="419445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347901" y="409732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097451" y="418468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172059" y="437263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116074" y="482469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549852" y="4182280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283195" y="4358280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365670" y="415952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722951" y="492982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440717" y="447905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160577" y="414124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349804" y="428513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708151" y="419368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114301" y="489254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486608" y="418055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497601" y="407472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486499" y="491690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1733555" y="466702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289723" y="437537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220390" y="473406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489803" y="474036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340245" y="424821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695368" y="492258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725672" y="476428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700396" y="470568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264388" y="450897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359331" y="407644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117869" y="429811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288293" y="466376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802237" y="444665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787870" y="492534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801121" y="437354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259762" y="425158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242253" y="423169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557220" y="484768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716686" y="447519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578528" y="475858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159762" y="463550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767791" y="474323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650138" y="447391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228851" y="474928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342347" y="475963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813397" y="440116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393104" y="488883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631460" y="420126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90908" y="418458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764161" y="476465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205011" y="478236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1819771" y="463256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355532" y="453643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193815" y="406339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812831" y="462584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485373" y="487717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944014" y="3566160"/>
            <a:ext cx="919886" cy="2011680"/>
          </a:xfrm>
          <a:prstGeom prst="rect">
            <a:avLst/>
          </a:prstGeom>
          <a:solidFill>
            <a:srgbClr val="FBF4E5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962302" y="3584448"/>
            <a:ext cx="883310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6B7280"/>
                </a:solidFill>
                <a:latin typeface="맑은 고딕"/>
                <a:ea typeface="맑은 고딕"/>
              </a:rPr>
              <a:t>Sparse</a:t>
            </a:r>
          </a:p>
        </p:txBody>
      </p:sp>
      <p:sp>
        <p:nvSpPr>
          <p:cNvPr id="132" name="Oval 131"/>
          <p:cNvSpPr/>
          <p:nvPr/>
        </p:nvSpPr>
        <p:spPr>
          <a:xfrm>
            <a:off x="2339037" y="521844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2642548" y="419140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2198264" y="431875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2189526" y="477494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2204089" y="451468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2104846" y="527794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277130" y="457554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2454718" y="526905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2328840" y="528991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2391516" y="469005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2408425" y="389241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2343922" y="414797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2006492" y="510563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2136774" y="4599375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2564446" y="472837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2255623" y="466910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2433129" y="5082475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2085534" y="473430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2195680" y="429380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2600857" y="465257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2437993" y="504473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2709334" y="455236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2477290" y="464921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2399648" y="494017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2353376" y="469232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2373250" y="532688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2544352" y="522589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2732303" y="426687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2436279" y="532962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2653258" y="407651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2097534" y="455060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2059570" y="423740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2060014" y="490402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2609888" y="525774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2122927" y="497653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2514212" y="408559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2686393" y="536736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2173319" y="534398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2311534" y="462077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2769196" y="515735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2128357" y="453413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2402312" y="439048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2161430" y="452644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2549395" y="438206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2425504" y="458531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2030492" y="453270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2477003" y="461998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2064548" y="484826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2598194" y="484179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2094389" y="450087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2046342" y="474876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2216486" y="443521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2328369" y="481269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2620758" y="449751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2127251" y="481643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2437697" y="471082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2083100" y="440043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2524377" y="457800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2070535" y="482569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2484751" y="475968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2078884" y="4786050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2066267" y="4789210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2351599" y="453640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2424777" y="482005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2214580" y="443505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2405505" y="448777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2863900" y="3566160"/>
            <a:ext cx="919886" cy="2011680"/>
          </a:xfrm>
          <a:prstGeom prst="rect">
            <a:avLst/>
          </a:prstGeom>
          <a:solidFill>
            <a:srgbClr val="FBECEA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2882188" y="3584448"/>
            <a:ext cx="883310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6B7280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200" name="Oval 199"/>
          <p:cNvSpPr/>
          <p:nvPr/>
        </p:nvSpPr>
        <p:spPr>
          <a:xfrm>
            <a:off x="3008005" y="411430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2962308" y="417698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3164687" y="433746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3510870" y="431407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3310195" y="413988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3191769" y="389157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3117078" y="3887195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3490433" y="471993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3069896" y="4601345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3646358" y="402855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3556837" y="453515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3306260" y="516073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3227420" y="465097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3455360" y="539052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3188446" y="515711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3470046" y="485195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3236402" y="440360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2965409" y="406514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2978045" y="501503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3121058" y="411710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2988691" y="5171075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3596768" y="490568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3141434" y="4239855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3150040" y="457755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3045200" y="4556365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3126976" y="535841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3675739" y="471375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3112435" y="536444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3162796" y="441764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2924162" y="445657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3290511" y="464487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3078810" y="464794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2927165" y="427398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2992767" y="448437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2955568" y="389830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3158694" y="422523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3376332" y="468595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3503940" y="488547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3477215" y="522986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3224658" y="437030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3685104" y="409567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3483529" y="486321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2863900" y="4480560"/>
            <a:ext cx="91988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19" b="1">
                <a:solidFill>
                  <a:srgbClr val="CC3328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3783786" y="3566160"/>
            <a:ext cx="919886" cy="2011680"/>
          </a:xfrm>
          <a:prstGeom prst="rect">
            <a:avLst/>
          </a:prstGeom>
          <a:solidFill>
            <a:srgbClr val="FBF4E5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3802074" y="3584448"/>
            <a:ext cx="883310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6B7280"/>
                </a:solidFill>
                <a:latin typeface="맑은 고딕"/>
                <a:ea typeface="맑은 고딕"/>
              </a:rPr>
              <a:t>Sparse</a:t>
            </a:r>
          </a:p>
        </p:txBody>
      </p:sp>
      <p:sp>
        <p:nvSpPr>
          <p:cNvPr id="245" name="Oval 244"/>
          <p:cNvSpPr/>
          <p:nvPr/>
        </p:nvSpPr>
        <p:spPr>
          <a:xfrm>
            <a:off x="3877095" y="516178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4533212" y="4838515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4410916" y="512591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3950987" y="467751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4233394" y="516123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4465706" y="514797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4295041" y="5251225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4371497" y="494110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4021100" y="391177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3946180" y="442405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3924383" y="516260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4275288" y="483919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4327659" y="492141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4221731" y="386849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4460306" y="502650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4232311" y="469529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4353244" y="396601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4413188" y="425536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3900815" y="427614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4407422" y="418234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4415540" y="538010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4225331" y="445802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4213775" y="492613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4436536" y="482241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4340451" y="398376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3957267" y="4258085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4418161" y="433655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4282432" y="388272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3890148" y="428114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4363070" y="493932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4365937" y="431547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4242804" y="458564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4203973" y="404755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4534543" y="417307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4599882" y="531872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3856763" y="457680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4477480" y="536824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4190909" y="428096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4005548" y="533323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4006222" y="476722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3952870" y="467798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4580244" y="406947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4461442" y="461828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4510560" y="471223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4027469" y="480607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4215226" y="438465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3859584" y="461005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4189151" y="451844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3960640" y="453872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4089889" y="477832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3858221" y="473511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4475367" y="443061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4539699" y="4716910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4521397" y="451259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4131267" y="456235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4593054" y="465711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4122782" y="457932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4059729" y="439596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3931898" y="477564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4067444" y="482436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4040691" y="450095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4233520" y="446432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4132098" y="4834300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4508647" y="476467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4703672" y="3566160"/>
            <a:ext cx="919888" cy="2011680"/>
          </a:xfrm>
          <a:prstGeom prst="rect">
            <a:avLst/>
          </a:prstGeom>
          <a:solidFill>
            <a:srgbClr val="EAF0F8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TextBox 309"/>
          <p:cNvSpPr txBox="1"/>
          <p:nvPr/>
        </p:nvSpPr>
        <p:spPr>
          <a:xfrm>
            <a:off x="4721960" y="3584448"/>
            <a:ext cx="883312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311" name="Oval 310"/>
          <p:cNvSpPr/>
          <p:nvPr/>
        </p:nvSpPr>
        <p:spPr>
          <a:xfrm>
            <a:off x="5251158" y="528323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5490817" y="471710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5319757" y="394024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5329644" y="456419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5345359" y="486518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4984514" y="393947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5480047" y="406124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5128382" y="439755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4993459" y="501215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5518355" y="426776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5270575" y="433098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5194243" y="447637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4892553" y="411463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4923914" y="527163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5147637" y="420536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5464175" y="541234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5111190" y="408033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4911951" y="400435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5027639" y="400494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4948092" y="426495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5203755" y="524255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5343031" y="450500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5083281" y="467814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5054645" y="438906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4811116" y="429473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5511693" y="405900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5152526" y="484208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5430603" y="4199050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4972765" y="424955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5072353" y="455641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5501063" y="518260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5438362" y="389724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4788051" y="4966261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5456004" y="4599026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5217338" y="386361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5065982" y="530407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5401770" y="5193139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5515218" y="4249574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4847464" y="4103318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5167201" y="4923612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5491430" y="4985263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5263886" y="5052207"/>
            <a:ext cx="27432" cy="27432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5113876" y="453894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4805969" y="474323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4948234" y="486504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5252566" y="431968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4871136" y="427366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5245775" y="466913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4859466" y="411306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5163338" y="456673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5062843" y="424869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5219810" y="406005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4999047" y="445856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5483570" y="4621330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5428172" y="447150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4949849" y="426947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5484804" y="467450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5003378" y="407007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5144082" y="464778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5086379" y="427849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5268670" y="486968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4943967" y="408097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5025970" y="442304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5279881" y="4226120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5364266" y="470502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5148923" y="423243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5491617" y="432670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5381173" y="4255090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4940029" y="472391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4994191" y="489337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5142206" y="4216590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4941415" y="441992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5267151" y="489057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4884709" y="439905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4933769" y="491302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4881413" y="409667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4821144" y="439893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5438780" y="483288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5316847" y="493374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5463417" y="434221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4913547" y="487917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5326859" y="407902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5266514" y="438592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5052379" y="4344390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4901570" y="405333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4983043" y="436188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5481046" y="416029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5487499" y="423437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5039662" y="477799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5382650" y="4433570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4813127" y="446987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5051517" y="486468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4919085" y="437320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5437915" y="407759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5079588" y="476936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5341864" y="408677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4802511" y="410618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5454927" y="4278287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5327580" y="4846134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5026720" y="429182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5482648" y="459690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4970047" y="468511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5010074" y="429476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4779603" y="4719648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5452262" y="4611951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5472006" y="4072262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4949185" y="4471400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5481976" y="489513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5061688" y="4273003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5093691" y="4487585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5460840" y="4212719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5368323" y="4704456"/>
            <a:ext cx="36576" cy="36576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TextBox 422"/>
          <p:cNvSpPr txBox="1"/>
          <p:nvPr/>
        </p:nvSpPr>
        <p:spPr>
          <a:xfrm>
            <a:off x="6263640" y="2706624"/>
            <a:ext cx="53492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60" b="1">
                <a:solidFill>
                  <a:srgbClr val="0F1E3D"/>
                </a:solidFill>
                <a:latin typeface="맑은 고딕"/>
                <a:ea typeface="맑은 고딕"/>
              </a:rPr>
              <a:t>(b) Measurement noise  -  one type per chart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6263640" y="3017520"/>
            <a:ext cx="5349240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80" b="1">
                <a:solidFill>
                  <a:srgbClr val="6B7280"/>
                </a:solidFill>
                <a:latin typeface="맑은 고딕"/>
                <a:ea typeface="맑은 고딕"/>
              </a:rPr>
              <a:t>gray = fleet/reference     colored = sampled εₜ</a:t>
            </a:r>
          </a:p>
        </p:txBody>
      </p:sp>
      <p:sp>
        <p:nvSpPr>
          <p:cNvPr id="425" name="Rectangle 424"/>
          <p:cNvSpPr/>
          <p:nvPr/>
        </p:nvSpPr>
        <p:spPr>
          <a:xfrm>
            <a:off x="6263640" y="3273552"/>
            <a:ext cx="5349240" cy="822960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TextBox 425"/>
          <p:cNvSpPr txBox="1"/>
          <p:nvPr/>
        </p:nvSpPr>
        <p:spPr>
          <a:xfrm>
            <a:off x="6373368" y="3300984"/>
            <a:ext cx="213969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80" b="1">
                <a:solidFill>
                  <a:srgbClr val="0F1E3D"/>
                </a:solidFill>
                <a:latin typeface="맑은 고딕"/>
                <a:ea typeface="맑은 고딕"/>
              </a:rPr>
              <a:t>Gaussian iid</a:t>
            </a:r>
          </a:p>
        </p:txBody>
      </p:sp>
      <p:sp>
        <p:nvSpPr>
          <p:cNvPr id="427" name="TextBox 426"/>
          <p:cNvSpPr txBox="1"/>
          <p:nvPr/>
        </p:nvSpPr>
        <p:spPr>
          <a:xfrm>
            <a:off x="8617305" y="3300984"/>
            <a:ext cx="2674620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960" b="1">
                <a:solidFill>
                  <a:srgbClr val="6B7280"/>
                </a:solidFill>
                <a:latin typeface="Cambria Math"/>
                <a:ea typeface="Cambria Math"/>
              </a:rPr>
              <a:t>εₜ ~ N(0, σ²)</a:t>
            </a:r>
          </a:p>
        </p:txBody>
      </p:sp>
      <p:sp>
        <p:nvSpPr>
          <p:cNvPr id="428" name="Rectangle 427"/>
          <p:cNvSpPr/>
          <p:nvPr/>
        </p:nvSpPr>
        <p:spPr>
          <a:xfrm>
            <a:off x="6464808" y="3945636"/>
            <a:ext cx="4946904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Rectangle 428"/>
          <p:cNvSpPr/>
          <p:nvPr/>
        </p:nvSpPr>
        <p:spPr>
          <a:xfrm>
            <a:off x="6464808" y="3520440"/>
            <a:ext cx="13716" cy="438912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10523012" y="3839561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9456949" y="367549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8033698" y="3688051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10322629" y="3583771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7429003" y="383221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7676327" y="357850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6620441" y="3758371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8064416" y="391604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10823385" y="391883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7763312" y="358563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6929914" y="373841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9964090" y="3719428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7611467" y="370832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9521523" y="380317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10153091" y="386690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9739768" y="3599311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10612630" y="366295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9257242" y="3692148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10104069" y="362807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7676929" y="364509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7211391" y="388061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9313620" y="367495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8412239" y="392053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8962606" y="363994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10452210" y="3795510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11355083" y="3592368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8801526" y="385662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10611072" y="389175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6652587" y="366291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7042674" y="362453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11266086" y="3769653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11054401" y="369187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10737569" y="3720221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7738859" y="384139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11131218" y="359363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9402003" y="3783203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7529592" y="369057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7152262" y="362984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7713954" y="377563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9676535" y="362964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6509215" y="3675291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9808503" y="362289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7997323" y="362963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10387100" y="375669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6765916" y="359201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8408415" y="375746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9614892" y="358824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7262676" y="381102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8480107" y="3659088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7974567" y="390606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7998145" y="376350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8219864" y="370817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Oval 481"/>
          <p:cNvSpPr/>
          <p:nvPr/>
        </p:nvSpPr>
        <p:spPr>
          <a:xfrm>
            <a:off x="10728264" y="392207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Oval 482"/>
          <p:cNvSpPr/>
          <p:nvPr/>
        </p:nvSpPr>
        <p:spPr>
          <a:xfrm>
            <a:off x="8252512" y="362734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Oval 483"/>
          <p:cNvSpPr/>
          <p:nvPr/>
        </p:nvSpPr>
        <p:spPr>
          <a:xfrm>
            <a:off x="10054423" y="3629728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Oval 484"/>
          <p:cNvSpPr/>
          <p:nvPr/>
        </p:nvSpPr>
        <p:spPr>
          <a:xfrm>
            <a:off x="6481991" y="388705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xfrm>
            <a:off x="8549195" y="385709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Oval 486"/>
          <p:cNvSpPr/>
          <p:nvPr/>
        </p:nvSpPr>
        <p:spPr>
          <a:xfrm>
            <a:off x="8462440" y="388012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6527139" y="3781340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6692036" y="3718069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xfrm>
            <a:off x="6856933" y="3620339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7021829" y="3720430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7186726" y="3852557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7351623" y="3879252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Oval 493"/>
          <p:cNvSpPr/>
          <p:nvPr/>
        </p:nvSpPr>
        <p:spPr>
          <a:xfrm>
            <a:off x="7516520" y="3627201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Oval 494"/>
          <p:cNvSpPr/>
          <p:nvPr/>
        </p:nvSpPr>
        <p:spPr>
          <a:xfrm>
            <a:off x="7681417" y="3665917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xfrm>
            <a:off x="7846313" y="3802180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xfrm>
            <a:off x="8011210" y="3655490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xfrm>
            <a:off x="8176107" y="3687263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xfrm>
            <a:off x="8341004" y="3674037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8505901" y="3928546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xfrm>
            <a:off x="8670797" y="3757202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xfrm>
            <a:off x="8835694" y="3651909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xfrm>
            <a:off x="9000591" y="3666529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Oval 503"/>
          <p:cNvSpPr/>
          <p:nvPr/>
        </p:nvSpPr>
        <p:spPr>
          <a:xfrm>
            <a:off x="9165488" y="3653572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Oval 504"/>
          <p:cNvSpPr/>
          <p:nvPr/>
        </p:nvSpPr>
        <p:spPr>
          <a:xfrm>
            <a:off x="9330385" y="3945914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xfrm>
            <a:off x="9495281" y="3715948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xfrm>
            <a:off x="9660178" y="3687654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Oval 507"/>
          <p:cNvSpPr/>
          <p:nvPr/>
        </p:nvSpPr>
        <p:spPr>
          <a:xfrm>
            <a:off x="9825075" y="3511845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Oval 508"/>
          <p:cNvSpPr/>
          <p:nvPr/>
        </p:nvSpPr>
        <p:spPr>
          <a:xfrm>
            <a:off x="9989972" y="3814264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Oval 509"/>
          <p:cNvSpPr/>
          <p:nvPr/>
        </p:nvSpPr>
        <p:spPr>
          <a:xfrm>
            <a:off x="10154869" y="3759582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Oval 510"/>
          <p:cNvSpPr/>
          <p:nvPr/>
        </p:nvSpPr>
        <p:spPr>
          <a:xfrm>
            <a:off x="10319765" y="3727612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Oval 511"/>
          <p:cNvSpPr/>
          <p:nvPr/>
        </p:nvSpPr>
        <p:spPr>
          <a:xfrm>
            <a:off x="10484662" y="3653163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Oval 512"/>
          <p:cNvSpPr/>
          <p:nvPr/>
        </p:nvSpPr>
        <p:spPr>
          <a:xfrm>
            <a:off x="10649559" y="3769569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Oval 513"/>
          <p:cNvSpPr/>
          <p:nvPr/>
        </p:nvSpPr>
        <p:spPr>
          <a:xfrm>
            <a:off x="10814456" y="3630295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Oval 514"/>
          <p:cNvSpPr/>
          <p:nvPr/>
        </p:nvSpPr>
        <p:spPr>
          <a:xfrm>
            <a:off x="10979353" y="3799742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Oval 515"/>
          <p:cNvSpPr/>
          <p:nvPr/>
        </p:nvSpPr>
        <p:spPr>
          <a:xfrm>
            <a:off x="11144249" y="3707384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Oval 516"/>
          <p:cNvSpPr/>
          <p:nvPr/>
        </p:nvSpPr>
        <p:spPr>
          <a:xfrm>
            <a:off x="11309146" y="3776931"/>
            <a:ext cx="40233" cy="40233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Rectangle 517"/>
          <p:cNvSpPr/>
          <p:nvPr/>
        </p:nvSpPr>
        <p:spPr>
          <a:xfrm>
            <a:off x="6263640" y="4187952"/>
            <a:ext cx="5349240" cy="822960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TextBox 518"/>
          <p:cNvSpPr txBox="1"/>
          <p:nvPr/>
        </p:nvSpPr>
        <p:spPr>
          <a:xfrm>
            <a:off x="6373368" y="4215384"/>
            <a:ext cx="213969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80" b="1">
                <a:solidFill>
                  <a:srgbClr val="0F1E3D"/>
                </a:solidFill>
                <a:latin typeface="맑은 고딕"/>
                <a:ea typeface="맑은 고딕"/>
              </a:rPr>
              <a:t>Correlated AR(1)</a:t>
            </a:r>
          </a:p>
        </p:txBody>
      </p:sp>
      <p:sp>
        <p:nvSpPr>
          <p:cNvPr id="520" name="TextBox 519"/>
          <p:cNvSpPr txBox="1"/>
          <p:nvPr/>
        </p:nvSpPr>
        <p:spPr>
          <a:xfrm>
            <a:off x="8617305" y="4215384"/>
            <a:ext cx="2674620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960" b="1">
                <a:solidFill>
                  <a:srgbClr val="6B7280"/>
                </a:solidFill>
                <a:latin typeface="Cambria Math"/>
                <a:ea typeface="Cambria Math"/>
              </a:rPr>
              <a:t>εₜ = ρεₜ₋₁ + ηₜ</a:t>
            </a:r>
          </a:p>
        </p:txBody>
      </p:sp>
      <p:sp>
        <p:nvSpPr>
          <p:cNvPr id="521" name="Rectangle 520"/>
          <p:cNvSpPr/>
          <p:nvPr/>
        </p:nvSpPr>
        <p:spPr>
          <a:xfrm>
            <a:off x="6464808" y="4860036"/>
            <a:ext cx="4946904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Rectangle 521"/>
          <p:cNvSpPr/>
          <p:nvPr/>
        </p:nvSpPr>
        <p:spPr>
          <a:xfrm>
            <a:off x="6464808" y="4434840"/>
            <a:ext cx="13716" cy="438912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Oval 522"/>
          <p:cNvSpPr/>
          <p:nvPr/>
        </p:nvSpPr>
        <p:spPr>
          <a:xfrm>
            <a:off x="10340324" y="455091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Oval 523"/>
          <p:cNvSpPr/>
          <p:nvPr/>
        </p:nvSpPr>
        <p:spPr>
          <a:xfrm>
            <a:off x="8453867" y="478107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Oval 524"/>
          <p:cNvSpPr/>
          <p:nvPr/>
        </p:nvSpPr>
        <p:spPr>
          <a:xfrm>
            <a:off x="10554832" y="453649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Oval 525"/>
          <p:cNvSpPr/>
          <p:nvPr/>
        </p:nvSpPr>
        <p:spPr>
          <a:xfrm>
            <a:off x="7532023" y="461641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Oval 526"/>
          <p:cNvSpPr/>
          <p:nvPr/>
        </p:nvSpPr>
        <p:spPr>
          <a:xfrm>
            <a:off x="9014885" y="4610458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Oval 527"/>
          <p:cNvSpPr/>
          <p:nvPr/>
        </p:nvSpPr>
        <p:spPr>
          <a:xfrm>
            <a:off x="7061670" y="456012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Oval 528"/>
          <p:cNvSpPr/>
          <p:nvPr/>
        </p:nvSpPr>
        <p:spPr>
          <a:xfrm>
            <a:off x="10038846" y="479985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Oval 529"/>
          <p:cNvSpPr/>
          <p:nvPr/>
        </p:nvSpPr>
        <p:spPr>
          <a:xfrm>
            <a:off x="6656233" y="467636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Oval 530"/>
          <p:cNvSpPr/>
          <p:nvPr/>
        </p:nvSpPr>
        <p:spPr>
          <a:xfrm>
            <a:off x="10200009" y="448309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Oval 531"/>
          <p:cNvSpPr/>
          <p:nvPr/>
        </p:nvSpPr>
        <p:spPr>
          <a:xfrm>
            <a:off x="10599437" y="451244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Oval 532"/>
          <p:cNvSpPr/>
          <p:nvPr/>
        </p:nvSpPr>
        <p:spPr>
          <a:xfrm>
            <a:off x="9418687" y="467183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Oval 533"/>
          <p:cNvSpPr/>
          <p:nvPr/>
        </p:nvSpPr>
        <p:spPr>
          <a:xfrm>
            <a:off x="9554839" y="458193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Oval 534"/>
          <p:cNvSpPr/>
          <p:nvPr/>
        </p:nvSpPr>
        <p:spPr>
          <a:xfrm>
            <a:off x="8530976" y="4683843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Oval 535"/>
          <p:cNvSpPr/>
          <p:nvPr/>
        </p:nvSpPr>
        <p:spPr>
          <a:xfrm>
            <a:off x="8559015" y="4711943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Oval 536"/>
          <p:cNvSpPr/>
          <p:nvPr/>
        </p:nvSpPr>
        <p:spPr>
          <a:xfrm>
            <a:off x="8663145" y="4630653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Oval 537"/>
          <p:cNvSpPr/>
          <p:nvPr/>
        </p:nvSpPr>
        <p:spPr>
          <a:xfrm>
            <a:off x="6568556" y="469721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Oval 538"/>
          <p:cNvSpPr/>
          <p:nvPr/>
        </p:nvSpPr>
        <p:spPr>
          <a:xfrm>
            <a:off x="8874438" y="4555773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Oval 539"/>
          <p:cNvSpPr/>
          <p:nvPr/>
        </p:nvSpPr>
        <p:spPr>
          <a:xfrm>
            <a:off x="10230204" y="4756603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Oval 540"/>
          <p:cNvSpPr/>
          <p:nvPr/>
        </p:nvSpPr>
        <p:spPr>
          <a:xfrm>
            <a:off x="8720032" y="4535243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Oval 541"/>
          <p:cNvSpPr/>
          <p:nvPr/>
        </p:nvSpPr>
        <p:spPr>
          <a:xfrm>
            <a:off x="8793889" y="450851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Oval 542"/>
          <p:cNvSpPr/>
          <p:nvPr/>
        </p:nvSpPr>
        <p:spPr>
          <a:xfrm>
            <a:off x="7088379" y="462779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Oval 543"/>
          <p:cNvSpPr/>
          <p:nvPr/>
        </p:nvSpPr>
        <p:spPr>
          <a:xfrm>
            <a:off x="6906617" y="463198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Oval 544"/>
          <p:cNvSpPr/>
          <p:nvPr/>
        </p:nvSpPr>
        <p:spPr>
          <a:xfrm>
            <a:off x="8976639" y="448406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Oval 545"/>
          <p:cNvSpPr/>
          <p:nvPr/>
        </p:nvSpPr>
        <p:spPr>
          <a:xfrm>
            <a:off x="9601313" y="4499360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Oval 546"/>
          <p:cNvSpPr/>
          <p:nvPr/>
        </p:nvSpPr>
        <p:spPr>
          <a:xfrm>
            <a:off x="10081377" y="4755741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Oval 547"/>
          <p:cNvSpPr/>
          <p:nvPr/>
        </p:nvSpPr>
        <p:spPr>
          <a:xfrm>
            <a:off x="8983172" y="448904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Oval 548"/>
          <p:cNvSpPr/>
          <p:nvPr/>
        </p:nvSpPr>
        <p:spPr>
          <a:xfrm>
            <a:off x="8945784" y="4608351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Oval 549"/>
          <p:cNvSpPr/>
          <p:nvPr/>
        </p:nvSpPr>
        <p:spPr>
          <a:xfrm>
            <a:off x="11156773" y="451924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Oval 550"/>
          <p:cNvSpPr/>
          <p:nvPr/>
        </p:nvSpPr>
        <p:spPr>
          <a:xfrm>
            <a:off x="10692764" y="483629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Oval 551"/>
          <p:cNvSpPr/>
          <p:nvPr/>
        </p:nvSpPr>
        <p:spPr>
          <a:xfrm>
            <a:off x="10074472" y="476951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Oval 552"/>
          <p:cNvSpPr/>
          <p:nvPr/>
        </p:nvSpPr>
        <p:spPr>
          <a:xfrm>
            <a:off x="7411172" y="483098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Oval 553"/>
          <p:cNvSpPr/>
          <p:nvPr/>
        </p:nvSpPr>
        <p:spPr>
          <a:xfrm>
            <a:off x="8886154" y="482173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Oval 554"/>
          <p:cNvSpPr/>
          <p:nvPr/>
        </p:nvSpPr>
        <p:spPr>
          <a:xfrm>
            <a:off x="10984488" y="4529913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Oval 555"/>
          <p:cNvSpPr/>
          <p:nvPr/>
        </p:nvSpPr>
        <p:spPr>
          <a:xfrm>
            <a:off x="10352968" y="4812130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Oval 556"/>
          <p:cNvSpPr/>
          <p:nvPr/>
        </p:nvSpPr>
        <p:spPr>
          <a:xfrm>
            <a:off x="6777023" y="4598410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Oval 557"/>
          <p:cNvSpPr/>
          <p:nvPr/>
        </p:nvSpPr>
        <p:spPr>
          <a:xfrm>
            <a:off x="10193669" y="452757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Oval 558"/>
          <p:cNvSpPr/>
          <p:nvPr/>
        </p:nvSpPr>
        <p:spPr>
          <a:xfrm>
            <a:off x="10888004" y="457042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Oval 559"/>
          <p:cNvSpPr/>
          <p:nvPr/>
        </p:nvSpPr>
        <p:spPr>
          <a:xfrm>
            <a:off x="10487747" y="452197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Oval 560"/>
          <p:cNvSpPr/>
          <p:nvPr/>
        </p:nvSpPr>
        <p:spPr>
          <a:xfrm>
            <a:off x="8937344" y="480819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Oval 561"/>
          <p:cNvSpPr/>
          <p:nvPr/>
        </p:nvSpPr>
        <p:spPr>
          <a:xfrm>
            <a:off x="7483476" y="456595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Oval 562"/>
          <p:cNvSpPr/>
          <p:nvPr/>
        </p:nvSpPr>
        <p:spPr>
          <a:xfrm>
            <a:off x="8956088" y="4586678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Oval 563"/>
          <p:cNvSpPr/>
          <p:nvPr/>
        </p:nvSpPr>
        <p:spPr>
          <a:xfrm>
            <a:off x="6635130" y="453617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Oval 564"/>
          <p:cNvSpPr/>
          <p:nvPr/>
        </p:nvSpPr>
        <p:spPr>
          <a:xfrm>
            <a:off x="7250507" y="481427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Oval 565"/>
          <p:cNvSpPr/>
          <p:nvPr/>
        </p:nvSpPr>
        <p:spPr>
          <a:xfrm>
            <a:off x="9815232" y="4799163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Oval 566"/>
          <p:cNvSpPr/>
          <p:nvPr/>
        </p:nvSpPr>
        <p:spPr>
          <a:xfrm>
            <a:off x="7287671" y="475840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Oval 567"/>
          <p:cNvSpPr/>
          <p:nvPr/>
        </p:nvSpPr>
        <p:spPr>
          <a:xfrm>
            <a:off x="7022204" y="466470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Oval 568"/>
          <p:cNvSpPr/>
          <p:nvPr/>
        </p:nvSpPr>
        <p:spPr>
          <a:xfrm>
            <a:off x="9600728" y="460168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Oval 569"/>
          <p:cNvSpPr/>
          <p:nvPr/>
        </p:nvSpPr>
        <p:spPr>
          <a:xfrm>
            <a:off x="10771331" y="467372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Oval 570"/>
          <p:cNvSpPr/>
          <p:nvPr/>
        </p:nvSpPr>
        <p:spPr>
          <a:xfrm>
            <a:off x="9322341" y="479441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Oval 571"/>
          <p:cNvSpPr/>
          <p:nvPr/>
        </p:nvSpPr>
        <p:spPr>
          <a:xfrm>
            <a:off x="6970410" y="483512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Oval 572"/>
          <p:cNvSpPr/>
          <p:nvPr/>
        </p:nvSpPr>
        <p:spPr>
          <a:xfrm>
            <a:off x="9568363" y="461439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Oval 573"/>
          <p:cNvSpPr/>
          <p:nvPr/>
        </p:nvSpPr>
        <p:spPr>
          <a:xfrm>
            <a:off x="10398920" y="4566650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Oval 574"/>
          <p:cNvSpPr/>
          <p:nvPr/>
        </p:nvSpPr>
        <p:spPr>
          <a:xfrm>
            <a:off x="11352820" y="468190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Oval 575"/>
          <p:cNvSpPr/>
          <p:nvPr/>
        </p:nvSpPr>
        <p:spPr>
          <a:xfrm>
            <a:off x="8235050" y="475094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Oval 576"/>
          <p:cNvSpPr/>
          <p:nvPr/>
        </p:nvSpPr>
        <p:spPr>
          <a:xfrm>
            <a:off x="8640845" y="453420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Oval 577"/>
          <p:cNvSpPr/>
          <p:nvPr/>
        </p:nvSpPr>
        <p:spPr>
          <a:xfrm>
            <a:off x="10131412" y="4486843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Oval 578"/>
          <p:cNvSpPr/>
          <p:nvPr/>
        </p:nvSpPr>
        <p:spPr>
          <a:xfrm>
            <a:off x="10508513" y="456255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Oval 579"/>
          <p:cNvSpPr/>
          <p:nvPr/>
        </p:nvSpPr>
        <p:spPr>
          <a:xfrm>
            <a:off x="9615169" y="483184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Oval 580"/>
          <p:cNvSpPr/>
          <p:nvPr/>
        </p:nvSpPr>
        <p:spPr>
          <a:xfrm>
            <a:off x="6527139" y="4697685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Oval 581"/>
          <p:cNvSpPr/>
          <p:nvPr/>
        </p:nvSpPr>
        <p:spPr>
          <a:xfrm>
            <a:off x="6692036" y="4719687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Oval 582"/>
          <p:cNvSpPr/>
          <p:nvPr/>
        </p:nvSpPr>
        <p:spPr>
          <a:xfrm>
            <a:off x="6856933" y="4707223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Oval 583"/>
          <p:cNvSpPr/>
          <p:nvPr/>
        </p:nvSpPr>
        <p:spPr>
          <a:xfrm>
            <a:off x="7021829" y="4693756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Oval 584"/>
          <p:cNvSpPr/>
          <p:nvPr/>
        </p:nvSpPr>
        <p:spPr>
          <a:xfrm>
            <a:off x="7186726" y="4661944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Oval 585"/>
          <p:cNvSpPr/>
          <p:nvPr/>
        </p:nvSpPr>
        <p:spPr>
          <a:xfrm>
            <a:off x="7351623" y="4653950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Oval 586"/>
          <p:cNvSpPr/>
          <p:nvPr/>
        </p:nvSpPr>
        <p:spPr>
          <a:xfrm>
            <a:off x="7516520" y="4685276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Oval 587"/>
          <p:cNvSpPr/>
          <p:nvPr/>
        </p:nvSpPr>
        <p:spPr>
          <a:xfrm>
            <a:off x="7681417" y="4707456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Oval 588"/>
          <p:cNvSpPr/>
          <p:nvPr/>
        </p:nvSpPr>
        <p:spPr>
          <a:xfrm>
            <a:off x="7846313" y="4784123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Oval 589"/>
          <p:cNvSpPr/>
          <p:nvPr/>
        </p:nvSpPr>
        <p:spPr>
          <a:xfrm>
            <a:off x="8011210" y="4766123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Oval 590"/>
          <p:cNvSpPr/>
          <p:nvPr/>
        </p:nvSpPr>
        <p:spPr>
          <a:xfrm>
            <a:off x="8176107" y="4724238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Oval 591"/>
          <p:cNvSpPr/>
          <p:nvPr/>
        </p:nvSpPr>
        <p:spPr>
          <a:xfrm>
            <a:off x="8341004" y="4688033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Oval 592"/>
          <p:cNvSpPr/>
          <p:nvPr/>
        </p:nvSpPr>
        <p:spPr>
          <a:xfrm>
            <a:off x="8505901" y="4685351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Oval 593"/>
          <p:cNvSpPr/>
          <p:nvPr/>
        </p:nvSpPr>
        <p:spPr>
          <a:xfrm>
            <a:off x="8670797" y="4685339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Oval 594"/>
          <p:cNvSpPr/>
          <p:nvPr/>
        </p:nvSpPr>
        <p:spPr>
          <a:xfrm>
            <a:off x="8835694" y="4639271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Oval 595"/>
          <p:cNvSpPr/>
          <p:nvPr/>
        </p:nvSpPr>
        <p:spPr>
          <a:xfrm>
            <a:off x="9000591" y="4639692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Oval 596"/>
          <p:cNvSpPr/>
          <p:nvPr/>
        </p:nvSpPr>
        <p:spPr>
          <a:xfrm>
            <a:off x="9165488" y="4610072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Oval 597"/>
          <p:cNvSpPr/>
          <p:nvPr/>
        </p:nvSpPr>
        <p:spPr>
          <a:xfrm>
            <a:off x="9330385" y="4592226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Oval 598"/>
          <p:cNvSpPr/>
          <p:nvPr/>
        </p:nvSpPr>
        <p:spPr>
          <a:xfrm>
            <a:off x="9495281" y="4592911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Oval 599"/>
          <p:cNvSpPr/>
          <p:nvPr/>
        </p:nvSpPr>
        <p:spPr>
          <a:xfrm>
            <a:off x="9660178" y="4548128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Oval 600"/>
          <p:cNvSpPr/>
          <p:nvPr/>
        </p:nvSpPr>
        <p:spPr>
          <a:xfrm>
            <a:off x="9825075" y="4589346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Oval 601"/>
          <p:cNvSpPr/>
          <p:nvPr/>
        </p:nvSpPr>
        <p:spPr>
          <a:xfrm>
            <a:off x="9989972" y="4614276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Oval 602"/>
          <p:cNvSpPr/>
          <p:nvPr/>
        </p:nvSpPr>
        <p:spPr>
          <a:xfrm>
            <a:off x="10154869" y="4653345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Oval 603"/>
          <p:cNvSpPr/>
          <p:nvPr/>
        </p:nvSpPr>
        <p:spPr>
          <a:xfrm>
            <a:off x="10319765" y="4684935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Oval 604"/>
          <p:cNvSpPr/>
          <p:nvPr/>
        </p:nvSpPr>
        <p:spPr>
          <a:xfrm>
            <a:off x="10484662" y="4613237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Oval 605"/>
          <p:cNvSpPr/>
          <p:nvPr/>
        </p:nvSpPr>
        <p:spPr>
          <a:xfrm>
            <a:off x="10649559" y="4546010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Oval 606"/>
          <p:cNvSpPr/>
          <p:nvPr/>
        </p:nvSpPr>
        <p:spPr>
          <a:xfrm>
            <a:off x="10814456" y="4562906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Oval 607"/>
          <p:cNvSpPr/>
          <p:nvPr/>
        </p:nvSpPr>
        <p:spPr>
          <a:xfrm>
            <a:off x="10979353" y="4554141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Oval 608"/>
          <p:cNvSpPr/>
          <p:nvPr/>
        </p:nvSpPr>
        <p:spPr>
          <a:xfrm>
            <a:off x="11144249" y="4521774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Oval 609"/>
          <p:cNvSpPr/>
          <p:nvPr/>
        </p:nvSpPr>
        <p:spPr>
          <a:xfrm>
            <a:off x="11309146" y="4510491"/>
            <a:ext cx="40233" cy="40233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Rectangle 610"/>
          <p:cNvSpPr/>
          <p:nvPr/>
        </p:nvSpPr>
        <p:spPr>
          <a:xfrm>
            <a:off x="6263640" y="5102352"/>
            <a:ext cx="5349240" cy="822960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TextBox 611"/>
          <p:cNvSpPr txBox="1"/>
          <p:nvPr/>
        </p:nvSpPr>
        <p:spPr>
          <a:xfrm>
            <a:off x="6373368" y="5129784"/>
            <a:ext cx="213969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80" b="1">
                <a:solidFill>
                  <a:srgbClr val="0F1E3D"/>
                </a:solidFill>
                <a:latin typeface="맑은 고딕"/>
                <a:ea typeface="맑은 고딕"/>
              </a:rPr>
              <a:t>Laplacian</a:t>
            </a:r>
          </a:p>
        </p:txBody>
      </p:sp>
      <p:sp>
        <p:nvSpPr>
          <p:cNvPr id="613" name="TextBox 612"/>
          <p:cNvSpPr txBox="1"/>
          <p:nvPr/>
        </p:nvSpPr>
        <p:spPr>
          <a:xfrm>
            <a:off x="8617305" y="5129784"/>
            <a:ext cx="2674620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960" b="1">
                <a:solidFill>
                  <a:srgbClr val="6B7280"/>
                </a:solidFill>
                <a:latin typeface="Cambria Math"/>
                <a:ea typeface="Cambria Math"/>
              </a:rPr>
              <a:t>εₜ ~ Laplace(0, b)</a:t>
            </a:r>
          </a:p>
        </p:txBody>
      </p:sp>
      <p:sp>
        <p:nvSpPr>
          <p:cNvPr id="614" name="Rectangle 613"/>
          <p:cNvSpPr/>
          <p:nvPr/>
        </p:nvSpPr>
        <p:spPr>
          <a:xfrm>
            <a:off x="6464808" y="5774436"/>
            <a:ext cx="4946904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Rectangle 614"/>
          <p:cNvSpPr/>
          <p:nvPr/>
        </p:nvSpPr>
        <p:spPr>
          <a:xfrm>
            <a:off x="6464808" y="5349240"/>
            <a:ext cx="13716" cy="438912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Oval 615"/>
          <p:cNvSpPr/>
          <p:nvPr/>
        </p:nvSpPr>
        <p:spPr>
          <a:xfrm>
            <a:off x="10763087" y="567180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Oval 616"/>
          <p:cNvSpPr/>
          <p:nvPr/>
        </p:nvSpPr>
        <p:spPr>
          <a:xfrm>
            <a:off x="8441343" y="5480860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Oval 617"/>
          <p:cNvSpPr/>
          <p:nvPr/>
        </p:nvSpPr>
        <p:spPr>
          <a:xfrm>
            <a:off x="6509790" y="5621220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Oval 618"/>
          <p:cNvSpPr/>
          <p:nvPr/>
        </p:nvSpPr>
        <p:spPr>
          <a:xfrm>
            <a:off x="9234719" y="5512601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Oval 619"/>
          <p:cNvSpPr/>
          <p:nvPr/>
        </p:nvSpPr>
        <p:spPr>
          <a:xfrm>
            <a:off x="9646662" y="554704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Oval 620"/>
          <p:cNvSpPr/>
          <p:nvPr/>
        </p:nvSpPr>
        <p:spPr>
          <a:xfrm>
            <a:off x="11088947" y="565387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Oval 621"/>
          <p:cNvSpPr/>
          <p:nvPr/>
        </p:nvSpPr>
        <p:spPr>
          <a:xfrm>
            <a:off x="7682211" y="571654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Oval 622"/>
          <p:cNvSpPr/>
          <p:nvPr/>
        </p:nvSpPr>
        <p:spPr>
          <a:xfrm>
            <a:off x="6670594" y="557940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Oval 623"/>
          <p:cNvSpPr/>
          <p:nvPr/>
        </p:nvSpPr>
        <p:spPr>
          <a:xfrm>
            <a:off x="8461308" y="547106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Oval 624"/>
          <p:cNvSpPr/>
          <p:nvPr/>
        </p:nvSpPr>
        <p:spPr>
          <a:xfrm>
            <a:off x="6741717" y="567059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Oval 625"/>
          <p:cNvSpPr/>
          <p:nvPr/>
        </p:nvSpPr>
        <p:spPr>
          <a:xfrm>
            <a:off x="6514015" y="558655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Oval 626"/>
          <p:cNvSpPr/>
          <p:nvPr/>
        </p:nvSpPr>
        <p:spPr>
          <a:xfrm>
            <a:off x="11107564" y="5435891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Oval 627"/>
          <p:cNvSpPr/>
          <p:nvPr/>
        </p:nvSpPr>
        <p:spPr>
          <a:xfrm>
            <a:off x="7439918" y="560762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Oval 628"/>
          <p:cNvSpPr/>
          <p:nvPr/>
        </p:nvSpPr>
        <p:spPr>
          <a:xfrm>
            <a:off x="8960745" y="561997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Oval 629"/>
          <p:cNvSpPr/>
          <p:nvPr/>
        </p:nvSpPr>
        <p:spPr>
          <a:xfrm>
            <a:off x="10476637" y="544782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Oval 630"/>
          <p:cNvSpPr/>
          <p:nvPr/>
        </p:nvSpPr>
        <p:spPr>
          <a:xfrm>
            <a:off x="7983406" y="5494143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Oval 631"/>
          <p:cNvSpPr/>
          <p:nvPr/>
        </p:nvSpPr>
        <p:spPr>
          <a:xfrm>
            <a:off x="6692800" y="571132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Oval 632"/>
          <p:cNvSpPr/>
          <p:nvPr/>
        </p:nvSpPr>
        <p:spPr>
          <a:xfrm>
            <a:off x="10326219" y="564719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Oval 633"/>
          <p:cNvSpPr/>
          <p:nvPr/>
        </p:nvSpPr>
        <p:spPr>
          <a:xfrm>
            <a:off x="6484330" y="5694768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Oval 634"/>
          <p:cNvSpPr/>
          <p:nvPr/>
        </p:nvSpPr>
        <p:spPr>
          <a:xfrm>
            <a:off x="10139291" y="555497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Oval 635"/>
          <p:cNvSpPr/>
          <p:nvPr/>
        </p:nvSpPr>
        <p:spPr>
          <a:xfrm>
            <a:off x="10122311" y="555026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Oval 636"/>
          <p:cNvSpPr/>
          <p:nvPr/>
        </p:nvSpPr>
        <p:spPr>
          <a:xfrm>
            <a:off x="7570666" y="542225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Oval 637"/>
          <p:cNvSpPr/>
          <p:nvPr/>
        </p:nvSpPr>
        <p:spPr>
          <a:xfrm>
            <a:off x="7602070" y="5397751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Oval 638"/>
          <p:cNvSpPr/>
          <p:nvPr/>
        </p:nvSpPr>
        <p:spPr>
          <a:xfrm>
            <a:off x="8112686" y="565982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Oval 639"/>
          <p:cNvSpPr/>
          <p:nvPr/>
        </p:nvSpPr>
        <p:spPr>
          <a:xfrm>
            <a:off x="9891559" y="5695100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Oval 640"/>
          <p:cNvSpPr/>
          <p:nvPr/>
        </p:nvSpPr>
        <p:spPr>
          <a:xfrm>
            <a:off x="9973554" y="548150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Oval 641"/>
          <p:cNvSpPr/>
          <p:nvPr/>
        </p:nvSpPr>
        <p:spPr>
          <a:xfrm>
            <a:off x="9192455" y="554420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Oval 642"/>
          <p:cNvSpPr/>
          <p:nvPr/>
        </p:nvSpPr>
        <p:spPr>
          <a:xfrm>
            <a:off x="10353307" y="5576350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Oval 643"/>
          <p:cNvSpPr/>
          <p:nvPr/>
        </p:nvSpPr>
        <p:spPr>
          <a:xfrm>
            <a:off x="7765316" y="562013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Oval 644"/>
          <p:cNvSpPr/>
          <p:nvPr/>
        </p:nvSpPr>
        <p:spPr>
          <a:xfrm>
            <a:off x="11227379" y="546344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Oval 645"/>
          <p:cNvSpPr/>
          <p:nvPr/>
        </p:nvSpPr>
        <p:spPr>
          <a:xfrm>
            <a:off x="10806420" y="5389053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Oval 646"/>
          <p:cNvSpPr/>
          <p:nvPr/>
        </p:nvSpPr>
        <p:spPr>
          <a:xfrm>
            <a:off x="7740939" y="547048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Oval 647"/>
          <p:cNvSpPr/>
          <p:nvPr/>
        </p:nvSpPr>
        <p:spPr>
          <a:xfrm>
            <a:off x="10132817" y="573173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Oval 648"/>
          <p:cNvSpPr/>
          <p:nvPr/>
        </p:nvSpPr>
        <p:spPr>
          <a:xfrm>
            <a:off x="10144060" y="550395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Oval 649"/>
          <p:cNvSpPr/>
          <p:nvPr/>
        </p:nvSpPr>
        <p:spPr>
          <a:xfrm>
            <a:off x="10807011" y="550457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Oval 650"/>
          <p:cNvSpPr/>
          <p:nvPr/>
        </p:nvSpPr>
        <p:spPr>
          <a:xfrm>
            <a:off x="7636060" y="571804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Oval 651"/>
          <p:cNvSpPr/>
          <p:nvPr/>
        </p:nvSpPr>
        <p:spPr>
          <a:xfrm>
            <a:off x="9572913" y="563887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Oval 652"/>
          <p:cNvSpPr/>
          <p:nvPr/>
        </p:nvSpPr>
        <p:spPr>
          <a:xfrm>
            <a:off x="9743780" y="574438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Oval 653"/>
          <p:cNvSpPr/>
          <p:nvPr/>
        </p:nvSpPr>
        <p:spPr>
          <a:xfrm>
            <a:off x="8775457" y="569302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Oval 654"/>
          <p:cNvSpPr/>
          <p:nvPr/>
        </p:nvSpPr>
        <p:spPr>
          <a:xfrm>
            <a:off x="9903971" y="569959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Oval 655"/>
          <p:cNvSpPr/>
          <p:nvPr/>
        </p:nvSpPr>
        <p:spPr>
          <a:xfrm>
            <a:off x="8615776" y="565059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Oval 656"/>
          <p:cNvSpPr/>
          <p:nvPr/>
        </p:nvSpPr>
        <p:spPr>
          <a:xfrm>
            <a:off x="9274340" y="549690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Oval 657"/>
          <p:cNvSpPr/>
          <p:nvPr/>
        </p:nvSpPr>
        <p:spPr>
          <a:xfrm>
            <a:off x="7501496" y="561298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Oval 658"/>
          <p:cNvSpPr/>
          <p:nvPr/>
        </p:nvSpPr>
        <p:spPr>
          <a:xfrm>
            <a:off x="6837801" y="571923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Oval 659"/>
          <p:cNvSpPr/>
          <p:nvPr/>
        </p:nvSpPr>
        <p:spPr>
          <a:xfrm>
            <a:off x="7168218" y="5393358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Oval 660"/>
          <p:cNvSpPr/>
          <p:nvPr/>
        </p:nvSpPr>
        <p:spPr>
          <a:xfrm>
            <a:off x="6980648" y="572592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Oval 661"/>
          <p:cNvSpPr/>
          <p:nvPr/>
        </p:nvSpPr>
        <p:spPr>
          <a:xfrm>
            <a:off x="8158928" y="5435734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Oval 662"/>
          <p:cNvSpPr/>
          <p:nvPr/>
        </p:nvSpPr>
        <p:spPr>
          <a:xfrm>
            <a:off x="6595058" y="5398795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Oval 663"/>
          <p:cNvSpPr/>
          <p:nvPr/>
        </p:nvSpPr>
        <p:spPr>
          <a:xfrm>
            <a:off x="9879271" y="5617139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Oval 664"/>
          <p:cNvSpPr/>
          <p:nvPr/>
        </p:nvSpPr>
        <p:spPr>
          <a:xfrm>
            <a:off x="9900951" y="5655080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Oval 665"/>
          <p:cNvSpPr/>
          <p:nvPr/>
        </p:nvSpPr>
        <p:spPr>
          <a:xfrm>
            <a:off x="6778255" y="560113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Oval 666"/>
          <p:cNvSpPr/>
          <p:nvPr/>
        </p:nvSpPr>
        <p:spPr>
          <a:xfrm>
            <a:off x="8250656" y="5684861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Oval 667"/>
          <p:cNvSpPr/>
          <p:nvPr/>
        </p:nvSpPr>
        <p:spPr>
          <a:xfrm>
            <a:off x="10507222" y="5712040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Oval 668"/>
          <p:cNvSpPr/>
          <p:nvPr/>
        </p:nvSpPr>
        <p:spPr>
          <a:xfrm>
            <a:off x="6779161" y="5703380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Oval 669"/>
          <p:cNvSpPr/>
          <p:nvPr/>
        </p:nvSpPr>
        <p:spPr>
          <a:xfrm>
            <a:off x="10976413" y="573159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Oval 670"/>
          <p:cNvSpPr/>
          <p:nvPr/>
        </p:nvSpPr>
        <p:spPr>
          <a:xfrm>
            <a:off x="6982813" y="5459286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Oval 671"/>
          <p:cNvSpPr/>
          <p:nvPr/>
        </p:nvSpPr>
        <p:spPr>
          <a:xfrm>
            <a:off x="7006824" y="5396132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Oval 672"/>
          <p:cNvSpPr/>
          <p:nvPr/>
        </p:nvSpPr>
        <p:spPr>
          <a:xfrm>
            <a:off x="10646496" y="5682817"/>
            <a:ext cx="23774" cy="23774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Oval 673"/>
          <p:cNvSpPr/>
          <p:nvPr/>
        </p:nvSpPr>
        <p:spPr>
          <a:xfrm>
            <a:off x="6527139" y="5605345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Oval 674"/>
          <p:cNvSpPr/>
          <p:nvPr/>
        </p:nvSpPr>
        <p:spPr>
          <a:xfrm>
            <a:off x="6692036" y="5610953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Oval 675"/>
          <p:cNvSpPr/>
          <p:nvPr/>
        </p:nvSpPr>
        <p:spPr>
          <a:xfrm>
            <a:off x="6856933" y="5580111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Oval 676"/>
          <p:cNvSpPr/>
          <p:nvPr/>
        </p:nvSpPr>
        <p:spPr>
          <a:xfrm>
            <a:off x="7021829" y="5581873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Oval 677"/>
          <p:cNvSpPr/>
          <p:nvPr/>
        </p:nvSpPr>
        <p:spPr>
          <a:xfrm>
            <a:off x="7186726" y="5546007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Oval 678"/>
          <p:cNvSpPr/>
          <p:nvPr/>
        </p:nvSpPr>
        <p:spPr>
          <a:xfrm>
            <a:off x="7351623" y="5549727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Oval 679"/>
          <p:cNvSpPr/>
          <p:nvPr/>
        </p:nvSpPr>
        <p:spPr>
          <a:xfrm>
            <a:off x="7516520" y="5558396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Oval 680"/>
          <p:cNvSpPr/>
          <p:nvPr/>
        </p:nvSpPr>
        <p:spPr>
          <a:xfrm>
            <a:off x="7681417" y="5584497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Oval 681"/>
          <p:cNvSpPr/>
          <p:nvPr/>
        </p:nvSpPr>
        <p:spPr>
          <a:xfrm>
            <a:off x="7846313" y="5575843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Oval 682"/>
          <p:cNvSpPr/>
          <p:nvPr/>
        </p:nvSpPr>
        <p:spPr>
          <a:xfrm>
            <a:off x="8011210" y="5524436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Oval 683"/>
          <p:cNvSpPr/>
          <p:nvPr/>
        </p:nvSpPr>
        <p:spPr>
          <a:xfrm>
            <a:off x="8176107" y="5531398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Oval 684"/>
          <p:cNvSpPr/>
          <p:nvPr/>
        </p:nvSpPr>
        <p:spPr>
          <a:xfrm>
            <a:off x="8341004" y="5555830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Oval 685"/>
          <p:cNvSpPr/>
          <p:nvPr/>
        </p:nvSpPr>
        <p:spPr>
          <a:xfrm>
            <a:off x="8505901" y="5571443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Oval 686"/>
          <p:cNvSpPr/>
          <p:nvPr/>
        </p:nvSpPr>
        <p:spPr>
          <a:xfrm>
            <a:off x="8670797" y="5502294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Oval 687"/>
          <p:cNvSpPr/>
          <p:nvPr/>
        </p:nvSpPr>
        <p:spPr>
          <a:xfrm>
            <a:off x="8835694" y="5581456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Oval 688"/>
          <p:cNvSpPr/>
          <p:nvPr/>
        </p:nvSpPr>
        <p:spPr>
          <a:xfrm>
            <a:off x="9000591" y="5535637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Oval 689"/>
          <p:cNvSpPr/>
          <p:nvPr/>
        </p:nvSpPr>
        <p:spPr>
          <a:xfrm>
            <a:off x="9165488" y="5517020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Oval 690"/>
          <p:cNvSpPr/>
          <p:nvPr/>
        </p:nvSpPr>
        <p:spPr>
          <a:xfrm>
            <a:off x="9330385" y="5569339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Oval 691"/>
          <p:cNvSpPr/>
          <p:nvPr/>
        </p:nvSpPr>
        <p:spPr>
          <a:xfrm>
            <a:off x="9495281" y="5529119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Oval 692"/>
          <p:cNvSpPr/>
          <p:nvPr/>
        </p:nvSpPr>
        <p:spPr>
          <a:xfrm>
            <a:off x="9660178" y="5600684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Oval 693"/>
          <p:cNvSpPr/>
          <p:nvPr/>
        </p:nvSpPr>
        <p:spPr>
          <a:xfrm>
            <a:off x="9825075" y="5522219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Oval 694"/>
          <p:cNvSpPr/>
          <p:nvPr/>
        </p:nvSpPr>
        <p:spPr>
          <a:xfrm>
            <a:off x="9989972" y="5552191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Oval 695"/>
          <p:cNvSpPr/>
          <p:nvPr/>
        </p:nvSpPr>
        <p:spPr>
          <a:xfrm>
            <a:off x="10154869" y="5618049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Oval 696"/>
          <p:cNvSpPr/>
          <p:nvPr/>
        </p:nvSpPr>
        <p:spPr>
          <a:xfrm>
            <a:off x="10319765" y="5534867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Oval 697"/>
          <p:cNvSpPr/>
          <p:nvPr/>
        </p:nvSpPr>
        <p:spPr>
          <a:xfrm>
            <a:off x="10484662" y="5592447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Oval 698"/>
          <p:cNvSpPr/>
          <p:nvPr/>
        </p:nvSpPr>
        <p:spPr>
          <a:xfrm>
            <a:off x="10649559" y="5512292"/>
            <a:ext cx="40233" cy="40233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Oval 699"/>
          <p:cNvSpPr/>
          <p:nvPr/>
        </p:nvSpPr>
        <p:spPr>
          <a:xfrm>
            <a:off x="10814456" y="5347558"/>
            <a:ext cx="40233" cy="40233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Oval 700"/>
          <p:cNvSpPr/>
          <p:nvPr/>
        </p:nvSpPr>
        <p:spPr>
          <a:xfrm>
            <a:off x="10979353" y="5762327"/>
            <a:ext cx="40233" cy="40233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Oval 701"/>
          <p:cNvSpPr/>
          <p:nvPr/>
        </p:nvSpPr>
        <p:spPr>
          <a:xfrm>
            <a:off x="11144249" y="5389035"/>
            <a:ext cx="40233" cy="40233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Oval 702"/>
          <p:cNvSpPr/>
          <p:nvPr/>
        </p:nvSpPr>
        <p:spPr>
          <a:xfrm>
            <a:off x="11309146" y="5716242"/>
            <a:ext cx="40233" cy="40233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TextBox 703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현업(BBD / Overlay / CD) trend 판정 경험을 영역(밀도·결측), 노이즈, 이상 규칙으로 코드화</a:t>
            </a:r>
          </a:p>
        </p:txBody>
      </p:sp>
      <p:sp>
        <p:nvSpPr>
          <p:cNvPr id="705" name="TextBox 704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706" name="TextBox 705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생성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정상 baseline 위에 이상 5종을 현장 발생 방식대로 합성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정상(Normal)에 더해 Mean shift / Variance / Spike / Trend drift / Contextual 5종을 만듭니다. 이상은 주로 trend 오른쪽 끝 구간에 주입하고(분홍 음영), context만 전체가 fleet에서 벗어납니다</a:t>
            </a:r>
          </a:p>
          <a:p>
            <a:pPr marL="420624" indent="-420624" lvl="1">
              <a:spcAft>
                <a:spcPts val="500"/>
              </a:spcAft>
            </a:pPr>
            <a:r>
              <a:rPr sz="13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50">
                <a:solidFill>
                  <a:srgbClr val="4A5666"/>
                </a:solidFill>
                <a:latin typeface="맑은 고딕"/>
                <a:ea typeface="맑은 고딕"/>
              </a:rPr>
              <a:t>이상 강도는 그 설비의 정상 산포(σ) 배수로 정해 너무 약해 보이지 않게 보정합니다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3200400"/>
            <a:ext cx="4206240" cy="384048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06640" y="3200400"/>
            <a:ext cx="82296" cy="38404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3200400"/>
            <a:ext cx="387705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정상 3,500 + 이상 3,500 = 7,000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3467549" y="3630312"/>
            <a:ext cx="5317862" cy="232228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3_deck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6549" y="3639312"/>
            <a:ext cx="5299862" cy="23042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회색 = 다른 설비(fleet), 파랑 = 판정 대상 정상, 빨강 = 주입된 이상, 분홍 음영 = 이상 구간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결과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백본 비교와 누적 개선 (F1, FN/FP 표기)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동일 데이터·프로토콜에서 백본을 교체한 backbone sweep 과, baseline 에 옵션을 누적 적용한 뒤 최적 백본까지 반영한 단계별 개선을 비교했습니다 (binary gate, 5-seed)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631080" y="2539500"/>
            <a:ext cx="5321519" cy="334795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3_backb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48500"/>
            <a:ext cx="5303519" cy="332995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72335" y="2539500"/>
            <a:ext cx="4777569" cy="3347955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3_progres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1335" y="2548500"/>
            <a:ext cx="4759569" cy="33299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binary gate 기준 — baseline F1 0.9967(FN1/FP4) → 5-seed best 0.9987(FN0/FP2), threshold 0.9 · 백본/조건별 세부는 추가 실험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결과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옵션 누적 성능표와 smoothing·color 효과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baseline 에 옵션을 누적 적용하면 F1 0.9967→0.9987로 오르고, checkpoint 평활화(smoothing window)와 rendering color 변경이 안정적 선택·분리도 향상에 기여했습니다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2313307" y="2459880"/>
            <a:ext cx="7626345" cy="3767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3_merg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2307" y="2468880"/>
            <a:ext cx="7608345" cy="3749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