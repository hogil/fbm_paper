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— Project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35024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0F1E3D"/>
                </a:solidFill>
                <a:latin typeface="맑은 고딕"/>
                <a:ea typeface="맑은 고딕"/>
              </a:rPr>
              <a:t>계측 trend 이상탐지 데이터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2926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>
                <a:solidFill>
                  <a:srgbClr val="475569"/>
                </a:solidFill>
                <a:latin typeface="맑은 고딕"/>
                <a:ea typeface="맑은 고딕"/>
              </a:rPr>
              <a:t>이상 유형별 검증 데이터가 없던 문제를, 현장에서 trend를 보던 판정 기준을 생성 규칙으로 옮겨 풀었습니다. 정상 baseline 위에 이상을 합성해 평가셋을 만들고 1차 gate로 확인했습니다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Failbit Map 불량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2712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82712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Trend anomaly generator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992624"/>
            <a:ext cx="3840480" cy="2032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18464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Data Science 파트</a:t>
            </a:r>
          </a:p>
          <a:p>
            <a:pPr algn="l"/>
            <a:r>
              <a:rPr sz="1250">
                <a:solidFill>
                  <a:srgbClr val="6B7280"/>
                </a:solidFill>
                <a:latin typeface="맑은 고딕"/>
                <a:ea typeface="맑은 고딕"/>
              </a:rPr>
              <a:t>제조품질 AI / Data Science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5989320"/>
            <a:ext cx="1038758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6108192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삼성전자 메모리제조센터 | QIE그룹 Data Science</a:t>
            </a:r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    AI Specialist 인증 사내 경연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108192"/>
            <a:ext cx="167335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순차 episode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순차 episode 기반 trend 생성 (Sequential Episode-Based)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기본 baseline에 노이즈 3종과 밀도(밀집/희소/결핍)를 episode마다 가중치로 조합해 여러 episode를 순차 생성하고 이어 붙여 정상 trend를 만듭니다</a:t>
            </a:r>
          </a:p>
          <a:p>
            <a:pPr marL="420624" indent="-420624" lvl="1">
              <a:spcAft>
                <a:spcPts val="500"/>
              </a:spcAft>
            </a:pPr>
            <a:r>
              <a:rPr sz="13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50">
                <a:solidFill>
                  <a:srgbClr val="4A5666"/>
                </a:solidFill>
                <a:latin typeface="맑은 고딕"/>
                <a:ea typeface="맑은 고딕"/>
              </a:rPr>
              <a:t>한 trend는 여러 설비(fleet)가 함께 찍히고 그중 한 설비(target)를 판정. episode = 시작과 끝이 있는 자기완결 구간을 단어 뜻 그대로 사용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706624"/>
            <a:ext cx="10972800" cy="3236976"/>
          </a:xfrm>
          <a:prstGeom prst="rect">
            <a:avLst/>
          </a:prstGeom>
          <a:solidFill>
            <a:srgbClr val="FFFFFF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06624"/>
            <a:ext cx="6870435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60" b="1">
                <a:solidFill>
                  <a:srgbClr val="0F1E3D"/>
                </a:solidFill>
                <a:latin typeface="맑은 고딕"/>
                <a:ea typeface="맑은 고딕"/>
              </a:rPr>
              <a:t>(a) Normal baseline  -  sequential episodes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6870435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80" b="1">
                <a:solidFill>
                  <a:srgbClr val="6B7280"/>
                </a:solidFill>
                <a:latin typeface="맑은 고딕"/>
                <a:ea typeface="맑은 고딕"/>
              </a:rPr>
              <a:t>gray = fleet/reference     blue = sampled observations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" y="3310128"/>
            <a:ext cx="6541251" cy="2542032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9264" y="5637276"/>
            <a:ext cx="6230355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69264" y="3493008"/>
            <a:ext cx="13716" cy="2157984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24128" y="3566160"/>
            <a:ext cx="1224125" cy="2011680"/>
          </a:xfrm>
          <a:prstGeom prst="rect">
            <a:avLst/>
          </a:prstGeom>
          <a:solidFill>
            <a:srgbClr val="EAF0F8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584448"/>
            <a:ext cx="1187549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14" name="Oval 13"/>
          <p:cNvSpPr/>
          <p:nvPr/>
        </p:nvSpPr>
        <p:spPr>
          <a:xfrm>
            <a:off x="1432597" y="409783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785154" y="397594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661148" y="443179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46076" y="465213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23977" y="453743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58855" y="400435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41119" y="514866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217000" y="421036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759824" y="533653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705577" y="447997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135792" y="393575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08839" y="431353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239045" y="404644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416052" y="513199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278354" y="476742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772198" y="444222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673934" y="396094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47803" y="418349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816913" y="452802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422158" y="477358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572015" y="432932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939762" y="494991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346656" y="475627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649631" y="522372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869775" y="431093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140017" y="404687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534225" y="504030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247376" y="462342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5822" y="490206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907634" y="475409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027172" y="435105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832967" y="478727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708587" y="457250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988898" y="533182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594557" y="489575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48954" y="495379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781053" y="540708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969451" y="430573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499378" y="490274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07882" y="458103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264690" y="404536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47106" y="505754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231954" y="426996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504354" y="482212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181184" y="444838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669381" y="483270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950351" y="481553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387184" y="441838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470848" y="483342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094512" y="418437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280765" y="425610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340240" y="448005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710701" y="428335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101542" y="442161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481763" y="455208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089688" y="466197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634032" y="459744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801369" y="409858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033914" y="474117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007862" y="475702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505842" y="440394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205087" y="461222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162095" y="411040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314653" y="419445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451359" y="409732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097522" y="418468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202929" y="437263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123832" y="482469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736676" y="418228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359942" y="435828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476463" y="415952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981231" y="492982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582489" y="447905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186706" y="414124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454047" y="428513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960321" y="419368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121328" y="489254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647325" y="418055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662855" y="407472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647171" y="491690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1996212" y="466702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369164" y="437537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271211" y="473406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651839" y="474036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440542" y="424821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942262" y="492258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985075" y="476428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949365" y="470568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333371" y="450897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467507" y="407644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126369" y="429811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367144" y="466376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2093246" y="444665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072948" y="492534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091669" y="437354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326835" y="425158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302099" y="423169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747086" y="484768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972379" y="447519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777190" y="475858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185555" y="463550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2044580" y="474323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878360" y="447391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283164" y="474928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443511" y="475963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2109013" y="440116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515222" y="488883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851972" y="420126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229558" y="418458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2039452" y="476465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249483" y="478236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2118018" y="463256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462140" y="453643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233666" y="406339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2108214" y="462584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645579" y="487717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248253" y="3566160"/>
            <a:ext cx="1224125" cy="2011680"/>
          </a:xfrm>
          <a:prstGeom prst="rect">
            <a:avLst/>
          </a:prstGeom>
          <a:solidFill>
            <a:srgbClr val="FBF4E5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266541" y="3584448"/>
            <a:ext cx="1187549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6B7280"/>
                </a:solidFill>
                <a:latin typeface="맑은 고딕"/>
                <a:ea typeface="맑은 고딕"/>
              </a:rPr>
              <a:t>Sparse</a:t>
            </a:r>
          </a:p>
        </p:txBody>
      </p:sp>
      <p:sp>
        <p:nvSpPr>
          <p:cNvPr id="132" name="Oval 131"/>
          <p:cNvSpPr/>
          <p:nvPr/>
        </p:nvSpPr>
        <p:spPr>
          <a:xfrm>
            <a:off x="2775257" y="521844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3198136" y="419140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579121" y="431875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2566947" y="477494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2587237" y="451468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448962" y="527794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689004" y="457554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2936434" y="526905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2761050" y="528991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2848376" y="469005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2871935" y="389241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2782064" y="414797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2311927" y="510563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2493447" y="459937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3089317" y="472837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2659039" y="466910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2906355" y="508247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2422055" y="473430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2575521" y="429380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3140048" y="465257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2913132" y="504473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3291187" y="455236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2967884" y="464921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2859707" y="494017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2795236" y="469232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2822926" y="532688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3061320" y="522589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3323191" y="426687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2910744" y="532962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3213058" y="407651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2438775" y="455060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2385880" y="423740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2386500" y="490402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3152631" y="525774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2474154" y="497653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3019327" y="408559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3259224" y="536736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2544365" y="534398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2736938" y="462077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3374593" y="515735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2481720" y="453413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2863418" y="439048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2525223" y="452644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3073340" y="438206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2898307" y="458531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2340232" y="453270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2971065" y="461998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2388347" y="484826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3142284" y="484179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2430506" y="450087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2362626" y="474876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2603005" y="443521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2761075" y="481269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3174162" y="449751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2476933" y="481643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2915534" y="471082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2414557" y="440043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3037995" y="457800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2396805" y="482569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2982011" y="475968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2408601" y="478605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2390775" y="478921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2793894" y="453640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2897280" y="482005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2600312" y="443505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2870052" y="448777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3472378" y="3566160"/>
            <a:ext cx="1224125" cy="2011680"/>
          </a:xfrm>
          <a:prstGeom prst="rect">
            <a:avLst/>
          </a:prstGeom>
          <a:solidFill>
            <a:srgbClr val="FBECEA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3490666" y="3584448"/>
            <a:ext cx="1187549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6B7280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200" name="Oval 199"/>
          <p:cNvSpPr/>
          <p:nvPr/>
        </p:nvSpPr>
        <p:spPr>
          <a:xfrm>
            <a:off x="3649783" y="411430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3586114" y="417698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3868085" y="433746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4350417" y="431407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4070819" y="413988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3905818" y="389157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3801752" y="388719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4321943" y="471993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3736014" y="460134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4539191" y="402855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4414463" y="453515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4065337" y="516073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3955490" y="465097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4273076" y="539052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3901188" y="515711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4293537" y="485195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3968005" y="440360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3590435" y="406514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3608040" y="501503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3807298" y="411710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3622873" y="517107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4470097" y="490568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3835687" y="423985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3847678" y="457755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3701606" y="455636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3815542" y="535841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4580127" y="471375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3795283" y="536444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3865451" y="441764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3532966" y="445657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4043394" y="464487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3748434" y="464794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3537149" y="427398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3628552" y="448437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3576723" y="389830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3859735" y="422523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4162967" y="468595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4340762" y="488547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4303526" y="522986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3951643" y="437030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4593175" y="409567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4312324" y="486321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3472378" y="4480560"/>
            <a:ext cx="1224125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19" b="1">
                <a:solidFill>
                  <a:srgbClr val="CC3328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4696503" y="3566160"/>
            <a:ext cx="1224125" cy="2011680"/>
          </a:xfrm>
          <a:prstGeom prst="rect">
            <a:avLst/>
          </a:prstGeom>
          <a:solidFill>
            <a:srgbClr val="FBF4E5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4714791" y="3584448"/>
            <a:ext cx="1187549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6B7280"/>
                </a:solidFill>
                <a:latin typeface="맑은 고딕"/>
                <a:ea typeface="맑은 고딕"/>
              </a:rPr>
              <a:t>Sparse</a:t>
            </a:r>
          </a:p>
        </p:txBody>
      </p:sp>
      <p:sp>
        <p:nvSpPr>
          <p:cNvPr id="245" name="Oval 244"/>
          <p:cNvSpPr/>
          <p:nvPr/>
        </p:nvSpPr>
        <p:spPr>
          <a:xfrm>
            <a:off x="4803134" y="516178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5717293" y="483851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5546900" y="512591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4906087" y="467751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5299560" y="516123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5623237" y="514797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5385452" y="525122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5491977" y="494110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5003773" y="391177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4899389" y="442405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4869020" y="516260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5357931" y="483919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5430899" y="492141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5283310" y="386849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5615714" y="502650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5298051" y="469529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5466545" y="396601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5550064" y="425536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4836182" y="427614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5542031" y="418234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5553341" y="538010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5288327" y="445802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5272226" y="492613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5582595" y="482241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5448722" y="398376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4914836" y="425808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5556994" y="433655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5367884" y="388272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4821320" y="428114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5480236" y="493932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5484230" y="431547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5312672" y="458564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5258569" y="404755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5719147" y="417307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5810183" y="531872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4774805" y="457680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5639641" y="536824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5240366" y="428096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4982105" y="533323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4983045" y="476722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4908710" y="467798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5782822" y="406947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5623701" y="461828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5693095" y="471223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5010582" y="480607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5275846" y="438465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4773393" y="461005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5239006" y="451844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4916165" y="453872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5098769" y="477832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4771468" y="473511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5643374" y="443061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5734263" y="471691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5708406" y="451259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5157229" y="456235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5809642" y="465711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5145241" y="457932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5056159" y="439596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4875559" y="477564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5067058" y="482436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5029263" y="450095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5301692" y="446432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5158403" y="483430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5690393" y="476467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5920628" y="3566160"/>
            <a:ext cx="1224127" cy="2011680"/>
          </a:xfrm>
          <a:prstGeom prst="rect">
            <a:avLst/>
          </a:prstGeom>
          <a:solidFill>
            <a:srgbClr val="EAF0F8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TextBox 309"/>
          <p:cNvSpPr txBox="1"/>
          <p:nvPr/>
        </p:nvSpPr>
        <p:spPr>
          <a:xfrm>
            <a:off x="5938916" y="3584448"/>
            <a:ext cx="1187551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311" name="Oval 310"/>
          <p:cNvSpPr/>
          <p:nvPr/>
        </p:nvSpPr>
        <p:spPr>
          <a:xfrm>
            <a:off x="6660058" y="528323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6993971" y="471710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6755635" y="394024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6769410" y="456419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6791306" y="486518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6288545" y="393947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6978965" y="406124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6488994" y="439755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6301009" y="501215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7032338" y="426776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6687110" y="433098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6580758" y="447637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6160418" y="411463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6204113" y="527163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6515823" y="420536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6956851" y="541234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6465041" y="408033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6187444" y="400435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6348631" y="400494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6237800" y="426495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6594011" y="524255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6788062" y="450500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6426157" y="467814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6386258" y="438906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6046953" y="429473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7023057" y="405900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6522635" y="484208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6910075" y="419905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6272176" y="424955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6410931" y="455641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7008246" y="518260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6920885" y="389724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6014816" y="496626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6945466" y="459902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6612936" y="386361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6402054" y="530407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6869903" y="519313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7027967" y="424957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6097596" y="410331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6543081" y="492361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6994824" y="498526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6677790" y="505220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6469968" y="453894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6034957" y="474323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6235949" y="486504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6665910" y="431968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6127025" y="427366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6656316" y="466913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6110537" y="411306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6539848" y="456673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6397869" y="424869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6619632" y="406005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6307738" y="445856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6992273" y="462133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6914007" y="447150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6238231" y="426947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6994016" y="467450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6313857" y="407007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6512644" y="464778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6431120" y="427849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6688661" y="486968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6229920" y="408097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6345775" y="442304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6704500" y="422612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6823720" y="470502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6519483" y="423243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7003642" y="432670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6847607" y="425509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6224356" y="472391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6300877" y="489337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6509993" y="421659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6226315" y="441992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6686515" y="489057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6146200" y="439905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6215512" y="491302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6141544" y="409667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6056395" y="439893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6928994" y="483288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6756726" y="493374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6963801" y="434221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6186944" y="487917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6770871" y="407902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6685615" y="438592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6383085" y="434439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6170022" y="405333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6285127" y="436188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6988706" y="416029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6997824" y="423437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6365119" y="477799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6849693" y="443357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6045069" y="446987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6381867" y="486468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6194767" y="437320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6927771" y="407759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6421526" y="476936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6792070" y="408677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6030072" y="410618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6951807" y="427828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6771890" y="484613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6346835" y="429182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6990971" y="459690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6266766" y="468511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6323317" y="429476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5997707" y="471964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6948040" y="461195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6975936" y="407226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6237292" y="447140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6990021" y="489513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6396237" y="427300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6441451" y="448758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6960160" y="421271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6829451" y="470445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TextBox 422"/>
          <p:cNvSpPr txBox="1"/>
          <p:nvPr/>
        </p:nvSpPr>
        <p:spPr>
          <a:xfrm>
            <a:off x="7748259" y="2706624"/>
            <a:ext cx="3864621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(b) Measurement noise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7748259" y="3017520"/>
            <a:ext cx="3864621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30" b="1">
                <a:solidFill>
                  <a:srgbClr val="6B7280"/>
                </a:solidFill>
                <a:latin typeface="맑은 고딕"/>
                <a:ea typeface="맑은 고딕"/>
              </a:rPr>
              <a:t>gray = fleet/reference     color = sampled εₜ</a:t>
            </a:r>
          </a:p>
        </p:txBody>
      </p:sp>
      <p:sp>
        <p:nvSpPr>
          <p:cNvPr id="425" name="Rectangle 424"/>
          <p:cNvSpPr/>
          <p:nvPr/>
        </p:nvSpPr>
        <p:spPr>
          <a:xfrm>
            <a:off x="7748259" y="3273552"/>
            <a:ext cx="3864621" cy="822960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TextBox 425"/>
          <p:cNvSpPr txBox="1"/>
          <p:nvPr/>
        </p:nvSpPr>
        <p:spPr>
          <a:xfrm>
            <a:off x="7857987" y="3300984"/>
            <a:ext cx="1545848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80" b="1">
                <a:solidFill>
                  <a:srgbClr val="0F1E3D"/>
                </a:solidFill>
                <a:latin typeface="맑은 고딕"/>
                <a:ea typeface="맑은 고딕"/>
              </a:rPr>
              <a:t>Gaussian iid</a:t>
            </a:r>
          </a:p>
        </p:txBody>
      </p:sp>
      <p:sp>
        <p:nvSpPr>
          <p:cNvPr id="427" name="TextBox 426"/>
          <p:cNvSpPr txBox="1"/>
          <p:nvPr/>
        </p:nvSpPr>
        <p:spPr>
          <a:xfrm>
            <a:off x="9448692" y="3300984"/>
            <a:ext cx="1932310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960" b="1">
                <a:solidFill>
                  <a:srgbClr val="6B7280"/>
                </a:solidFill>
                <a:latin typeface="Cambria Math"/>
                <a:ea typeface="Cambria Math"/>
              </a:rPr>
              <a:t>εₜ ~ N(0, σ²)</a:t>
            </a:r>
          </a:p>
        </p:txBody>
      </p:sp>
      <p:sp>
        <p:nvSpPr>
          <p:cNvPr id="428" name="Rectangle 427"/>
          <p:cNvSpPr/>
          <p:nvPr/>
        </p:nvSpPr>
        <p:spPr>
          <a:xfrm>
            <a:off x="7949427" y="3945636"/>
            <a:ext cx="3462285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Rectangle 428"/>
          <p:cNvSpPr/>
          <p:nvPr/>
        </p:nvSpPr>
        <p:spPr>
          <a:xfrm>
            <a:off x="7949427" y="3520440"/>
            <a:ext cx="13716" cy="438912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10786153" y="3839561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10040027" y="367549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9043908" y="3688051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10645907" y="3583771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8620689" y="383221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8793789" y="357850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8054785" y="3758371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9065408" y="391604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10996380" y="391883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8854669" y="358563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8271382" y="373841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10394970" y="3719428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8748394" y="370832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10085221" y="380317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10527249" y="386690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10237969" y="3599311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10848875" y="366295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9900254" y="3692148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10492939" y="362807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8794210" y="364509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8468385" y="388061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9939712" y="367495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9308845" y="392053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9694042" y="363994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10736599" y="3795510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11368510" y="3592368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9581303" y="385662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10847785" y="389175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8077284" y="366291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8350301" y="362453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11306222" y="3769653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11158066" y="369187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10936319" y="3720221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8837554" y="384139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11211830" y="359363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10001571" y="3783203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8691090" y="369057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8427001" y="362984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8820123" y="377563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10193713" y="362964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7976940" y="3675291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10286076" y="362289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9018450" y="362963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10691030" y="375669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8156602" y="359201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9306169" y="375746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10150570" y="358824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8504279" y="381102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9356346" y="3659088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9002524" y="390606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9019025" y="376350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9174204" y="370817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Oval 481"/>
          <p:cNvSpPr/>
          <p:nvPr/>
        </p:nvSpPr>
        <p:spPr>
          <a:xfrm>
            <a:off x="10929807" y="392207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Oval 482"/>
          <p:cNvSpPr/>
          <p:nvPr/>
        </p:nvSpPr>
        <p:spPr>
          <a:xfrm>
            <a:off x="9197054" y="362734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Oval 483"/>
          <p:cNvSpPr/>
          <p:nvPr/>
        </p:nvSpPr>
        <p:spPr>
          <a:xfrm>
            <a:off x="10458193" y="3629728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Oval 484"/>
          <p:cNvSpPr/>
          <p:nvPr/>
        </p:nvSpPr>
        <p:spPr>
          <a:xfrm>
            <a:off x="7957886" y="388705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9404699" y="385709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xfrm>
            <a:off x="9343981" y="388012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7987014" y="3781340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8102424" y="3718069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8217833" y="3620339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8333243" y="3720430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8448652" y="3852557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8564062" y="3879252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xfrm>
            <a:off x="8679471" y="3627201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xfrm>
            <a:off x="8794881" y="3665917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8910290" y="3802180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9025700" y="3655490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9141109" y="3687263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9256519" y="3674037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9371928" y="3928546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9487338" y="3757202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9602747" y="3651909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9718157" y="3666529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Oval 503"/>
          <p:cNvSpPr/>
          <p:nvPr/>
        </p:nvSpPr>
        <p:spPr>
          <a:xfrm>
            <a:off x="9833566" y="3653572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Oval 504"/>
          <p:cNvSpPr/>
          <p:nvPr/>
        </p:nvSpPr>
        <p:spPr>
          <a:xfrm>
            <a:off x="9948976" y="3945914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10064385" y="3715948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10179795" y="3687654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10295204" y="3511845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10410614" y="3814264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10526023" y="3759582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10641433" y="3727612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10756842" y="3653163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10872252" y="3769569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xfrm>
            <a:off x="10987661" y="3630295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Oval 514"/>
          <p:cNvSpPr/>
          <p:nvPr/>
        </p:nvSpPr>
        <p:spPr>
          <a:xfrm>
            <a:off x="11103071" y="3799742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11218480" y="3707384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11333890" y="3776931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Rectangle 517"/>
          <p:cNvSpPr/>
          <p:nvPr/>
        </p:nvSpPr>
        <p:spPr>
          <a:xfrm>
            <a:off x="7748259" y="4187952"/>
            <a:ext cx="3864621" cy="822960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TextBox 518"/>
          <p:cNvSpPr txBox="1"/>
          <p:nvPr/>
        </p:nvSpPr>
        <p:spPr>
          <a:xfrm>
            <a:off x="7857987" y="4215384"/>
            <a:ext cx="1545848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80" b="1">
                <a:solidFill>
                  <a:srgbClr val="0F1E3D"/>
                </a:solidFill>
                <a:latin typeface="맑은 고딕"/>
                <a:ea typeface="맑은 고딕"/>
              </a:rPr>
              <a:t>Correlated AR(1)</a:t>
            </a:r>
          </a:p>
        </p:txBody>
      </p:sp>
      <p:sp>
        <p:nvSpPr>
          <p:cNvPr id="520" name="TextBox 519"/>
          <p:cNvSpPr txBox="1"/>
          <p:nvPr/>
        </p:nvSpPr>
        <p:spPr>
          <a:xfrm>
            <a:off x="9448692" y="4215384"/>
            <a:ext cx="1932310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960" b="1">
                <a:solidFill>
                  <a:srgbClr val="6B7280"/>
                </a:solidFill>
                <a:latin typeface="Cambria Math"/>
                <a:ea typeface="Cambria Math"/>
              </a:rPr>
              <a:t>εₜ = ρεₜ₋₁ + ηₜ</a:t>
            </a:r>
          </a:p>
        </p:txBody>
      </p:sp>
      <p:sp>
        <p:nvSpPr>
          <p:cNvPr id="521" name="Rectangle 520"/>
          <p:cNvSpPr/>
          <p:nvPr/>
        </p:nvSpPr>
        <p:spPr>
          <a:xfrm>
            <a:off x="7949427" y="4860036"/>
            <a:ext cx="3462285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Rectangle 521"/>
          <p:cNvSpPr/>
          <p:nvPr/>
        </p:nvSpPr>
        <p:spPr>
          <a:xfrm>
            <a:off x="7949427" y="4434840"/>
            <a:ext cx="13716" cy="438912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Oval 522"/>
          <p:cNvSpPr/>
          <p:nvPr/>
        </p:nvSpPr>
        <p:spPr>
          <a:xfrm>
            <a:off x="10658292" y="455091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Oval 523"/>
          <p:cNvSpPr/>
          <p:nvPr/>
        </p:nvSpPr>
        <p:spPr>
          <a:xfrm>
            <a:off x="9337980" y="478107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Oval 524"/>
          <p:cNvSpPr/>
          <p:nvPr/>
        </p:nvSpPr>
        <p:spPr>
          <a:xfrm>
            <a:off x="10808424" y="453649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Oval 525"/>
          <p:cNvSpPr/>
          <p:nvPr/>
        </p:nvSpPr>
        <p:spPr>
          <a:xfrm>
            <a:off x="8692792" y="461641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Oval 526"/>
          <p:cNvSpPr/>
          <p:nvPr/>
        </p:nvSpPr>
        <p:spPr>
          <a:xfrm>
            <a:off x="9730631" y="4610458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Oval 527"/>
          <p:cNvSpPr/>
          <p:nvPr/>
        </p:nvSpPr>
        <p:spPr>
          <a:xfrm>
            <a:off x="8363597" y="456012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Oval 528"/>
          <p:cNvSpPr/>
          <p:nvPr/>
        </p:nvSpPr>
        <p:spPr>
          <a:xfrm>
            <a:off x="10447290" y="479985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Oval 529"/>
          <p:cNvSpPr/>
          <p:nvPr/>
        </p:nvSpPr>
        <p:spPr>
          <a:xfrm>
            <a:off x="8079836" y="467636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Oval 530"/>
          <p:cNvSpPr/>
          <p:nvPr/>
        </p:nvSpPr>
        <p:spPr>
          <a:xfrm>
            <a:off x="10560086" y="448309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Oval 531"/>
          <p:cNvSpPr/>
          <p:nvPr/>
        </p:nvSpPr>
        <p:spPr>
          <a:xfrm>
            <a:off x="10839642" y="451244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Oval 532"/>
          <p:cNvSpPr/>
          <p:nvPr/>
        </p:nvSpPr>
        <p:spPr>
          <a:xfrm>
            <a:off x="10013248" y="467183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Oval 533"/>
          <p:cNvSpPr/>
          <p:nvPr/>
        </p:nvSpPr>
        <p:spPr>
          <a:xfrm>
            <a:off x="10108539" y="458193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Oval 534"/>
          <p:cNvSpPr/>
          <p:nvPr/>
        </p:nvSpPr>
        <p:spPr>
          <a:xfrm>
            <a:off x="9391948" y="4683843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Oval 535"/>
          <p:cNvSpPr/>
          <p:nvPr/>
        </p:nvSpPr>
        <p:spPr>
          <a:xfrm>
            <a:off x="9411572" y="4711943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Oval 536"/>
          <p:cNvSpPr/>
          <p:nvPr/>
        </p:nvSpPr>
        <p:spPr>
          <a:xfrm>
            <a:off x="9484452" y="4630653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Oval 537"/>
          <p:cNvSpPr/>
          <p:nvPr/>
        </p:nvSpPr>
        <p:spPr>
          <a:xfrm>
            <a:off x="8018471" y="469721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Oval 538"/>
          <p:cNvSpPr/>
          <p:nvPr/>
        </p:nvSpPr>
        <p:spPr>
          <a:xfrm>
            <a:off x="9632334" y="4555773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Oval 539"/>
          <p:cNvSpPr/>
          <p:nvPr/>
        </p:nvSpPr>
        <p:spPr>
          <a:xfrm>
            <a:off x="10581220" y="4756603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Oval 540"/>
          <p:cNvSpPr/>
          <p:nvPr/>
        </p:nvSpPr>
        <p:spPr>
          <a:xfrm>
            <a:off x="9524267" y="4535243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Oval 541"/>
          <p:cNvSpPr/>
          <p:nvPr/>
        </p:nvSpPr>
        <p:spPr>
          <a:xfrm>
            <a:off x="9575958" y="450851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Oval 542"/>
          <p:cNvSpPr/>
          <p:nvPr/>
        </p:nvSpPr>
        <p:spPr>
          <a:xfrm>
            <a:off x="8382290" y="462779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Oval 543"/>
          <p:cNvSpPr/>
          <p:nvPr/>
        </p:nvSpPr>
        <p:spPr>
          <a:xfrm>
            <a:off x="8255077" y="463198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Oval 544"/>
          <p:cNvSpPr/>
          <p:nvPr/>
        </p:nvSpPr>
        <p:spPr>
          <a:xfrm>
            <a:off x="9703863" y="448406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Oval 545"/>
          <p:cNvSpPr/>
          <p:nvPr/>
        </p:nvSpPr>
        <p:spPr>
          <a:xfrm>
            <a:off x="10141066" y="4499360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Oval 546"/>
          <p:cNvSpPr/>
          <p:nvPr/>
        </p:nvSpPr>
        <p:spPr>
          <a:xfrm>
            <a:off x="10477057" y="4755741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Oval 547"/>
          <p:cNvSpPr/>
          <p:nvPr/>
        </p:nvSpPr>
        <p:spPr>
          <a:xfrm>
            <a:off x="9708435" y="448904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Oval 548"/>
          <p:cNvSpPr/>
          <p:nvPr/>
        </p:nvSpPr>
        <p:spPr>
          <a:xfrm>
            <a:off x="9682268" y="4608351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Oval 549"/>
          <p:cNvSpPr/>
          <p:nvPr/>
        </p:nvSpPr>
        <p:spPr>
          <a:xfrm>
            <a:off x="11229715" y="451924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Oval 550"/>
          <p:cNvSpPr/>
          <p:nvPr/>
        </p:nvSpPr>
        <p:spPr>
          <a:xfrm>
            <a:off x="10904960" y="483629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Oval 551"/>
          <p:cNvSpPr/>
          <p:nvPr/>
        </p:nvSpPr>
        <p:spPr>
          <a:xfrm>
            <a:off x="10472224" y="476951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Oval 552"/>
          <p:cNvSpPr/>
          <p:nvPr/>
        </p:nvSpPr>
        <p:spPr>
          <a:xfrm>
            <a:off x="8608209" y="483098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Oval 553"/>
          <p:cNvSpPr/>
          <p:nvPr/>
        </p:nvSpPr>
        <p:spPr>
          <a:xfrm>
            <a:off x="9640534" y="482173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Oval 554"/>
          <p:cNvSpPr/>
          <p:nvPr/>
        </p:nvSpPr>
        <p:spPr>
          <a:xfrm>
            <a:off x="11109135" y="4529913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Oval 555"/>
          <p:cNvSpPr/>
          <p:nvPr/>
        </p:nvSpPr>
        <p:spPr>
          <a:xfrm>
            <a:off x="10667141" y="4812130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Oval 556"/>
          <p:cNvSpPr/>
          <p:nvPr/>
        </p:nvSpPr>
        <p:spPr>
          <a:xfrm>
            <a:off x="8164375" y="4598410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Oval 557"/>
          <p:cNvSpPr/>
          <p:nvPr/>
        </p:nvSpPr>
        <p:spPr>
          <a:xfrm>
            <a:off x="10555649" y="452757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Oval 558"/>
          <p:cNvSpPr/>
          <p:nvPr/>
        </p:nvSpPr>
        <p:spPr>
          <a:xfrm>
            <a:off x="11041607" y="457042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Oval 559"/>
          <p:cNvSpPr/>
          <p:nvPr/>
        </p:nvSpPr>
        <p:spPr>
          <a:xfrm>
            <a:off x="10761471" y="452197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Oval 560"/>
          <p:cNvSpPr/>
          <p:nvPr/>
        </p:nvSpPr>
        <p:spPr>
          <a:xfrm>
            <a:off x="9676361" y="480819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Oval 561"/>
          <p:cNvSpPr/>
          <p:nvPr/>
        </p:nvSpPr>
        <p:spPr>
          <a:xfrm>
            <a:off x="8658814" y="456595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Oval 562"/>
          <p:cNvSpPr/>
          <p:nvPr/>
        </p:nvSpPr>
        <p:spPr>
          <a:xfrm>
            <a:off x="9689480" y="4586678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Oval 563"/>
          <p:cNvSpPr/>
          <p:nvPr/>
        </p:nvSpPr>
        <p:spPr>
          <a:xfrm>
            <a:off x="8065066" y="453617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Oval 564"/>
          <p:cNvSpPr/>
          <p:nvPr/>
        </p:nvSpPr>
        <p:spPr>
          <a:xfrm>
            <a:off x="8495761" y="481427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Oval 565"/>
          <p:cNvSpPr/>
          <p:nvPr/>
        </p:nvSpPr>
        <p:spPr>
          <a:xfrm>
            <a:off x="10290785" y="4799163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Oval 566"/>
          <p:cNvSpPr/>
          <p:nvPr/>
        </p:nvSpPr>
        <p:spPr>
          <a:xfrm>
            <a:off x="8521773" y="475840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Oval 567"/>
          <p:cNvSpPr/>
          <p:nvPr/>
        </p:nvSpPr>
        <p:spPr>
          <a:xfrm>
            <a:off x="8335975" y="466470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Oval 568"/>
          <p:cNvSpPr/>
          <p:nvPr/>
        </p:nvSpPr>
        <p:spPr>
          <a:xfrm>
            <a:off x="10140656" y="460168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Oval 569"/>
          <p:cNvSpPr/>
          <p:nvPr/>
        </p:nvSpPr>
        <p:spPr>
          <a:xfrm>
            <a:off x="10959948" y="467372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Oval 570"/>
          <p:cNvSpPr/>
          <p:nvPr/>
        </p:nvSpPr>
        <p:spPr>
          <a:xfrm>
            <a:off x="9945816" y="479441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Oval 571"/>
          <p:cNvSpPr/>
          <p:nvPr/>
        </p:nvSpPr>
        <p:spPr>
          <a:xfrm>
            <a:off x="8299725" y="483512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Oval 572"/>
          <p:cNvSpPr/>
          <p:nvPr/>
        </p:nvSpPr>
        <p:spPr>
          <a:xfrm>
            <a:off x="10118004" y="461439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Oval 573"/>
          <p:cNvSpPr/>
          <p:nvPr/>
        </p:nvSpPr>
        <p:spPr>
          <a:xfrm>
            <a:off x="10699302" y="4566650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Oval 574"/>
          <p:cNvSpPr/>
          <p:nvPr/>
        </p:nvSpPr>
        <p:spPr>
          <a:xfrm>
            <a:off x="11366927" y="468190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Oval 575"/>
          <p:cNvSpPr/>
          <p:nvPr/>
        </p:nvSpPr>
        <p:spPr>
          <a:xfrm>
            <a:off x="9184832" y="475094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Oval 576"/>
          <p:cNvSpPr/>
          <p:nvPr/>
        </p:nvSpPr>
        <p:spPr>
          <a:xfrm>
            <a:off x="9468845" y="453420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Oval 577"/>
          <p:cNvSpPr/>
          <p:nvPr/>
        </p:nvSpPr>
        <p:spPr>
          <a:xfrm>
            <a:off x="10512076" y="4486843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Oval 578"/>
          <p:cNvSpPr/>
          <p:nvPr/>
        </p:nvSpPr>
        <p:spPr>
          <a:xfrm>
            <a:off x="10776005" y="456255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Oval 579"/>
          <p:cNvSpPr/>
          <p:nvPr/>
        </p:nvSpPr>
        <p:spPr>
          <a:xfrm>
            <a:off x="10150763" y="483184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Oval 580"/>
          <p:cNvSpPr/>
          <p:nvPr/>
        </p:nvSpPr>
        <p:spPr>
          <a:xfrm>
            <a:off x="7987014" y="4697685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Oval 581"/>
          <p:cNvSpPr/>
          <p:nvPr/>
        </p:nvSpPr>
        <p:spPr>
          <a:xfrm>
            <a:off x="8102424" y="4719687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Oval 582"/>
          <p:cNvSpPr/>
          <p:nvPr/>
        </p:nvSpPr>
        <p:spPr>
          <a:xfrm>
            <a:off x="8217833" y="4707223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Oval 583"/>
          <p:cNvSpPr/>
          <p:nvPr/>
        </p:nvSpPr>
        <p:spPr>
          <a:xfrm>
            <a:off x="8333243" y="4693756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Oval 584"/>
          <p:cNvSpPr/>
          <p:nvPr/>
        </p:nvSpPr>
        <p:spPr>
          <a:xfrm>
            <a:off x="8448652" y="4661944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Oval 585"/>
          <p:cNvSpPr/>
          <p:nvPr/>
        </p:nvSpPr>
        <p:spPr>
          <a:xfrm>
            <a:off x="8564062" y="4653950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Oval 586"/>
          <p:cNvSpPr/>
          <p:nvPr/>
        </p:nvSpPr>
        <p:spPr>
          <a:xfrm>
            <a:off x="8679471" y="4685276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Oval 587"/>
          <p:cNvSpPr/>
          <p:nvPr/>
        </p:nvSpPr>
        <p:spPr>
          <a:xfrm>
            <a:off x="8794881" y="4707456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Oval 588"/>
          <p:cNvSpPr/>
          <p:nvPr/>
        </p:nvSpPr>
        <p:spPr>
          <a:xfrm>
            <a:off x="8910290" y="4784123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Oval 589"/>
          <p:cNvSpPr/>
          <p:nvPr/>
        </p:nvSpPr>
        <p:spPr>
          <a:xfrm>
            <a:off x="9025700" y="4766123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Oval 590"/>
          <p:cNvSpPr/>
          <p:nvPr/>
        </p:nvSpPr>
        <p:spPr>
          <a:xfrm>
            <a:off x="9141109" y="4724238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Oval 591"/>
          <p:cNvSpPr/>
          <p:nvPr/>
        </p:nvSpPr>
        <p:spPr>
          <a:xfrm>
            <a:off x="9256519" y="4688033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Oval 592"/>
          <p:cNvSpPr/>
          <p:nvPr/>
        </p:nvSpPr>
        <p:spPr>
          <a:xfrm>
            <a:off x="9371928" y="4685351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Oval 593"/>
          <p:cNvSpPr/>
          <p:nvPr/>
        </p:nvSpPr>
        <p:spPr>
          <a:xfrm>
            <a:off x="9487338" y="4685339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Oval 594"/>
          <p:cNvSpPr/>
          <p:nvPr/>
        </p:nvSpPr>
        <p:spPr>
          <a:xfrm>
            <a:off x="9602747" y="4639271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Oval 595"/>
          <p:cNvSpPr/>
          <p:nvPr/>
        </p:nvSpPr>
        <p:spPr>
          <a:xfrm>
            <a:off x="9718157" y="4639692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Oval 596"/>
          <p:cNvSpPr/>
          <p:nvPr/>
        </p:nvSpPr>
        <p:spPr>
          <a:xfrm>
            <a:off x="9833566" y="4610072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Oval 597"/>
          <p:cNvSpPr/>
          <p:nvPr/>
        </p:nvSpPr>
        <p:spPr>
          <a:xfrm>
            <a:off x="9948976" y="4592226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Oval 598"/>
          <p:cNvSpPr/>
          <p:nvPr/>
        </p:nvSpPr>
        <p:spPr>
          <a:xfrm>
            <a:off x="10064385" y="4592911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Oval 599"/>
          <p:cNvSpPr/>
          <p:nvPr/>
        </p:nvSpPr>
        <p:spPr>
          <a:xfrm>
            <a:off x="10179795" y="4548128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Oval 600"/>
          <p:cNvSpPr/>
          <p:nvPr/>
        </p:nvSpPr>
        <p:spPr>
          <a:xfrm>
            <a:off x="10295204" y="4589346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Oval 601"/>
          <p:cNvSpPr/>
          <p:nvPr/>
        </p:nvSpPr>
        <p:spPr>
          <a:xfrm>
            <a:off x="10410614" y="4614276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Oval 602"/>
          <p:cNvSpPr/>
          <p:nvPr/>
        </p:nvSpPr>
        <p:spPr>
          <a:xfrm>
            <a:off x="10526023" y="4653345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Oval 603"/>
          <p:cNvSpPr/>
          <p:nvPr/>
        </p:nvSpPr>
        <p:spPr>
          <a:xfrm>
            <a:off x="10641433" y="4684935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Oval 604"/>
          <p:cNvSpPr/>
          <p:nvPr/>
        </p:nvSpPr>
        <p:spPr>
          <a:xfrm>
            <a:off x="10756842" y="4613237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Oval 605"/>
          <p:cNvSpPr/>
          <p:nvPr/>
        </p:nvSpPr>
        <p:spPr>
          <a:xfrm>
            <a:off x="10872252" y="4546010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Oval 606"/>
          <p:cNvSpPr/>
          <p:nvPr/>
        </p:nvSpPr>
        <p:spPr>
          <a:xfrm>
            <a:off x="10987661" y="4562906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Oval 607"/>
          <p:cNvSpPr/>
          <p:nvPr/>
        </p:nvSpPr>
        <p:spPr>
          <a:xfrm>
            <a:off x="11103071" y="4554141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Oval 608"/>
          <p:cNvSpPr/>
          <p:nvPr/>
        </p:nvSpPr>
        <p:spPr>
          <a:xfrm>
            <a:off x="11218480" y="4521774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Oval 609"/>
          <p:cNvSpPr/>
          <p:nvPr/>
        </p:nvSpPr>
        <p:spPr>
          <a:xfrm>
            <a:off x="11333890" y="4510491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Rectangle 610"/>
          <p:cNvSpPr/>
          <p:nvPr/>
        </p:nvSpPr>
        <p:spPr>
          <a:xfrm>
            <a:off x="7748259" y="5102352"/>
            <a:ext cx="3864621" cy="822960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TextBox 611"/>
          <p:cNvSpPr txBox="1"/>
          <p:nvPr/>
        </p:nvSpPr>
        <p:spPr>
          <a:xfrm>
            <a:off x="7857987" y="5129784"/>
            <a:ext cx="1545848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80" b="1">
                <a:solidFill>
                  <a:srgbClr val="0F1E3D"/>
                </a:solidFill>
                <a:latin typeface="맑은 고딕"/>
                <a:ea typeface="맑은 고딕"/>
              </a:rPr>
              <a:t>Laplacian</a:t>
            </a:r>
          </a:p>
        </p:txBody>
      </p:sp>
      <p:sp>
        <p:nvSpPr>
          <p:cNvPr id="613" name="TextBox 612"/>
          <p:cNvSpPr txBox="1"/>
          <p:nvPr/>
        </p:nvSpPr>
        <p:spPr>
          <a:xfrm>
            <a:off x="9448692" y="5129784"/>
            <a:ext cx="1932310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960" b="1">
                <a:solidFill>
                  <a:srgbClr val="6B7280"/>
                </a:solidFill>
                <a:latin typeface="Cambria Math"/>
                <a:ea typeface="Cambria Math"/>
              </a:rPr>
              <a:t>εₜ ~ Laplace(0, b)</a:t>
            </a:r>
          </a:p>
        </p:txBody>
      </p:sp>
      <p:sp>
        <p:nvSpPr>
          <p:cNvPr id="614" name="Rectangle 613"/>
          <p:cNvSpPr/>
          <p:nvPr/>
        </p:nvSpPr>
        <p:spPr>
          <a:xfrm>
            <a:off x="7949427" y="5774436"/>
            <a:ext cx="3462285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Rectangle 614"/>
          <p:cNvSpPr/>
          <p:nvPr/>
        </p:nvSpPr>
        <p:spPr>
          <a:xfrm>
            <a:off x="7949427" y="5349240"/>
            <a:ext cx="13716" cy="438912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Oval 615"/>
          <p:cNvSpPr/>
          <p:nvPr/>
        </p:nvSpPr>
        <p:spPr>
          <a:xfrm>
            <a:off x="10954179" y="567180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Oval 616"/>
          <p:cNvSpPr/>
          <p:nvPr/>
        </p:nvSpPr>
        <p:spPr>
          <a:xfrm>
            <a:off x="9329215" y="5480860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Oval 617"/>
          <p:cNvSpPr/>
          <p:nvPr/>
        </p:nvSpPr>
        <p:spPr>
          <a:xfrm>
            <a:off x="7977342" y="5621220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Oval 618"/>
          <p:cNvSpPr/>
          <p:nvPr/>
        </p:nvSpPr>
        <p:spPr>
          <a:xfrm>
            <a:off x="9884490" y="5512601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Oval 619"/>
          <p:cNvSpPr/>
          <p:nvPr/>
        </p:nvSpPr>
        <p:spPr>
          <a:xfrm>
            <a:off x="10172805" y="554704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Oval 620"/>
          <p:cNvSpPr/>
          <p:nvPr/>
        </p:nvSpPr>
        <p:spPr>
          <a:xfrm>
            <a:off x="11182245" y="565387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Oval 621"/>
          <p:cNvSpPr/>
          <p:nvPr/>
        </p:nvSpPr>
        <p:spPr>
          <a:xfrm>
            <a:off x="8797907" y="571654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Oval 622"/>
          <p:cNvSpPr/>
          <p:nvPr/>
        </p:nvSpPr>
        <p:spPr>
          <a:xfrm>
            <a:off x="8089887" y="557940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Oval 623"/>
          <p:cNvSpPr/>
          <p:nvPr/>
        </p:nvSpPr>
        <p:spPr>
          <a:xfrm>
            <a:off x="9343188" y="547106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Oval 624"/>
          <p:cNvSpPr/>
          <p:nvPr/>
        </p:nvSpPr>
        <p:spPr>
          <a:xfrm>
            <a:off x="8139665" y="567059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Oval 625"/>
          <p:cNvSpPr/>
          <p:nvPr/>
        </p:nvSpPr>
        <p:spPr>
          <a:xfrm>
            <a:off x="7980299" y="558655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Oval 626"/>
          <p:cNvSpPr/>
          <p:nvPr/>
        </p:nvSpPr>
        <p:spPr>
          <a:xfrm>
            <a:off x="11195275" y="5435891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Oval 627"/>
          <p:cNvSpPr/>
          <p:nvPr/>
        </p:nvSpPr>
        <p:spPr>
          <a:xfrm>
            <a:off x="8628329" y="560762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Oval 628"/>
          <p:cNvSpPr/>
          <p:nvPr/>
        </p:nvSpPr>
        <p:spPr>
          <a:xfrm>
            <a:off x="9692739" y="561997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Oval 629"/>
          <p:cNvSpPr/>
          <p:nvPr/>
        </p:nvSpPr>
        <p:spPr>
          <a:xfrm>
            <a:off x="10753696" y="544782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Oval 630"/>
          <p:cNvSpPr/>
          <p:nvPr/>
        </p:nvSpPr>
        <p:spPr>
          <a:xfrm>
            <a:off x="9008710" y="5494143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Oval 631"/>
          <p:cNvSpPr/>
          <p:nvPr/>
        </p:nvSpPr>
        <p:spPr>
          <a:xfrm>
            <a:off x="8105428" y="571132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Oval 632"/>
          <p:cNvSpPr/>
          <p:nvPr/>
        </p:nvSpPr>
        <p:spPr>
          <a:xfrm>
            <a:off x="10648419" y="564719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Oval 633"/>
          <p:cNvSpPr/>
          <p:nvPr/>
        </p:nvSpPr>
        <p:spPr>
          <a:xfrm>
            <a:off x="7959523" y="5694768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Oval 634"/>
          <p:cNvSpPr/>
          <p:nvPr/>
        </p:nvSpPr>
        <p:spPr>
          <a:xfrm>
            <a:off x="10517591" y="555497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Oval 635"/>
          <p:cNvSpPr/>
          <p:nvPr/>
        </p:nvSpPr>
        <p:spPr>
          <a:xfrm>
            <a:off x="10505707" y="555026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Oval 636"/>
          <p:cNvSpPr/>
          <p:nvPr/>
        </p:nvSpPr>
        <p:spPr>
          <a:xfrm>
            <a:off x="8719837" y="542225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Oval 637"/>
          <p:cNvSpPr/>
          <p:nvPr/>
        </p:nvSpPr>
        <p:spPr>
          <a:xfrm>
            <a:off x="8741817" y="5397751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Oval 638"/>
          <p:cNvSpPr/>
          <p:nvPr/>
        </p:nvSpPr>
        <p:spPr>
          <a:xfrm>
            <a:off x="9099192" y="565982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Oval 639"/>
          <p:cNvSpPr/>
          <p:nvPr/>
        </p:nvSpPr>
        <p:spPr>
          <a:xfrm>
            <a:off x="10344206" y="5695100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Oval 640"/>
          <p:cNvSpPr/>
          <p:nvPr/>
        </p:nvSpPr>
        <p:spPr>
          <a:xfrm>
            <a:off x="10401593" y="548150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Oval 641"/>
          <p:cNvSpPr/>
          <p:nvPr/>
        </p:nvSpPr>
        <p:spPr>
          <a:xfrm>
            <a:off x="9854911" y="554420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Oval 642"/>
          <p:cNvSpPr/>
          <p:nvPr/>
        </p:nvSpPr>
        <p:spPr>
          <a:xfrm>
            <a:off x="10667378" y="5576350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Oval 643"/>
          <p:cNvSpPr/>
          <p:nvPr/>
        </p:nvSpPr>
        <p:spPr>
          <a:xfrm>
            <a:off x="8856071" y="562013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Oval 644"/>
          <p:cNvSpPr/>
          <p:nvPr/>
        </p:nvSpPr>
        <p:spPr>
          <a:xfrm>
            <a:off x="11279132" y="546344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Oval 645"/>
          <p:cNvSpPr/>
          <p:nvPr/>
        </p:nvSpPr>
        <p:spPr>
          <a:xfrm>
            <a:off x="10984507" y="5389053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Oval 646"/>
          <p:cNvSpPr/>
          <p:nvPr/>
        </p:nvSpPr>
        <p:spPr>
          <a:xfrm>
            <a:off x="8839010" y="547048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Oval 647"/>
          <p:cNvSpPr/>
          <p:nvPr/>
        </p:nvSpPr>
        <p:spPr>
          <a:xfrm>
            <a:off x="10513059" y="573173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Oval 648"/>
          <p:cNvSpPr/>
          <p:nvPr/>
        </p:nvSpPr>
        <p:spPr>
          <a:xfrm>
            <a:off x="10520928" y="550395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Oval 649"/>
          <p:cNvSpPr/>
          <p:nvPr/>
        </p:nvSpPr>
        <p:spPr>
          <a:xfrm>
            <a:off x="10984921" y="550457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Oval 650"/>
          <p:cNvSpPr/>
          <p:nvPr/>
        </p:nvSpPr>
        <p:spPr>
          <a:xfrm>
            <a:off x="8765606" y="571804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Oval 651"/>
          <p:cNvSpPr/>
          <p:nvPr/>
        </p:nvSpPr>
        <p:spPr>
          <a:xfrm>
            <a:off x="10121189" y="563887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Oval 652"/>
          <p:cNvSpPr/>
          <p:nvPr/>
        </p:nvSpPr>
        <p:spPr>
          <a:xfrm>
            <a:off x="10240777" y="574438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Oval 653"/>
          <p:cNvSpPr/>
          <p:nvPr/>
        </p:nvSpPr>
        <p:spPr>
          <a:xfrm>
            <a:off x="9563058" y="569302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Oval 654"/>
          <p:cNvSpPr/>
          <p:nvPr/>
        </p:nvSpPr>
        <p:spPr>
          <a:xfrm>
            <a:off x="10352893" y="569959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Oval 655"/>
          <p:cNvSpPr/>
          <p:nvPr/>
        </p:nvSpPr>
        <p:spPr>
          <a:xfrm>
            <a:off x="9451299" y="565059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Oval 656"/>
          <p:cNvSpPr/>
          <p:nvPr/>
        </p:nvSpPr>
        <p:spPr>
          <a:xfrm>
            <a:off x="9912221" y="549690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Oval 657"/>
          <p:cNvSpPr/>
          <p:nvPr/>
        </p:nvSpPr>
        <p:spPr>
          <a:xfrm>
            <a:off x="8671427" y="561298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Oval 658"/>
          <p:cNvSpPr/>
          <p:nvPr/>
        </p:nvSpPr>
        <p:spPr>
          <a:xfrm>
            <a:off x="8206913" y="571923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Oval 659"/>
          <p:cNvSpPr/>
          <p:nvPr/>
        </p:nvSpPr>
        <p:spPr>
          <a:xfrm>
            <a:off x="8438168" y="5393358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Oval 660"/>
          <p:cNvSpPr/>
          <p:nvPr/>
        </p:nvSpPr>
        <p:spPr>
          <a:xfrm>
            <a:off x="8306890" y="572592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Oval 661"/>
          <p:cNvSpPr/>
          <p:nvPr/>
        </p:nvSpPr>
        <p:spPr>
          <a:xfrm>
            <a:off x="9131556" y="543573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Oval 662"/>
          <p:cNvSpPr/>
          <p:nvPr/>
        </p:nvSpPr>
        <p:spPr>
          <a:xfrm>
            <a:off x="8037020" y="539879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Oval 663"/>
          <p:cNvSpPr/>
          <p:nvPr/>
        </p:nvSpPr>
        <p:spPr>
          <a:xfrm>
            <a:off x="10335605" y="561713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Oval 664"/>
          <p:cNvSpPr/>
          <p:nvPr/>
        </p:nvSpPr>
        <p:spPr>
          <a:xfrm>
            <a:off x="10350779" y="5655080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Oval 665"/>
          <p:cNvSpPr/>
          <p:nvPr/>
        </p:nvSpPr>
        <p:spPr>
          <a:xfrm>
            <a:off x="8165238" y="560113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Oval 666"/>
          <p:cNvSpPr/>
          <p:nvPr/>
        </p:nvSpPr>
        <p:spPr>
          <a:xfrm>
            <a:off x="9195755" y="5684861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Oval 667"/>
          <p:cNvSpPr/>
          <p:nvPr/>
        </p:nvSpPr>
        <p:spPr>
          <a:xfrm>
            <a:off x="10775101" y="5712040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Oval 668"/>
          <p:cNvSpPr/>
          <p:nvPr/>
        </p:nvSpPr>
        <p:spPr>
          <a:xfrm>
            <a:off x="8165872" y="5703380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Oval 669"/>
          <p:cNvSpPr/>
          <p:nvPr/>
        </p:nvSpPr>
        <p:spPr>
          <a:xfrm>
            <a:off x="11103483" y="573159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Oval 670"/>
          <p:cNvSpPr/>
          <p:nvPr/>
        </p:nvSpPr>
        <p:spPr>
          <a:xfrm>
            <a:off x="8308405" y="545928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Oval 671"/>
          <p:cNvSpPr/>
          <p:nvPr/>
        </p:nvSpPr>
        <p:spPr>
          <a:xfrm>
            <a:off x="8325211" y="539613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Oval 672"/>
          <p:cNvSpPr/>
          <p:nvPr/>
        </p:nvSpPr>
        <p:spPr>
          <a:xfrm>
            <a:off x="10872578" y="568281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Oval 673"/>
          <p:cNvSpPr/>
          <p:nvPr/>
        </p:nvSpPr>
        <p:spPr>
          <a:xfrm>
            <a:off x="7987014" y="5605345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Oval 674"/>
          <p:cNvSpPr/>
          <p:nvPr/>
        </p:nvSpPr>
        <p:spPr>
          <a:xfrm>
            <a:off x="8102424" y="5610953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Oval 675"/>
          <p:cNvSpPr/>
          <p:nvPr/>
        </p:nvSpPr>
        <p:spPr>
          <a:xfrm>
            <a:off x="8217833" y="5580111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Oval 676"/>
          <p:cNvSpPr/>
          <p:nvPr/>
        </p:nvSpPr>
        <p:spPr>
          <a:xfrm>
            <a:off x="8333243" y="5581873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Oval 677"/>
          <p:cNvSpPr/>
          <p:nvPr/>
        </p:nvSpPr>
        <p:spPr>
          <a:xfrm>
            <a:off x="8448652" y="5546007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Oval 678"/>
          <p:cNvSpPr/>
          <p:nvPr/>
        </p:nvSpPr>
        <p:spPr>
          <a:xfrm>
            <a:off x="8564062" y="5549727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Oval 679"/>
          <p:cNvSpPr/>
          <p:nvPr/>
        </p:nvSpPr>
        <p:spPr>
          <a:xfrm>
            <a:off x="8679471" y="5558396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Oval 680"/>
          <p:cNvSpPr/>
          <p:nvPr/>
        </p:nvSpPr>
        <p:spPr>
          <a:xfrm>
            <a:off x="8794881" y="5584497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Oval 681"/>
          <p:cNvSpPr/>
          <p:nvPr/>
        </p:nvSpPr>
        <p:spPr>
          <a:xfrm>
            <a:off x="8910290" y="5575843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Oval 682"/>
          <p:cNvSpPr/>
          <p:nvPr/>
        </p:nvSpPr>
        <p:spPr>
          <a:xfrm>
            <a:off x="9025700" y="5524436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Oval 683"/>
          <p:cNvSpPr/>
          <p:nvPr/>
        </p:nvSpPr>
        <p:spPr>
          <a:xfrm>
            <a:off x="9141109" y="5531398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Oval 684"/>
          <p:cNvSpPr/>
          <p:nvPr/>
        </p:nvSpPr>
        <p:spPr>
          <a:xfrm>
            <a:off x="9256519" y="5555830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Oval 685"/>
          <p:cNvSpPr/>
          <p:nvPr/>
        </p:nvSpPr>
        <p:spPr>
          <a:xfrm>
            <a:off x="9371928" y="5571443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Oval 686"/>
          <p:cNvSpPr/>
          <p:nvPr/>
        </p:nvSpPr>
        <p:spPr>
          <a:xfrm>
            <a:off x="9487338" y="5502294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Oval 687"/>
          <p:cNvSpPr/>
          <p:nvPr/>
        </p:nvSpPr>
        <p:spPr>
          <a:xfrm>
            <a:off x="9602747" y="5581456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Oval 688"/>
          <p:cNvSpPr/>
          <p:nvPr/>
        </p:nvSpPr>
        <p:spPr>
          <a:xfrm>
            <a:off x="9718157" y="5535637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Oval 689"/>
          <p:cNvSpPr/>
          <p:nvPr/>
        </p:nvSpPr>
        <p:spPr>
          <a:xfrm>
            <a:off x="9833566" y="5517020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Oval 690"/>
          <p:cNvSpPr/>
          <p:nvPr/>
        </p:nvSpPr>
        <p:spPr>
          <a:xfrm>
            <a:off x="9948976" y="5569339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Oval 691"/>
          <p:cNvSpPr/>
          <p:nvPr/>
        </p:nvSpPr>
        <p:spPr>
          <a:xfrm>
            <a:off x="10064385" y="5529119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Oval 692"/>
          <p:cNvSpPr/>
          <p:nvPr/>
        </p:nvSpPr>
        <p:spPr>
          <a:xfrm>
            <a:off x="10179795" y="5600684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Oval 693"/>
          <p:cNvSpPr/>
          <p:nvPr/>
        </p:nvSpPr>
        <p:spPr>
          <a:xfrm>
            <a:off x="10295204" y="5522219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Oval 694"/>
          <p:cNvSpPr/>
          <p:nvPr/>
        </p:nvSpPr>
        <p:spPr>
          <a:xfrm>
            <a:off x="10410614" y="5552191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Oval 695"/>
          <p:cNvSpPr/>
          <p:nvPr/>
        </p:nvSpPr>
        <p:spPr>
          <a:xfrm>
            <a:off x="10526023" y="5618049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Oval 696"/>
          <p:cNvSpPr/>
          <p:nvPr/>
        </p:nvSpPr>
        <p:spPr>
          <a:xfrm>
            <a:off x="10641433" y="5534867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Oval 697"/>
          <p:cNvSpPr/>
          <p:nvPr/>
        </p:nvSpPr>
        <p:spPr>
          <a:xfrm>
            <a:off x="10756842" y="5592447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Oval 698"/>
          <p:cNvSpPr/>
          <p:nvPr/>
        </p:nvSpPr>
        <p:spPr>
          <a:xfrm>
            <a:off x="10872252" y="5512292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Oval 699"/>
          <p:cNvSpPr/>
          <p:nvPr/>
        </p:nvSpPr>
        <p:spPr>
          <a:xfrm>
            <a:off x="10987661" y="5347558"/>
            <a:ext cx="40233" cy="40233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Oval 700"/>
          <p:cNvSpPr/>
          <p:nvPr/>
        </p:nvSpPr>
        <p:spPr>
          <a:xfrm>
            <a:off x="11103071" y="5762327"/>
            <a:ext cx="40233" cy="40233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Oval 701"/>
          <p:cNvSpPr/>
          <p:nvPr/>
        </p:nvSpPr>
        <p:spPr>
          <a:xfrm>
            <a:off x="11218480" y="5389035"/>
            <a:ext cx="40233" cy="40233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Oval 702"/>
          <p:cNvSpPr/>
          <p:nvPr/>
        </p:nvSpPr>
        <p:spPr>
          <a:xfrm>
            <a:off x="11333890" y="5716242"/>
            <a:ext cx="40233" cy="40233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TextBox 703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현업(BBD / Overlay / CD) trend 판정 경험을 영역(밀도·결측), 노이즈, 이상 규칙으로 코드화</a:t>
            </a:r>
          </a:p>
        </p:txBody>
      </p:sp>
      <p:sp>
        <p:nvSpPr>
          <p:cNvPr id="705" name="TextBox 704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706" name="TextBox 705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생성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정상 baseline 위에 이상 5종을 현장 발생 방식대로 합성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정상(Normal)에 더해 Mean shift / Variance / Spike / Trend drift / Contextual 5종을 만듭니다. 이상은 주로 trend 오른쪽 끝 구간에 주입하고(분홍 음영), context만 전체가 fleet에서 벗어납니다</a:t>
            </a:r>
          </a:p>
          <a:p>
            <a:pPr marL="420624" indent="-420624" lvl="1">
              <a:spcAft>
                <a:spcPts val="500"/>
              </a:spcAft>
            </a:pPr>
            <a:r>
              <a:rPr sz="13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50">
                <a:solidFill>
                  <a:srgbClr val="4A5666"/>
                </a:solidFill>
                <a:latin typeface="맑은 고딕"/>
                <a:ea typeface="맑은 고딕"/>
              </a:rPr>
              <a:t>이상 강도는 그 설비의 정상 산포(σ) 배수로 정해 너무 약해 보이지 않게 보정합니다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3200400"/>
            <a:ext cx="4206240" cy="384048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0" y="3200400"/>
            <a:ext cx="82296" cy="38404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3200400"/>
            <a:ext cx="387705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정상 3,500 + 이상 3,500 = 7,000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3467549" y="3630312"/>
            <a:ext cx="5317862" cy="232228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3_deck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6549" y="3639312"/>
            <a:ext cx="5299862" cy="23042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회색 = 다른 설비(fleet), 파랑 = 판정 대상 정상, 빨강 = 주입된 이상, 분홍 음영 = 이상 구간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결과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백본·누적 개선과 smoothing·color (binary gate, 5-seed)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백본 비교와 누적 개선(F1 0.9967→0.9987), checkpoint 평활화(smoothing window)와 color 변경 효과를 한 화면에 정리했습니다 (threshold 0.9)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377440"/>
            <a:ext cx="10972800" cy="3840480"/>
          </a:xfrm>
          <a:prstGeom prst="rect">
            <a:avLst/>
          </a:prstGeom>
          <a:solidFill>
            <a:srgbClr val="FFFFFF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377440"/>
            <a:ext cx="53492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2377440"/>
            <a:ext cx="53492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4434840"/>
            <a:ext cx="53492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4434840"/>
            <a:ext cx="53492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43230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Backbone sweep — F1 (5-seed)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4938" y="2901946"/>
            <a:ext cx="505663" cy="80137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2655058"/>
            <a:ext cx="842772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0.9987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730752"/>
            <a:ext cx="842772" cy="21031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dinov3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3931920"/>
            <a:ext cx="842772" cy="19202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0 / FP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97710" y="3050349"/>
            <a:ext cx="505663" cy="652971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29156" y="2803461"/>
            <a:ext cx="842772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29156" y="3730752"/>
            <a:ext cx="842772" cy="21031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9156" y="3931920"/>
            <a:ext cx="842772" cy="19202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0 / FP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40482" y="3495557"/>
            <a:ext cx="505663" cy="207763"/>
          </a:xfrm>
          <a:prstGeom prst="rect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71928" y="3248669"/>
            <a:ext cx="842772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0.9967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71928" y="3730752"/>
            <a:ext cx="842772" cy="21031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tiny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71928" y="3931920"/>
            <a:ext cx="842772" cy="19202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 / FP 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83254" y="3258113"/>
            <a:ext cx="505663" cy="445207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14700" y="3011225"/>
            <a:ext cx="842772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14700" y="3730752"/>
            <a:ext cx="842772" cy="21031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swin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14700" y="3931920"/>
            <a:ext cx="842772" cy="19202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 / FP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26026" y="3139391"/>
            <a:ext cx="505663" cy="563929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57472" y="2892503"/>
            <a:ext cx="842772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57472" y="3730752"/>
            <a:ext cx="842772" cy="21031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maxvit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57472" y="3931920"/>
            <a:ext cx="842772" cy="19202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0 / FP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68798" y="3347154"/>
            <a:ext cx="505663" cy="356166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00244" y="3100266"/>
            <a:ext cx="842772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0.9972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0244" y="3730752"/>
            <a:ext cx="842772" cy="21031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effv2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00244" y="3931920"/>
            <a:ext cx="842772" cy="19202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 / FP 4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86384" y="3703320"/>
            <a:ext cx="5056632" cy="0"/>
          </a:xfrm>
          <a:prstGeom prst="line">
            <a:avLst/>
          </a:prstGeom>
          <a:ln w="1397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355080" y="243230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baseline → BKM combined → best backbone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64096" y="3495557"/>
            <a:ext cx="777240" cy="207763"/>
          </a:xfrm>
          <a:prstGeom prst="rect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9944" y="3248669"/>
            <a:ext cx="1685544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0.9967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9944" y="3730752"/>
            <a:ext cx="1685544" cy="21031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Baseline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9944" y="3931920"/>
            <a:ext cx="1685544" cy="19202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 / FP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549640" y="3080029"/>
            <a:ext cx="777240" cy="623291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95488" y="2833141"/>
            <a:ext cx="1685544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0.9981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95488" y="3730752"/>
            <a:ext cx="1685544" cy="21031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BKM
combined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95488" y="3931920"/>
            <a:ext cx="1685544" cy="19202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 / FP 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235184" y="2901946"/>
            <a:ext cx="777240" cy="80137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781032" y="2655058"/>
            <a:ext cx="1685544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1032" y="3730752"/>
            <a:ext cx="1685544" cy="21031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Best
backbone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81032" y="3931920"/>
            <a:ext cx="1685544" cy="19202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0 / FP 2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409944" y="3703320"/>
            <a:ext cx="5056632" cy="0"/>
          </a:xfrm>
          <a:prstGeom prst="line">
            <a:avLst/>
          </a:prstGeom>
          <a:ln w="1397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31520" y="4489704"/>
            <a:ext cx="51663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Smoothing window — 안정 checkpoint 선택</a:t>
            </a:r>
          </a:p>
        </p:txBody>
      </p:sp>
      <p:cxnSp>
        <p:nvCxnSpPr>
          <p:cNvPr id="52" name="Connector 51"/>
          <p:cNvCxnSpPr/>
          <p:nvPr/>
        </p:nvCxnSpPr>
        <p:spPr>
          <a:xfrm flipV="1">
            <a:off x="804672" y="5764018"/>
            <a:ext cx="239921" cy="96876"/>
          </a:xfrm>
          <a:prstGeom prst="line">
            <a:avLst/>
          </a:prstGeom>
          <a:ln w="1778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1044593" y="5621729"/>
            <a:ext cx="239921" cy="142289"/>
          </a:xfrm>
          <a:prstGeom prst="line">
            <a:avLst/>
          </a:prstGeom>
          <a:ln w="1778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284514" y="5621729"/>
            <a:ext cx="239921" cy="40793"/>
          </a:xfrm>
          <a:prstGeom prst="line">
            <a:avLst/>
          </a:prstGeom>
          <a:ln w="1778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524435" y="5603919"/>
            <a:ext cx="239921" cy="58603"/>
          </a:xfrm>
          <a:prstGeom prst="line">
            <a:avLst/>
          </a:prstGeom>
          <a:ln w="1778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764356" y="5543570"/>
            <a:ext cx="239921" cy="60349"/>
          </a:xfrm>
          <a:prstGeom prst="line">
            <a:avLst/>
          </a:prstGeom>
          <a:ln w="1778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004277" y="5543570"/>
            <a:ext cx="239921" cy="47617"/>
          </a:xfrm>
          <a:prstGeom prst="line">
            <a:avLst/>
          </a:prstGeom>
          <a:ln w="1778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244198" y="5368732"/>
            <a:ext cx="239922" cy="222455"/>
          </a:xfrm>
          <a:prstGeom prst="line">
            <a:avLst/>
          </a:prstGeom>
          <a:ln w="1778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484120" y="5368732"/>
            <a:ext cx="239921" cy="65403"/>
          </a:xfrm>
          <a:prstGeom prst="line">
            <a:avLst/>
          </a:prstGeom>
          <a:ln w="1778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724041" y="5373975"/>
            <a:ext cx="239921" cy="60160"/>
          </a:xfrm>
          <a:prstGeom prst="line">
            <a:avLst/>
          </a:prstGeom>
          <a:ln w="1778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963962" y="5373975"/>
            <a:ext cx="239921" cy="126296"/>
          </a:xfrm>
          <a:prstGeom prst="line">
            <a:avLst/>
          </a:prstGeom>
          <a:ln w="1778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203883" y="5436255"/>
            <a:ext cx="239921" cy="64016"/>
          </a:xfrm>
          <a:prstGeom prst="line">
            <a:avLst/>
          </a:prstGeom>
          <a:ln w="1778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443804" y="5436255"/>
            <a:ext cx="239921" cy="214202"/>
          </a:xfrm>
          <a:prstGeom prst="line">
            <a:avLst/>
          </a:prstGeom>
          <a:ln w="1778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683725" y="5296584"/>
            <a:ext cx="239921" cy="353873"/>
          </a:xfrm>
          <a:prstGeom prst="line">
            <a:avLst/>
          </a:prstGeom>
          <a:ln w="1778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923646" y="5296584"/>
            <a:ext cx="239922" cy="11626"/>
          </a:xfrm>
          <a:prstGeom prst="line">
            <a:avLst/>
          </a:prstGeom>
          <a:ln w="1778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4163568" y="5308210"/>
            <a:ext cx="239921" cy="127090"/>
          </a:xfrm>
          <a:prstGeom prst="line">
            <a:avLst/>
          </a:prstGeom>
          <a:ln w="1778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4403489" y="5225343"/>
            <a:ext cx="239921" cy="209957"/>
          </a:xfrm>
          <a:prstGeom prst="line">
            <a:avLst/>
          </a:prstGeom>
          <a:ln w="1778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4643410" y="5140545"/>
            <a:ext cx="239921" cy="84798"/>
          </a:xfrm>
          <a:prstGeom prst="line">
            <a:avLst/>
          </a:prstGeom>
          <a:ln w="1778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4883331" y="5140545"/>
            <a:ext cx="239921" cy="138153"/>
          </a:xfrm>
          <a:prstGeom prst="line">
            <a:avLst/>
          </a:prstGeom>
          <a:ln w="1778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5123252" y="5278698"/>
            <a:ext cx="239921" cy="1439"/>
          </a:xfrm>
          <a:prstGeom prst="line">
            <a:avLst/>
          </a:prstGeom>
          <a:ln w="1778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5363173" y="5280137"/>
            <a:ext cx="239921" cy="91520"/>
          </a:xfrm>
          <a:prstGeom prst="line">
            <a:avLst/>
          </a:prstGeom>
          <a:ln w="1778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5603094" y="5371657"/>
            <a:ext cx="239922" cy="25154"/>
          </a:xfrm>
          <a:prstGeom prst="line">
            <a:avLst/>
          </a:prstGeom>
          <a:ln w="1778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804672" y="5748880"/>
            <a:ext cx="239921" cy="63576"/>
          </a:xfrm>
          <a:prstGeom prst="line">
            <a:avLst/>
          </a:prstGeom>
          <a:ln w="330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044593" y="5682756"/>
            <a:ext cx="239921" cy="66124"/>
          </a:xfrm>
          <a:prstGeom prst="line">
            <a:avLst/>
          </a:prstGeom>
          <a:ln w="330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284514" y="5629390"/>
            <a:ext cx="239921" cy="53366"/>
          </a:xfrm>
          <a:prstGeom prst="line">
            <a:avLst/>
          </a:prstGeom>
          <a:ln w="330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1524435" y="5603337"/>
            <a:ext cx="239921" cy="26053"/>
          </a:xfrm>
          <a:prstGeom prst="line">
            <a:avLst/>
          </a:prstGeom>
          <a:ln w="330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1764356" y="5579559"/>
            <a:ext cx="239921" cy="23778"/>
          </a:xfrm>
          <a:prstGeom prst="line">
            <a:avLst/>
          </a:prstGeom>
          <a:ln w="330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004277" y="5501163"/>
            <a:ext cx="239921" cy="78396"/>
          </a:xfrm>
          <a:prstGeom prst="line">
            <a:avLst/>
          </a:prstGeom>
          <a:ln w="330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244198" y="5464685"/>
            <a:ext cx="239922" cy="36478"/>
          </a:xfrm>
          <a:prstGeom prst="line">
            <a:avLst/>
          </a:prstGeom>
          <a:ln w="330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484120" y="5392281"/>
            <a:ext cx="239921" cy="72404"/>
          </a:xfrm>
          <a:prstGeom prst="line">
            <a:avLst/>
          </a:prstGeom>
          <a:ln w="330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724041" y="5392281"/>
            <a:ext cx="239921" cy="43846"/>
          </a:xfrm>
          <a:prstGeom prst="line">
            <a:avLst/>
          </a:prstGeom>
          <a:ln w="330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2963962" y="5436127"/>
            <a:ext cx="239921" cy="707"/>
          </a:xfrm>
          <a:prstGeom prst="line">
            <a:avLst/>
          </a:prstGeom>
          <a:ln w="330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203883" y="5436834"/>
            <a:ext cx="239921" cy="92160"/>
          </a:xfrm>
          <a:prstGeom prst="line">
            <a:avLst/>
          </a:prstGeom>
          <a:ln w="330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3443804" y="5461099"/>
            <a:ext cx="239921" cy="67895"/>
          </a:xfrm>
          <a:prstGeom prst="line">
            <a:avLst/>
          </a:prstGeom>
          <a:ln w="330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3683725" y="5418417"/>
            <a:ext cx="239921" cy="42682"/>
          </a:xfrm>
          <a:prstGeom prst="line">
            <a:avLst/>
          </a:prstGeom>
          <a:ln w="330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3923646" y="5346698"/>
            <a:ext cx="239922" cy="71719"/>
          </a:xfrm>
          <a:prstGeom prst="line">
            <a:avLst/>
          </a:prstGeom>
          <a:ln w="330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4163568" y="5322951"/>
            <a:ext cx="239921" cy="23747"/>
          </a:xfrm>
          <a:prstGeom prst="line">
            <a:avLst/>
          </a:prstGeom>
          <a:ln w="330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4403489" y="5267062"/>
            <a:ext cx="239921" cy="55889"/>
          </a:xfrm>
          <a:prstGeom prst="line">
            <a:avLst/>
          </a:prstGeom>
          <a:ln w="330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4643410" y="5214862"/>
            <a:ext cx="239921" cy="52200"/>
          </a:xfrm>
          <a:prstGeom prst="line">
            <a:avLst/>
          </a:prstGeom>
          <a:ln w="330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4883331" y="5214862"/>
            <a:ext cx="239921" cy="18265"/>
          </a:xfrm>
          <a:prstGeom prst="line">
            <a:avLst/>
          </a:prstGeom>
          <a:ln w="330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5123252" y="5233127"/>
            <a:ext cx="239921" cy="77037"/>
          </a:xfrm>
          <a:prstGeom prst="line">
            <a:avLst/>
          </a:prstGeom>
          <a:ln w="330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5363173" y="5310164"/>
            <a:ext cx="239921" cy="39371"/>
          </a:xfrm>
          <a:prstGeom prst="line">
            <a:avLst/>
          </a:prstGeom>
          <a:ln w="330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5603094" y="5349535"/>
            <a:ext cx="239922" cy="34699"/>
          </a:xfrm>
          <a:prstGeom prst="line">
            <a:avLst/>
          </a:prstGeom>
          <a:ln w="330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/>
          <p:nvPr/>
        </p:nvSpPr>
        <p:spPr>
          <a:xfrm>
            <a:off x="4837611" y="5094825"/>
            <a:ext cx="91440" cy="91440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Diamond 94"/>
          <p:cNvSpPr/>
          <p:nvPr/>
        </p:nvSpPr>
        <p:spPr>
          <a:xfrm>
            <a:off x="4819323" y="5150854"/>
            <a:ext cx="128016" cy="128016"/>
          </a:xfrm>
          <a:prstGeom prst="diamond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804672" y="6035040"/>
            <a:ext cx="5038344" cy="0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804672" y="4764024"/>
            <a:ext cx="5038344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test F1 →  raw 0.9971  /  window 0.9987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31520" y="6035040"/>
            <a:ext cx="5166360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3A6FD0"/>
                </a:solidFill>
                <a:latin typeface="맑은 고딕"/>
                <a:ea typeface="맑은 고딕"/>
              </a:rPr>
              <a:t>— median window (안정)   </a:t>
            </a:r>
            <a:r>
              <a:rPr sz="1200">
                <a:solidFill>
                  <a:srgbClr val="AEB4BD"/>
                </a:solidFill>
                <a:latin typeface="맑은 고딕"/>
                <a:ea typeface="맑은 고딕"/>
              </a:rPr>
              <a:t>● raw (불안정)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355080" y="4489704"/>
            <a:ext cx="51663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Color 변경 전후 — target 색 대비↑ 분리도 향상</a:t>
            </a:r>
          </a:p>
        </p:txBody>
      </p:sp>
      <p:pic>
        <p:nvPicPr>
          <p:cNvPr id="100" name="Picture 99" descr="p3r_color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5260" y="4818888"/>
            <a:ext cx="914400" cy="914400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7658100" y="5769864"/>
            <a:ext cx="118872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Before (파랑)</a:t>
            </a:r>
          </a:p>
        </p:txBody>
      </p:sp>
      <p:pic>
        <p:nvPicPr>
          <p:cNvPr id="102" name="Picture 101" descr="p3r_color_c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6860" y="4818888"/>
            <a:ext cx="914400" cy="914400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9029700" y="5769864"/>
            <a:ext cx="118872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After (빨강)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결과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옵션을 누적 적용하며 성능이 올라가는 전체 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baseline 에서 시작해 옵션을 하나씩 누적 적용하고 최적 백본까지 반영하면, F1 이 0.9967→0.9987로 오르고 놓친 불량(FN)과 오경보(FP)가 함께 줄어듭니다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1845963" y="2459880"/>
            <a:ext cx="8561034" cy="3767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3_cumulative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4963" y="2468880"/>
            <a:ext cx="8543034" cy="3749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