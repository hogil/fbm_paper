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8961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A929E"/>
                </a:solidFill>
                <a:latin typeface="맑은 고딕"/>
                <a:ea typeface="맑은 고딕"/>
              </a:rPr>
              <a:t>AI Specialist 인증 — Project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35024"/>
            <a:ext cx="10607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0F1E3D"/>
                </a:solidFill>
                <a:latin typeface="맑은 고딕"/>
                <a:ea typeface="맑은 고딕"/>
              </a:rPr>
              <a:t>계측 trend 이상탐지 데이터 생성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292608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>
                <a:solidFill>
                  <a:srgbClr val="475569"/>
                </a:solidFill>
                <a:latin typeface="맑은 고딕"/>
                <a:ea typeface="맑은 고딕"/>
              </a:rPr>
              <a:t>이상 유형별 검증 데이터가 없던 문제를, 현장에서 trend를 보던 판정 기준을 생성 규칙으로 옮겨 풀었습니다. 정상 baseline 위에 이상을 합성해 평가셋을 만들고 1차 gate로 확인했습니다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" y="4041648"/>
            <a:ext cx="3291840" cy="85953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6968" y="4041648"/>
            <a:ext cx="73152" cy="85953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4041648"/>
            <a:ext cx="713232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96A0AD"/>
                </a:solidFill>
                <a:latin typeface="맑은 고딕"/>
                <a:ea typeface="맑은 고딕"/>
              </a:rPr>
              <a:t>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9656" y="4041648"/>
            <a:ext cx="215798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Failbit Map 불량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4041648"/>
            <a:ext cx="3291840" cy="85953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4041648"/>
            <a:ext cx="73152" cy="85953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4296" y="4041648"/>
            <a:ext cx="713232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96A0AD"/>
                </a:solidFill>
                <a:latin typeface="맑은 고딕"/>
                <a:ea typeface="맑은 고딕"/>
              </a:rPr>
              <a:t>P2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7528" y="4041648"/>
            <a:ext cx="215798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Chip multi-label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82712" y="4041648"/>
            <a:ext cx="3291840" cy="85953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82712" y="4041648"/>
            <a:ext cx="73152" cy="85953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4041648"/>
            <a:ext cx="713232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96A0AD"/>
                </a:solidFill>
                <a:latin typeface="맑은 고딕"/>
                <a:ea typeface="맑은 고딕"/>
              </a:rPr>
              <a:t>P3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4041648"/>
            <a:ext cx="215798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Trend anomaly generator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" y="4992624"/>
            <a:ext cx="3840480" cy="2032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5184648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E3D"/>
                </a:solidFill>
                <a:latin typeface="맑은 고딕"/>
                <a:ea typeface="맑은 고딕"/>
              </a:rPr>
              <a:t>최호길  |  메모리제조센터 QIE그룹 Data Science 파트</a:t>
            </a:r>
          </a:p>
          <a:p>
            <a:pPr algn="l"/>
            <a:r>
              <a:rPr sz="1250">
                <a:solidFill>
                  <a:srgbClr val="6B7280"/>
                </a:solidFill>
                <a:latin typeface="맑은 고딕"/>
                <a:ea typeface="맑은 고딕"/>
              </a:rPr>
              <a:t>제조품질 AI / Data Science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" y="5989320"/>
            <a:ext cx="10387584" cy="12700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6108192"/>
            <a:ext cx="7772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삼성전자 메모리제조센터 | QIE그룹 Data Science</a:t>
            </a:r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    AI Specialist 인증 사내 경연 발표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108192"/>
            <a:ext cx="16733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>
                <a:solidFill>
                  <a:srgbClr val="96A0AD"/>
                </a:solidFill>
                <a:latin typeface="맑은 고딕"/>
                <a:ea typeface="맑은 고딕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P3 | 순차 episode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순차 episode 기반 trend 생성 (Sequential Episode-Based)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4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450">
                <a:solidFill>
                  <a:srgbClr val="1A1F2E"/>
                </a:solidFill>
                <a:latin typeface="맑은 고딕"/>
                <a:ea typeface="맑은 고딕"/>
              </a:rPr>
              <a:t>기본 baseline에 노이즈 3종과 밀도(밀집/희소/결핍)를 episode마다 가중치로 조합해 여러 episode를 순차 생성하고 이어 붙여 정상 trend를 만듭니다</a:t>
            </a:r>
          </a:p>
          <a:p>
            <a:pPr marL="420624" indent="-420624" lvl="1">
              <a:spcAft>
                <a:spcPts val="500"/>
              </a:spcAft>
            </a:pPr>
            <a:r>
              <a:rPr sz="1350" b="0">
                <a:solidFill>
                  <a:srgbClr val="6E7B8E"/>
                </a:solidFill>
                <a:latin typeface="맑은 고딕"/>
                <a:ea typeface="맑은 고딕"/>
              </a:rPr>
              <a:t>–  </a:t>
            </a:r>
            <a:r>
              <a:rPr sz="1350">
                <a:solidFill>
                  <a:srgbClr val="4A5666"/>
                </a:solidFill>
                <a:latin typeface="맑은 고딕"/>
                <a:ea typeface="맑은 고딕"/>
              </a:rPr>
              <a:t>한 trend는 여러 설비(fleet)가 함께 찍히고 그중 한 설비(target)를 판정. episode = 시작과 끝이 있는 자기완결 구간을 단어 뜻 그대로 사용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706624"/>
            <a:ext cx="10972800" cy="3236976"/>
          </a:xfrm>
          <a:prstGeom prst="rect">
            <a:avLst/>
          </a:prstGeom>
          <a:solidFill>
            <a:srgbClr val="FFFFFF"/>
          </a:solidFill>
          <a:ln w="15875">
            <a:solidFill>
              <a:srgbClr val="B9C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06624"/>
            <a:ext cx="7742407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60" b="1">
                <a:solidFill>
                  <a:srgbClr val="0F1E3D"/>
                </a:solidFill>
                <a:latin typeface="맑은 고딕"/>
                <a:ea typeface="맑은 고딕"/>
              </a:rPr>
              <a:t>(a) Normal baseline  -  sequential episodes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7742407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980" b="1">
                <a:solidFill>
                  <a:srgbClr val="6B7280"/>
                </a:solidFill>
                <a:latin typeface="맑은 고딕"/>
                <a:ea typeface="맑은 고딕"/>
              </a:rPr>
              <a:t>gray = fleet/reference     blue = sampled observations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3310128"/>
            <a:ext cx="7413223" cy="2542032"/>
          </a:xfrm>
          <a:prstGeom prst="rect">
            <a:avLst/>
          </a:prstGeom>
          <a:solidFill>
            <a:srgbClr val="FCFDFE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9264" y="5637276"/>
            <a:ext cx="7102327" cy="13716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9264" y="3493008"/>
            <a:ext cx="13716" cy="2157984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24128" y="3566160"/>
            <a:ext cx="1398519" cy="2011680"/>
          </a:xfrm>
          <a:prstGeom prst="rect">
            <a:avLst/>
          </a:prstGeom>
          <a:solidFill>
            <a:srgbClr val="EAF0F8"/>
          </a:solidFill>
          <a:ln w="762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3584448"/>
            <a:ext cx="1361943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940" b="1">
                <a:solidFill>
                  <a:srgbClr val="0F1E3D"/>
                </a:solidFill>
                <a:latin typeface="맑은 고딕"/>
                <a:ea typeface="맑은 고딕"/>
              </a:rPr>
              <a:t>Dense</a:t>
            </a:r>
          </a:p>
        </p:txBody>
      </p:sp>
      <p:sp>
        <p:nvSpPr>
          <p:cNvPr id="14" name="Oval 13"/>
          <p:cNvSpPr/>
          <p:nvPr/>
        </p:nvSpPr>
        <p:spPr>
          <a:xfrm>
            <a:off x="1486329" y="409508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895930" y="397319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751860" y="442905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53448" y="464939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27773" y="453469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68295" y="400160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612410" y="514592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35847" y="420761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866502" y="533379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803477" y="447722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303302" y="393300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155808" y="431078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261459" y="404370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467106" y="512924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07129" y="476468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80878" y="443948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766714" y="395820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55454" y="418075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932828" y="452528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474200" y="477084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648305" y="432657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075554" y="494716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386482" y="475352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738479" y="522098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994243" y="430819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308210" y="404412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604400" y="503755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71138" y="462068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29916" y="489932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038228" y="475135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177107" y="434831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951480" y="478453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806974" y="456975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132641" y="532908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674494" y="489300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56792" y="495105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891165" y="540434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110047" y="430299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563914" y="490000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09074" y="457829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291253" y="404262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54644" y="505479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249025" y="426447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567047" y="481663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189751" y="444289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759714" y="482722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087742" y="481005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430253" y="441290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527930" y="482793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256049" y="417889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306011" y="425062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375446" y="447456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807955" y="427787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96770" y="441613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540673" y="454659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250417" y="465648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718445" y="459196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913809" y="409309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185301" y="473568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154886" y="475153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568785" y="439845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217657" y="460673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167464" y="410491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345574" y="418896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505176" y="409184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92077" y="417919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215138" y="436715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122793" y="481921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838280" y="417679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398448" y="435279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534485" y="415403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2123794" y="492433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658268" y="447356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196198" y="413575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508315" y="427965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2099382" y="418820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119870" y="488706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733964" y="417507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752095" y="406924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733784" y="491141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2141285" y="466153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409215" y="436988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294856" y="472857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739234" y="473487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492547" y="424272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2078298" y="491710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2128282" y="475879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2086591" y="470019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367427" y="450348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524029" y="407095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125755" y="429263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406856" y="465828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2254571" y="444116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2230873" y="491985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2252730" y="436805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359796" y="424609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330917" y="422620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850433" y="484220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2113460" y="446970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885579" y="475310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194854" y="463001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2197754" y="473775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2003693" y="446843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308811" y="474380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496014" y="475414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272978" y="439567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579735" y="488335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972887" y="419578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246226" y="417909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2191767" y="475917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269489" y="477688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2283492" y="462707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517763" y="453094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251023" y="405791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2272045" y="462035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731926" y="487169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2422647" y="3566160"/>
            <a:ext cx="1398519" cy="2011680"/>
          </a:xfrm>
          <a:prstGeom prst="rect">
            <a:avLst/>
          </a:prstGeom>
          <a:solidFill>
            <a:srgbClr val="FBF4E5"/>
          </a:solidFill>
          <a:ln w="762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2440935" y="3584448"/>
            <a:ext cx="1361943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940" b="1">
                <a:solidFill>
                  <a:srgbClr val="6B7280"/>
                </a:solidFill>
                <a:latin typeface="맑은 고딕"/>
                <a:ea typeface="맑은 고딕"/>
              </a:rPr>
              <a:t>Sparse</a:t>
            </a:r>
          </a:p>
        </p:txBody>
      </p:sp>
      <p:sp>
        <p:nvSpPr>
          <p:cNvPr id="132" name="Oval 131"/>
          <p:cNvSpPr/>
          <p:nvPr/>
        </p:nvSpPr>
        <p:spPr>
          <a:xfrm>
            <a:off x="3022562" y="521570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3513863" y="418865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2794691" y="431600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2780547" y="477220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2804120" y="451194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2643472" y="527520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2922353" y="457279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3209818" y="526630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3006057" y="528717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3107512" y="468730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3134882" y="388967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3030471" y="414523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2484264" y="510289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2695155" y="459663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3387437" y="472562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2887539" y="466635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3174872" y="507973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2612211" y="473156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2790508" y="429105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3446376" y="464982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3182745" y="504199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3621971" y="454961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3246356" y="464646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3120676" y="493743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3045774" y="468957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3077944" y="532414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3354911" y="522315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3659152" y="426412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3179971" y="532688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3531200" y="407376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2631636" y="454786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2570183" y="423466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2570902" y="490127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3460996" y="525500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2672740" y="497379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3306123" y="408285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3584836" y="536462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2754311" y="534124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2978043" y="461803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3718871" y="515461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2681530" y="453138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3124988" y="438774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2728267" y="452096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3368187" y="437658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3163838" y="457982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2512294" y="452722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3248783" y="461449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2568467" y="484277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3448677" y="483631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2617687" y="449539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2538437" y="474327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2819077" y="442972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3003621" y="480720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3485895" y="449203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2671890" y="481095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3183950" y="470533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2599066" y="439494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3326922" y="457251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2578342" y="482021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3261562" y="475420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2592113" y="478056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2571301" y="478372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3041937" y="453091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3162639" y="481457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2815933" y="442956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3130851" y="448229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3821166" y="3566160"/>
            <a:ext cx="1398519" cy="2011680"/>
          </a:xfrm>
          <a:prstGeom prst="rect">
            <a:avLst/>
          </a:prstGeom>
          <a:solidFill>
            <a:srgbClr val="FBECEA"/>
          </a:solidFill>
          <a:ln w="762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3839454" y="3584448"/>
            <a:ext cx="1361943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940" b="1">
                <a:solidFill>
                  <a:srgbClr val="6B7280"/>
                </a:solidFill>
                <a:latin typeface="맑은 고딕"/>
                <a:ea typeface="맑은 고딕"/>
              </a:rPr>
              <a:t>Missing</a:t>
            </a:r>
          </a:p>
        </p:txBody>
      </p:sp>
      <p:sp>
        <p:nvSpPr>
          <p:cNvPr id="200" name="Oval 199"/>
          <p:cNvSpPr/>
          <p:nvPr/>
        </p:nvSpPr>
        <p:spPr>
          <a:xfrm>
            <a:off x="4014915" y="411156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3940945" y="417424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4268540" y="433472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4828914" y="431133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4504077" y="413713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4312378" y="388883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4191474" y="388445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4795833" y="471719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4115099" y="459860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5048232" y="402580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4903323" y="453240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4497707" y="515798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4370087" y="464823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4739059" y="538778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4306998" y="515436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4762831" y="484921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4384627" y="440085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3945965" y="406239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3966419" y="501229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4197917" y="411436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3983652" y="516833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4967959" y="490294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4230900" y="423711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4244831" y="457480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4075124" y="455362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4207495" y="535567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5095792" y="471101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4183958" y="536170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4265479" y="441489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3879197" y="445382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4472214" y="464213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4129529" y="464519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3884058" y="427124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3990249" y="448162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3930034" y="389556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4258838" y="422249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611135" y="468321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4817697" y="488273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4774436" y="522712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4365617" y="436756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5110951" y="409293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4784657" y="486046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3821166" y="4480560"/>
            <a:ext cx="1398519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19" b="1">
                <a:solidFill>
                  <a:srgbClr val="CC3328"/>
                </a:solidFill>
                <a:latin typeface="맑은 고딕"/>
                <a:ea typeface="맑은 고딕"/>
              </a:rPr>
              <a:t>missing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5219685" y="3566160"/>
            <a:ext cx="1398519" cy="2011680"/>
          </a:xfrm>
          <a:prstGeom prst="rect">
            <a:avLst/>
          </a:prstGeom>
          <a:solidFill>
            <a:srgbClr val="FBF4E5"/>
          </a:solidFill>
          <a:ln w="762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5237973" y="3584448"/>
            <a:ext cx="1361943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940" b="1">
                <a:solidFill>
                  <a:srgbClr val="6B7280"/>
                </a:solidFill>
                <a:latin typeface="맑은 고딕"/>
                <a:ea typeface="맑은 고딕"/>
              </a:rPr>
              <a:t>Sparse</a:t>
            </a:r>
          </a:p>
        </p:txBody>
      </p:sp>
      <p:sp>
        <p:nvSpPr>
          <p:cNvPr id="245" name="Oval 244"/>
          <p:cNvSpPr/>
          <p:nvPr/>
        </p:nvSpPr>
        <p:spPr>
          <a:xfrm>
            <a:off x="5331210" y="515903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6393281" y="483577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6195318" y="512317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5450821" y="467476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5907958" y="515849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6284007" y="514523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6007748" y="524848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6131509" y="493835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5564313" y="390903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5443039" y="442130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5407755" y="515986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5975774" y="483644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6060548" y="491867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5889079" y="386574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6275266" y="502376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5906205" y="469255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6101962" y="396327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6198995" y="425262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5369605" y="427340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6189662" y="417960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6202802" y="537735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5894908" y="445527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5876201" y="492338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6236789" y="481967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6081255" y="398102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5460985" y="425534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6207045" y="433380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5987337" y="387998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5352338" y="427839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6117868" y="493658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6122509" y="431272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5923191" y="458290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5860334" y="404480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6395436" y="417032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6501201" y="531598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5298297" y="457405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6303066" y="536550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5839187" y="427821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5539139" y="533049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5540230" y="476448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5453867" y="467524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6469413" y="406672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6284438" y="461279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6365455" y="470674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5568629" y="480058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5878322" y="437916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5291715" y="460456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5835312" y="451295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5458400" y="453324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5671587" y="477284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5289467" y="472963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6307406" y="442513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6413517" y="471142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6383330" y="450710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5739838" y="455686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6501522" y="465163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5725843" y="457384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5621840" y="439047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5410993" y="477015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5634565" y="481888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5590439" y="449546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5908497" y="445883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5741208" y="482881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6362299" y="475919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6618204" y="3566160"/>
            <a:ext cx="1398523" cy="2011680"/>
          </a:xfrm>
          <a:prstGeom prst="rect">
            <a:avLst/>
          </a:prstGeom>
          <a:solidFill>
            <a:srgbClr val="EAF0F8"/>
          </a:solidFill>
          <a:ln w="762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TextBox 309"/>
          <p:cNvSpPr txBox="1"/>
          <p:nvPr/>
        </p:nvSpPr>
        <p:spPr>
          <a:xfrm>
            <a:off x="6636492" y="3584448"/>
            <a:ext cx="1361947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940" b="1">
                <a:solidFill>
                  <a:srgbClr val="0F1E3D"/>
                </a:solidFill>
                <a:latin typeface="맑은 고딕"/>
                <a:ea typeface="맑은 고딕"/>
              </a:rPr>
              <a:t>Dense</a:t>
            </a:r>
          </a:p>
        </p:txBody>
      </p:sp>
      <p:sp>
        <p:nvSpPr>
          <p:cNvPr id="311" name="Oval 310"/>
          <p:cNvSpPr/>
          <p:nvPr/>
        </p:nvSpPr>
        <p:spPr>
          <a:xfrm>
            <a:off x="7464916" y="528049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7852858" y="471436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7575959" y="393750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7591962" y="456145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7617402" y="486244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7033292" y="393673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7835424" y="405849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7266174" y="439481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7047772" y="500940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7897433" y="426502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7496346" y="432824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7372785" y="447363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6884433" y="411188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6935198" y="526889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7297344" y="420262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7809732" y="540959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7238346" y="407759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6915832" y="400161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7103099" y="400220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6974335" y="426220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7388183" y="523981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7613632" y="450225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7193169" y="467540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7146815" y="438632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6752609" y="429199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7886650" y="405626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7305258" y="483933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7755388" y="419630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7014274" y="424681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7175480" y="455367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7869443" y="517985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7767947" y="389450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6715272" y="496351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7796505" y="459628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7410170" y="386087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7165167" y="530133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7708715" y="519039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7892355" y="424683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6811446" y="410057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7329013" y="492086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7853849" y="498252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7485518" y="504946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7241813" y="453346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6733944" y="473774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6968600" y="485956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7470574" y="431419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6841432" y="426817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7459372" y="466364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6822183" y="410757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7323397" y="456124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7157639" y="424320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7416545" y="405456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7052412" y="445308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7851598" y="461584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7760223" y="446601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6971264" y="426398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7853633" y="466902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7059556" y="406459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7291637" y="464229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7196459" y="427301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7497135" y="486420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6961560" y="407548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7096820" y="441755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7515627" y="422063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7654815" y="469953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7299621" y="422695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7864871" y="432121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7682702" y="424960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6955065" y="471842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7044403" y="488789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7288542" y="421110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6957352" y="441443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7494630" y="488509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6863819" y="439357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6944740" y="490753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6858383" y="409119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6758973" y="439345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7777720" y="482739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7576600" y="492825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7818357" y="433673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6911386" y="487369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7593114" y="407353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7493579" y="438043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7140379" y="433890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6891630" y="404784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7026014" y="435640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7847434" y="415480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7858079" y="422888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7119403" y="477251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7685138" y="442808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6745749" y="446438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7138957" y="485919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6920520" y="436771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7776293" y="407211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7185258" y="476388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7617864" y="408128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6728240" y="410069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7804354" y="427280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7594303" y="484064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7098057" y="428634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7850078" y="459141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7004578" y="467962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7070601" y="428927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6690454" y="471416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7799957" y="460646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7832525" y="406677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6970167" y="446591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7848970" y="488964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7155733" y="426751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7208521" y="448209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7814107" y="420723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7661506" y="469897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TextBox 422"/>
          <p:cNvSpPr txBox="1"/>
          <p:nvPr/>
        </p:nvSpPr>
        <p:spPr>
          <a:xfrm>
            <a:off x="8601943" y="2706624"/>
            <a:ext cx="3010937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(b) Measurement noise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8601943" y="3017520"/>
            <a:ext cx="3010937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910" b="1">
                <a:solidFill>
                  <a:srgbClr val="6B7280"/>
                </a:solidFill>
                <a:latin typeface="맑은 고딕"/>
                <a:ea typeface="맑은 고딕"/>
              </a:rPr>
              <a:t>gray = fleet     color = sampled εₜ</a:t>
            </a:r>
          </a:p>
        </p:txBody>
      </p:sp>
      <p:sp>
        <p:nvSpPr>
          <p:cNvPr id="425" name="Rectangle 424"/>
          <p:cNvSpPr/>
          <p:nvPr/>
        </p:nvSpPr>
        <p:spPr>
          <a:xfrm>
            <a:off x="8601943" y="3273552"/>
            <a:ext cx="3010937" cy="822960"/>
          </a:xfrm>
          <a:prstGeom prst="rect">
            <a:avLst/>
          </a:prstGeom>
          <a:solidFill>
            <a:srgbClr val="FCFDFE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TextBox 425"/>
          <p:cNvSpPr txBox="1"/>
          <p:nvPr/>
        </p:nvSpPr>
        <p:spPr>
          <a:xfrm>
            <a:off x="8711671" y="3300984"/>
            <a:ext cx="2791481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E3D"/>
                </a:solidFill>
                <a:latin typeface="맑은 고딕"/>
                <a:ea typeface="맑은 고딕"/>
              </a:rPr>
              <a:t>Gaussian iid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8711671" y="3474720"/>
            <a:ext cx="2791481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6B7280"/>
                </a:solidFill>
                <a:latin typeface="Cambria Math"/>
                <a:ea typeface="Cambria Math"/>
              </a:rPr>
              <a:t>εₜ ~ N(0, σ²)</a:t>
            </a:r>
          </a:p>
        </p:txBody>
      </p:sp>
      <p:sp>
        <p:nvSpPr>
          <p:cNvPr id="428" name="Rectangle 427"/>
          <p:cNvSpPr/>
          <p:nvPr/>
        </p:nvSpPr>
        <p:spPr>
          <a:xfrm>
            <a:off x="8803111" y="3963924"/>
            <a:ext cx="2608601" cy="13716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Rectangle 428"/>
          <p:cNvSpPr/>
          <p:nvPr/>
        </p:nvSpPr>
        <p:spPr>
          <a:xfrm>
            <a:off x="8803111" y="3685032"/>
            <a:ext cx="13716" cy="292608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10932892" y="387927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10370735" y="375036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9620227" y="376022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10827226" y="367829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9301359" y="387350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9431778" y="367415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8874988" y="381548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9636425" y="393936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11091284" y="394155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9477647" y="367976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9038180" y="379980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10638161" y="378488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9397576" y="377615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10404787" y="385068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10737825" y="390076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10519872" y="369050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10980149" y="374050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10265426" y="376344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10711975" y="371310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9432095" y="372647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9186608" y="391153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10295155" y="374994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9819839" y="394289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10110059" y="372243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10895556" y="384466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11371659" y="368505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10025118" y="389268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10979328" y="392028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8891940" y="374047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9097640" y="371032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11324729" y="382434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11213104" y="376323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8849054" y="3740106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8993976" y="3846188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9138898" y="3797640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9283820" y="3671095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Oval 465"/>
          <p:cNvSpPr/>
          <p:nvPr/>
        </p:nvSpPr>
        <p:spPr>
          <a:xfrm>
            <a:off x="9428743" y="3759529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Oval 466"/>
          <p:cNvSpPr/>
          <p:nvPr/>
        </p:nvSpPr>
        <p:spPr>
          <a:xfrm>
            <a:off x="9573665" y="3801072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9718587" y="3868949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9863510" y="3844547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10008432" y="3776865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10153354" y="3725557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Oval 471"/>
          <p:cNvSpPr/>
          <p:nvPr/>
        </p:nvSpPr>
        <p:spPr>
          <a:xfrm>
            <a:off x="10298276" y="3760875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Oval 472"/>
          <p:cNvSpPr/>
          <p:nvPr/>
        </p:nvSpPr>
        <p:spPr>
          <a:xfrm>
            <a:off x="10443199" y="3754127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xfrm>
            <a:off x="10588121" y="3793059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Oval 474"/>
          <p:cNvSpPr/>
          <p:nvPr/>
        </p:nvSpPr>
        <p:spPr>
          <a:xfrm>
            <a:off x="10733043" y="3697169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Oval 475"/>
          <p:cNvSpPr/>
          <p:nvPr/>
        </p:nvSpPr>
        <p:spPr>
          <a:xfrm>
            <a:off x="10877966" y="3817073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xfrm>
            <a:off x="11022888" y="3828007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Oval 477"/>
          <p:cNvSpPr/>
          <p:nvPr/>
        </p:nvSpPr>
        <p:spPr>
          <a:xfrm>
            <a:off x="11167810" y="3729087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xfrm>
            <a:off x="11312732" y="3785811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Rectangle 479"/>
          <p:cNvSpPr/>
          <p:nvPr/>
        </p:nvSpPr>
        <p:spPr>
          <a:xfrm>
            <a:off x="8601943" y="4187952"/>
            <a:ext cx="3010937" cy="822960"/>
          </a:xfrm>
          <a:prstGeom prst="rect">
            <a:avLst/>
          </a:prstGeom>
          <a:solidFill>
            <a:srgbClr val="FCFDFE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TextBox 480"/>
          <p:cNvSpPr txBox="1"/>
          <p:nvPr/>
        </p:nvSpPr>
        <p:spPr>
          <a:xfrm>
            <a:off x="8711671" y="4215384"/>
            <a:ext cx="2791481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E3D"/>
                </a:solidFill>
                <a:latin typeface="맑은 고딕"/>
                <a:ea typeface="맑은 고딕"/>
              </a:rPr>
              <a:t>Correlated AR(1)</a:t>
            </a:r>
          </a:p>
        </p:txBody>
      </p:sp>
      <p:sp>
        <p:nvSpPr>
          <p:cNvPr id="482" name="TextBox 481"/>
          <p:cNvSpPr txBox="1"/>
          <p:nvPr/>
        </p:nvSpPr>
        <p:spPr>
          <a:xfrm>
            <a:off x="8711671" y="4389120"/>
            <a:ext cx="2791481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6B7280"/>
                </a:solidFill>
                <a:latin typeface="Cambria Math"/>
                <a:ea typeface="Cambria Math"/>
              </a:rPr>
              <a:t>εₜ = ρεₜ₋₁ + ηₜ</a:t>
            </a:r>
          </a:p>
        </p:txBody>
      </p:sp>
      <p:sp>
        <p:nvSpPr>
          <p:cNvPr id="483" name="Rectangle 482"/>
          <p:cNvSpPr/>
          <p:nvPr/>
        </p:nvSpPr>
        <p:spPr>
          <a:xfrm>
            <a:off x="8803111" y="4878324"/>
            <a:ext cx="2608601" cy="13716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Rectangle 483"/>
          <p:cNvSpPr/>
          <p:nvPr/>
        </p:nvSpPr>
        <p:spPr>
          <a:xfrm>
            <a:off x="8803111" y="4599432"/>
            <a:ext cx="13716" cy="292608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Oval 484"/>
          <p:cNvSpPr/>
          <p:nvPr/>
        </p:nvSpPr>
        <p:spPr>
          <a:xfrm>
            <a:off x="10556117" y="462343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Oval 485"/>
          <p:cNvSpPr/>
          <p:nvPr/>
        </p:nvSpPr>
        <p:spPr>
          <a:xfrm>
            <a:off x="9601046" y="462872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Oval 486"/>
          <p:cNvSpPr/>
          <p:nvPr/>
        </p:nvSpPr>
        <p:spPr>
          <a:xfrm>
            <a:off x="10861223" y="472856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Oval 487"/>
          <p:cNvSpPr/>
          <p:nvPr/>
        </p:nvSpPr>
        <p:spPr>
          <a:xfrm>
            <a:off x="8951700" y="459917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Oval 488"/>
          <p:cNvSpPr/>
          <p:nvPr/>
        </p:nvSpPr>
        <p:spPr>
          <a:xfrm>
            <a:off x="9817823" y="472916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Oval 489"/>
          <p:cNvSpPr/>
          <p:nvPr/>
        </p:nvSpPr>
        <p:spPr>
          <a:xfrm>
            <a:off x="10454022" y="459621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Oval 490"/>
          <p:cNvSpPr/>
          <p:nvPr/>
        </p:nvSpPr>
        <p:spPr>
          <a:xfrm>
            <a:off x="9213652" y="477125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Oval 491"/>
          <p:cNvSpPr/>
          <p:nvPr/>
        </p:nvSpPr>
        <p:spPr>
          <a:xfrm>
            <a:off x="9855627" y="465187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Oval 492"/>
          <p:cNvSpPr/>
          <p:nvPr/>
        </p:nvSpPr>
        <p:spPr>
          <a:xfrm>
            <a:off x="9589046" y="484592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Oval 493"/>
          <p:cNvSpPr/>
          <p:nvPr/>
        </p:nvSpPr>
        <p:spPr>
          <a:xfrm>
            <a:off x="9601479" y="473391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Oval 494"/>
          <p:cNvSpPr/>
          <p:nvPr/>
        </p:nvSpPr>
        <p:spPr>
          <a:xfrm>
            <a:off x="9718396" y="469044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Oval 495"/>
          <p:cNvSpPr/>
          <p:nvPr/>
        </p:nvSpPr>
        <p:spPr>
          <a:xfrm>
            <a:off x="11041125" y="485850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Oval 496"/>
          <p:cNvSpPr/>
          <p:nvPr/>
        </p:nvSpPr>
        <p:spPr>
          <a:xfrm>
            <a:off x="9735612" y="462693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Oval 497"/>
          <p:cNvSpPr/>
          <p:nvPr/>
        </p:nvSpPr>
        <p:spPr>
          <a:xfrm>
            <a:off x="10685796" y="462880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Oval 498"/>
          <p:cNvSpPr/>
          <p:nvPr/>
        </p:nvSpPr>
        <p:spPr>
          <a:xfrm>
            <a:off x="8801981" y="483099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Oval 499"/>
          <p:cNvSpPr/>
          <p:nvPr/>
        </p:nvSpPr>
        <p:spPr>
          <a:xfrm>
            <a:off x="9892059" y="480745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Oval 500"/>
          <p:cNvSpPr/>
          <p:nvPr/>
        </p:nvSpPr>
        <p:spPr>
          <a:xfrm>
            <a:off x="9846311" y="482554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Oval 501"/>
          <p:cNvSpPr/>
          <p:nvPr/>
        </p:nvSpPr>
        <p:spPr>
          <a:xfrm>
            <a:off x="9988972" y="461689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Oval 502"/>
          <p:cNvSpPr/>
          <p:nvPr/>
        </p:nvSpPr>
        <p:spPr>
          <a:xfrm>
            <a:off x="8825348" y="472957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Oval 503"/>
          <p:cNvSpPr/>
          <p:nvPr/>
        </p:nvSpPr>
        <p:spPr>
          <a:xfrm>
            <a:off x="10457895" y="483335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Oval 504"/>
          <p:cNvSpPr/>
          <p:nvPr/>
        </p:nvSpPr>
        <p:spPr>
          <a:xfrm>
            <a:off x="9018898" y="475004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Oval 505"/>
          <p:cNvSpPr/>
          <p:nvPr/>
        </p:nvSpPr>
        <p:spPr>
          <a:xfrm>
            <a:off x="9754035" y="471593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Oval 506"/>
          <p:cNvSpPr/>
          <p:nvPr/>
        </p:nvSpPr>
        <p:spPr>
          <a:xfrm>
            <a:off x="9167212" y="465187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Oval 507"/>
          <p:cNvSpPr/>
          <p:nvPr/>
        </p:nvSpPr>
        <p:spPr>
          <a:xfrm>
            <a:off x="10146147" y="483790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Oval 508"/>
          <p:cNvSpPr/>
          <p:nvPr/>
        </p:nvSpPr>
        <p:spPr>
          <a:xfrm>
            <a:off x="9070449" y="471189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Oval 509"/>
          <p:cNvSpPr/>
          <p:nvPr/>
        </p:nvSpPr>
        <p:spPr>
          <a:xfrm>
            <a:off x="10886089" y="484989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Oval 510"/>
          <p:cNvSpPr/>
          <p:nvPr/>
        </p:nvSpPr>
        <p:spPr>
          <a:xfrm>
            <a:off x="9301437" y="460649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Oval 511"/>
          <p:cNvSpPr/>
          <p:nvPr/>
        </p:nvSpPr>
        <p:spPr>
          <a:xfrm>
            <a:off x="11246760" y="485240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Oval 512"/>
          <p:cNvSpPr/>
          <p:nvPr/>
        </p:nvSpPr>
        <p:spPr>
          <a:xfrm>
            <a:off x="10045918" y="458526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Oval 513"/>
          <p:cNvSpPr/>
          <p:nvPr/>
        </p:nvSpPr>
        <p:spPr>
          <a:xfrm>
            <a:off x="11202654" y="468217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Oval 514"/>
          <p:cNvSpPr/>
          <p:nvPr/>
        </p:nvSpPr>
        <p:spPr>
          <a:xfrm>
            <a:off x="11145403" y="474950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Oval 515"/>
          <p:cNvSpPr/>
          <p:nvPr/>
        </p:nvSpPr>
        <p:spPr>
          <a:xfrm>
            <a:off x="10937588" y="461623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Oval 516"/>
          <p:cNvSpPr/>
          <p:nvPr/>
        </p:nvSpPr>
        <p:spPr>
          <a:xfrm>
            <a:off x="8849054" y="4699432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Oval 517"/>
          <p:cNvSpPr/>
          <p:nvPr/>
        </p:nvSpPr>
        <p:spPr>
          <a:xfrm>
            <a:off x="8993976" y="4722873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Oval 518"/>
          <p:cNvSpPr/>
          <p:nvPr/>
        </p:nvSpPr>
        <p:spPr>
          <a:xfrm>
            <a:off x="9138898" y="4771635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Oval 519"/>
          <p:cNvSpPr/>
          <p:nvPr/>
        </p:nvSpPr>
        <p:spPr>
          <a:xfrm>
            <a:off x="9283820" y="4723943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Oval 520"/>
          <p:cNvSpPr/>
          <p:nvPr/>
        </p:nvSpPr>
        <p:spPr>
          <a:xfrm>
            <a:off x="9428743" y="4710571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Oval 521"/>
          <p:cNvSpPr/>
          <p:nvPr/>
        </p:nvSpPr>
        <p:spPr>
          <a:xfrm>
            <a:off x="9573665" y="4727700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Oval 522"/>
          <p:cNvSpPr/>
          <p:nvPr/>
        </p:nvSpPr>
        <p:spPr>
          <a:xfrm>
            <a:off x="9718587" y="4716991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Oval 523"/>
          <p:cNvSpPr/>
          <p:nvPr/>
        </p:nvSpPr>
        <p:spPr>
          <a:xfrm>
            <a:off x="9863510" y="4682491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Oval 524"/>
          <p:cNvSpPr/>
          <p:nvPr/>
        </p:nvSpPr>
        <p:spPr>
          <a:xfrm>
            <a:off x="10008432" y="4718322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Oval 525"/>
          <p:cNvSpPr/>
          <p:nvPr/>
        </p:nvSpPr>
        <p:spPr>
          <a:xfrm>
            <a:off x="10153354" y="4719446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Oval 526"/>
          <p:cNvSpPr/>
          <p:nvPr/>
        </p:nvSpPr>
        <p:spPr>
          <a:xfrm>
            <a:off x="10298276" y="4699202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Oval 527"/>
          <p:cNvSpPr/>
          <p:nvPr/>
        </p:nvSpPr>
        <p:spPr>
          <a:xfrm>
            <a:off x="10443199" y="4683024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Oval 528"/>
          <p:cNvSpPr/>
          <p:nvPr/>
        </p:nvSpPr>
        <p:spPr>
          <a:xfrm>
            <a:off x="10588121" y="4697833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Oval 529"/>
          <p:cNvSpPr/>
          <p:nvPr/>
        </p:nvSpPr>
        <p:spPr>
          <a:xfrm>
            <a:off x="10733043" y="4767712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Oval 530"/>
          <p:cNvSpPr/>
          <p:nvPr/>
        </p:nvSpPr>
        <p:spPr>
          <a:xfrm>
            <a:off x="10877966" y="4715844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Oval 531"/>
          <p:cNvSpPr/>
          <p:nvPr/>
        </p:nvSpPr>
        <p:spPr>
          <a:xfrm>
            <a:off x="11022888" y="4703120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Oval 532"/>
          <p:cNvSpPr/>
          <p:nvPr/>
        </p:nvSpPr>
        <p:spPr>
          <a:xfrm>
            <a:off x="11167810" y="4702958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Oval 533"/>
          <p:cNvSpPr/>
          <p:nvPr/>
        </p:nvSpPr>
        <p:spPr>
          <a:xfrm>
            <a:off x="11312732" y="4712327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Rectangle 534"/>
          <p:cNvSpPr/>
          <p:nvPr/>
        </p:nvSpPr>
        <p:spPr>
          <a:xfrm>
            <a:off x="8601943" y="5102352"/>
            <a:ext cx="3010937" cy="822960"/>
          </a:xfrm>
          <a:prstGeom prst="rect">
            <a:avLst/>
          </a:prstGeom>
          <a:solidFill>
            <a:srgbClr val="FCFDFE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TextBox 535"/>
          <p:cNvSpPr txBox="1"/>
          <p:nvPr/>
        </p:nvSpPr>
        <p:spPr>
          <a:xfrm>
            <a:off x="8711671" y="5129784"/>
            <a:ext cx="2791481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E3D"/>
                </a:solidFill>
                <a:latin typeface="맑은 고딕"/>
                <a:ea typeface="맑은 고딕"/>
              </a:rPr>
              <a:t>Laplacian</a:t>
            </a:r>
          </a:p>
        </p:txBody>
      </p:sp>
      <p:sp>
        <p:nvSpPr>
          <p:cNvPr id="537" name="TextBox 536"/>
          <p:cNvSpPr txBox="1"/>
          <p:nvPr/>
        </p:nvSpPr>
        <p:spPr>
          <a:xfrm>
            <a:off x="8711671" y="5303520"/>
            <a:ext cx="2791481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6B7280"/>
                </a:solidFill>
                <a:latin typeface="Cambria Math"/>
                <a:ea typeface="Cambria Math"/>
              </a:rPr>
              <a:t>εₜ ~ Laplace(0, b)</a:t>
            </a:r>
          </a:p>
        </p:txBody>
      </p:sp>
      <p:sp>
        <p:nvSpPr>
          <p:cNvPr id="538" name="Rectangle 537"/>
          <p:cNvSpPr/>
          <p:nvPr/>
        </p:nvSpPr>
        <p:spPr>
          <a:xfrm>
            <a:off x="8803111" y="5792724"/>
            <a:ext cx="2608601" cy="13716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8803111" y="5513832"/>
            <a:ext cx="13716" cy="292608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Oval 539"/>
          <p:cNvSpPr/>
          <p:nvPr/>
        </p:nvSpPr>
        <p:spPr>
          <a:xfrm>
            <a:off x="10973192" y="551831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Oval 540"/>
          <p:cNvSpPr/>
          <p:nvPr/>
        </p:nvSpPr>
        <p:spPr>
          <a:xfrm>
            <a:off x="10350559" y="564354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Oval 541"/>
          <p:cNvSpPr/>
          <p:nvPr/>
        </p:nvSpPr>
        <p:spPr>
          <a:xfrm>
            <a:off x="10422355" y="557291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Oval 542"/>
          <p:cNvSpPr/>
          <p:nvPr/>
        </p:nvSpPr>
        <p:spPr>
          <a:xfrm>
            <a:off x="9882451" y="565298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Oval 543"/>
          <p:cNvSpPr/>
          <p:nvPr/>
        </p:nvSpPr>
        <p:spPr>
          <a:xfrm>
            <a:off x="9897237" y="567505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Oval 544"/>
          <p:cNvSpPr/>
          <p:nvPr/>
        </p:nvSpPr>
        <p:spPr>
          <a:xfrm>
            <a:off x="9952147" y="561118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Oval 545"/>
          <p:cNvSpPr/>
          <p:nvPr/>
        </p:nvSpPr>
        <p:spPr>
          <a:xfrm>
            <a:off x="8847628" y="566348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Oval 546"/>
          <p:cNvSpPr/>
          <p:nvPr/>
        </p:nvSpPr>
        <p:spPr>
          <a:xfrm>
            <a:off x="10063566" y="555235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Oval 547"/>
          <p:cNvSpPr/>
          <p:nvPr/>
        </p:nvSpPr>
        <p:spPr>
          <a:xfrm>
            <a:off x="10778488" y="571014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Oval 548"/>
          <p:cNvSpPr/>
          <p:nvPr/>
        </p:nvSpPr>
        <p:spPr>
          <a:xfrm>
            <a:off x="9982145" y="553622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Oval 549"/>
          <p:cNvSpPr/>
          <p:nvPr/>
        </p:nvSpPr>
        <p:spPr>
          <a:xfrm>
            <a:off x="10021091" y="551522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Oval 550"/>
          <p:cNvSpPr/>
          <p:nvPr/>
        </p:nvSpPr>
        <p:spPr>
          <a:xfrm>
            <a:off x="9121742" y="560894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Oval 551"/>
          <p:cNvSpPr/>
          <p:nvPr/>
        </p:nvSpPr>
        <p:spPr>
          <a:xfrm>
            <a:off x="9025894" y="561223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Oval 552"/>
          <p:cNvSpPr/>
          <p:nvPr/>
        </p:nvSpPr>
        <p:spPr>
          <a:xfrm>
            <a:off x="10117459" y="549601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Oval 553"/>
          <p:cNvSpPr/>
          <p:nvPr/>
        </p:nvSpPr>
        <p:spPr>
          <a:xfrm>
            <a:off x="10446862" y="550802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Oval 554"/>
          <p:cNvSpPr/>
          <p:nvPr/>
        </p:nvSpPr>
        <p:spPr>
          <a:xfrm>
            <a:off x="10700009" y="570947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Oval 555"/>
          <p:cNvSpPr/>
          <p:nvPr/>
        </p:nvSpPr>
        <p:spPr>
          <a:xfrm>
            <a:off x="10120903" y="549992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Oval 556"/>
          <p:cNvSpPr/>
          <p:nvPr/>
        </p:nvSpPr>
        <p:spPr>
          <a:xfrm>
            <a:off x="10101188" y="559366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Oval 557"/>
          <p:cNvSpPr/>
          <p:nvPr/>
        </p:nvSpPr>
        <p:spPr>
          <a:xfrm>
            <a:off x="11267087" y="552365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Oval 558"/>
          <p:cNvSpPr/>
          <p:nvPr/>
        </p:nvSpPr>
        <p:spPr>
          <a:xfrm>
            <a:off x="11022405" y="577276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Oval 559"/>
          <p:cNvSpPr/>
          <p:nvPr/>
        </p:nvSpPr>
        <p:spPr>
          <a:xfrm>
            <a:off x="10696368" y="572029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Oval 560"/>
          <p:cNvSpPr/>
          <p:nvPr/>
        </p:nvSpPr>
        <p:spPr>
          <a:xfrm>
            <a:off x="9291957" y="576859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Oval 561"/>
          <p:cNvSpPr/>
          <p:nvPr/>
        </p:nvSpPr>
        <p:spPr>
          <a:xfrm>
            <a:off x="10069744" y="576132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Oval 562"/>
          <p:cNvSpPr/>
          <p:nvPr/>
        </p:nvSpPr>
        <p:spPr>
          <a:xfrm>
            <a:off x="11176238" y="553203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Oval 563"/>
          <p:cNvSpPr/>
          <p:nvPr/>
        </p:nvSpPr>
        <p:spPr>
          <a:xfrm>
            <a:off x="10843224" y="575377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Oval 564"/>
          <p:cNvSpPr/>
          <p:nvPr/>
        </p:nvSpPr>
        <p:spPr>
          <a:xfrm>
            <a:off x="8957557" y="558585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Oval 565"/>
          <p:cNvSpPr/>
          <p:nvPr/>
        </p:nvSpPr>
        <p:spPr>
          <a:xfrm>
            <a:off x="10759223" y="553019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Oval 566"/>
          <p:cNvSpPr/>
          <p:nvPr/>
        </p:nvSpPr>
        <p:spPr>
          <a:xfrm>
            <a:off x="11125359" y="556386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Oval 567"/>
          <p:cNvSpPr/>
          <p:nvPr/>
        </p:nvSpPr>
        <p:spPr>
          <a:xfrm>
            <a:off x="10914296" y="552579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Oval 568"/>
          <p:cNvSpPr/>
          <p:nvPr/>
        </p:nvSpPr>
        <p:spPr>
          <a:xfrm>
            <a:off x="10096738" y="575068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Oval 569"/>
          <p:cNvSpPr/>
          <p:nvPr/>
        </p:nvSpPr>
        <p:spPr>
          <a:xfrm>
            <a:off x="9330084" y="556035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Oval 570"/>
          <p:cNvSpPr/>
          <p:nvPr/>
        </p:nvSpPr>
        <p:spPr>
          <a:xfrm>
            <a:off x="10106622" y="557663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Oval 571"/>
          <p:cNvSpPr/>
          <p:nvPr/>
        </p:nvSpPr>
        <p:spPr>
          <a:xfrm>
            <a:off x="8849054" y="5601110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Oval 572"/>
          <p:cNvSpPr/>
          <p:nvPr/>
        </p:nvSpPr>
        <p:spPr>
          <a:xfrm>
            <a:off x="8993976" y="5614775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Oval 573"/>
          <p:cNvSpPr/>
          <p:nvPr/>
        </p:nvSpPr>
        <p:spPr>
          <a:xfrm>
            <a:off x="9138898" y="5582996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Oval 574"/>
          <p:cNvSpPr/>
          <p:nvPr/>
        </p:nvSpPr>
        <p:spPr>
          <a:xfrm>
            <a:off x="9283820" y="5561293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Oval 575"/>
          <p:cNvSpPr/>
          <p:nvPr/>
        </p:nvSpPr>
        <p:spPr>
          <a:xfrm>
            <a:off x="9428743" y="5645308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Oval 576"/>
          <p:cNvSpPr/>
          <p:nvPr/>
        </p:nvSpPr>
        <p:spPr>
          <a:xfrm>
            <a:off x="9573665" y="5674631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Oval 577"/>
          <p:cNvSpPr/>
          <p:nvPr/>
        </p:nvSpPr>
        <p:spPr>
          <a:xfrm>
            <a:off x="9718587" y="5594172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9863510" y="5574682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Oval 579"/>
          <p:cNvSpPr/>
          <p:nvPr/>
        </p:nvSpPr>
        <p:spPr>
          <a:xfrm>
            <a:off x="10008432" y="5592270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Oval 580"/>
          <p:cNvSpPr/>
          <p:nvPr/>
        </p:nvSpPr>
        <p:spPr>
          <a:xfrm>
            <a:off x="10153354" y="5595410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Oval 581"/>
          <p:cNvSpPr/>
          <p:nvPr/>
        </p:nvSpPr>
        <p:spPr>
          <a:xfrm>
            <a:off x="10298276" y="5636908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Oval 582"/>
          <p:cNvSpPr/>
          <p:nvPr/>
        </p:nvSpPr>
        <p:spPr>
          <a:xfrm>
            <a:off x="10443199" y="5639657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Oval 583"/>
          <p:cNvSpPr/>
          <p:nvPr/>
        </p:nvSpPr>
        <p:spPr>
          <a:xfrm>
            <a:off x="10588121" y="5593252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10733043" y="5645393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Oval 585"/>
          <p:cNvSpPr/>
          <p:nvPr/>
        </p:nvSpPr>
        <p:spPr>
          <a:xfrm>
            <a:off x="10877966" y="5452421"/>
            <a:ext cx="53035" cy="53035"/>
          </a:xfrm>
          <a:prstGeom prst="ellipse">
            <a:avLst/>
          </a:prstGeom>
          <a:solidFill>
            <a:srgbClr val="CC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Oval 586"/>
          <p:cNvSpPr/>
          <p:nvPr/>
        </p:nvSpPr>
        <p:spPr>
          <a:xfrm>
            <a:off x="11022888" y="5778311"/>
            <a:ext cx="53035" cy="53035"/>
          </a:xfrm>
          <a:prstGeom prst="ellipse">
            <a:avLst/>
          </a:prstGeom>
          <a:solidFill>
            <a:srgbClr val="CC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11167810" y="5485010"/>
            <a:ext cx="53035" cy="53035"/>
          </a:xfrm>
          <a:prstGeom prst="ellipse">
            <a:avLst/>
          </a:prstGeom>
          <a:solidFill>
            <a:srgbClr val="CC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Oval 588"/>
          <p:cNvSpPr/>
          <p:nvPr/>
        </p:nvSpPr>
        <p:spPr>
          <a:xfrm>
            <a:off x="11312732" y="5742101"/>
            <a:ext cx="53035" cy="53035"/>
          </a:xfrm>
          <a:prstGeom prst="ellipse">
            <a:avLst/>
          </a:prstGeom>
          <a:solidFill>
            <a:srgbClr val="CC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TextBox 589"/>
          <p:cNvSpPr txBox="1"/>
          <p:nvPr/>
        </p:nvSpPr>
        <p:spPr>
          <a:xfrm>
            <a:off x="640080" y="596188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>
                <a:solidFill>
                  <a:srgbClr val="3A485C"/>
                </a:solidFill>
                <a:latin typeface="맑은 고딕"/>
                <a:ea typeface="맑은 고딕"/>
              </a:rPr>
              <a:t>현업(BBD / Overlay / CD) trend 판정 경험을 영역(밀도·결측), 노이즈, 이상 규칙으로 코드화</a:t>
            </a:r>
          </a:p>
        </p:txBody>
      </p:sp>
      <p:sp>
        <p:nvSpPr>
          <p:cNvPr id="591" name="TextBox 590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592" name="TextBox 591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맑은 고딕"/>
                <a:ea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P3 | 생성 데이터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정상 baseline 위에 이상 5종을 현장 발생 방식대로 합성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4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450">
                <a:solidFill>
                  <a:srgbClr val="1A1F2E"/>
                </a:solidFill>
                <a:latin typeface="맑은 고딕"/>
                <a:ea typeface="맑은 고딕"/>
              </a:rPr>
              <a:t>정상(Normal)에 더해 Mean shift / Variance / Spike / Trend drift / Contextual 5종을 만듭니다. 이상은 주로 trend 오른쪽 끝 구간에 주입하고(분홍 음영), context만 전체가 fleet에서 벗어납니다</a:t>
            </a:r>
          </a:p>
          <a:p>
            <a:pPr marL="420624" indent="-420624" lvl="1">
              <a:spcAft>
                <a:spcPts val="500"/>
              </a:spcAft>
            </a:pPr>
            <a:r>
              <a:rPr sz="1350" b="0">
                <a:solidFill>
                  <a:srgbClr val="6E7B8E"/>
                </a:solidFill>
                <a:latin typeface="맑은 고딕"/>
                <a:ea typeface="맑은 고딕"/>
              </a:rPr>
              <a:t>–  </a:t>
            </a:r>
            <a:r>
              <a:rPr sz="1350">
                <a:solidFill>
                  <a:srgbClr val="4A5666"/>
                </a:solidFill>
                <a:latin typeface="맑은 고딕"/>
                <a:ea typeface="맑은 고딕"/>
              </a:rPr>
              <a:t>이상 강도는 그 설비의 정상 산포(σ) 배수로 정해 너무 약해 보이지 않게 보정합니다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3200400"/>
            <a:ext cx="4206240" cy="384048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06640" y="3200400"/>
            <a:ext cx="82296" cy="38404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3200400"/>
            <a:ext cx="387705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0F1E3D"/>
                </a:solidFill>
                <a:latin typeface="맑은 고딕"/>
                <a:ea typeface="맑은 고딕"/>
              </a:rPr>
              <a:t>정상 3,500 + 이상 3,500 = 7,000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3467549" y="3630312"/>
            <a:ext cx="5317862" cy="2322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3_deck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549" y="3639312"/>
            <a:ext cx="5299862" cy="23042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96188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>
                <a:solidFill>
                  <a:srgbClr val="3A485C"/>
                </a:solidFill>
                <a:latin typeface="맑은 고딕"/>
                <a:ea typeface="맑은 고딕"/>
              </a:rPr>
              <a:t>회색 = 다른 설비(fleet), 파랑 = 판정 대상 정상, 빨강 = 주입된 이상, 분홍 음영 = 이상 구간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맑은 고딕"/>
                <a:ea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P3 | 결과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백본·누적 개선과 smoothing·color (binary gate, 5-seed)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4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450">
                <a:solidFill>
                  <a:srgbClr val="1A1F2E"/>
                </a:solidFill>
                <a:latin typeface="맑은 고딕"/>
                <a:ea typeface="맑은 고딕"/>
              </a:rPr>
              <a:t>백본 비교와 누적 개선(F1 0.9967→0.9987), checkpoint 평활화(smoothing window)와 color 변경 효과를 한 화면에 정리했습니다 (threshold 0.9)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10972800" cy="3840480"/>
          </a:xfrm>
          <a:prstGeom prst="rect">
            <a:avLst/>
          </a:prstGeom>
          <a:solidFill>
            <a:srgbClr val="FFFFFF"/>
          </a:solidFill>
          <a:ln w="15875">
            <a:solidFill>
              <a:srgbClr val="B9C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17904" y="2377440"/>
            <a:ext cx="447141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2377440"/>
            <a:ext cx="447141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17904" y="4434840"/>
            <a:ext cx="447141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4434840"/>
            <a:ext cx="447141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9344" y="2432304"/>
            <a:ext cx="4288536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Backbone sweep — F1 (5-seed)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3501" y="2901946"/>
            <a:ext cx="417880" cy="801374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64208" y="2655058"/>
            <a:ext cx="696468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0.9987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3730752"/>
            <a:ext cx="696468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dinov3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931920"/>
            <a:ext cx="696468" cy="1920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FN 0 / FP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99969" y="3050349"/>
            <a:ext cx="417880" cy="652971"/>
          </a:xfrm>
          <a:prstGeom prst="rect">
            <a:avLst/>
          </a:prstGeom>
          <a:solidFill>
            <a:srgbClr val="3A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60676" y="2803461"/>
            <a:ext cx="696468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0.9982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60676" y="3730752"/>
            <a:ext cx="696468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60676" y="3931920"/>
            <a:ext cx="696468" cy="1920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FN 0 / FP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96437" y="3495557"/>
            <a:ext cx="417880" cy="207763"/>
          </a:xfrm>
          <a:prstGeom prst="rect">
            <a:avLst/>
          </a:prstGeom>
          <a:solidFill>
            <a:srgbClr val="AEB4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7144" y="3248669"/>
            <a:ext cx="696468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0.9967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57144" y="3730752"/>
            <a:ext cx="696468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tiny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57144" y="3931920"/>
            <a:ext cx="696468" cy="1920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FN 1 / FP 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92905" y="3258113"/>
            <a:ext cx="417880" cy="445207"/>
          </a:xfrm>
          <a:prstGeom prst="rect">
            <a:avLst/>
          </a:prstGeom>
          <a:solidFill>
            <a:srgbClr val="3A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53612" y="3011225"/>
            <a:ext cx="696468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0.9975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53612" y="3730752"/>
            <a:ext cx="696468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swin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53612" y="3931920"/>
            <a:ext cx="696468" cy="1920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FN 1 / FP 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89373" y="3139391"/>
            <a:ext cx="417880" cy="563929"/>
          </a:xfrm>
          <a:prstGeom prst="rect">
            <a:avLst/>
          </a:prstGeom>
          <a:solidFill>
            <a:srgbClr val="3A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50080" y="2892503"/>
            <a:ext cx="696468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0.9979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50080" y="3730752"/>
            <a:ext cx="696468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maxvit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50080" y="3931920"/>
            <a:ext cx="696468" cy="1920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FN 0 / FP 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85841" y="3347154"/>
            <a:ext cx="417880" cy="356166"/>
          </a:xfrm>
          <a:prstGeom prst="rect">
            <a:avLst/>
          </a:prstGeom>
          <a:solidFill>
            <a:srgbClr val="3A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46548" y="3100266"/>
            <a:ext cx="696468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0.9972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46548" y="3730752"/>
            <a:ext cx="696468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effv2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46548" y="3931920"/>
            <a:ext cx="696468" cy="1920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FN 1 / FP 4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664208" y="3703320"/>
            <a:ext cx="4178808" cy="0"/>
          </a:xfrm>
          <a:prstGeom prst="line">
            <a:avLst/>
          </a:prstGeom>
          <a:ln w="1397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355080" y="2432304"/>
            <a:ext cx="4288536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baseline → BKM combined → best backbone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17792" y="3495557"/>
            <a:ext cx="777240" cy="207763"/>
          </a:xfrm>
          <a:prstGeom prst="rect">
            <a:avLst/>
          </a:prstGeom>
          <a:solidFill>
            <a:srgbClr val="AEB4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9944" y="3248669"/>
            <a:ext cx="1392936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0.9967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9944" y="3730752"/>
            <a:ext cx="1392936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Baseline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9944" y="3931920"/>
            <a:ext cx="1392936" cy="1920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FN 1 / FP 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10728" y="3080029"/>
            <a:ext cx="777240" cy="623291"/>
          </a:xfrm>
          <a:prstGeom prst="rect">
            <a:avLst/>
          </a:prstGeom>
          <a:solidFill>
            <a:srgbClr val="3A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02880" y="2833141"/>
            <a:ext cx="1392936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0.9981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02880" y="3730752"/>
            <a:ext cx="1392936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BKM
combined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02880" y="3931920"/>
            <a:ext cx="1392936" cy="1920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FN 1 / FP 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503664" y="2901946"/>
            <a:ext cx="777240" cy="801374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95816" y="2655058"/>
            <a:ext cx="1392936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0.9987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95816" y="3730752"/>
            <a:ext cx="1392936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Best
backbone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95816" y="3931920"/>
            <a:ext cx="1392936" cy="1920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FN 0 / FP 2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409944" y="3703320"/>
            <a:ext cx="4178808" cy="0"/>
          </a:xfrm>
          <a:prstGeom prst="line">
            <a:avLst/>
          </a:prstGeom>
          <a:ln w="1397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609344" y="4489704"/>
            <a:ext cx="428853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Smoothing window — 후속 3-epoch median 으로 best 선택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64208" y="4736592"/>
            <a:ext cx="4197096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>
                <a:solidFill>
                  <a:srgbClr val="0F1E3D"/>
                </a:solidFill>
                <a:latin typeface="맑은 고딕"/>
                <a:ea typeface="맑은 고딕"/>
              </a:rPr>
              <a:t>단일 epoch 최고 F1은 초기 hunting spike(학습 덜 됨),</a:t>
            </a:r>
          </a:p>
          <a:p>
            <a:pPr algn="l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후속 3-epoch median 이 더 높은 plateau 를 best 선택</a:t>
            </a:r>
          </a:p>
        </p:txBody>
      </p:sp>
      <p:cxnSp>
        <p:nvCxnSpPr>
          <p:cNvPr id="53" name="Connector 52"/>
          <p:cNvCxnSpPr/>
          <p:nvPr/>
        </p:nvCxnSpPr>
        <p:spPr>
          <a:xfrm flipV="1">
            <a:off x="1700784" y="5820424"/>
            <a:ext cx="198120" cy="48627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898904" y="5740222"/>
            <a:ext cx="198120" cy="80202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2097024" y="5740222"/>
            <a:ext cx="198120" cy="20895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295144" y="5720499"/>
            <a:ext cx="198120" cy="40618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493264" y="5720499"/>
            <a:ext cx="198120" cy="50572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2691384" y="5256678"/>
            <a:ext cx="198120" cy="514393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889504" y="5256678"/>
            <a:ext cx="198120" cy="545103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087624" y="5563769"/>
            <a:ext cx="198120" cy="238012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285744" y="5508300"/>
            <a:ext cx="198120" cy="55469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483864" y="5508300"/>
            <a:ext cx="198120" cy="50413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681984" y="5497570"/>
            <a:ext cx="198120" cy="61143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80104" y="5488267"/>
            <a:ext cx="198120" cy="9303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4078224" y="5364514"/>
            <a:ext cx="198120" cy="123753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276344" y="5364514"/>
            <a:ext cx="198120" cy="4712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474464" y="5369226"/>
            <a:ext cx="198120" cy="43193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672584" y="5400382"/>
            <a:ext cx="198120" cy="12037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870704" y="5395616"/>
            <a:ext cx="198120" cy="4766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5068824" y="5395616"/>
            <a:ext cx="198120" cy="19518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5266944" y="5375163"/>
            <a:ext cx="198120" cy="39971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5465064" y="5375163"/>
            <a:ext cx="198120" cy="2157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5663184" y="5340293"/>
            <a:ext cx="198120" cy="37027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700784" y="5761117"/>
            <a:ext cx="198120" cy="59307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898904" y="5740222"/>
            <a:ext cx="198120" cy="20895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97024" y="5740222"/>
            <a:ext cx="198120" cy="20895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2295144" y="5720499"/>
            <a:ext cx="198120" cy="40618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493264" y="5720499"/>
            <a:ext cx="198120" cy="50572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2691384" y="5563769"/>
            <a:ext cx="198120" cy="207302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889504" y="5563769"/>
            <a:ext cx="198120" cy="0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3087624" y="5558713"/>
            <a:ext cx="198120" cy="5056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3285744" y="5508300"/>
            <a:ext cx="198120" cy="50413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3483864" y="5497570"/>
            <a:ext cx="198120" cy="10730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3681984" y="5488267"/>
            <a:ext cx="198120" cy="9303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3880104" y="5369226"/>
            <a:ext cx="198120" cy="119041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4078224" y="5369226"/>
            <a:ext cx="198120" cy="0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4276344" y="5369226"/>
            <a:ext cx="198120" cy="31156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4474464" y="5400382"/>
            <a:ext cx="198120" cy="0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4672584" y="5400382"/>
            <a:ext cx="198120" cy="0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4870704" y="5395616"/>
            <a:ext cx="198120" cy="4766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5068824" y="5377320"/>
            <a:ext cx="198120" cy="18296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5266944" y="5375163"/>
            <a:ext cx="198120" cy="2157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2839212" y="5206386"/>
            <a:ext cx="100584" cy="100584"/>
          </a:xfrm>
          <a:prstGeom prst="ellipse">
            <a:avLst/>
          </a:prstGeom>
          <a:solidFill>
            <a:srgbClr val="CC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Diamond 93"/>
          <p:cNvSpPr/>
          <p:nvPr/>
        </p:nvSpPr>
        <p:spPr>
          <a:xfrm>
            <a:off x="4009644" y="5300646"/>
            <a:ext cx="137160" cy="137160"/>
          </a:xfrm>
          <a:prstGeom prst="diamond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" name="Connector 94"/>
          <p:cNvCxnSpPr/>
          <p:nvPr/>
        </p:nvCxnSpPr>
        <p:spPr>
          <a:xfrm>
            <a:off x="1700784" y="6016752"/>
            <a:ext cx="4160520" cy="0"/>
          </a:xfrm>
          <a:prstGeom prst="line">
            <a:avLst/>
          </a:prstGeom>
          <a:ln w="1270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1609344" y="6030468"/>
            <a:ext cx="4288536" cy="1737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CC3328"/>
                </a:solidFill>
                <a:latin typeface="맑은 고딕"/>
                <a:ea typeface="맑은 고딕"/>
              </a:rPr>
              <a:t>● 단일 최고(hunting)    </a:t>
            </a:r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◆ median best → test 0.9987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55080" y="4489704"/>
            <a:ext cx="428853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Color 변경 전후 — target 색 대비↑ 분리도 향상</a:t>
            </a:r>
          </a:p>
        </p:txBody>
      </p:sp>
      <p:pic>
        <p:nvPicPr>
          <p:cNvPr id="98" name="Picture 97" descr="p3r_color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6348" y="4818888"/>
            <a:ext cx="914400" cy="914400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7219188" y="5769864"/>
            <a:ext cx="1188720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Before (파랑)</a:t>
            </a:r>
          </a:p>
        </p:txBody>
      </p:sp>
      <p:pic>
        <p:nvPicPr>
          <p:cNvPr id="100" name="Picture 99" descr="p3r_color_c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7948" y="4818888"/>
            <a:ext cx="914400" cy="914400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8590788" y="5769864"/>
            <a:ext cx="1188720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After (빨강)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맑은 고딕"/>
                <a:ea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P3 | 결과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옵션을 누적 적용하며 성능이 올라가는 전체 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4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450">
                <a:solidFill>
                  <a:srgbClr val="1A1F2E"/>
                </a:solidFill>
                <a:latin typeface="맑은 고딕"/>
                <a:ea typeface="맑은 고딕"/>
              </a:rPr>
              <a:t>baseline 에서 시작해 옵션을 하나씩 누적 적용하고 최적 백본까지 반영하면, F1 이 0.9967→0.9987로 오르고 놓친 불량(FN)과 오경보(FP)가 함께 줄어듭니다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1845963" y="2459880"/>
            <a:ext cx="8561034" cy="3767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3_cumulative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963" y="2468880"/>
            <a:ext cx="8543034" cy="3749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맑은 고딕"/>
                <a:ea typeface="맑은 고딕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