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9611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A929E"/>
                </a:solidFill>
                <a:latin typeface="맑은 고딕"/>
                <a:ea typeface="맑은 고딕"/>
              </a:rPr>
              <a:t>AI Specialist 인증 — Project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35024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0F1E3D"/>
                </a:solidFill>
                <a:latin typeface="맑은 고딕"/>
                <a:ea typeface="맑은 고딕"/>
              </a:rPr>
              <a:t>계측 trend 이상탐지 데이터 생성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292608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>
                <a:solidFill>
                  <a:srgbClr val="475569"/>
                </a:solidFill>
                <a:latin typeface="맑은 고딕"/>
                <a:ea typeface="맑은 고딕"/>
              </a:rPr>
              <a:t>이상 유형별 검증 데이터가 없던 문제를, 현장에서 trend를 보던 판정 기준을 생성 규칙으로 옮겨 풀었습니다. 정상 baseline 위에 이상을 합성해 평가셋을 만들고 1차 gate로 확인했습니다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5B9BD5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9656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Failbit Map 불량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4296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5B9BD5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8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Chip multi-label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82712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82712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2168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5B9BD5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Trend anomaly generator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" y="4992624"/>
            <a:ext cx="3840480" cy="2032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5184648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최호길  |  메모리제조센터 QIE그룹 Data Science 파트</a:t>
            </a:r>
          </a:p>
          <a:p>
            <a:pPr algn="l"/>
            <a:r>
              <a:rPr sz="1250">
                <a:solidFill>
                  <a:srgbClr val="6B7280"/>
                </a:solidFill>
                <a:latin typeface="맑은 고딕"/>
                <a:ea typeface="맑은 고딕"/>
              </a:rPr>
              <a:t>제조품질 AI / Data Science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" y="5989320"/>
            <a:ext cx="10387584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6108192"/>
            <a:ext cx="7772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삼성전자 메모리제조센터 | QIE그룹 Data Science</a:t>
            </a:r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    AI Specialist 인증 사내 경연 발표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108192"/>
            <a:ext cx="167335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>
                <a:solidFill>
                  <a:srgbClr val="5B9BD5"/>
                </a:solidFill>
                <a:latin typeface="맑은 고딕"/>
                <a:ea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episode 생성 방식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현장 판정 기준을 episode(구간) 생성 규칙으로 옮겼다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한 chart는 같은 device/step/item을 여러 설비(fleet)가 함께 찍은 trend이고, 그중 한 설비를 판정 대상으로 봅니다</a:t>
            </a:r>
          </a:p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정상 baseline은 episode(구간)를 이어 붙여 만듭니다. episode마다 측정 밀도(밀집/희소/결핍)와 산포가 다르고, 변동은 노이즈 3종으로 재현합니다</a:t>
            </a:r>
          </a:p>
          <a:p>
            <a:pPr marL="420624" indent="-420624" lvl="1">
              <a:spcAft>
                <a:spcPts val="500"/>
              </a:spcAft>
            </a:pPr>
            <a:r>
              <a:rPr sz="130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00">
                <a:solidFill>
                  <a:srgbClr val="4A5666"/>
                </a:solidFill>
                <a:latin typeface="맑은 고딕"/>
                <a:ea typeface="맑은 고딕"/>
              </a:rPr>
              <a:t>episode는 사내 표현이고, 학계 표준 용어로는 piecewise-stationary / regime segment입니다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2834276" y="3365136"/>
            <a:ext cx="6584407" cy="258746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3_deck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3276" y="3374136"/>
            <a:ext cx="6566407" cy="25694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현업(BBD / Overlay / CD) trend 판정 경험을 영역, 노이즈, 이상 규칙으로 코드화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생성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정상 baseline 위에 이상 5종을 현장 발생 방식대로 합성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정상(Normal)에 더해 Mean shift / Variance / Spike / Trend drift / Contextual 5종을 만듭니다. 이상은 주로 trend 오른쪽 끝 구간에 주입하고(분홍 음영), context만 전체가 fleet에서 벗어납니다</a:t>
            </a:r>
          </a:p>
          <a:p>
            <a:pPr marL="420624" indent="-420624" lvl="1">
              <a:spcAft>
                <a:spcPts val="500"/>
              </a:spcAft>
            </a:pPr>
            <a:r>
              <a:rPr sz="135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50">
                <a:solidFill>
                  <a:srgbClr val="4A5666"/>
                </a:solidFill>
                <a:latin typeface="맑은 고딕"/>
                <a:ea typeface="맑은 고딕"/>
              </a:rPr>
              <a:t>이상 강도는 그 설비의 정상 산포(σ) 배수로 정해 너무 약해 보이지 않게 보정합니다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0" y="3200400"/>
            <a:ext cx="4206240" cy="384048"/>
          </a:xfrm>
          <a:prstGeom prst="roundRect">
            <a:avLst/>
          </a:prstGeom>
          <a:solidFill>
            <a:srgbClr val="E6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06640" y="3200400"/>
            <a:ext cx="82296" cy="38404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0" y="3200400"/>
            <a:ext cx="387705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정상 3,500 + 이상 3,500 = 7,000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3467549" y="3630312"/>
            <a:ext cx="5317862" cy="232228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3_deck_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6549" y="3639312"/>
            <a:ext cx="5299862" cy="23042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회색 = 다른 설비(fleet), 파랑 = 판정 대상 정상, 빨강 = 주입된 이상, 분홍 음영 = 이상 구간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1차 binary gate (PoC)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생성 데이터로 검증 — test 1,500 중 놓친 불량 1건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trend 이미지를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ConvNeXtV2-Tiny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로 정상/이상 1차 판정하고(Focal loss, normal threshold 0.9), 놓침(FN) 최소화를 목표로 했습니다</a:t>
            </a:r>
          </a:p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test 1,500(정상 750 / 불량 750)에서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binary F1 0.9967, 이상 recall 0.9987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 — 놓친 불량 1건(std), 정상 오경보 4건. 5-seed 평균 F1 0.9975</a:t>
            </a:r>
          </a:p>
          <a:p>
            <a:pPr marL="420624" indent="-420624" lvl="1">
              <a:spcAft>
                <a:spcPts val="500"/>
              </a:spcAft>
            </a:pPr>
            <a:r>
              <a:rPr sz="130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00">
                <a:solidFill>
                  <a:srgbClr val="4A5666"/>
                </a:solidFill>
                <a:latin typeface="맑은 고딕"/>
                <a:ea typeface="맑은 고딕"/>
              </a:rPr>
              <a:t>통과한 불량은 2차에서 유형 진단(type 정확도 0.73, 주 혼동 drift↔mean_shift). NT를 올리면 FN↓ / FP↑ — 운영은 0.9 균형점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50608" y="3566160"/>
            <a:ext cx="4462272" cy="384048"/>
          </a:xfrm>
          <a:prstGeom prst="roundRect">
            <a:avLst/>
          </a:prstGeom>
          <a:solidFill>
            <a:srgbClr val="E6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50608" y="3566160"/>
            <a:ext cx="82296" cy="38404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33488" y="3566160"/>
            <a:ext cx="413308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F1 0.9967 / recall 0.9987 (생성셋 PoC)</a:t>
            </a:r>
          </a:p>
        </p:txBody>
      </p:sp>
      <p:sp>
        <p:nvSpPr>
          <p:cNvPr id="9" name="Rectangle 8"/>
          <p:cNvSpPr/>
          <p:nvPr/>
        </p:nvSpPr>
        <p:spPr>
          <a:xfrm>
            <a:off x="2486566" y="3996072"/>
            <a:ext cx="7279827" cy="19565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3_deck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5566" y="4005072"/>
            <a:ext cx="7261827" cy="19385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좌 confusion(test 1,500 대표 run) / 중 NT trade-off(319-run 평균) / 우 유형별 오류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