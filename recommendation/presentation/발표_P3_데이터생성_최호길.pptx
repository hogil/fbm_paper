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기본 baseline에 노이즈 3종과 밀도(밀집/희소/결핍)를 episode마다 가중치로 조합해 여러 episode를 순차 생성하고 이어 붙여 정상 trend를 만듭니다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한 trend는 여러 설비(fleet)가 함께 찍히고 그중 한 설비(target)를 판정. episode = 시작과 끝이 있는 자기완결 구간을 단어 뜻 그대로 사용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06624"/>
            <a:ext cx="10972800" cy="3236976"/>
          </a:xfrm>
          <a:prstGeom prst="rect">
            <a:avLst/>
          </a:prstGeom>
          <a:solidFill>
            <a:srgbClr val="FFFFFF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7742407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774240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8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310128"/>
            <a:ext cx="7413223" cy="2542032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5637276"/>
            <a:ext cx="7102327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3493008"/>
            <a:ext cx="13716" cy="2157984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24128" y="3566160"/>
            <a:ext cx="1398519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584448"/>
            <a:ext cx="136194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486329" y="4095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95930" y="39731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51860" y="44290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3448" y="4649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7773" y="45346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68295" y="40016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12410" y="51459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35847" y="4207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66502" y="533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03477" y="44772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03302" y="393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55808" y="43107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61459" y="40437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67106" y="51292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07129" y="4764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80878" y="44394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66714" y="3958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5454" y="41807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932828" y="4525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74200" y="47708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648305" y="4326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75554" y="4947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86482" y="47535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738479" y="5220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94243" y="43081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08210" y="40441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04400" y="50375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71138" y="46206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9916" y="48993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038228" y="4751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177107" y="43483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51480" y="478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806974" y="45697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132641" y="5329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74494" y="48930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6792" y="49510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891165" y="54043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110047" y="43029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63914" y="49000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09074" y="4578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91253" y="4042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54644" y="5054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49025" y="4264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567047" y="48166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9751" y="44428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59714" y="48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087742" y="48100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30253" y="44129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527930" y="48279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56049" y="4178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306011" y="42506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375446" y="4474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807955" y="42778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96770" y="441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540673" y="45465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250417" y="46564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718445" y="4591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913809" y="40930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85301" y="47356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154886" y="47515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568785" y="43984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17657" y="46067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67464" y="4104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345574" y="41889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505176" y="409184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92077" y="417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15138" y="436715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22793" y="48192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38280" y="4176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398448" y="43527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534485" y="4154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123794" y="49243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658268" y="4473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96198" y="41357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508315" y="42796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099382" y="41882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9870" y="48870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33964" y="41750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52095" y="40692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733784" y="49114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141285" y="4661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409215" y="436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294856" y="4728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39234" y="47348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492547" y="42427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078298" y="49171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128282" y="4758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86591" y="4700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367427" y="4503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524029" y="4070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25755" y="4292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406856" y="46582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254571" y="4441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230873" y="491985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252730" y="436805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59796" y="42460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330917" y="42262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850433" y="4842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113460" y="44697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885579" y="47531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94854" y="4630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197754" y="47377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003693" y="44684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308811" y="474380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496014" y="47541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272978" y="4395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579735" y="488335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972887" y="41957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46226" y="41790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191767" y="47591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69489" y="4776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283492" y="46270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517763" y="45309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51023" y="40579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272045" y="46203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31926" y="4871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422647" y="3566160"/>
            <a:ext cx="1398519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0935" y="3584448"/>
            <a:ext cx="136194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022562" y="52157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513863" y="4188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794691" y="43160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780547" y="477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804120" y="4511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643472" y="52752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22353" y="45727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209818" y="5266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006057" y="52871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107512" y="4687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134882" y="38896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030471" y="41452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484264" y="51028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695155" y="45966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387437" y="47256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887539" y="46663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174872" y="507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612211" y="473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790508" y="42910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446376" y="46498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182745" y="50419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621971" y="454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246356" y="46464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120676" y="4937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045774" y="4689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077944" y="53241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354911" y="52231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659152" y="42641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179971" y="53268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531200" y="40737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631636" y="45478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570183" y="42346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570902" y="49012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460996" y="52550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672740" y="49737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306123" y="40828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584836" y="5364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754311" y="53412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2978043" y="46180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718871" y="51546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681530" y="4531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124988" y="43877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728267" y="45209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368187" y="43765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163838" y="457982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512294" y="4527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248783" y="46144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568467" y="48427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448677" y="48363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617687" y="44953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538437" y="47432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819077" y="44297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003621" y="48072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485895" y="44920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671890" y="4810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183950" y="47053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599066" y="43949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326922" y="4572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578342" y="48202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261562" y="47542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592113" y="47805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571301" y="47837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041937" y="45309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162639" y="4814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815933" y="44295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130851" y="44822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821166" y="3566160"/>
            <a:ext cx="1398519" cy="2011680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3839454" y="3584448"/>
            <a:ext cx="136194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00" name="Oval 199"/>
          <p:cNvSpPr/>
          <p:nvPr/>
        </p:nvSpPr>
        <p:spPr>
          <a:xfrm>
            <a:off x="4014915" y="4111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3940945" y="4174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268540" y="43347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828914" y="43113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504077" y="41371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312378" y="3888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191474" y="38844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795833" y="47171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115099" y="4598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048232" y="40258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4903323" y="4532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497707" y="5157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370087" y="46482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739059" y="5387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306998" y="51543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762831" y="48492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384627" y="4400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3945965" y="40623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3966419" y="50122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197917" y="41143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3983652" y="5168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4967959" y="49029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230900" y="42371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244831" y="457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075124" y="4553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207495" y="5355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095792" y="47110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183958" y="53617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265479" y="4414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3879197" y="44538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472214" y="46421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129529" y="46451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884058" y="427124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990249" y="44816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3930034" y="3895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258838" y="42224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611135" y="46832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817697" y="48827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4774436" y="5227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365617" y="4367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110951" y="40929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784657" y="48604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3821166" y="4480560"/>
            <a:ext cx="1398519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19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219685" y="3566160"/>
            <a:ext cx="1398519" cy="2011680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5237973" y="3584448"/>
            <a:ext cx="1361943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245" name="Oval 244"/>
          <p:cNvSpPr/>
          <p:nvPr/>
        </p:nvSpPr>
        <p:spPr>
          <a:xfrm>
            <a:off x="5331210" y="51590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393281" y="48357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6195318" y="51231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5450821" y="4674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907958" y="51584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6284007" y="51452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007748" y="52484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6131509" y="4938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564313" y="3909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443039" y="44213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5407755" y="51598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5975774" y="48364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060548" y="49186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5889079" y="38657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275266" y="50237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906205" y="46925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101962" y="3963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6198995" y="4252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5369605" y="42734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189662" y="41796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202802" y="53773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5894908" y="4455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876201" y="49233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236789" y="48196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6081255" y="39810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5460985" y="42553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07045" y="4333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987337" y="3879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5352338" y="42783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117868" y="49365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22509" y="43127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5923191" y="45829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5860334" y="40448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395436" y="41703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6501201" y="53159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5298297" y="45740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303066" y="5365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839187" y="42782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539139" y="53304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540230" y="47644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5453867" y="46752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469413" y="40667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284438" y="461279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6365455" y="47067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5568629" y="480058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878322" y="43791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5291715" y="460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835312" y="45129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458400" y="4533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671587" y="4772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5289467" y="47296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307406" y="44251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413517" y="47114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6383330" y="4507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5739838" y="45568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6501522" y="465163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725843" y="45738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21840" y="43904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410993" y="4770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634565" y="48188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590439" y="44954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5908497" y="44588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741208" y="48288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6362299" y="4759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618204" y="3566160"/>
            <a:ext cx="1398523" cy="2011680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636492" y="3584448"/>
            <a:ext cx="1361947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4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311" name="Oval 310"/>
          <p:cNvSpPr/>
          <p:nvPr/>
        </p:nvSpPr>
        <p:spPr>
          <a:xfrm>
            <a:off x="7464916" y="52804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2858" y="47143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575959" y="39375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591962" y="4561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617402" y="486244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033292" y="3936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835424" y="40584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266174" y="43948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047772" y="50094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897433" y="42650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496346" y="43282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372785" y="44736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6884433" y="41118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6935198" y="52688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7297344" y="42026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809732" y="54095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238346" y="40775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6915832" y="40016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103099" y="40022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6974335" y="42622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388183" y="5239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613632" y="45022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193169" y="4675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146815" y="4386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6752609" y="4291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886650" y="40562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7305258" y="48393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755388" y="41963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014274" y="4246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7175480" y="4553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7869443" y="51798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7767947" y="389450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6715272" y="4963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796505" y="45962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10170" y="38608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165167" y="53013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7708715" y="51903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7892355" y="4246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6811446" y="41005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7329013" y="49208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7853849" y="49825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7485518" y="50494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7241813" y="453346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6733944" y="47377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6968600" y="48595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470574" y="431419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6841432" y="42681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459372" y="4663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6822183" y="41075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323397" y="45612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157639" y="42432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416545" y="405456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052412" y="445308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7851598" y="461584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7760223" y="44660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6971264" y="4263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7853633" y="466902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7059556" y="40645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7291637" y="46422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7196459" y="427301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497135" y="48642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961560" y="40754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096820" y="44175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7515627" y="42206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7654815" y="46995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7299621" y="42269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7864871" y="43212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7682702" y="42496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6955065" y="47184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044403" y="48878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288542" y="42111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6957352" y="441443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7494630" y="488509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6863819" y="43935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944740" y="4907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858383" y="40911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6758973" y="439345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7777720" y="48273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576600" y="49282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7818357" y="43367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6911386" y="487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7593114" y="40735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7493579" y="43804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7140379" y="4338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6891630" y="40478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026014" y="43564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7847434" y="415480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7858079" y="4228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119403" y="477251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7685138" y="44280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6745749" y="44643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138957" y="48591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6920520" y="43677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7776293" y="407211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7185258" y="476388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7617864" y="40812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6728240" y="410069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7804354" y="42728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7594303" y="484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7098057" y="42863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7850078" y="45914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7004578" y="46796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7070601" y="4289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6690454" y="471416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7799957" y="46064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7832525" y="40667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6970167" y="446591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7848970" y="48896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7155733" y="426751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7208521" y="448209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7814107" y="42072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7661506" y="46989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8601943" y="2706624"/>
            <a:ext cx="3010937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8601943" y="3017520"/>
            <a:ext cx="301093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1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8601943" y="3273552"/>
            <a:ext cx="3010937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711671" y="3300984"/>
            <a:ext cx="279148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8711671" y="3474720"/>
            <a:ext cx="279148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8803111" y="3963924"/>
            <a:ext cx="260860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803111" y="3685032"/>
            <a:ext cx="13716" cy="29260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932892" y="3879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370735" y="375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9620227" y="37602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827226" y="3678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301359" y="38735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431778" y="36741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8874988" y="38154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9636425" y="39393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11091284" y="3941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9477647" y="36797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038180" y="3799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10638161" y="37848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9397576" y="37761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10404787" y="3850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10737825" y="3900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10519872" y="36905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10980149" y="37405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10265426" y="37634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10711975" y="3713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432095" y="3726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186608" y="39115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10295155" y="37499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9819839" y="3942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10059" y="3722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895556" y="38446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1371659" y="36850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025118" y="38926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979328" y="39202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8891940" y="37404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097640" y="3710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1324729" y="38243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1213104" y="3763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8849054" y="374010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8993976" y="38461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138898" y="379764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283820" y="367109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9428743" y="375952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9573665" y="380107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718587" y="386894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863510" y="384454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008432" y="377686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153354" y="372555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298276" y="3760875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443199" y="375412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588121" y="379305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733043" y="36971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877966" y="381707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022888" y="38280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167810" y="372908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312732" y="378581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8601943" y="4187952"/>
            <a:ext cx="3010937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8711671" y="4215384"/>
            <a:ext cx="279148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Correlated AR(1)</a:t>
            </a:r>
          </a:p>
        </p:txBody>
      </p:sp>
      <p:sp>
        <p:nvSpPr>
          <p:cNvPr id="482" name="TextBox 481"/>
          <p:cNvSpPr txBox="1"/>
          <p:nvPr/>
        </p:nvSpPr>
        <p:spPr>
          <a:xfrm>
            <a:off x="8711671" y="4389120"/>
            <a:ext cx="279148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8803111" y="4878324"/>
            <a:ext cx="260860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8803111" y="4599432"/>
            <a:ext cx="13716" cy="29260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556117" y="4623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9601046" y="46287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10861223" y="4728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8951700" y="45991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817823" y="4729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454022" y="45962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9213652" y="47712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855627" y="4651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9589046" y="4845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9601479" y="4733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718396" y="46904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11041125" y="48585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735612" y="46269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685796" y="46288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8801981" y="4830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892059" y="48074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846311" y="482554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988972" y="46168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8825348" y="47295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10457895" y="4833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018898" y="47500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754035" y="47159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167212" y="46518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146147" y="48379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070449" y="47118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886089" y="48498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301437" y="46064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1246760" y="4852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045918" y="45852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1202654" y="46821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145403" y="47495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37588" y="46162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8849054" y="469943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8993976" y="472287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138898" y="4771635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9283820" y="472394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9428743" y="471057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9573665" y="472770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9718587" y="471699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9863510" y="468249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10008432" y="471832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10153354" y="471944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10298276" y="469920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443199" y="4683024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88121" y="4697833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733043" y="47677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0877966" y="4715844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1022888" y="470312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11167810" y="470295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11312732" y="4712327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8601943" y="5102352"/>
            <a:ext cx="3010937" cy="8229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TextBox 535"/>
          <p:cNvSpPr txBox="1"/>
          <p:nvPr/>
        </p:nvSpPr>
        <p:spPr>
          <a:xfrm>
            <a:off x="8711671" y="5129784"/>
            <a:ext cx="279148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8711671" y="5303520"/>
            <a:ext cx="2791481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538" name="Rectangle 537"/>
          <p:cNvSpPr/>
          <p:nvPr/>
        </p:nvSpPr>
        <p:spPr>
          <a:xfrm>
            <a:off x="8803111" y="5792724"/>
            <a:ext cx="2608601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8803111" y="5513832"/>
            <a:ext cx="13716" cy="29260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0973192" y="55183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10350559" y="56435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0422355" y="55729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9882451" y="56529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9897237" y="56750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9952147" y="56111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8847628" y="56634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10063566" y="5552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0778488" y="57101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9982145" y="5536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0021091" y="5515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9121742" y="5608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9025894" y="56122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10117459" y="5496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446862" y="55080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700009" y="57094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120903" y="5499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101188" y="55936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1267087" y="55236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1022405" y="57727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696368" y="57202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9291957" y="57685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10069744" y="57613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1176238" y="5532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0843224" y="57537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8957557" y="55858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10759223" y="55301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11125359" y="5563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10914296" y="552579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10096738" y="575068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9330084" y="55603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10106622" y="5576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8849054" y="560111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8993976" y="561477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9138898" y="5582996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9283820" y="556129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9428743" y="564530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9573665" y="5674631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9718587" y="559417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9863510" y="557468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10008432" y="559227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10153354" y="559541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10298276" y="5636908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10443199" y="563965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10588121" y="559325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10733043" y="564539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10877966" y="545242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11022888" y="577831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11167810" y="548501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11312732" y="5742101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TextBox 589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백본·누적 개선과 smoothing·color (binary gate, 5-seed)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백본 비교와 누적 개선(F1 0.9967→0.9987), checkpoint 평활화(smoothing window)와 color 변경 효과를 한 화면에 정리했습니다 (threshold 0.9)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Backbone sweep — F1 (5-seed)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17430" y="2875135"/>
            <a:ext cx="39002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2637391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dinov3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3898" y="3017194"/>
            <a:ext cx="390022" cy="539822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60676" y="2779450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0676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0676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0676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0366" y="3443370"/>
            <a:ext cx="39002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57144" y="3205626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7144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tiny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7144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57144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06834" y="3216076"/>
            <a:ext cx="390022" cy="34094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3612" y="2978332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53612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swin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3612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53612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3302" y="3102429"/>
            <a:ext cx="390022" cy="454587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0080" y="2864685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0080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maxvit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0080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9770" y="3301311"/>
            <a:ext cx="390022" cy="255705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6548" y="3063567"/>
            <a:ext cx="696468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6548" y="3584448"/>
            <a:ext cx="696468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effv2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6548" y="3785616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6548" y="3959352"/>
            <a:ext cx="696468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baseline → BKM combined → best backbone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49796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99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99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42732" y="3045606"/>
            <a:ext cx="713232" cy="511410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2880" y="2807862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28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BKM combined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028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35668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95816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5816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Best backbone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5816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95816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409944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window — 후속 3-epoch median 으로 best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64208" y="4736592"/>
            <a:ext cx="419709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>
                <a:solidFill>
                  <a:srgbClr val="0F1E3D"/>
                </a:solidFill>
                <a:latin typeface="맑은 고딕"/>
                <a:ea typeface="맑은 고딕"/>
              </a:rPr>
              <a:t>단일 epoch 최고 F1은 초기 hunting spike(학습 덜 됨),</a:t>
            </a:r>
          </a:p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후속 3-epoch median 이 더 높은 plateau 를 best 선택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700784" y="5820424"/>
            <a:ext cx="198120" cy="48627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98904" y="5740222"/>
            <a:ext cx="198120" cy="8020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097024" y="5740222"/>
            <a:ext cx="198120" cy="2089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295144" y="5720499"/>
            <a:ext cx="198120" cy="4061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93264" y="5720499"/>
            <a:ext cx="198120" cy="5057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91384" y="5256678"/>
            <a:ext cx="198120" cy="51439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89504" y="5256678"/>
            <a:ext cx="198120" cy="54510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87624" y="5563769"/>
            <a:ext cx="198120" cy="23801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85744" y="5508300"/>
            <a:ext cx="198120" cy="5546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83864" y="5508300"/>
            <a:ext cx="198120" cy="5041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681984" y="5497570"/>
            <a:ext cx="198120" cy="6114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80104" y="5488267"/>
            <a:ext cx="198120" cy="930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078224" y="5364514"/>
            <a:ext cx="198120" cy="12375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276344" y="5364514"/>
            <a:ext cx="198120" cy="471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474464" y="5369226"/>
            <a:ext cx="198120" cy="43193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672584" y="5400382"/>
            <a:ext cx="198120" cy="12037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870704" y="5395616"/>
            <a:ext cx="198120" cy="47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068824" y="5395616"/>
            <a:ext cx="198120" cy="1951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266944" y="5375163"/>
            <a:ext cx="198120" cy="3997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465064" y="5375163"/>
            <a:ext cx="198120" cy="2157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663184" y="5340293"/>
            <a:ext cx="198120" cy="37027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700784" y="5761117"/>
            <a:ext cx="198120" cy="59307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898904" y="5740222"/>
            <a:ext cx="198120" cy="2089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097024" y="5740222"/>
            <a:ext cx="198120" cy="2089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295144" y="5720499"/>
            <a:ext cx="198120" cy="4061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93264" y="5720499"/>
            <a:ext cx="198120" cy="5057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691384" y="5563769"/>
            <a:ext cx="198120" cy="20730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889504" y="5563769"/>
            <a:ext cx="19812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87624" y="5558713"/>
            <a:ext cx="198120" cy="505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285744" y="5508300"/>
            <a:ext cx="198120" cy="5041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483864" y="5497570"/>
            <a:ext cx="198120" cy="1073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81984" y="5488267"/>
            <a:ext cx="198120" cy="930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880104" y="5369226"/>
            <a:ext cx="198120" cy="1190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078224" y="5369226"/>
            <a:ext cx="19812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276344" y="5369226"/>
            <a:ext cx="198120" cy="3115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474464" y="5400382"/>
            <a:ext cx="19812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672584" y="5400382"/>
            <a:ext cx="198120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870704" y="5395616"/>
            <a:ext cx="198120" cy="47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5068824" y="5377320"/>
            <a:ext cx="198120" cy="1829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266944" y="5375163"/>
            <a:ext cx="198120" cy="2157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2839212" y="520638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Diamond 101"/>
          <p:cNvSpPr/>
          <p:nvPr/>
        </p:nvSpPr>
        <p:spPr>
          <a:xfrm>
            <a:off x="4009644" y="5300646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700784" y="6016752"/>
            <a:ext cx="4160520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1609344" y="6030468"/>
            <a:ext cx="42885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단일 최고(hunting)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55080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Color 변경 전후 — target 색 대비↑ 분리도 향상</a:t>
            </a:r>
          </a:p>
        </p:txBody>
      </p:sp>
      <p:pic>
        <p:nvPicPr>
          <p:cNvPr id="106" name="Picture 105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6348" y="4818888"/>
            <a:ext cx="914400" cy="9144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7219188" y="5769864"/>
            <a:ext cx="118872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108" name="Picture 107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948" y="4818888"/>
            <a:ext cx="914400" cy="9144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8590788" y="5769864"/>
            <a:ext cx="118872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옵션을 누적 적용하며 성능이 올라가는 전체 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옵션 (누적)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조건값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F1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FN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FP</a:t>
                      </a:r>
                    </a:p>
                  </a:txBody>
                  <a:tcPr anchor="ctr" marT="25400" marB="25400">
                    <a:solidFill>
                      <a:srgbClr val="0F1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0.9967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정상 비율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700 → 3300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Label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Stochastic Depth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0.9979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EMA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0.9981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Focal γ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2.0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0.9983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Abnormal weight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0.9984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Color</a:t>
                      </a:r>
                    </a:p>
                  </a:txBody>
                  <a:tcPr anchor="ctr" marL="889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c01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0.9985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Smoothing</a:t>
                      </a:r>
                    </a:p>
                  </a:txBody>
                  <a:tcPr anchor="ctr" marL="889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win5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0.9986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+ Best backbone</a:t>
                      </a:r>
                    </a:p>
                  </a:txBody>
                  <a:tcPr anchor="ctr" marL="889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convnext.tiny.dinov3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0.9987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0F1E3D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5400" marR="50800" marT="25400" marB="2540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253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"/>
              </a:spcAft>
            </a:pPr>
            <a:r>
              <a:rPr sz="1250">
                <a:solidFill>
                  <a:srgbClr val="3A485C"/>
                </a:solidFill>
                <a:latin typeface="맑은 고딕"/>
                <a:ea typeface="맑은 고딕"/>
              </a:rPr>
              <a:t>baseline 에 옵션을 하나씩 누적 적용하고 최적 백본까지 반영 → F1 0.9967 → 0.9987, 놓친 불량(FN)과 오경보(FP) 감소 (binary gate, 5-seed, threshold 0.9)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