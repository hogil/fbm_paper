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순차 episode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순차 episode 기반 trend 생성 (Sequential Episode-Based)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기본 baseline에 노이즈 3종과 밀도(밀집/희소/결핍)를 episode마다 가중치로 조합해 여러 episode를 순차 생성하고 이어 붙여 정상 trend를 만듭니다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한 trend는 여러 설비(fleet)가 함께 찍히고 그중 한 설비(target)를 판정. episode = 시작과 끝이 있는 자기완결 구간을 단어 뜻 그대로 사용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706624"/>
            <a:ext cx="10972800" cy="3236976"/>
          </a:xfrm>
          <a:prstGeom prst="rect">
            <a:avLst/>
          </a:prstGeom>
          <a:solidFill>
            <a:srgbClr val="FFFFFF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106984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(a) Normal baseline  —  sequential episodes</a:t>
            </a:r>
            <a:r>
              <a:rPr sz="1050">
                <a:solidFill>
                  <a:srgbClr val="6B7280"/>
                </a:solidFill>
                <a:latin typeface="맑은 고딕"/>
                <a:ea typeface="맑은 고딕"/>
              </a:rPr>
              <a:t>    gray = fleet,  blue = target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255264"/>
            <a:ext cx="2003942" cy="1347825"/>
          </a:xfrm>
          <a:prstGeom prst="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202223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0" name="Oval 9"/>
          <p:cNvSpPr/>
          <p:nvPr/>
        </p:nvSpPr>
        <p:spPr>
          <a:xfrm>
            <a:off x="917990" y="422030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7459" y="401213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71146" y="413155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07382" y="381215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39831" y="419354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84915" y="358206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34079" y="384894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856248" y="361937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03112" y="359722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18219" y="422000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48976" y="396037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405733" y="359054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529040" y="358843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58095" y="375881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93636" y="393483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1713" y="3598903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16159" y="3595914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820605" y="3630055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225051" y="3467703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629497" y="3598984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90910" y="3255264"/>
            <a:ext cx="1329865" cy="1347825"/>
          </a:xfrm>
          <a:prstGeom prst="rect">
            <a:avLst/>
          </a:prstGeom>
          <a:solidFill>
            <a:srgbClr val="FBF4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90910" y="3017520"/>
            <a:ext cx="1348153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C98A22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32" name="Oval 31"/>
          <p:cNvSpPr/>
          <p:nvPr/>
        </p:nvSpPr>
        <p:spPr>
          <a:xfrm>
            <a:off x="2960199" y="381685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144594" y="395144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346571" y="390380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553689" y="410067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8773" y="396630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940553" y="380927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119727" y="411269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1795" y="3634820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815872" y="3507255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39063" y="3255264"/>
            <a:ext cx="925419" cy="1347825"/>
          </a:xfrm>
          <a:prstGeom prst="rect">
            <a:avLst/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39063" y="3017520"/>
            <a:ext cx="943707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82770" y="3255264"/>
            <a:ext cx="1869127" cy="1347825"/>
          </a:xfrm>
          <a:prstGeom prst="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82770" y="3017520"/>
            <a:ext cx="1887415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45" name="Oval 44"/>
          <p:cNvSpPr/>
          <p:nvPr/>
        </p:nvSpPr>
        <p:spPr>
          <a:xfrm>
            <a:off x="5226041" y="392398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354702" y="406717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476890" y="398270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588644" y="3638554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737077" y="367143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57919" y="366233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93374" y="385142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092244" y="409179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233547" y="379423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361762" y="397247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494538" y="360398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596602" y="421806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747366" y="404445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46383" y="359831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988242" y="400946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315018" y="3717294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692501" y="3669293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069984" y="3518612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447467" y="3546990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824950" y="3626311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70185" y="3255264"/>
            <a:ext cx="1195050" cy="1347825"/>
          </a:xfrm>
          <a:prstGeom prst="rect">
            <a:avLst/>
          </a:prstGeom>
          <a:solidFill>
            <a:srgbClr val="F2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70185" y="3017520"/>
            <a:ext cx="121333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Thin</a:t>
            </a:r>
          </a:p>
        </p:txBody>
      </p:sp>
      <p:sp>
        <p:nvSpPr>
          <p:cNvPr id="67" name="Oval 66"/>
          <p:cNvSpPr/>
          <p:nvPr/>
        </p:nvSpPr>
        <p:spPr>
          <a:xfrm>
            <a:off x="7184011" y="421524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509162" y="367359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796875" y="390189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106836" y="409436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536775" y="3475074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283523" y="3255264"/>
            <a:ext cx="1734312" cy="1347825"/>
          </a:xfrm>
          <a:prstGeom prst="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83523" y="3017520"/>
            <a:ext cx="175260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74" name="Oval 73"/>
          <p:cNvSpPr/>
          <p:nvPr/>
        </p:nvSpPr>
        <p:spPr>
          <a:xfrm>
            <a:off x="8318851" y="383473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452003" y="361227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565741" y="383736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671352" y="4175094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98198" y="4161494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905070" y="4051014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027176" y="403441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145436" y="422721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247234" y="361396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364099" y="371840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486315" y="356423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599814" y="373998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704972" y="365791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845743" y="398330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959264" y="422396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404986" y="3632436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755506" y="3583361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9106026" y="3611993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9456546" y="3628428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9807066" y="3453945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036123" y="3255264"/>
            <a:ext cx="1329865" cy="1347825"/>
          </a:xfrm>
          <a:prstGeom prst="rect">
            <a:avLst/>
          </a:prstGeom>
          <a:solidFill>
            <a:srgbClr val="FBF4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036123" y="3017520"/>
            <a:ext cx="1348153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C98A22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96" name="Oval 95"/>
          <p:cNvSpPr/>
          <p:nvPr/>
        </p:nvSpPr>
        <p:spPr>
          <a:xfrm>
            <a:off x="10118814" y="383485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0311522" y="362836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0504530" y="359942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675293" y="424610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892349" y="366956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1078352" y="397693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55369" y="355594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0287008" y="3481222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0961085" y="3467257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68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25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783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2402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6974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154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611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069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5262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9834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440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897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355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8122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2694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726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183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641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0982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5554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012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469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927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77240" y="4676241"/>
            <a:ext cx="10698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  —  one type per chart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77240" y="4932273"/>
            <a:ext cx="3383280" cy="965607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77240" y="4959705"/>
            <a:ext cx="33832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131" name="Oval 130"/>
          <p:cNvSpPr/>
          <p:nvPr/>
        </p:nvSpPr>
        <p:spPr>
          <a:xfrm>
            <a:off x="922630" y="5383408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6236" y="5284499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329842" y="5532811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533449" y="5456675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737055" y="5320495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940662" y="5350833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144268" y="5378663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347874" y="5383570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2551481" y="5312975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2755087" y="5525382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2958694" y="5567555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162300" y="5413357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365906" y="5418578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3569513" y="5302163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3773119" y="5306933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976726" y="5377272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77240" y="5696712"/>
            <a:ext cx="338328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base dispersion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434840" y="4932273"/>
            <a:ext cx="3383280" cy="965607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434840" y="4959705"/>
            <a:ext cx="33832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Correlated AR(1)</a:t>
            </a:r>
          </a:p>
        </p:txBody>
      </p:sp>
      <p:sp>
        <p:nvSpPr>
          <p:cNvPr id="150" name="Oval 149"/>
          <p:cNvSpPr/>
          <p:nvPr/>
        </p:nvSpPr>
        <p:spPr>
          <a:xfrm>
            <a:off x="4580230" y="5456604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783836" y="5402730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987442" y="5455179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5191049" y="5515672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5394655" y="5431515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5598262" y="5425709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5801868" y="5475203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6005474" y="5457675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6209081" y="5517060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6412687" y="5492455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6616294" y="5409512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6819900" y="5361118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7023506" y="5347028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7227113" y="5397623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7430719" y="5422142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7634326" y="5469527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434840" y="5696712"/>
            <a:ext cx="338328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equipment drift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092440" y="4932273"/>
            <a:ext cx="3383280" cy="965607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092440" y="4959705"/>
            <a:ext cx="33832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Laplacian</a:t>
            </a:r>
          </a:p>
        </p:txBody>
      </p:sp>
      <p:sp>
        <p:nvSpPr>
          <p:cNvPr id="169" name="Oval 168"/>
          <p:cNvSpPr/>
          <p:nvPr/>
        </p:nvSpPr>
        <p:spPr>
          <a:xfrm>
            <a:off x="8237830" y="5443835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8441436" y="5425766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8645042" y="5444372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8848649" y="5410447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9044939" y="5198949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9255862" y="5402398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9459468" y="5446822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9663074" y="5459914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9866681" y="5449926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0070287" y="5446412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0273894" y="5447337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0470184" y="564246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0681106" y="5441414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0884713" y="5402677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1088319" y="5424637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1291926" y="5412403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092440" y="5696712"/>
            <a:ext cx="338328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hunting (heavy-tail)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영역(밀도·결측), 노이즈, 이상 규칙으로 코드화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단변수 반복 실험으로 조건별 BKM 확보 — 백본·데이터셋·운영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각 학습 조건을 한 번에 하나씩만 변경하는 단변수(single-axis) 방식으로 5-seed 반복 평가를 수행하고, 축별 최적값을 BKM(Best Known Method)으로 정리하였습니다. 정상 비율 축에서 F1 0.9944→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0.9988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, 놓친 불량 4.6→0.8로 가장 큰 개선을 확인하였으며, 백본·데이터셋·운영 임계값까지 동일 프로토콜로 비교하였습니다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778652" y="2843928"/>
            <a:ext cx="8695656" cy="3108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bk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652" y="2852928"/>
            <a:ext cx="8677656" cy="30906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단변수 11축 각 5-seed 반복 · baseline F1 0.9975 (0.9940–0.9993) 반복 안정 · 축별 best 를 합친 통합 BKM 은 GPU 확보 후 진행 · 2-stage 유형분류 pilot 0.73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