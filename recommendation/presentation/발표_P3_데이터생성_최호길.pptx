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89611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8A929E"/>
                </a:solidFill>
                <a:latin typeface="맑은 고딕"/>
                <a:ea typeface="맑은 고딕"/>
              </a:rPr>
              <a:t>AI Specialist 인증 — Project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335024"/>
            <a:ext cx="106070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>
                <a:solidFill>
                  <a:srgbClr val="0F1E3D"/>
                </a:solidFill>
                <a:latin typeface="맑은 고딕"/>
                <a:ea typeface="맑은 고딕"/>
              </a:rPr>
              <a:t>계측 trend 이상탐지 데이터 생성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" y="292608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>
                <a:solidFill>
                  <a:srgbClr val="475569"/>
                </a:solidFill>
                <a:latin typeface="맑은 고딕"/>
                <a:ea typeface="맑은 고딕"/>
              </a:rPr>
              <a:t>이상 유형별 검증 데이터가 없던 문제를, 현장에서 trend를 보던 판정 기준을 생성 규칙으로 옮겨 풀었습니다. 정상 baseline 위에 이상을 합성해 평가셋을 만들고 1차 gate로 확인했습니다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96A0AD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19656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Failbit Map 불량 분석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4840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54296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96A0AD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67528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Chip multi-label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82712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82712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2168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96A0AD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Trend anomaly generator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6968" y="4992624"/>
            <a:ext cx="3840480" cy="2032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5184648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E3D"/>
                </a:solidFill>
                <a:latin typeface="맑은 고딕"/>
                <a:ea typeface="맑은 고딕"/>
              </a:rPr>
              <a:t>최호길  |  메모리제조센터 QIE그룹 Data Science 파트</a:t>
            </a:r>
          </a:p>
          <a:p>
            <a:pPr algn="l"/>
            <a:r>
              <a:rPr sz="1250">
                <a:solidFill>
                  <a:srgbClr val="6B7280"/>
                </a:solidFill>
                <a:latin typeface="맑은 고딕"/>
                <a:ea typeface="맑은 고딕"/>
              </a:rPr>
              <a:t>제조품질 AI / Data Science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6968" y="5989320"/>
            <a:ext cx="10387584" cy="12700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" y="6108192"/>
            <a:ext cx="7772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삼성전자 메모리제조센터 | QIE그룹 Data Science</a:t>
            </a:r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    AI Specialist 인증 사내 경연 발표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108192"/>
            <a:ext cx="167335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순차 episode 생성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순차 episode 기반 trend 생성 (Sequential Episode-Based)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기본 baseline에 노이즈 3종과 밀도(밀집/희소/결핍)를 episode마다 가중치로 조합해 여러 episode를 순차 생성하고 이어 붙여 정상 trend를 만듭니다</a:t>
            </a:r>
          </a:p>
          <a:p>
            <a:pPr marL="420624" indent="-420624" lvl="1">
              <a:spcAft>
                <a:spcPts val="500"/>
              </a:spcAft>
            </a:pPr>
            <a:r>
              <a:rPr sz="135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350">
                <a:solidFill>
                  <a:srgbClr val="4A5666"/>
                </a:solidFill>
                <a:latin typeface="맑은 고딕"/>
                <a:ea typeface="맑은 고딕"/>
              </a:rPr>
              <a:t>한 trend는 여러 설비(fleet)가 함께 찍히고 그중 한 설비(target)를 판정. episode = 시작과 끝이 있는 자기완결 구간을 단어 뜻 그대로 사용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706624"/>
            <a:ext cx="10972800" cy="3236976"/>
          </a:xfrm>
          <a:prstGeom prst="rect">
            <a:avLst/>
          </a:prstGeom>
          <a:solidFill>
            <a:srgbClr val="FFFFFF"/>
          </a:solidFill>
          <a:ln w="15875">
            <a:solidFill>
              <a:srgbClr val="B9C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743200"/>
            <a:ext cx="106984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(a) Normal baseline  -  sequential episodes</a:t>
            </a:r>
            <a:r>
              <a:rPr sz="1050">
                <a:solidFill>
                  <a:srgbClr val="6B7280"/>
                </a:solidFill>
                <a:latin typeface="맑은 고딕"/>
                <a:ea typeface="맑은 고딕"/>
              </a:rPr>
              <a:t>    gray = fleet,  blue = target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3255264"/>
            <a:ext cx="2022230" cy="1347825"/>
          </a:xfrm>
          <a:prstGeom prst="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017520"/>
            <a:ext cx="2022230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Dense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90910" y="3255264"/>
            <a:ext cx="1348153" cy="1347825"/>
          </a:xfrm>
          <a:prstGeom prst="rect">
            <a:avLst/>
          </a:prstGeom>
          <a:solidFill>
            <a:srgbClr val="FBF4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90910" y="3017520"/>
            <a:ext cx="1348153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C98A22"/>
                </a:solidFill>
                <a:latin typeface="맑은 고딕"/>
                <a:ea typeface="맑은 고딕"/>
              </a:rPr>
              <a:t>Sparse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39063" y="3255264"/>
            <a:ext cx="943707" cy="1347825"/>
          </a:xfrm>
          <a:prstGeom prst="rect">
            <a:avLst/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39063" y="3017520"/>
            <a:ext cx="943707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CC3328"/>
                </a:solidFill>
                <a:latin typeface="맑은 고딕"/>
                <a:ea typeface="맑은 고딕"/>
              </a:rPr>
              <a:t>Missing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82770" y="3255264"/>
            <a:ext cx="1887415" cy="1347825"/>
          </a:xfrm>
          <a:prstGeom prst="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82770" y="3017520"/>
            <a:ext cx="1887415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Dense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70185" y="3255264"/>
            <a:ext cx="1213338" cy="1347825"/>
          </a:xfrm>
          <a:prstGeom prst="rect">
            <a:avLst/>
          </a:prstGeom>
          <a:solidFill>
            <a:srgbClr val="F2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70185" y="3017520"/>
            <a:ext cx="1213338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6B7280"/>
                </a:solidFill>
                <a:latin typeface="맑은 고딕"/>
                <a:ea typeface="맑은 고딕"/>
              </a:rPr>
              <a:t>Thin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83523" y="3255264"/>
            <a:ext cx="1752600" cy="1347825"/>
          </a:xfrm>
          <a:prstGeom prst="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83523" y="3017520"/>
            <a:ext cx="1752600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Dense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36123" y="3255264"/>
            <a:ext cx="1348153" cy="1347825"/>
          </a:xfrm>
          <a:prstGeom prst="rect">
            <a:avLst/>
          </a:prstGeom>
          <a:solidFill>
            <a:srgbClr val="FBF4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36123" y="3017520"/>
            <a:ext cx="1348153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C98A22"/>
                </a:solidFill>
                <a:latin typeface="맑은 고딕"/>
                <a:ea typeface="맑은 고딕"/>
              </a:rPr>
              <a:t>Sparse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890910" y="3236976"/>
            <a:ext cx="0" cy="1366113"/>
          </a:xfrm>
          <a:prstGeom prst="line">
            <a:avLst/>
          </a:prstGeom>
          <a:ln w="15240">
            <a:solidFill>
              <a:srgbClr val="ACB4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239063" y="3236976"/>
            <a:ext cx="0" cy="1366113"/>
          </a:xfrm>
          <a:prstGeom prst="line">
            <a:avLst/>
          </a:prstGeom>
          <a:ln w="15240">
            <a:solidFill>
              <a:srgbClr val="ACB4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182770" y="3236976"/>
            <a:ext cx="0" cy="1366113"/>
          </a:xfrm>
          <a:prstGeom prst="line">
            <a:avLst/>
          </a:prstGeom>
          <a:ln w="15240">
            <a:solidFill>
              <a:srgbClr val="ACB4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070185" y="3236976"/>
            <a:ext cx="0" cy="1366113"/>
          </a:xfrm>
          <a:prstGeom prst="line">
            <a:avLst/>
          </a:prstGeom>
          <a:ln w="15240">
            <a:solidFill>
              <a:srgbClr val="ACB4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283523" y="3236976"/>
            <a:ext cx="0" cy="1366113"/>
          </a:xfrm>
          <a:prstGeom prst="line">
            <a:avLst/>
          </a:prstGeom>
          <a:ln w="15240">
            <a:solidFill>
              <a:srgbClr val="ACB4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0036123" y="3236976"/>
            <a:ext cx="0" cy="1366113"/>
          </a:xfrm>
          <a:prstGeom prst="line">
            <a:avLst/>
          </a:prstGeom>
          <a:ln w="15240">
            <a:solidFill>
              <a:srgbClr val="ACB4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8686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3258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7830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402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6974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1546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6118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0690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262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9834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406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8978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3550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8122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2694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7266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1838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6410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0982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5554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0126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4698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9270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 flipV="1">
            <a:off x="940902" y="3780030"/>
            <a:ext cx="144445" cy="73893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085347" y="3780030"/>
            <a:ext cx="144445" cy="213620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1229792" y="3746534"/>
            <a:ext cx="144445" cy="247116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374237" y="3746534"/>
            <a:ext cx="144445" cy="197969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1518682" y="3871803"/>
            <a:ext cx="144445" cy="72700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1663127" y="3740367"/>
            <a:ext cx="144445" cy="131436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807572" y="3740367"/>
            <a:ext cx="144445" cy="191985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1952017" y="3731608"/>
            <a:ext cx="144445" cy="200744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096462" y="3731608"/>
            <a:ext cx="144445" cy="169224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2240907" y="3745431"/>
            <a:ext cx="144445" cy="155401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2385352" y="3745431"/>
            <a:ext cx="144445" cy="8910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2529797" y="3754341"/>
            <a:ext cx="144445" cy="142592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2674242" y="3896933"/>
            <a:ext cx="144445" cy="171864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818687" y="3962112"/>
            <a:ext cx="168519" cy="106685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987206" y="3885041"/>
            <a:ext cx="192593" cy="77071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3179799" y="3885041"/>
            <a:ext cx="192594" cy="247577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3372393" y="3735490"/>
            <a:ext cx="192593" cy="397128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3564986" y="3735490"/>
            <a:ext cx="192593" cy="346813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3757579" y="3839304"/>
            <a:ext cx="192594" cy="242999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3950173" y="3777213"/>
            <a:ext cx="192593" cy="62091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4142766" y="3777213"/>
            <a:ext cx="1107411" cy="287002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5250177" y="3792792"/>
            <a:ext cx="134816" cy="271423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5384993" y="3792792"/>
            <a:ext cx="134815" cy="171241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5519808" y="3964033"/>
            <a:ext cx="134815" cy="24482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5654623" y="3874668"/>
            <a:ext cx="134816" cy="113847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5789439" y="3874668"/>
            <a:ext cx="134815" cy="74903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5924254" y="3742413"/>
            <a:ext cx="134815" cy="207158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6059069" y="3741051"/>
            <a:ext cx="134816" cy="1362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6193885" y="3741051"/>
            <a:ext cx="134815" cy="62520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6328700" y="3803571"/>
            <a:ext cx="134815" cy="202666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6463515" y="3898246"/>
            <a:ext cx="134816" cy="107991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6598331" y="3849786"/>
            <a:ext cx="134815" cy="48460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6733146" y="3849786"/>
            <a:ext cx="134815" cy="115939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6867961" y="3909178"/>
            <a:ext cx="134816" cy="56547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7002777" y="3909178"/>
            <a:ext cx="219075" cy="51789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7221852" y="3939939"/>
            <a:ext cx="303334" cy="21028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7525186" y="3939939"/>
            <a:ext cx="303335" cy="149484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7828521" y="4027188"/>
            <a:ext cx="303334" cy="62235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8131855" y="4027188"/>
            <a:ext cx="214260" cy="107104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8346115" y="3766025"/>
            <a:ext cx="125186" cy="368267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8471301" y="3766025"/>
            <a:ext cx="125186" cy="128176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8596487" y="3894201"/>
            <a:ext cx="125186" cy="144818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8721673" y="3780515"/>
            <a:ext cx="125185" cy="258504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8846858" y="3780515"/>
            <a:ext cx="125186" cy="143947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8972044" y="3732339"/>
            <a:ext cx="125186" cy="192123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9097230" y="3732339"/>
            <a:ext cx="125185" cy="268693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9222415" y="4001032"/>
            <a:ext cx="125186" cy="41160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9347601" y="3960370"/>
            <a:ext cx="125186" cy="81822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9472787" y="3960370"/>
            <a:ext cx="125186" cy="129199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9597973" y="3849615"/>
            <a:ext cx="125185" cy="239954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9723158" y="3849615"/>
            <a:ext cx="125186" cy="162985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9848344" y="3969488"/>
            <a:ext cx="125186" cy="43112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9973530" y="3918112"/>
            <a:ext cx="158889" cy="51376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10132419" y="3918112"/>
            <a:ext cx="192593" cy="81184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10325012" y="3741507"/>
            <a:ext cx="192594" cy="257789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10517606" y="3741507"/>
            <a:ext cx="192593" cy="273740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10710199" y="3992025"/>
            <a:ext cx="192593" cy="23222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10902792" y="3992025"/>
            <a:ext cx="192594" cy="147787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11095386" y="4066692"/>
            <a:ext cx="192593" cy="73120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Oval 109"/>
          <p:cNvSpPr/>
          <p:nvPr/>
        </p:nvSpPr>
        <p:spPr>
          <a:xfrm>
            <a:off x="1077892" y="3461461"/>
            <a:ext cx="36576" cy="36576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583450" y="3483948"/>
            <a:ext cx="36576" cy="36576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2089007" y="3575355"/>
            <a:ext cx="36576" cy="36576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2594565" y="3647785"/>
            <a:ext cx="36576" cy="36576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3175956" y="3460102"/>
            <a:ext cx="36576" cy="36576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3850032" y="3503226"/>
            <a:ext cx="36576" cy="36576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5376816" y="3501255"/>
            <a:ext cx="36576" cy="36576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5848669" y="3613110"/>
            <a:ext cx="36576" cy="36576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6320523" y="3591539"/>
            <a:ext cx="36576" cy="36576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6792377" y="3488665"/>
            <a:ext cx="36576" cy="36576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7597899" y="3498580"/>
            <a:ext cx="36576" cy="36576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8462402" y="3564605"/>
            <a:ext cx="36576" cy="36576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8900552" y="3536633"/>
            <a:ext cx="36576" cy="36576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9338702" y="3623420"/>
            <a:ext cx="36576" cy="36576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9776852" y="3647101"/>
            <a:ext cx="36576" cy="36576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10321169" y="3497824"/>
            <a:ext cx="36576" cy="36576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0995245" y="3520709"/>
            <a:ext cx="36576" cy="36576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918042" y="3831063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1062487" y="3757170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206932" y="3970790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351377" y="3723674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1495822" y="3921643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1640267" y="3848943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784712" y="3717507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1929157" y="3909492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2073602" y="3708748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2218047" y="3877972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2362492" y="3722571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2506937" y="3731481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2651382" y="3874073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2795827" y="4045937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2964346" y="3939252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3156939" y="3862181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3349533" y="4109758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3542126" y="3712630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3734719" y="4059443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3927313" y="3816444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4119906" y="3754353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5227317" y="4041355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5362133" y="3769932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5496948" y="3941173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5631763" y="3965655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5766579" y="3851808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5901394" y="3926711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6036209" y="3719553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6171025" y="3718191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6305840" y="3780711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6440655" y="3983377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6575471" y="3875386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6710286" y="3826926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6845101" y="3942865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6979917" y="3886318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7198992" y="3938107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7502326" y="3917079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7805661" y="4066563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8108995" y="4004328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8323255" y="4111432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8448441" y="3743165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8573627" y="3871341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8698813" y="4016159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8823998" y="3757655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8949184" y="3901602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9074370" y="3709479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9199555" y="3978172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9324741" y="4019332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9449927" y="3937510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9575113" y="4066709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9700298" y="3826755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9825484" y="3989740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9950670" y="3946628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10109559" y="3895252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10302152" y="3976436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10494746" y="3718647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10687339" y="3992387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10879932" y="3969165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11072526" y="4116952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11265119" y="4043832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777240" y="4676241"/>
            <a:ext cx="106984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(b) Measurement noise  -  one type per chart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777240" y="4932273"/>
            <a:ext cx="3383280" cy="965607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777240" y="4959705"/>
            <a:ext cx="3383280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Gaussian iid</a:t>
            </a:r>
          </a:p>
        </p:txBody>
      </p:sp>
      <p:cxnSp>
        <p:nvCxnSpPr>
          <p:cNvPr id="190" name="Connector 189"/>
          <p:cNvCxnSpPr/>
          <p:nvPr/>
        </p:nvCxnSpPr>
        <p:spPr>
          <a:xfrm flipV="1">
            <a:off x="923544" y="5321730"/>
            <a:ext cx="181804" cy="175816"/>
          </a:xfrm>
          <a:prstGeom prst="line">
            <a:avLst/>
          </a:prstGeom>
          <a:ln w="1905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>
            <a:off x="1105348" y="5321730"/>
            <a:ext cx="181804" cy="119499"/>
          </a:xfrm>
          <a:prstGeom prst="line">
            <a:avLst/>
          </a:prstGeom>
          <a:ln w="1905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 flipV="1">
            <a:off x="1287152" y="5361320"/>
            <a:ext cx="181804" cy="79909"/>
          </a:xfrm>
          <a:prstGeom prst="line">
            <a:avLst/>
          </a:prstGeom>
          <a:ln w="1905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 flipV="1">
            <a:off x="1468956" y="5347455"/>
            <a:ext cx="181804" cy="13865"/>
          </a:xfrm>
          <a:prstGeom prst="line">
            <a:avLst/>
          </a:prstGeom>
          <a:ln w="1905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 flipV="1">
            <a:off x="1650760" y="5331633"/>
            <a:ext cx="181805" cy="15822"/>
          </a:xfrm>
          <a:prstGeom prst="line">
            <a:avLst/>
          </a:prstGeom>
          <a:ln w="1905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>
            <a:off x="1832565" y="5331633"/>
            <a:ext cx="181804" cy="193011"/>
          </a:xfrm>
          <a:prstGeom prst="line">
            <a:avLst/>
          </a:prstGeom>
          <a:ln w="1905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 flipV="1">
            <a:off x="2014369" y="5350787"/>
            <a:ext cx="181804" cy="173857"/>
          </a:xfrm>
          <a:prstGeom prst="line">
            <a:avLst/>
          </a:prstGeom>
          <a:ln w="1905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>
            <a:off x="2196173" y="5350787"/>
            <a:ext cx="181804" cy="32185"/>
          </a:xfrm>
          <a:prstGeom prst="line">
            <a:avLst/>
          </a:prstGeom>
          <a:ln w="1905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>
            <a:off x="2377977" y="5382972"/>
            <a:ext cx="181805" cy="39005"/>
          </a:xfrm>
          <a:prstGeom prst="line">
            <a:avLst/>
          </a:prstGeom>
          <a:ln w="1905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>
            <a:off x="2559782" y="5421977"/>
            <a:ext cx="181804" cy="130748"/>
          </a:xfrm>
          <a:prstGeom prst="line">
            <a:avLst/>
          </a:prstGeom>
          <a:ln w="1905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 flipV="1">
            <a:off x="2741586" y="5337518"/>
            <a:ext cx="181804" cy="215207"/>
          </a:xfrm>
          <a:prstGeom prst="line">
            <a:avLst/>
          </a:prstGeom>
          <a:ln w="1905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>
            <a:off x="2923390" y="5337518"/>
            <a:ext cx="181804" cy="100307"/>
          </a:xfrm>
          <a:prstGeom prst="line">
            <a:avLst/>
          </a:prstGeom>
          <a:ln w="1905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>
            <a:off x="3105194" y="5437825"/>
            <a:ext cx="181805" cy="27280"/>
          </a:xfrm>
          <a:prstGeom prst="line">
            <a:avLst/>
          </a:prstGeom>
          <a:ln w="1905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>
            <a:off x="3286999" y="5465105"/>
            <a:ext cx="181804" cy="90875"/>
          </a:xfrm>
          <a:prstGeom prst="line">
            <a:avLst/>
          </a:prstGeom>
          <a:ln w="1905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 flipV="1">
            <a:off x="3468803" y="5538536"/>
            <a:ext cx="181804" cy="17444"/>
          </a:xfrm>
          <a:prstGeom prst="line">
            <a:avLst/>
          </a:prstGeom>
          <a:ln w="1905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>
            <a:off x="3650607" y="5538536"/>
            <a:ext cx="181804" cy="12165"/>
          </a:xfrm>
          <a:prstGeom prst="line">
            <a:avLst/>
          </a:prstGeom>
          <a:ln w="1905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 flipV="1">
            <a:off x="3832411" y="5391355"/>
            <a:ext cx="181805" cy="159346"/>
          </a:xfrm>
          <a:prstGeom prst="line">
            <a:avLst/>
          </a:prstGeom>
          <a:ln w="1905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7" name="TextBox 206"/>
          <p:cNvSpPr txBox="1"/>
          <p:nvPr/>
        </p:nvSpPr>
        <p:spPr>
          <a:xfrm>
            <a:off x="777240" y="5696712"/>
            <a:ext cx="3383280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50">
                <a:solidFill>
                  <a:srgbClr val="6B7280"/>
                </a:solidFill>
                <a:latin typeface="맑은 고딕"/>
                <a:ea typeface="맑은 고딕"/>
              </a:rPr>
              <a:t>base dispersion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4434840" y="4932273"/>
            <a:ext cx="3383280" cy="965607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4434840" y="4959705"/>
            <a:ext cx="3383280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Correlated AR(1)</a:t>
            </a:r>
          </a:p>
        </p:txBody>
      </p:sp>
      <p:cxnSp>
        <p:nvCxnSpPr>
          <p:cNvPr id="210" name="Connector 209"/>
          <p:cNvCxnSpPr/>
          <p:nvPr/>
        </p:nvCxnSpPr>
        <p:spPr>
          <a:xfrm>
            <a:off x="4581144" y="5463945"/>
            <a:ext cx="181804" cy="18038"/>
          </a:xfrm>
          <a:prstGeom prst="line">
            <a:avLst/>
          </a:prstGeom>
          <a:ln w="19050">
            <a:solidFill>
              <a:srgbClr val="12B5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 flipV="1">
            <a:off x="4762948" y="5420159"/>
            <a:ext cx="181804" cy="61824"/>
          </a:xfrm>
          <a:prstGeom prst="line">
            <a:avLst/>
          </a:prstGeom>
          <a:ln w="19050">
            <a:solidFill>
              <a:srgbClr val="12B5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 flipV="1">
            <a:off x="4944752" y="5360025"/>
            <a:ext cx="181804" cy="60134"/>
          </a:xfrm>
          <a:prstGeom prst="line">
            <a:avLst/>
          </a:prstGeom>
          <a:ln w="19050">
            <a:solidFill>
              <a:srgbClr val="12B5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>
            <a:off x="5126556" y="5360025"/>
            <a:ext cx="181804" cy="68989"/>
          </a:xfrm>
          <a:prstGeom prst="line">
            <a:avLst/>
          </a:prstGeom>
          <a:ln w="19050">
            <a:solidFill>
              <a:srgbClr val="12B5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>
            <a:off x="5308360" y="5429014"/>
            <a:ext cx="181805" cy="51518"/>
          </a:xfrm>
          <a:prstGeom prst="line">
            <a:avLst/>
          </a:prstGeom>
          <a:ln w="19050">
            <a:solidFill>
              <a:srgbClr val="12B5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>
            <a:off x="5490165" y="5480532"/>
            <a:ext cx="181804" cy="33126"/>
          </a:xfrm>
          <a:prstGeom prst="line">
            <a:avLst/>
          </a:prstGeom>
          <a:ln w="19050">
            <a:solidFill>
              <a:srgbClr val="12B5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>
            <a:off x="5671969" y="5513658"/>
            <a:ext cx="181804" cy="26301"/>
          </a:xfrm>
          <a:prstGeom prst="line">
            <a:avLst/>
          </a:prstGeom>
          <a:ln w="19050">
            <a:solidFill>
              <a:srgbClr val="12B5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 flipV="1">
            <a:off x="5853773" y="5524480"/>
            <a:ext cx="181804" cy="15479"/>
          </a:xfrm>
          <a:prstGeom prst="line">
            <a:avLst/>
          </a:prstGeom>
          <a:ln w="19050">
            <a:solidFill>
              <a:srgbClr val="12B5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 flipV="1">
            <a:off x="6035577" y="5496979"/>
            <a:ext cx="181805" cy="27501"/>
          </a:xfrm>
          <a:prstGeom prst="line">
            <a:avLst/>
          </a:prstGeom>
          <a:ln w="19050">
            <a:solidFill>
              <a:srgbClr val="12B5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>
            <a:off x="6217382" y="5496979"/>
            <a:ext cx="181804" cy="25368"/>
          </a:xfrm>
          <a:prstGeom prst="line">
            <a:avLst/>
          </a:prstGeom>
          <a:ln w="19050">
            <a:solidFill>
              <a:srgbClr val="12B5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>
            <a:off x="6399186" y="5522347"/>
            <a:ext cx="181804" cy="57834"/>
          </a:xfrm>
          <a:prstGeom prst="line">
            <a:avLst/>
          </a:prstGeom>
          <a:ln w="19050">
            <a:solidFill>
              <a:srgbClr val="12B5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 flipV="1">
            <a:off x="6580990" y="5566238"/>
            <a:ext cx="181804" cy="13943"/>
          </a:xfrm>
          <a:prstGeom prst="line">
            <a:avLst/>
          </a:prstGeom>
          <a:ln w="19050">
            <a:solidFill>
              <a:srgbClr val="12B5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 flipV="1">
            <a:off x="6762794" y="5562297"/>
            <a:ext cx="181805" cy="3941"/>
          </a:xfrm>
          <a:prstGeom prst="line">
            <a:avLst/>
          </a:prstGeom>
          <a:ln w="19050">
            <a:solidFill>
              <a:srgbClr val="12B5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 flipV="1">
            <a:off x="6944599" y="5530539"/>
            <a:ext cx="181804" cy="31758"/>
          </a:xfrm>
          <a:prstGeom prst="line">
            <a:avLst/>
          </a:prstGeom>
          <a:ln w="19050">
            <a:solidFill>
              <a:srgbClr val="12B5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 flipV="1">
            <a:off x="7126403" y="5449003"/>
            <a:ext cx="181804" cy="81536"/>
          </a:xfrm>
          <a:prstGeom prst="line">
            <a:avLst/>
          </a:prstGeom>
          <a:ln w="19050">
            <a:solidFill>
              <a:srgbClr val="12B5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 flipV="1">
            <a:off x="7308207" y="5421886"/>
            <a:ext cx="181804" cy="27117"/>
          </a:xfrm>
          <a:prstGeom prst="line">
            <a:avLst/>
          </a:prstGeom>
          <a:ln w="19050">
            <a:solidFill>
              <a:srgbClr val="12B5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>
            <a:off x="7490011" y="5421886"/>
            <a:ext cx="181805" cy="3705"/>
          </a:xfrm>
          <a:prstGeom prst="line">
            <a:avLst/>
          </a:prstGeom>
          <a:ln w="19050">
            <a:solidFill>
              <a:srgbClr val="12B5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7" name="TextBox 226"/>
          <p:cNvSpPr txBox="1"/>
          <p:nvPr/>
        </p:nvSpPr>
        <p:spPr>
          <a:xfrm>
            <a:off x="4434840" y="5696712"/>
            <a:ext cx="3383280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50">
                <a:solidFill>
                  <a:srgbClr val="6B7280"/>
                </a:solidFill>
                <a:latin typeface="맑은 고딕"/>
                <a:ea typeface="맑은 고딕"/>
              </a:rPr>
              <a:t>equipment drift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8092440" y="4932273"/>
            <a:ext cx="3383280" cy="965607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8092440" y="4959705"/>
            <a:ext cx="3383280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Laplacian</a:t>
            </a:r>
          </a:p>
        </p:txBody>
      </p:sp>
      <p:cxnSp>
        <p:nvCxnSpPr>
          <p:cNvPr id="230" name="Connector 229"/>
          <p:cNvCxnSpPr/>
          <p:nvPr/>
        </p:nvCxnSpPr>
        <p:spPr>
          <a:xfrm>
            <a:off x="8238744" y="5458051"/>
            <a:ext cx="181804" cy="3190"/>
          </a:xfrm>
          <a:prstGeom prst="line">
            <a:avLst/>
          </a:prstGeom>
          <a:ln w="19050">
            <a:solidFill>
              <a:srgbClr val="0F1E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 flipV="1">
            <a:off x="8420548" y="5427379"/>
            <a:ext cx="181804" cy="33862"/>
          </a:xfrm>
          <a:prstGeom prst="line">
            <a:avLst/>
          </a:prstGeom>
          <a:ln w="19050">
            <a:solidFill>
              <a:srgbClr val="0F1E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>
            <a:off x="8602352" y="5427379"/>
            <a:ext cx="181804" cy="46017"/>
          </a:xfrm>
          <a:prstGeom prst="line">
            <a:avLst/>
          </a:prstGeom>
          <a:ln w="19050">
            <a:solidFill>
              <a:srgbClr val="0F1E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 flipV="1">
            <a:off x="8784156" y="5466889"/>
            <a:ext cx="181804" cy="6507"/>
          </a:xfrm>
          <a:prstGeom prst="line">
            <a:avLst/>
          </a:prstGeom>
          <a:ln w="19050">
            <a:solidFill>
              <a:srgbClr val="0F1E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 flipV="1">
            <a:off x="8965960" y="5236220"/>
            <a:ext cx="181805" cy="230669"/>
          </a:xfrm>
          <a:prstGeom prst="line">
            <a:avLst/>
          </a:prstGeom>
          <a:ln w="19050">
            <a:solidFill>
              <a:srgbClr val="0F1E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>
            <a:off x="9147765" y="5236220"/>
            <a:ext cx="181804" cy="235814"/>
          </a:xfrm>
          <a:prstGeom prst="line">
            <a:avLst/>
          </a:prstGeom>
          <a:ln w="19050">
            <a:solidFill>
              <a:srgbClr val="0F1E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 flipV="1">
            <a:off x="9329569" y="5467863"/>
            <a:ext cx="181804" cy="4171"/>
          </a:xfrm>
          <a:prstGeom prst="line">
            <a:avLst/>
          </a:prstGeom>
          <a:ln w="19050">
            <a:solidFill>
              <a:srgbClr val="0F1E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 flipV="1">
            <a:off x="9511373" y="5445795"/>
            <a:ext cx="181804" cy="22068"/>
          </a:xfrm>
          <a:prstGeom prst="line">
            <a:avLst/>
          </a:prstGeom>
          <a:ln w="19050">
            <a:solidFill>
              <a:srgbClr val="0F1E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>
            <a:off x="9693177" y="5445795"/>
            <a:ext cx="181805" cy="359"/>
          </a:xfrm>
          <a:prstGeom prst="line">
            <a:avLst/>
          </a:prstGeom>
          <a:ln w="19050">
            <a:solidFill>
              <a:srgbClr val="0F1E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 flipV="1">
            <a:off x="9874982" y="5430075"/>
            <a:ext cx="181804" cy="16079"/>
          </a:xfrm>
          <a:prstGeom prst="line">
            <a:avLst/>
          </a:prstGeom>
          <a:ln w="19050">
            <a:solidFill>
              <a:srgbClr val="0F1E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>
            <a:off x="10056786" y="5430075"/>
            <a:ext cx="181804" cy="28885"/>
          </a:xfrm>
          <a:prstGeom prst="line">
            <a:avLst/>
          </a:prstGeom>
          <a:ln w="19050">
            <a:solidFill>
              <a:srgbClr val="0F1E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>
            <a:off x="10238590" y="5458960"/>
            <a:ext cx="181804" cy="214927"/>
          </a:xfrm>
          <a:prstGeom prst="line">
            <a:avLst/>
          </a:prstGeom>
          <a:ln w="19050">
            <a:solidFill>
              <a:srgbClr val="0F1E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 flipV="1">
            <a:off x="10420394" y="5427828"/>
            <a:ext cx="181805" cy="246059"/>
          </a:xfrm>
          <a:prstGeom prst="line">
            <a:avLst/>
          </a:prstGeom>
          <a:ln w="19050">
            <a:solidFill>
              <a:srgbClr val="0F1E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>
            <a:off x="10602199" y="5427828"/>
            <a:ext cx="181804" cy="277"/>
          </a:xfrm>
          <a:prstGeom prst="line">
            <a:avLst/>
          </a:prstGeom>
          <a:ln w="19050">
            <a:solidFill>
              <a:srgbClr val="0F1E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>
            <a:off x="10784003" y="5428105"/>
            <a:ext cx="181804" cy="7697"/>
          </a:xfrm>
          <a:prstGeom prst="line">
            <a:avLst/>
          </a:prstGeom>
          <a:ln w="19050">
            <a:solidFill>
              <a:srgbClr val="0F1E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 flipV="1">
            <a:off x="10965807" y="5433273"/>
            <a:ext cx="181804" cy="2529"/>
          </a:xfrm>
          <a:prstGeom prst="line">
            <a:avLst/>
          </a:prstGeom>
          <a:ln w="19050">
            <a:solidFill>
              <a:srgbClr val="0F1E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>
            <a:off x="11147611" y="5433273"/>
            <a:ext cx="181805" cy="9674"/>
          </a:xfrm>
          <a:prstGeom prst="line">
            <a:avLst/>
          </a:prstGeom>
          <a:ln w="19050">
            <a:solidFill>
              <a:srgbClr val="0F1E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7" name="Oval 246"/>
          <p:cNvSpPr/>
          <p:nvPr/>
        </p:nvSpPr>
        <p:spPr>
          <a:xfrm>
            <a:off x="9120333" y="5208788"/>
            <a:ext cx="54864" cy="54864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10392962" y="5646455"/>
            <a:ext cx="54864" cy="54864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TextBox 248"/>
          <p:cNvSpPr txBox="1"/>
          <p:nvPr/>
        </p:nvSpPr>
        <p:spPr>
          <a:xfrm>
            <a:off x="8092440" y="5696712"/>
            <a:ext cx="3383280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50">
                <a:solidFill>
                  <a:srgbClr val="6B7280"/>
                </a:solidFill>
                <a:latin typeface="맑은 고딕"/>
                <a:ea typeface="맑은 고딕"/>
              </a:rPr>
              <a:t>hunting (heavy-tail)</a:t>
            </a:r>
          </a:p>
        </p:txBody>
      </p:sp>
      <p:sp>
        <p:nvSpPr>
          <p:cNvPr id="250" name="TextBox 249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현업(BBD / Overlay / CD) trend 판정 경험을 영역(밀도·결측), 노이즈, 이상 규칙으로 코드화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생성 데이터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정상 baseline 위에 이상 5종을 현장 발생 방식대로 합성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정상(Normal)에 더해 Mean shift / Variance / Spike / Trend drift / Contextual 5종을 만듭니다. 이상은 주로 trend 오른쪽 끝 구간에 주입하고(분홍 음영), context만 전체가 fleet에서 벗어납니다</a:t>
            </a:r>
          </a:p>
          <a:p>
            <a:pPr marL="420624" indent="-420624" lvl="1">
              <a:spcAft>
                <a:spcPts val="500"/>
              </a:spcAft>
            </a:pPr>
            <a:r>
              <a:rPr sz="135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350">
                <a:solidFill>
                  <a:srgbClr val="4A5666"/>
                </a:solidFill>
                <a:latin typeface="맑은 고딕"/>
                <a:ea typeface="맑은 고딕"/>
              </a:rPr>
              <a:t>이상 강도는 그 설비의 정상 산포(σ) 배수로 정해 너무 약해 보이지 않게 보정합니다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06640" y="3200400"/>
            <a:ext cx="4206240" cy="384048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06640" y="3200400"/>
            <a:ext cx="82296" cy="38404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0" y="3200400"/>
            <a:ext cx="387705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정상 3,500 + 이상 3,500 = 7,000</a:t>
            </a:r>
          </a:p>
        </p:txBody>
      </p:sp>
      <p:sp>
        <p:nvSpPr>
          <p:cNvPr id="9" name="Rectangle 8"/>
          <p:cNvSpPr/>
          <p:nvPr/>
        </p:nvSpPr>
        <p:spPr>
          <a:xfrm>
            <a:off x="3467549" y="3630312"/>
            <a:ext cx="5317862" cy="232228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3_deck_ty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6549" y="3639312"/>
            <a:ext cx="5299862" cy="23042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회색 = 다른 설비(fleet), 파랑 = 판정 대상 정상, 빨강 = 주입된 이상, 분홍 음영 = 이상 구간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결과 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백본·누적 개선 표와 smoothing·color 효과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백본 비교와 누적 개선을 표로 정리하고, checkpoint 평활화(smoothing window)와 rendering color 변경의 효과를 학습 곡선과 전후 이미지로 함께 제시하였습니다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1751147" y="2514744"/>
            <a:ext cx="2499540" cy="11701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3_backbone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0147" y="2523744"/>
            <a:ext cx="2481540" cy="11521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-124646" y="3767328"/>
            <a:ext cx="625112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Backbone sweep — 백본별 F1 / FN / FP</a:t>
            </a:r>
          </a:p>
        </p:txBody>
      </p:sp>
      <p:sp>
        <p:nvSpPr>
          <p:cNvPr id="9" name="Rectangle 8"/>
          <p:cNvSpPr/>
          <p:nvPr/>
        </p:nvSpPr>
        <p:spPr>
          <a:xfrm>
            <a:off x="7439990" y="2514744"/>
            <a:ext cx="3624106" cy="11701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3_progression_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8990" y="2523744"/>
            <a:ext cx="3606106" cy="11521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26480" y="3767328"/>
            <a:ext cx="625112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baseline → BKM combined → best backbone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24559" y="4361832"/>
            <a:ext cx="2552716" cy="11701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3_smoothing_cur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3559" y="4370832"/>
            <a:ext cx="2534716" cy="11521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-124646" y="5614416"/>
            <a:ext cx="625112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Smoothing window — 안정적 checkpoint로 test↑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75685" y="4361832"/>
            <a:ext cx="2552716" cy="11701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3_color_beforeaf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4685" y="4370832"/>
            <a:ext cx="2534716" cy="11521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126480" y="5614416"/>
            <a:ext cx="625112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Color 변경 전후 — target 색 분리도 향상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백본·BKM combined·best backbone 수치는 순위 기반 임의값(실측 입력 시 교체) · smoothing/color 는 실제 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결과 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옵션을 누적 적용하며 성능이 올라가는 전체 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baseline 에서 시작해 단변수에서 검증한 옵션을 하나씩 누적 적용하고 최적 백본까지 반영하면, F1 이 0.9944→0.9992로 오르고 놓친 불량(FN)과 오경보(FP)가 함께 줄어듭니다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1845963" y="2459880"/>
            <a:ext cx="8561034" cy="3767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3_cumulative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4963" y="2468880"/>
            <a:ext cx="8543034" cy="3749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