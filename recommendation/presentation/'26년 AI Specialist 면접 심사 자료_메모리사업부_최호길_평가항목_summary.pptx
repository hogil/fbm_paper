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2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Relationship Id="rId6" Type="http://schemas.openxmlformats.org/officeDocument/2006/relationships/image" Target="../media/image3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896112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8A929E"/>
                </a:solidFill>
                <a:latin typeface="맑은 고딕"/>
                <a:ea typeface="맑은 고딕"/>
              </a:rPr>
              <a:t>'26 AI Specialist 면접 심사 자료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35024"/>
            <a:ext cx="10607040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0F1E3D"/>
                </a:solidFill>
                <a:latin typeface="맑은 고딕"/>
                <a:ea typeface="맑은 고딕"/>
              </a:rPr>
              <a:t>AI Specialist 인증 발표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6968" y="2926080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>
                <a:solidFill>
                  <a:srgbClr val="475569"/>
                </a:solidFill>
                <a:latin typeface="맑은 고딕"/>
                <a:ea typeface="맑은 고딕"/>
              </a:rPr>
              <a:t>10년 제조품질 현장 경험을 바탕으로 데이터 처리 구조, viewer backend/frontend, AI model까지 직접 설계한 3개 과제</a:t>
            </a:r>
          </a:p>
        </p:txBody>
      </p:sp>
      <p:sp>
        <p:nvSpPr>
          <p:cNvPr id="6" name="Rectangle 5"/>
          <p:cNvSpPr/>
          <p:nvPr/>
        </p:nvSpPr>
        <p:spPr>
          <a:xfrm>
            <a:off x="886968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86968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6424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19656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Failbit Map 불량 분석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34840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54296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Chip multi-label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82712" y="4041648"/>
            <a:ext cx="3291840" cy="85953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82712" y="4041648"/>
            <a:ext cx="73152" cy="85953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2168" y="4041648"/>
            <a:ext cx="713232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041648"/>
            <a:ext cx="2157984" cy="8595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86968" y="4992624"/>
            <a:ext cx="3840480" cy="2032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5184648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최호길  |  메모리제조센터 QIE그룹 Data Science 파트</a:t>
            </a:r>
          </a:p>
          <a:p>
            <a:pPr algn="l"/>
            <a:r>
              <a:rPr sz="1250">
                <a:solidFill>
                  <a:srgbClr val="6B7280"/>
                </a:solidFill>
                <a:latin typeface="맑은 고딕"/>
                <a:ea typeface="맑은 고딕"/>
              </a:rPr>
              <a:t>메모리 Photo BBD/Overlay/CD 계측 분석 10년 + QIE AI 실무 3년, 13년차 / 연세대 인공지능 석사 병행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86968" y="5989320"/>
            <a:ext cx="10387584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86968" y="6108192"/>
            <a:ext cx="7772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삼성전자 메모리제조센터 | QIE그룹 Data Science</a:t>
            </a:r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    AI Specialist 인증 사내 경연 발표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0" y="6108192"/>
            <a:ext cx="1673352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P1/P2/P3 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3개 과제 핵심 요약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41248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91056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Failbit Map failure analysis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1160" y="2478024"/>
            <a:ext cx="1408176" cy="14081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2960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37360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48매 단위 조회 한계, human review 부담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좌표 보존 Failbit Map + 대량 viewer + Known 및 Unknown model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9808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[양산 운영] 일 2만 wafer/day, 공수 90%↓ + 수율 개선 사례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Cython / pyvips / Numba, ConvNeXtV2 / YOLO, contrastive / HDBSCAN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01312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01312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01312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602480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2480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2288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Chip multi-label classification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29328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chip_eval_scratch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2392" y="2478024"/>
            <a:ext cx="1408176" cy="1408176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4584192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98592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2-combo failure GT 부족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84192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98592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single source → FCM-PM + val-margin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11040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11040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584192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98592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[controlled synthetic] bit-F1 0.9927 / FAR 0.00%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84192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PyTorch, FCM-PM / CutMix, NB reject / KD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62544" y="1755648"/>
            <a:ext cx="3450336" cy="4169664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C4D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162544" y="1755648"/>
            <a:ext cx="3450336" cy="566928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162544" y="2039112"/>
            <a:ext cx="3450336" cy="28346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363712" y="1847088"/>
            <a:ext cx="640080" cy="38404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363712" y="1755648"/>
            <a:ext cx="64008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FFFFFF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13520" y="1755648"/>
            <a:ext cx="2353056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1">
                <a:solidFill>
                  <a:srgbClr val="FFFFFF"/>
                </a:solidFill>
                <a:latin typeface="맑은 고딕"/>
                <a:ea typeface="맑은 고딕"/>
              </a:rPr>
              <a:t>Trend anomaly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90560" y="2386584"/>
            <a:ext cx="3194304" cy="15910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trend_spi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92464" y="2478024"/>
            <a:ext cx="2190496" cy="1408176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8345424" y="411480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Problem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259824" y="411480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real anomaly label scarcity, validation bottleneck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45424" y="460248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Approach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59824" y="460248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>
                <a:solidFill>
                  <a:srgbClr val="1A1F2E"/>
                </a:solidFill>
                <a:latin typeface="맑은 고딕"/>
                <a:ea typeface="맑은 고딕"/>
              </a:rPr>
              <a:t>episode generation + binary validation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272272" y="5017008"/>
            <a:ext cx="3230880" cy="396240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8272272" y="5017008"/>
            <a:ext cx="73152" cy="3962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45424" y="5090160"/>
            <a:ext cx="877824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Impact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259824" y="5090160"/>
            <a:ext cx="2170176" cy="24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[synthetic trend PoC] benchmark 7,000, binary-F1 0.9967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345424" y="5504688"/>
            <a:ext cx="3084576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556075"/>
                </a:solidFill>
                <a:latin typeface="맑은 고딕"/>
                <a:ea typeface="맑은 고딕"/>
              </a:rPr>
              <a:t>Stack: episode generator / binary classifier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Failbit Map
Known &amp; Unknown 분석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공정개발 결과 map을 대량 검색·검토·AI validation 가능한 운영 구조로 확장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발표 구조: 개발배경·문제 → AI 필요성 → 개발내용 → 성과·적용 → 확장·본인기여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최종 map 수작업 검토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viewer + AI 검증 구조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48매 조회·human review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pipeline·viewer·model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양산 운영·object-id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전체 아키텍처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좌표 보존 Failbit Map 운영 pipeline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615287" y="1783080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15287" y="1783080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EDS Test  (raw fail-map log)</a:t>
            </a:r>
          </a:p>
        </p:txBody>
      </p:sp>
      <p:sp>
        <p:nvSpPr>
          <p:cNvPr id="7" name="Down Arrow 6"/>
          <p:cNvSpPr/>
          <p:nvPr/>
        </p:nvSpPr>
        <p:spPr>
          <a:xfrm>
            <a:off x="5986119" y="2286000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1879" y="2258568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Cython parsing + hourly batch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615287" y="2551176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15287" y="2633472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(32색 palette PNG) + chip annotation (FTN / QTN / BIN)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5287" y="2916936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좌표 보존: 이미지, 좌표, 계측값을 같은 wafer 좌표계에 맞춰 저장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5986119" y="3255264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51879" y="3227832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같은 자산을 Known 및 Unknown 두 경로가 공유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2112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0400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Known path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1373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ConvNeXtV2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373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ROI-YOLO  (selective)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1373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object-id map  [dev]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24447" y="3520440"/>
            <a:ext cx="3246120" cy="1097280"/>
          </a:xfrm>
          <a:prstGeom prst="roundRect">
            <a:avLst/>
          </a:prstGeom>
          <a:solidFill>
            <a:srgbClr val="F2F4F8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07327" y="3566160"/>
            <a:ext cx="288036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Unknown path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17055" y="3849624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InfoNCE + grid36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17055" y="4105656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HDBSCAN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17055" y="4361688"/>
            <a:ext cx="2825496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→ candidate groups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5986119" y="4645152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51879" y="4617720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두 경로 결과를 한 화면으로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615287" y="4910328"/>
            <a:ext cx="8961120" cy="676656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15287" y="4992624"/>
            <a:ext cx="89611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Analysis UI — fast view / overlay / labeling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15287" y="5276088"/>
            <a:ext cx="89611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운영 viewer (mapviewer): Numba composite + pyvips tile streaming</a:t>
            </a:r>
          </a:p>
        </p:txBody>
      </p:sp>
      <p:sp>
        <p:nvSpPr>
          <p:cNvPr id="29" name="Down Arrow 28"/>
          <p:cNvSpPr/>
          <p:nvPr/>
        </p:nvSpPr>
        <p:spPr>
          <a:xfrm>
            <a:off x="5986119" y="5614416"/>
            <a:ext cx="219456" cy="237744"/>
          </a:xfrm>
          <a:prstGeom prst="downArrow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51879" y="5586984"/>
            <a:ext cx="402336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human-in-the-loop: register → label → retrain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615287" y="5879592"/>
            <a:ext cx="8961120" cy="475488"/>
          </a:xfrm>
          <a:prstGeom prst="roundRect">
            <a:avLst/>
          </a:prstGeom>
          <a:solidFill>
            <a:srgbClr val="FFFFFF"/>
          </a:solidFill>
          <a:ln w="17780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615287" y="5879592"/>
            <a:ext cx="896112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Organizational asset base  (image-measure aligned, multimodal-ready)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Concept + field constraint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이산 grade 공간 데이터 표현으로서의 Failbit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01952"/>
            <a:ext cx="5650992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Role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Failbit Map은 공정 개발 결과를 확인하는 최종 map으로, 불량 정도와 위치, 형태를 확인해 현 개발 수준을 파악하고 공정 개선 방향을 결정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Data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EDS Failbit Map은 Memory Cell Block 단위 불량 정도를 Grade 0~7로 표현한 wafer-level data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Scale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wafer 1장은 약 1,000만 block 규모이며, chip당 1개, wafer 내 약 800개 수준의 Measure 값만으로는 불량 위치와 형상 분석에 한계</a:t>
            </a:r>
          </a:p>
          <a:p>
            <a:pPr marL="274320" indent="-274320">
              <a:lnSpc>
                <a:spcPct val="112000"/>
              </a:lnSpc>
              <a:spcAft>
                <a:spcPts val="1600"/>
              </a:spcAft>
            </a:pPr>
            <a:r>
              <a:rPr sz="162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Storage</a:t>
            </a:r>
            <a:r>
              <a:rPr sz="1620">
                <a:solidFill>
                  <a:srgbClr val="1A1F2E"/>
                </a:solidFill>
                <a:latin typeface="맑은 고딕"/>
                <a:ea typeface="맑은 고딕"/>
              </a:rPr>
              <a:t> — palette PNG는 grade index를 저장하고, positions JSON은 chip/block 좌표를 보존해 viewer overlay와 모델 입력을 같은 좌표계로 정렬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725412" y="1316736"/>
            <a:ext cx="4334256" cy="4681728"/>
          </a:xfrm>
          <a:prstGeom prst="roundRect">
            <a:avLst/>
          </a:prstGeom>
          <a:solidFill>
            <a:srgbClr val="F4F7FB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725412" y="1316736"/>
            <a:ext cx="4334256" cy="34747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90004" y="1316736"/>
            <a:ext cx="4005072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FFFFFF"/>
                </a:solidFill>
                <a:latin typeface="맑은 고딕"/>
                <a:ea typeface="맑은 고딕"/>
              </a:rPr>
              <a:t>wafer Failbit Map / Edge-Ring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25412" y="1664208"/>
            <a:ext cx="4334256" cy="4334256"/>
          </a:xfrm>
          <a:prstGeom prst="roundRect">
            <a:avLst/>
          </a:prstGeom>
          <a:solidFill>
            <a:srgbClr val="E4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edge_ring_scratch_r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1716" y="1810512"/>
            <a:ext cx="4041648" cy="40416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76772" y="6053328"/>
            <a:ext cx="5431536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2A384C"/>
                </a:solidFill>
                <a:latin typeface="맑은 고딕"/>
                <a:ea typeface="맑은 고딕"/>
              </a:rPr>
              <a:t>최외곽 chip에서 동일 scratch성 fail pattern이 반복되어 edge-ring 형태로 관찰됨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데이터 생성 (fail-map)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8단계 grade → palette PNG 무손실 저장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Motivation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wafer 한 장 약 1,000만 test value, 하루 약 2만 장 누적. raw log는 대량 조회와 AI 입력에 부적합 → hex-to-grade는 Cython 가속, 8단계 grade 특성으로 palette PNG 저장량 약 75%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Hex-to-grade conversion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Raw: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090B0C0D0E0F090A0B0C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Decoding: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"0C" -&gt; "C" -&gt; 12 (hex to decimal) -&gt; 3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interpreter-based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Cython: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compiled integer loop execution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Grade: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0 2 3 4 5 6 0 1 2 3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1. Hex-to-grade conversion accelerated by Cython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615184"/>
            <a:ext cx="5303520" cy="3410712"/>
          </a:xfrm>
          <a:prstGeom prst="rect">
            <a:avLst/>
          </a:prstGeom>
          <a:solidFill>
            <a:srgbClr val="FFFFFF"/>
          </a:solidFill>
          <a:ln w="15875">
            <a:solidFill>
              <a:srgbClr val="3337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4809744" cy="3154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RGB PNG vs Palette-indexed PNG</a:t>
            </a:r>
          </a:p>
          <a:p>
            <a:pPr algn="l"/>
            <a:r>
              <a:rPr sz="5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[(123,54,24), (123,54,24), ..., (123,54,24)]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Palette-indexed PNG: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P[3] = (123,54,24)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(3)],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[(3), (3), ..., (3)]</a:t>
            </a:r>
          </a:p>
          <a:p>
            <a:pPr algn="l"/>
            <a:r>
              <a:rPr sz="55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350" b="1" i="1">
                <a:solidFill>
                  <a:srgbClr val="0F1E3D"/>
                </a:solidFill>
                <a:latin typeface="Consolas"/>
                <a:ea typeface="Consolas"/>
              </a:rPr>
              <a:t>RGB_to_Palette:</a:t>
            </a:r>
          </a:p>
          <a:p>
            <a:pPr algn="l"/>
            <a:r>
              <a:rPr sz="1300">
                <a:solidFill>
                  <a:srgbClr val="1A1F2E"/>
                </a:solidFill>
                <a:latin typeface="Consolas"/>
                <a:ea typeface="Consolas"/>
              </a:rPr>
              <a:t>    (123,54,24) -&gt; (3)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Fig. 2. Palette-indexed PNG for failbit map compression.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viewer 처리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대용량 Failbit Map viewer를 위한 Numba와 pyvips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Numba는 메모리에 올라온 grade array의 composite 루프를 native code로 JIT 컴파일하고, pyvips는 대형 PNG를 필요한 stripe/tile만 decode해 viewer peak memory를 절감</a:t>
            </a:r>
          </a:p>
        </p:txBody>
      </p:sp>
      <p:sp>
        <p:nvSpPr>
          <p:cNvPr id="6" name="Rectangle 5"/>
          <p:cNvSpPr/>
          <p:nvPr/>
        </p:nvSpPr>
        <p:spPr>
          <a:xfrm>
            <a:off x="74615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31773" y="2587843"/>
            <a:ext cx="4720132" cy="137726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64361" y="2709367"/>
            <a:ext cx="848563" cy="324063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4361" y="2717468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BEFORE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72030" y="2689113"/>
            <a:ext cx="212140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Interpreter overhead inside loop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52544" y="2709367"/>
            <a:ext cx="954633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8A8A8A"/>
                </a:solidFill>
                <a:latin typeface="맑은 고딕"/>
                <a:ea typeface="맑은 고딕"/>
              </a:rPr>
              <a:t>N times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0879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727301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96312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pixel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32734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901744" y="3296732"/>
            <a:ext cx="450799" cy="34431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1C1C1C"/>
                </a:solidFill>
                <a:latin typeface="Consolas"/>
                <a:ea typeface="Consolas"/>
              </a:rPr>
              <a:t>...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38167" y="3215716"/>
            <a:ext cx="556869" cy="5063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8A8A8A"/>
                </a:solidFill>
                <a:latin typeface="Consolas"/>
                <a:ea typeface="Consolas"/>
              </a:rPr>
              <a:t>PY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1552285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ight Arrow 24"/>
          <p:cNvSpPr/>
          <p:nvPr/>
        </p:nvSpPr>
        <p:spPr>
          <a:xfrm>
            <a:off x="2294778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ight Arrow 25"/>
          <p:cNvSpPr/>
          <p:nvPr/>
        </p:nvSpPr>
        <p:spPr>
          <a:xfrm>
            <a:off x="296302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ight Arrow 26"/>
          <p:cNvSpPr/>
          <p:nvPr/>
        </p:nvSpPr>
        <p:spPr>
          <a:xfrm>
            <a:off x="3700211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ight Arrow 27"/>
          <p:cNvSpPr/>
          <p:nvPr/>
        </p:nvSpPr>
        <p:spPr>
          <a:xfrm>
            <a:off x="4368454" y="3389900"/>
            <a:ext cx="159105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700784" y="3730166"/>
            <a:ext cx="3394252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per-pixel interpreter dispatch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31773" y="4208160"/>
            <a:ext cx="4720132" cy="1741840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1064361" y="4329684"/>
            <a:ext cx="848563" cy="324063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4361" y="4337785"/>
            <a:ext cx="848563" cy="3078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AFTER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045512" y="4309430"/>
            <a:ext cx="2227478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First call JIT-compiles typed loop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143914" y="4694255"/>
            <a:ext cx="981151" cy="28355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70432" y="4710458"/>
            <a:ext cx="928115" cy="25114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dtype</a:t>
            </a:r>
          </a:p>
        </p:txBody>
      </p:sp>
      <p:sp>
        <p:nvSpPr>
          <p:cNvPr id="36" name="Right Arrow 35"/>
          <p:cNvSpPr/>
          <p:nvPr/>
        </p:nvSpPr>
        <p:spPr>
          <a:xfrm>
            <a:off x="2188707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469794" y="4653747"/>
            <a:ext cx="928115" cy="364571"/>
          </a:xfrm>
          <a:prstGeom prst="rect">
            <a:avLst/>
          </a:prstGeom>
          <a:solidFill>
            <a:srgbClr val="E9E9E9"/>
          </a:solidFill>
          <a:ln w="1016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96312" y="4669950"/>
            <a:ext cx="875080" cy="32406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JIT
compile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477463" y="4783372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89603" y="4653747"/>
            <a:ext cx="1538020" cy="384825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742639" y="4669950"/>
            <a:ext cx="1431950" cy="35241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1C1C1C"/>
                </a:solidFill>
                <a:latin typeface="맑은 고딕"/>
                <a:ea typeface="맑은 고딕"/>
              </a:rPr>
              <a:t>native loop
reused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37844" y="5281620"/>
            <a:ext cx="1087221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64361" y="5297823"/>
            <a:ext cx="1034186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input data</a:t>
            </a:r>
          </a:p>
        </p:txBody>
      </p:sp>
      <p:sp>
        <p:nvSpPr>
          <p:cNvPr id="44" name="Right Arrow 43"/>
          <p:cNvSpPr/>
          <p:nvPr/>
        </p:nvSpPr>
        <p:spPr>
          <a:xfrm>
            <a:off x="2188707" y="5366686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310688" y="5139842"/>
            <a:ext cx="2280513" cy="587364"/>
          </a:xfrm>
          <a:prstGeom prst="rect">
            <a:avLst/>
          </a:prstGeom>
          <a:solidFill>
            <a:srgbClr val="5A5A5A"/>
          </a:solidFill>
          <a:ln w="10160">
            <a:solidFill>
              <a:srgbClr val="5A5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90241" y="5200604"/>
            <a:ext cx="2121408" cy="46584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맑은 고딕"/>
                <a:ea typeface="맑은 고딕"/>
              </a:rPr>
              <a:t>native loop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4670755" y="5366686"/>
            <a:ext cx="212140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962448" y="5281620"/>
            <a:ext cx="530352" cy="30380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962448" y="5297823"/>
            <a:ext cx="530352" cy="27140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result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415430" y="2385303"/>
            <a:ext cx="5091379" cy="3848252"/>
          </a:xfrm>
          <a:prstGeom prst="rect">
            <a:avLst/>
          </a:prstGeom>
          <a:solidFill>
            <a:srgbClr val="F7F7F7"/>
          </a:solidFill>
          <a:ln w="11430">
            <a:solidFill>
              <a:srgbClr val="9999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6601053" y="2648605"/>
            <a:ext cx="4720132" cy="1154475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6733641" y="2770129"/>
            <a:ext cx="769010" cy="303809"/>
          </a:xfrm>
          <a:prstGeom prst="round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733641" y="2782281"/>
            <a:ext cx="769010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PILLOW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661757" y="2790383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full-frame buffer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813194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882140" y="3260274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882140" y="3316986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882140" y="3373697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707124" y="351142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60" name="Right Arrow 59"/>
          <p:cNvSpPr/>
          <p:nvPr/>
        </p:nvSpPr>
        <p:spPr>
          <a:xfrm>
            <a:off x="7396581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688275" y="3154954"/>
            <a:ext cx="769010" cy="405079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67828" y="3215716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767828" y="3272427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767828" y="3329138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767828" y="3385849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7767828" y="344256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529169" y="3576236"/>
            <a:ext cx="1087221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full RGB frame</a:t>
            </a:r>
          </a:p>
        </p:txBody>
      </p:sp>
      <p:sp>
        <p:nvSpPr>
          <p:cNvPr id="68" name="Right Arrow 67"/>
          <p:cNvSpPr/>
          <p:nvPr/>
        </p:nvSpPr>
        <p:spPr>
          <a:xfrm>
            <a:off x="8563356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8881567" y="3142801"/>
            <a:ext cx="1113739" cy="518501"/>
          </a:xfrm>
          <a:prstGeom prst="rect">
            <a:avLst/>
          </a:prstGeom>
          <a:solidFill>
            <a:srgbClr val="F1F1F1"/>
          </a:solidFill>
          <a:ln w="1016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908084" y="3171157"/>
            <a:ext cx="1060704" cy="13772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full-image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961120" y="3349392"/>
            <a:ext cx="954633" cy="26735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decode
encode</a:t>
            </a:r>
          </a:p>
        </p:txBody>
      </p:sp>
      <p:sp>
        <p:nvSpPr>
          <p:cNvPr id="72" name="Right Arrow 71"/>
          <p:cNvSpPr/>
          <p:nvPr/>
        </p:nvSpPr>
        <p:spPr>
          <a:xfrm>
            <a:off x="10074859" y="3349392"/>
            <a:ext cx="185623" cy="129625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10499140" y="3203563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0568086" y="3256224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10568086" y="330483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10568086" y="3353443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568086" y="3402052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10366552" y="351142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6601053" y="4147398"/>
            <a:ext cx="4720132" cy="1275999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33641" y="4268922"/>
            <a:ext cx="848563" cy="303809"/>
          </a:xfrm>
          <a:prstGeom prst="round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733641" y="4281074"/>
            <a:ext cx="848563" cy="27545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LIBVIPS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661757" y="4289176"/>
            <a:ext cx="1193292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5F5F5F"/>
                </a:solidFill>
                <a:latin typeface="맑은 고딕"/>
                <a:ea typeface="맑은 고딕"/>
              </a:rPr>
              <a:t>active-stripe buffer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813194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882140" y="4815779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882140" y="4872490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882140" y="4929201"/>
            <a:ext cx="339425" cy="24304"/>
          </a:xfrm>
          <a:prstGeom prst="rect">
            <a:avLst/>
          </a:prstGeom>
          <a:solidFill>
            <a:srgbClr val="B8B8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707124" y="5099334"/>
            <a:ext cx="689457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FILE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7396581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88275" y="4702356"/>
            <a:ext cx="769010" cy="405079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67828" y="4763118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67828" y="4819829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767828" y="4876540"/>
            <a:ext cx="609904" cy="28355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767828" y="4933252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7767828" y="4989963"/>
            <a:ext cx="609904" cy="28355"/>
          </a:xfrm>
          <a:prstGeom prst="rect">
            <a:avLst/>
          </a:prstGeom>
          <a:solidFill>
            <a:srgbClr val="D8D8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608722" y="5123639"/>
            <a:ext cx="928115" cy="141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RGB stripe</a:t>
            </a:r>
          </a:p>
        </p:txBody>
      </p:sp>
      <p:sp>
        <p:nvSpPr>
          <p:cNvPr id="96" name="Right Arrow 95"/>
          <p:cNvSpPr/>
          <p:nvPr/>
        </p:nvSpPr>
        <p:spPr>
          <a:xfrm>
            <a:off x="8563356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881567" y="4674001"/>
            <a:ext cx="1113739" cy="607618"/>
          </a:xfrm>
          <a:prstGeom prst="rect">
            <a:avLst/>
          </a:prstGeom>
          <a:solidFill>
            <a:srgbClr val="E9E9E9"/>
          </a:solidFill>
          <a:ln w="10160">
            <a:solidFill>
              <a:srgbClr val="A8A8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908084" y="4686153"/>
            <a:ext cx="1060704" cy="24304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C1C1C"/>
                </a:solidFill>
                <a:latin typeface="맑은 고딕"/>
                <a:ea typeface="맑은 고딕"/>
              </a:rPr>
              <a:t>streaming
C pipeline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934602" y="5026420"/>
            <a:ext cx="1060704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5F5F5F"/>
                </a:solidFill>
                <a:latin typeface="맑은 고딕"/>
                <a:ea typeface="맑은 고딕"/>
              </a:rPr>
              <a:t>decode/encode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10074859" y="4904896"/>
            <a:ext cx="185623" cy="141777"/>
          </a:xfrm>
          <a:prstGeom prst="rightArrow">
            <a:avLst/>
          </a:prstGeom>
          <a:solidFill>
            <a:srgbClr val="9A9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10499140" y="4759067"/>
            <a:ext cx="477316" cy="291657"/>
          </a:xfrm>
          <a:prstGeom prst="rect">
            <a:avLst/>
          </a:prstGeom>
          <a:solidFill>
            <a:srgbClr val="F4F4F4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568086" y="4811728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568086" y="486033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568086" y="4908947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568086" y="4957556"/>
            <a:ext cx="339425" cy="24304"/>
          </a:xfrm>
          <a:prstGeom prst="rect">
            <a:avLst/>
          </a:prstGeom>
          <a:solidFill>
            <a:srgbClr val="6A6A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10366552" y="5099334"/>
            <a:ext cx="742492" cy="16203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7078370" y="5706953"/>
            <a:ext cx="3765499" cy="283555"/>
          </a:xfrm>
          <a:prstGeom prst="rect">
            <a:avLst/>
          </a:prstGeom>
          <a:solidFill>
            <a:srgbClr val="EAEAEA"/>
          </a:solidFill>
          <a:ln w="10160">
            <a:solidFill>
              <a:srgbClr val="D4D4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7078370" y="5731258"/>
            <a:ext cx="3765499" cy="2349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C1C1C"/>
                </a:solidFill>
                <a:latin typeface="맑은 고딕"/>
                <a:ea typeface="맑은 고딕"/>
              </a:rPr>
              <a:t>same output with bounded active rows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Known 2단계 상세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Known 검증: CNN tuning과 ROI cascade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1-stage CNN (백본 선정)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불량이 국소 영역에 몰려 있어 그 외 배경까지 보는 Transformer보다 locality에 강한 CNN이 유리하다고 판단 (연세대 인공지능학과 전해곤 교수 자문). ConvNeXtV2는 MaxViT와 F1 0.87 동급이면서 더 가벼움</a:t>
            </a:r>
          </a:p>
          <a:p>
            <a:pPr marL="274320" indent="-274320">
              <a:spcAft>
                <a:spcPts val="500"/>
              </a:spcAft>
            </a:pPr>
            <a:r>
              <a:rPr sz="148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80" b="1">
                <a:solidFill>
                  <a:srgbClr val="0F1E3D"/>
                </a:solidFill>
                <a:latin typeface="맑은 고딕"/>
                <a:ea typeface="맑은 고딕"/>
              </a:rPr>
              <a:t>Tuning</a:t>
            </a:r>
            <a:r>
              <a:rPr sz="1480">
                <a:solidFill>
                  <a:srgbClr val="1A1F2E"/>
                </a:solidFill>
                <a:latin typeface="맑은 고딕"/>
                <a:ea typeface="맑은 고딕"/>
              </a:rPr>
              <a:t> — Optuna로 schedule, focal loss, class-imbalance, augmentation strength를 조정해 F1 0.92로 향상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800921"/>
            <a:ext cx="2571750" cy="25717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257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A — center scratch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44043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center_bank_bound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0430" y="2800921"/>
            <a:ext cx="2571750" cy="25717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3261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불량 B — center bank-boundary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40780" y="2800921"/>
            <a:ext cx="2571750" cy="2571750"/>
          </a:xfrm>
          <a:prstGeom prst="rect">
            <a:avLst/>
          </a:prstGeom>
          <a:solidFill>
            <a:srgbClr val="E4EAF4"/>
          </a:solidFill>
          <a:ln w="15875">
            <a:solidFill>
              <a:srgbClr val="B9C6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1_roi_crop_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0780" y="2800921"/>
            <a:ext cx="2571750" cy="257175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12648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low-confidence → ROI-YOLO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41130" y="2800921"/>
            <a:ext cx="2571750" cy="2571750"/>
          </a:xfrm>
          <a:prstGeom prst="rect">
            <a:avLst/>
          </a:prstGeom>
          <a:solidFill>
            <a:srgbClr val="E4EAF4"/>
          </a:solidFill>
          <a:ln w="24130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p1_chip_yolo_box_r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41130" y="2800921"/>
            <a:ext cx="2571750" cy="2571750"/>
          </a:xfrm>
          <a:prstGeom prst="rect">
            <a:avLst/>
          </a:prstGeom>
        </p:spPr>
      </p:pic>
      <p:sp>
        <p:nvSpPr>
          <p:cNvPr id="17" name="Rounded Rectangle 16"/>
          <p:cNvSpPr/>
          <p:nvPr/>
        </p:nvSpPr>
        <p:spPr>
          <a:xfrm>
            <a:off x="9114282" y="2874073"/>
            <a:ext cx="1024128" cy="29260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Detection result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26830" y="5464111"/>
            <a:ext cx="2800350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chip 분류 + ROI 내 배치 확인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불량 A와 B는 wafer-level에서 비슷해 1-stage 신뢰도가 낮음. 이 경우만 ROI-YOLO로 chip class와 배치까지 확인해 구분. Optuna 0.92 → 2-stage 0.95.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Known 16-class backbone 탐색과 단계별 개선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98448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 b="1">
                <a:solidFill>
                  <a:srgbClr val="0F1E3D"/>
                </a:solidFill>
                <a:latin typeface="맑은 고딕"/>
                <a:ea typeface="맑은 고딕"/>
              </a:rPr>
              <a:t>[실전 현업 데이터 validation] 16 class / 1,500 labeled / 4:1 stratified split.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19072"/>
          <a:ext cx="10972800" cy="3346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9095"/>
                <a:gridCol w="3477718"/>
                <a:gridCol w="1259173"/>
                <a:gridCol w="4856814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Stage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Configuration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Weighted 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Decision / note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ImageNet pretrained CNN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starting point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ViT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Swin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EffNetV2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4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/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MaxViT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119.5M params / 74.2G FLOPs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Backbone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selected: 88.6M / 45.1G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HPO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warmup→cosine, focal γ2, effective class-weight, aug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37719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Cascade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ConvNeXtV2 + Optuna + ROI-YOLO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low-confidence only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175504"/>
            <a:ext cx="10972800" cy="3840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5175504"/>
            <a:ext cx="82296" cy="38404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175504"/>
            <a:ext cx="1069848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HPO recipe — </a:t>
            </a:r>
            <a:r>
              <a:rPr sz="1100">
                <a:solidFill>
                  <a:srgbClr val="4A5666"/>
                </a:solidFill>
                <a:latin typeface="맑은 고딕"/>
                <a:ea typeface="맑은 고딕"/>
              </a:rPr>
              <a:t>LR backbone 2e-5 / head 2e-4, weight decay 0.05, warmup 5ep→cosine, focal γ=2.0, effective-number class weighting, EMA 0.95, stochastic depth 0.05, label smoothing 0.02, rotation ±15°+affine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0976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0.78 → 0.87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0976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backbone gain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0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0.87 → 0.92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81728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Optuna HPO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302752" y="5705856"/>
            <a:ext cx="3401568" cy="71323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02752" y="5705856"/>
            <a:ext cx="3401568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5833872"/>
            <a:ext cx="318211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0.92 → 0.95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6144768"/>
            <a:ext cx="318211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ROI-YOLO cascade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칩 식별 지도 (후속 개발)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차세대 Stage-2: ROI detection → chip identity 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12435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Current Stage-2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ROI-YOLO는 field-validated 구조지만, 선택된 ROI 안에서 box regression, classification, NMS를 수행하므로 class 확장과 detector annotation cost 부담이 남음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Object-id map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제품별 chip coordinate를 재사용해 fixed crop classification으로 바꾸고, chip별 class id를 32×32 wafer grid에 재배치</a:t>
            </a:r>
          </a:p>
          <a:p>
            <a:pPr marL="274320" indent="-274320">
              <a:spcAft>
                <a:spcPts val="500"/>
              </a:spcAft>
            </a:pPr>
            <a:r>
              <a:rPr sz="13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Metric</a:t>
            </a:r>
            <a:r>
              <a:rPr sz="1350">
                <a:solidFill>
                  <a:srgbClr val="1A1F2E"/>
                </a:solidFill>
                <a:latin typeface="맑은 고딕"/>
                <a:ea typeface="맑은 고딕"/>
              </a:rPr>
              <a:t> — selected obj-only: val F1 0.9946 / hold-out F1 0.9872. 별도 raw+obj-id 5-seed val F1 0.9838 ± 0.0092</a:t>
            </a:r>
          </a:p>
        </p:txBody>
      </p:sp>
      <p:pic>
        <p:nvPicPr>
          <p:cNvPr id="6" name="Picture 5" descr="AAN585_00P_18_20260501_010000_97.6_2_EE_NORMAL_ra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3200400"/>
            <a:ext cx="2340864" cy="2340864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1124712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7260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raw intensity</a:t>
            </a:r>
          </a:p>
        </p:txBody>
      </p:sp>
      <p:pic>
        <p:nvPicPr>
          <p:cNvPr id="9" name="Picture 8" descr="AAN585_00P_18_20260501_010000_97.6_2_EE_NORMAL_obj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85616" y="3200400"/>
            <a:ext cx="2340864" cy="23408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3803904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6452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A / object-id grid</a:t>
            </a:r>
          </a:p>
        </p:txBody>
      </p:sp>
      <p:pic>
        <p:nvPicPr>
          <p:cNvPr id="12" name="Picture 11" descr="ACZ452_00P_14_20260501_010000_97.6_2_PT_NORMAL_ra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8" y="3200400"/>
            <a:ext cx="2340864" cy="234086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83096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5644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raw intensity</a:t>
            </a:r>
          </a:p>
        </p:txBody>
      </p:sp>
      <p:pic>
        <p:nvPicPr>
          <p:cNvPr id="15" name="Picture 14" descr="ACZ452_00P_14_20260501_010000_97.6_2_PT_NORMAL_obj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0" y="3200400"/>
            <a:ext cx="2340864" cy="2340864"/>
          </a:xfrm>
          <a:prstGeom prst="rect">
            <a:avLst/>
          </a:prstGeom>
        </p:spPr>
      </p:pic>
      <p:sp>
        <p:nvSpPr>
          <p:cNvPr id="16" name="Rounded Rectangle 15"/>
          <p:cNvSpPr/>
          <p:nvPr/>
        </p:nvSpPr>
        <p:spPr>
          <a:xfrm>
            <a:off x="9162288" y="3273552"/>
            <a:ext cx="566928" cy="274320"/>
          </a:xfrm>
          <a:prstGeom prst="round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pair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74836" y="5541264"/>
            <a:ext cx="2679192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Product B / object-id grid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Field-validated 대표 성과는 ROI-YOLO 2-stage F1 0.95이고, object-id map은 detector cost와 class 확장 부담을 줄이기 위한 차세대 Stage-2 구조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탐색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Unknown 후보 발견 contrastive clustering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Embedding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same-wafer views를 alignment target으로 두고, other wafers를 contrastive reference로 사용</a:t>
            </a:r>
          </a:p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Review output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 — HDBSCAN 결과는 자동 판정이 아니라 엔지니어가 검토할 신규 failure 후보 group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9742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bank_bound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6424" y="2615184"/>
            <a:ext cx="2999232" cy="299923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4582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Center Bank-Boundary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1786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wafer_brokenr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26864" y="2615184"/>
            <a:ext cx="2999232" cy="29992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36626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BrokenRing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304" y="2606184"/>
            <a:ext cx="3017232" cy="301723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wafer_crescentar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47304" y="2615184"/>
            <a:ext cx="2999232" cy="299923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6700" y="5614416"/>
            <a:ext cx="352044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50" b="1">
                <a:solidFill>
                  <a:srgbClr val="0F1E3D"/>
                </a:solidFill>
                <a:latin typeface="맑은 고딕"/>
                <a:ea typeface="맑은 고딕"/>
              </a:rPr>
              <a:t>CrescentArc (신규)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96188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>
                <a:solidFill>
                  <a:srgbClr val="3A485C"/>
                </a:solidFill>
                <a:latin typeface="맑은 고딕"/>
                <a:ea typeface="맑은 고딕"/>
              </a:rPr>
              <a:t>실제 현업 데이터 2,000장 review: 13개 후보 중 7개 신규 failure 확인. 화면 이미지는 후속 튜닝용 생성/개발 예시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contrastive loss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false negative 억제 contrastive embedding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SimCLR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positive-pair alignment와 in-batch negative contrast로 wafer pattern embedding을 학습</a:t>
            </a:r>
          </a:p>
          <a:p>
            <a:pPr marL="274320" indent="-274320">
              <a:spcAft>
                <a:spcPts val="500"/>
              </a:spcAft>
            </a:pPr>
            <a:r>
              <a:rPr sz="140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</a:t>
            </a:r>
            <a:r>
              <a:rPr sz="1400">
                <a:solidFill>
                  <a:srgbClr val="1A1F2E"/>
                </a:solidFill>
                <a:latin typeface="맑은 고딕"/>
                <a:ea typeface="맑은 고딕"/>
              </a:rPr>
              <a:t> — cosine similarity가 높은 near-positive candidate를 negative set에서 제외해 false-negative push를 방지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ef_simclr_framework_cr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2065" y="2631186"/>
            <a:ext cx="2919548" cy="2263140"/>
          </a:xfrm>
          <a:prstGeom prst="rect">
            <a:avLst/>
          </a:prstGeom>
        </p:spPr>
      </p:pic>
      <p:pic>
        <p:nvPicPr>
          <p:cNvPr id="8" name="Picture 7" descr="ref_simclr_loss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3446" y="4962906"/>
            <a:ext cx="3236786" cy="94297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SimCLR: positive-pair alignment with in-batch negative contrast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9360" y="2596896"/>
            <a:ext cx="53035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AEEF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086039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836200" y="2836926"/>
            <a:ext cx="0" cy="294894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601053" y="4431411"/>
            <a:ext cx="4720133" cy="0"/>
          </a:xfrm>
          <a:prstGeom prst="line">
            <a:avLst/>
          </a:prstGeom>
          <a:ln w="12700">
            <a:solidFill>
              <a:srgbClr val="EAEE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494983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Positive</a:t>
            </a:r>
          </a:p>
        </p:txBody>
      </p:sp>
      <p:sp>
        <p:nvSpPr>
          <p:cNvPr id="15" name="Oval 14"/>
          <p:cNvSpPr/>
          <p:nvPr/>
        </p:nvSpPr>
        <p:spPr>
          <a:xfrm>
            <a:off x="6834938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38708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17" name="Oval 16"/>
          <p:cNvSpPr/>
          <p:nvPr/>
        </p:nvSpPr>
        <p:spPr>
          <a:xfrm>
            <a:off x="7338243" y="3277896"/>
            <a:ext cx="318211" cy="318211"/>
          </a:xfrm>
          <a:prstGeom prst="ellipse">
            <a:avLst/>
          </a:prstGeom>
          <a:solidFill>
            <a:srgbClr val="FFFFFF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6967526" y="3437001"/>
            <a:ext cx="529822" cy="274320"/>
          </a:xfrm>
          <a:prstGeom prst="line">
            <a:avLst/>
          </a:prstGeom>
          <a:ln w="19685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7667061" y="317982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p⁺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4983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PULL TERM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4983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similar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94983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pull closer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5144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Negative</a:t>
            </a:r>
          </a:p>
        </p:txBody>
      </p:sp>
      <p:sp>
        <p:nvSpPr>
          <p:cNvPr id="24" name="Oval 23"/>
          <p:cNvSpPr/>
          <p:nvPr/>
        </p:nvSpPr>
        <p:spPr>
          <a:xfrm>
            <a:off x="8585100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88870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26" name="Isosceles Triangle 25"/>
          <p:cNvSpPr/>
          <p:nvPr/>
        </p:nvSpPr>
        <p:spPr>
          <a:xfrm>
            <a:off x="9179625" y="3763259"/>
            <a:ext cx="307604" cy="307604"/>
          </a:xfrm>
          <a:prstGeom prst="triangl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8717688" y="3711321"/>
            <a:ext cx="615739" cy="205740"/>
          </a:xfrm>
          <a:prstGeom prst="line">
            <a:avLst/>
          </a:prstGeom>
          <a:ln w="12700">
            <a:solidFill>
              <a:srgbClr val="5560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200839" y="4139946"/>
            <a:ext cx="503834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n⁻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45144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PUSH TERM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5144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far away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45144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weak push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95306" y="2836926"/>
            <a:ext cx="1431950" cy="2571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0F1E3D"/>
                </a:solidFill>
                <a:latin typeface="맑은 고딕"/>
                <a:ea typeface="맑은 고딕"/>
              </a:rPr>
              <a:t>False negative risk</a:t>
            </a:r>
          </a:p>
        </p:txBody>
      </p:sp>
      <p:sp>
        <p:nvSpPr>
          <p:cNvPr id="33" name="Oval 32"/>
          <p:cNvSpPr/>
          <p:nvPr/>
        </p:nvSpPr>
        <p:spPr>
          <a:xfrm>
            <a:off x="10335262" y="3578733"/>
            <a:ext cx="265176" cy="265176"/>
          </a:xfrm>
          <a:prstGeom prst="ellipse">
            <a:avLst/>
          </a:prstGeom>
          <a:solidFill>
            <a:srgbClr val="16181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139031" y="3917061"/>
            <a:ext cx="371246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16181D"/>
                </a:solidFill>
                <a:latin typeface="Cambria Math"/>
                <a:ea typeface="Cambria Math"/>
              </a:rPr>
              <a:t>q</a:t>
            </a:r>
          </a:p>
        </p:txBody>
      </p:sp>
      <p:sp>
        <p:nvSpPr>
          <p:cNvPr id="35" name="Oval 34"/>
          <p:cNvSpPr/>
          <p:nvPr/>
        </p:nvSpPr>
        <p:spPr>
          <a:xfrm>
            <a:off x="10724010" y="3449346"/>
            <a:ext cx="318211" cy="318211"/>
          </a:xfrm>
          <a:prstGeom prst="ellipse">
            <a:avLst/>
          </a:prstGeom>
          <a:solidFill>
            <a:srgbClr val="C5CBD6"/>
          </a:solidFill>
          <a:ln w="13970">
            <a:solidFill>
              <a:srgbClr val="1618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6" name="Connector 35"/>
          <p:cNvCxnSpPr/>
          <p:nvPr/>
        </p:nvCxnSpPr>
        <p:spPr>
          <a:xfrm flipV="1">
            <a:off x="10467850" y="3608451"/>
            <a:ext cx="415265" cy="102870"/>
          </a:xfrm>
          <a:prstGeom prst="line">
            <a:avLst/>
          </a:prstGeom>
          <a:ln w="20320">
            <a:solidFill>
              <a:srgbClr val="0F1E3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11052828" y="3351275"/>
            <a:ext cx="530352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80" b="1">
                <a:solidFill>
                  <a:srgbClr val="0F1E3D"/>
                </a:solidFill>
                <a:latin typeface="Cambria Math"/>
                <a:ea typeface="Cambria Math"/>
              </a:rPr>
              <a:t>h⁻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95306" y="4620006"/>
            <a:ext cx="1431950" cy="2057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50" b="1">
                <a:solidFill>
                  <a:srgbClr val="0F1E3D"/>
                </a:solidFill>
                <a:latin typeface="Consolas"/>
                <a:ea typeface="Consolas"/>
              </a:rPr>
              <a:t>EXCLUDED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95306" y="4877181"/>
            <a:ext cx="1431950" cy="2400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20" b="1">
                <a:solidFill>
                  <a:srgbClr val="16181D"/>
                </a:solidFill>
                <a:latin typeface="맑은 고딕"/>
                <a:ea typeface="맑은 고딕"/>
              </a:rPr>
              <a:t>too close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95306" y="5391531"/>
            <a:ext cx="1431950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500" b="1">
                <a:solidFill>
                  <a:srgbClr val="16181D"/>
                </a:solidFill>
                <a:latin typeface="맑은 고딕"/>
                <a:ea typeface="맑은 고딕"/>
              </a:rPr>
              <a:t>protect cluster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6053328"/>
            <a:ext cx="530352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Negative similarity filter: potential false-negative exclusion preserves cluster compactness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Unknown 대조 학습: NeCo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NeCo: 결함 위치에 민감한 patch-neighbor 유사도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261872"/>
            <a:ext cx="1069848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핵심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patch 간 유사도 matrix는 결함의 공간 구조를 인코딩 → 결함 위치가 다르면 matrix가 완전히 다름 (CE 큼)</a:t>
            </a:r>
          </a:p>
          <a:p>
            <a:pPr marL="274320" indent="-274320">
              <a:spcAft>
                <a:spcPts val="3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대비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— 단순 local 평균(grid)은 둔감, NeCo는 이 민감한 matrix를 같은 wafer 두 view에서 일치시켜 국소 구조 보존</a:t>
            </a:r>
          </a:p>
        </p:txBody>
      </p:sp>
      <p:sp>
        <p:nvSpPr>
          <p:cNvPr id="6" name="Rectangle 5"/>
          <p:cNvSpPr/>
          <p:nvPr/>
        </p:nvSpPr>
        <p:spPr>
          <a:xfrm>
            <a:off x="79567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afer_center_scr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938528"/>
            <a:ext cx="1188720" cy="118872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12140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7744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3347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2140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37744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63347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12140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37744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63347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5409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2783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0156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7530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4904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2277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09651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70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43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05409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2783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40156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57530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904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92277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09651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27024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443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05409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22783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40156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57530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374904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922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09651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27024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43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305409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2783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340156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57530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749040" y="2514600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922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096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270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444398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305409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322783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340156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3575304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74904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922776" y="2688336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096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4270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4443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05409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322783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340156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357530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3749040" y="286207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392277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096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4270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4443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305409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322783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340156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357530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3922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09651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270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43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305409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322783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340156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357530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374904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3922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4096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427024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443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305409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322783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340156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357530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374904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3922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096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4270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4398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A: 중앙 → p5 활성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681728" y="2441448"/>
            <a:ext cx="41148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96A0AD"/>
                </a:solidFill>
                <a:latin typeface="맑은 고딕"/>
                <a:ea typeface="맑은 고딕"/>
              </a:rPr>
              <a:t>≠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93352" y="1929528"/>
            <a:ext cx="1206720" cy="1206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9" name="Picture 118" descr="wafer_edge_top_scrat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02352" y="1938528"/>
            <a:ext cx="1188720" cy="1188720"/>
          </a:xfrm>
          <a:prstGeom prst="rect">
            <a:avLst/>
          </a:prstGeom>
        </p:spPr>
      </p:pic>
      <p:sp>
        <p:nvSpPr>
          <p:cNvPr id="120" name="Rectangle 119"/>
          <p:cNvSpPr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419088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solidFill>
            <a:srgbClr val="96A0A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6675120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931152" y="2103120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419088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675120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931152" y="2359152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6419088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75120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solidFill>
            <a:srgbClr val="F1F3F6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931152" y="2615184"/>
            <a:ext cx="256032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351776" y="199339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7525512" y="1993392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769924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787298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8046720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Rectangle 143"/>
          <p:cNvSpPr/>
          <p:nvPr/>
        </p:nvSpPr>
        <p:spPr>
          <a:xfrm>
            <a:off x="8220456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8394192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Rectangle 145"/>
          <p:cNvSpPr/>
          <p:nvPr/>
        </p:nvSpPr>
        <p:spPr>
          <a:xfrm>
            <a:off x="8567928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8741664" y="199339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7351776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7525512" y="216712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7699248" y="2167128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ectangle 151"/>
          <p:cNvSpPr/>
          <p:nvPr/>
        </p:nvSpPr>
        <p:spPr>
          <a:xfrm>
            <a:off x="787298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Rectangle 152"/>
          <p:cNvSpPr/>
          <p:nvPr/>
        </p:nvSpPr>
        <p:spPr>
          <a:xfrm>
            <a:off x="8046720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8220456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Rectangle 154"/>
          <p:cNvSpPr/>
          <p:nvPr/>
        </p:nvSpPr>
        <p:spPr>
          <a:xfrm>
            <a:off x="8394192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ectangle 155"/>
          <p:cNvSpPr/>
          <p:nvPr/>
        </p:nvSpPr>
        <p:spPr>
          <a:xfrm>
            <a:off x="8567928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ectangle 156"/>
          <p:cNvSpPr/>
          <p:nvPr/>
        </p:nvSpPr>
        <p:spPr>
          <a:xfrm>
            <a:off x="8741664" y="216712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735177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Rectangle 158"/>
          <p:cNvSpPr/>
          <p:nvPr/>
        </p:nvSpPr>
        <p:spPr>
          <a:xfrm>
            <a:off x="7525512" y="2340864"/>
            <a:ext cx="173736" cy="173736"/>
          </a:xfrm>
          <a:prstGeom prst="rect">
            <a:avLst/>
          </a:prstGeom>
          <a:solidFill>
            <a:srgbClr val="96A0AD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Rectangle 159"/>
          <p:cNvSpPr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699248" y="234086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787298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Rectangle 162"/>
          <p:cNvSpPr/>
          <p:nvPr/>
        </p:nvSpPr>
        <p:spPr>
          <a:xfrm>
            <a:off x="8046720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Rectangle 163"/>
          <p:cNvSpPr/>
          <p:nvPr/>
        </p:nvSpPr>
        <p:spPr>
          <a:xfrm>
            <a:off x="8220456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8394192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8567928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Rectangle 166"/>
          <p:cNvSpPr/>
          <p:nvPr/>
        </p:nvSpPr>
        <p:spPr>
          <a:xfrm>
            <a:off x="8741664" y="234086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Rectangle 167"/>
          <p:cNvSpPr/>
          <p:nvPr/>
        </p:nvSpPr>
        <p:spPr>
          <a:xfrm>
            <a:off x="735177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752551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769924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7872984" y="251460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73" name="Rectangle 172"/>
          <p:cNvSpPr/>
          <p:nvPr/>
        </p:nvSpPr>
        <p:spPr>
          <a:xfrm>
            <a:off x="8046720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8220456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Rectangle 174"/>
          <p:cNvSpPr/>
          <p:nvPr/>
        </p:nvSpPr>
        <p:spPr>
          <a:xfrm>
            <a:off x="8394192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Rectangle 175"/>
          <p:cNvSpPr/>
          <p:nvPr/>
        </p:nvSpPr>
        <p:spPr>
          <a:xfrm>
            <a:off x="8567928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Rectangle 176"/>
          <p:cNvSpPr/>
          <p:nvPr/>
        </p:nvSpPr>
        <p:spPr>
          <a:xfrm>
            <a:off x="8741664" y="251460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735177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Rectangle 178"/>
          <p:cNvSpPr/>
          <p:nvPr/>
        </p:nvSpPr>
        <p:spPr>
          <a:xfrm>
            <a:off x="752551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Rectangle 179"/>
          <p:cNvSpPr/>
          <p:nvPr/>
        </p:nvSpPr>
        <p:spPr>
          <a:xfrm>
            <a:off x="769924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787298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Rectangle 181"/>
          <p:cNvSpPr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8046720" y="2688336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8220456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Rectangle 184"/>
          <p:cNvSpPr/>
          <p:nvPr/>
        </p:nvSpPr>
        <p:spPr>
          <a:xfrm>
            <a:off x="8394192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Rectangle 185"/>
          <p:cNvSpPr/>
          <p:nvPr/>
        </p:nvSpPr>
        <p:spPr>
          <a:xfrm>
            <a:off x="8567928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8741664" y="2688336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Rectangle 187"/>
          <p:cNvSpPr/>
          <p:nvPr/>
        </p:nvSpPr>
        <p:spPr>
          <a:xfrm>
            <a:off x="7351776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Rectangle 188"/>
          <p:cNvSpPr/>
          <p:nvPr/>
        </p:nvSpPr>
        <p:spPr>
          <a:xfrm>
            <a:off x="752551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769924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Rectangle 190"/>
          <p:cNvSpPr/>
          <p:nvPr/>
        </p:nvSpPr>
        <p:spPr>
          <a:xfrm>
            <a:off x="787298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Rectangle 191"/>
          <p:cNvSpPr/>
          <p:nvPr/>
        </p:nvSpPr>
        <p:spPr>
          <a:xfrm>
            <a:off x="8046720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Rectangle 192"/>
          <p:cNvSpPr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TextBox 193"/>
          <p:cNvSpPr txBox="1"/>
          <p:nvPr/>
        </p:nvSpPr>
        <p:spPr>
          <a:xfrm>
            <a:off x="8220456" y="2862072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195" name="Rectangle 194"/>
          <p:cNvSpPr/>
          <p:nvPr/>
        </p:nvSpPr>
        <p:spPr>
          <a:xfrm>
            <a:off x="8394192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Rectangle 195"/>
          <p:cNvSpPr/>
          <p:nvPr/>
        </p:nvSpPr>
        <p:spPr>
          <a:xfrm>
            <a:off x="8567928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Rectangle 196"/>
          <p:cNvSpPr/>
          <p:nvPr/>
        </p:nvSpPr>
        <p:spPr>
          <a:xfrm>
            <a:off x="8741664" y="2862072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735177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Rectangle 198"/>
          <p:cNvSpPr/>
          <p:nvPr/>
        </p:nvSpPr>
        <p:spPr>
          <a:xfrm>
            <a:off x="7525512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Rectangle 199"/>
          <p:cNvSpPr/>
          <p:nvPr/>
        </p:nvSpPr>
        <p:spPr>
          <a:xfrm>
            <a:off x="769924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Rectangle 200"/>
          <p:cNvSpPr/>
          <p:nvPr/>
        </p:nvSpPr>
        <p:spPr>
          <a:xfrm>
            <a:off x="787298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Rectangle 201"/>
          <p:cNvSpPr/>
          <p:nvPr/>
        </p:nvSpPr>
        <p:spPr>
          <a:xfrm>
            <a:off x="8046720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Rectangle 202"/>
          <p:cNvSpPr/>
          <p:nvPr/>
        </p:nvSpPr>
        <p:spPr>
          <a:xfrm>
            <a:off x="8220456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Rectangle 203"/>
          <p:cNvSpPr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8394192" y="3035808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8567928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Rectangle 206"/>
          <p:cNvSpPr/>
          <p:nvPr/>
        </p:nvSpPr>
        <p:spPr>
          <a:xfrm>
            <a:off x="8741664" y="3035808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735177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Rectangle 208"/>
          <p:cNvSpPr/>
          <p:nvPr/>
        </p:nvSpPr>
        <p:spPr>
          <a:xfrm>
            <a:off x="752551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Rectangle 209"/>
          <p:cNvSpPr/>
          <p:nvPr/>
        </p:nvSpPr>
        <p:spPr>
          <a:xfrm>
            <a:off x="7699248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Rectangle 210"/>
          <p:cNvSpPr/>
          <p:nvPr/>
        </p:nvSpPr>
        <p:spPr>
          <a:xfrm>
            <a:off x="787298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Rectangle 211"/>
          <p:cNvSpPr/>
          <p:nvPr/>
        </p:nvSpPr>
        <p:spPr>
          <a:xfrm>
            <a:off x="8046720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Rectangle 212"/>
          <p:cNvSpPr/>
          <p:nvPr/>
        </p:nvSpPr>
        <p:spPr>
          <a:xfrm>
            <a:off x="8220456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Rectangle 213"/>
          <p:cNvSpPr/>
          <p:nvPr/>
        </p:nvSpPr>
        <p:spPr>
          <a:xfrm>
            <a:off x="8394192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Rectangle 214"/>
          <p:cNvSpPr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TextBox 215"/>
          <p:cNvSpPr txBox="1"/>
          <p:nvPr/>
        </p:nvSpPr>
        <p:spPr>
          <a:xfrm>
            <a:off x="8567928" y="3209544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17" name="Rectangle 216"/>
          <p:cNvSpPr/>
          <p:nvPr/>
        </p:nvSpPr>
        <p:spPr>
          <a:xfrm>
            <a:off x="8741664" y="3209544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Rectangle 217"/>
          <p:cNvSpPr/>
          <p:nvPr/>
        </p:nvSpPr>
        <p:spPr>
          <a:xfrm>
            <a:off x="735177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Rectangle 218"/>
          <p:cNvSpPr/>
          <p:nvPr/>
        </p:nvSpPr>
        <p:spPr>
          <a:xfrm>
            <a:off x="752551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Rectangle 219"/>
          <p:cNvSpPr/>
          <p:nvPr/>
        </p:nvSpPr>
        <p:spPr>
          <a:xfrm>
            <a:off x="769924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Rectangle 220"/>
          <p:cNvSpPr/>
          <p:nvPr/>
        </p:nvSpPr>
        <p:spPr>
          <a:xfrm>
            <a:off x="7872984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Rectangle 221"/>
          <p:cNvSpPr/>
          <p:nvPr/>
        </p:nvSpPr>
        <p:spPr>
          <a:xfrm>
            <a:off x="8046720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Rectangle 222"/>
          <p:cNvSpPr/>
          <p:nvPr/>
        </p:nvSpPr>
        <p:spPr>
          <a:xfrm>
            <a:off x="8220456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Rectangle 223"/>
          <p:cNvSpPr/>
          <p:nvPr/>
        </p:nvSpPr>
        <p:spPr>
          <a:xfrm>
            <a:off x="8394192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Rectangle 224"/>
          <p:cNvSpPr/>
          <p:nvPr/>
        </p:nvSpPr>
        <p:spPr>
          <a:xfrm>
            <a:off x="8567928" y="3383280"/>
            <a:ext cx="173736" cy="173736"/>
          </a:xfrm>
          <a:prstGeom prst="rect">
            <a:avLst/>
          </a:prstGeom>
          <a:solidFill>
            <a:srgbClr val="FFFFFF"/>
          </a:solidFill>
          <a:ln w="5080">
            <a:solidFill>
              <a:srgbClr val="E3E7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Rectangle 225"/>
          <p:cNvSpPr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solidFill>
            <a:srgbClr val="ECEFF3"/>
          </a:solidFill>
          <a:ln w="508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8741664" y="3383280"/>
            <a:ext cx="173736" cy="1737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−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5102352" y="3236976"/>
            <a:ext cx="35661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결함 B: 상단 → p2 활성</a:t>
            </a:r>
          </a:p>
        </p:txBody>
      </p:sp>
      <p:sp>
        <p:nvSpPr>
          <p:cNvPr id="229" name="TextBox 228"/>
          <p:cNvSpPr txBox="1"/>
          <p:nvPr/>
        </p:nvSpPr>
        <p:spPr>
          <a:xfrm>
            <a:off x="9006840" y="1956816"/>
            <a:ext cx="24688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9×9 같은 위치 element (A vs B)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9006840" y="2212848"/>
            <a:ext cx="2468880" cy="15179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[p5,p4]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[p5,p6] .85 vs .05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[p2,p1] .05 vs .85 → .80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[p2,p3] .05 vs .85 → .80</a:t>
            </a:r>
          </a:p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… 활성쌍 8칸, 나머지 0</a:t>
            </a:r>
          </a:p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합 8×.80 = 6.4 (큼)</a:t>
            </a:r>
          </a:p>
        </p:txBody>
      </p:sp>
      <p:sp>
        <p:nvSpPr>
          <p:cNvPr id="231" name="Rectangle 230"/>
          <p:cNvSpPr/>
          <p:nvPr/>
        </p:nvSpPr>
        <p:spPr>
          <a:xfrm>
            <a:off x="777240" y="3986784"/>
            <a:ext cx="106070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960120" y="4096512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local grid (patch별 활성, 관계 없음)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4416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234" name="Rectangle 233"/>
          <p:cNvSpPr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78308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36" name="Rectangle 235"/>
          <p:cNvSpPr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TextBox 236"/>
          <p:cNvSpPr txBox="1"/>
          <p:nvPr/>
        </p:nvSpPr>
        <p:spPr>
          <a:xfrm>
            <a:off x="205740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38" name="Rectangle 237"/>
          <p:cNvSpPr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TextBox 238"/>
          <p:cNvSpPr txBox="1"/>
          <p:nvPr/>
        </p:nvSpPr>
        <p:spPr>
          <a:xfrm>
            <a:off x="23317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40" name="Rectangle 239"/>
          <p:cNvSpPr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78308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42" name="Rectangle 241"/>
          <p:cNvSpPr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TextBox 242"/>
          <p:cNvSpPr txBox="1"/>
          <p:nvPr/>
        </p:nvSpPr>
        <p:spPr>
          <a:xfrm>
            <a:off x="205740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44" name="Rectangle 243"/>
          <p:cNvSpPr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TextBox 244"/>
          <p:cNvSpPr txBox="1"/>
          <p:nvPr/>
        </p:nvSpPr>
        <p:spPr>
          <a:xfrm>
            <a:off x="23317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46" name="Rectangle 245"/>
          <p:cNvSpPr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TextBox 246"/>
          <p:cNvSpPr txBox="1"/>
          <p:nvPr/>
        </p:nvSpPr>
        <p:spPr>
          <a:xfrm>
            <a:off x="178308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48" name="Rectangle 247"/>
          <p:cNvSpPr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TextBox 248"/>
          <p:cNvSpPr txBox="1"/>
          <p:nvPr/>
        </p:nvSpPr>
        <p:spPr>
          <a:xfrm>
            <a:off x="205740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50" name="Rectangle 249"/>
          <p:cNvSpPr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TextBox 250"/>
          <p:cNvSpPr txBox="1"/>
          <p:nvPr/>
        </p:nvSpPr>
        <p:spPr>
          <a:xfrm>
            <a:off x="23317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52" name="TextBox 251"/>
          <p:cNvSpPr txBox="1"/>
          <p:nvPr/>
        </p:nvSpPr>
        <p:spPr>
          <a:xfrm>
            <a:off x="3264408" y="4462272"/>
            <a:ext cx="384048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</a:t>
            </a:r>
          </a:p>
        </p:txBody>
      </p:sp>
      <p:sp>
        <p:nvSpPr>
          <p:cNvPr id="253" name="Rectangle 252"/>
          <p:cNvSpPr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370332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</a:t>
            </a:r>
          </a:p>
        </p:txBody>
      </p:sp>
      <p:sp>
        <p:nvSpPr>
          <p:cNvPr id="255" name="Rectangle 254"/>
          <p:cNvSpPr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solidFill>
            <a:srgbClr val="96A0AD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TextBox 255"/>
          <p:cNvSpPr txBox="1"/>
          <p:nvPr/>
        </p:nvSpPr>
        <p:spPr>
          <a:xfrm>
            <a:off x="397764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FFFFFF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257" name="Rectangle 256"/>
          <p:cNvSpPr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TextBox 257"/>
          <p:cNvSpPr txBox="1"/>
          <p:nvPr/>
        </p:nvSpPr>
        <p:spPr>
          <a:xfrm>
            <a:off x="4251960" y="446227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259" name="Rectangle 258"/>
          <p:cNvSpPr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TextBox 259"/>
          <p:cNvSpPr txBox="1"/>
          <p:nvPr/>
        </p:nvSpPr>
        <p:spPr>
          <a:xfrm>
            <a:off x="370332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p4</a:t>
            </a:r>
          </a:p>
        </p:txBody>
      </p:sp>
      <p:sp>
        <p:nvSpPr>
          <p:cNvPr id="261" name="Rectangle 260"/>
          <p:cNvSpPr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TextBox 261"/>
          <p:cNvSpPr txBox="1"/>
          <p:nvPr/>
        </p:nvSpPr>
        <p:spPr>
          <a:xfrm>
            <a:off x="397764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p5</a:t>
            </a:r>
          </a:p>
        </p:txBody>
      </p:sp>
      <p:sp>
        <p:nvSpPr>
          <p:cNvPr id="263" name="Rectangle 262"/>
          <p:cNvSpPr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TextBox 263"/>
          <p:cNvSpPr txBox="1"/>
          <p:nvPr/>
        </p:nvSpPr>
        <p:spPr>
          <a:xfrm>
            <a:off x="4251960" y="473659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p6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370332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p7</a:t>
            </a:r>
          </a:p>
        </p:txBody>
      </p:sp>
      <p:sp>
        <p:nvSpPr>
          <p:cNvPr id="267" name="Rectangle 266"/>
          <p:cNvSpPr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TextBox 267"/>
          <p:cNvSpPr txBox="1"/>
          <p:nvPr/>
        </p:nvSpPr>
        <p:spPr>
          <a:xfrm>
            <a:off x="397764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p8</a:t>
            </a:r>
          </a:p>
        </p:txBody>
      </p:sp>
      <p:sp>
        <p:nvSpPr>
          <p:cNvPr id="269" name="Rectangle 268"/>
          <p:cNvSpPr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solidFill>
            <a:srgbClr val="FFFFFF"/>
          </a:solidFill>
          <a:ln w="635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4251960" y="5010912"/>
            <a:ext cx="27432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p9</a:t>
            </a:r>
          </a:p>
        </p:txBody>
      </p:sp>
      <p:sp>
        <p:nvSpPr>
          <p:cNvPr id="271" name="TextBox 270"/>
          <p:cNvSpPr txBox="1"/>
          <p:nvPr/>
        </p:nvSpPr>
        <p:spPr>
          <a:xfrm>
            <a:off x="5577840" y="4407408"/>
            <a:ext cx="56692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9칸 같은 위치 (A vs B):</a:t>
            </a:r>
          </a:p>
          <a:p>
            <a:pPr algn="l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p2 .05 vs .85 → .80,  p5 .85 vs .05 → .80,  나머지 7칸 → 0</a:t>
            </a:r>
          </a:p>
          <a:p>
            <a:pPr algn="l"/>
            <a:r>
              <a:rPr sz="1100" b="1">
                <a:solidFill>
                  <a:srgbClr val="556075"/>
                </a:solidFill>
                <a:latin typeface="맑은 고딕"/>
                <a:ea typeface="맑은 고딕"/>
              </a:rPr>
              <a:t>합 = 2 × .80 = 1.6 (작음, patch당 1칸 뿐)</a:t>
            </a:r>
          </a:p>
        </p:txBody>
      </p:sp>
      <p:sp>
        <p:nvSpPr>
          <p:cNvPr id="272" name="TextBox 271"/>
          <p:cNvSpPr txBox="1"/>
          <p:nvPr/>
        </p:nvSpPr>
        <p:spPr>
          <a:xfrm>
            <a:off x="960120" y="5504688"/>
            <a:ext cx="1024128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NeCo는 활성 patch당 인접쌍으로 8칸 차이 누적(큼), local grid는 patch당 1칸 2칸 차이(작음) → 관계가 위치 구조에 더 민감 (수치 설명용)</a:t>
            </a:r>
          </a:p>
        </p:txBody>
      </p:sp>
      <p:sp>
        <p:nvSpPr>
          <p:cNvPr id="273" name="TextBox 27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74" name="TextBox 27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P1 | Unknown evidence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생성 평가셋 기반 contrastive recipe ablation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1078992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[생성 데이터 개발 지표] 실전 현업 review와 분리한 모델 개발용 ablation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737360"/>
          <a:ext cx="10899648" cy="39319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0005"/>
                <a:gridCol w="5371489"/>
                <a:gridCol w="1342872"/>
                <a:gridCol w="1175013"/>
                <a:gridCol w="1622637"/>
                <a:gridCol w="917632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 (per class 500, normal 2000)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M1 capture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M2 noise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M3 Completeness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Sil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Global InfoNCE only (baseline)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0.9337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15.78%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0.582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Local DenseCL (LW=0.5)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0.9361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13.87%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0.9502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0.514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MoCo Queue 4096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9.45%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0.9474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0.573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Neg-sim filter 0.72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8.23%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0.9485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+ NeCo 0.2 (5-tool full)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0.6104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(Local DenseCL 제외 4-tool)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6.66%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0.9660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5146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Final recipe + noise threshold τ=0.5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0.9619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49808" y="5833872"/>
            <a:ext cx="10744200" cy="310896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5833872"/>
            <a:ext cx="91440" cy="3108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815584"/>
            <a:ext cx="1037844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Noise 15.78% → 0.00%  /  Capture 0.9337 → 0.9619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P1 | Result +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양산 운영과 모델 검증 단계 구분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472184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Production operation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194560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194560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Processing flow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294376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294376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Production viewer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94192" y="1472184"/>
            <a:ext cx="2971800" cy="338328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94192" y="1472184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Bulk wafer review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11384280" y="1522476"/>
            <a:ext cx="146304" cy="237744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048256"/>
            <a:ext cx="146304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Model validation / deploy waiting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validation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294376" y="2048256"/>
            <a:ext cx="2971800" cy="338328"/>
          </a:xfrm>
          <a:prstGeom prst="roundRect">
            <a:avLst/>
          </a:prstGeom>
          <a:solidFill>
            <a:srgbClr val="F4F6F8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94376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Unknown review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048256"/>
            <a:ext cx="2971800" cy="338328"/>
          </a:xfrm>
          <a:prstGeom prst="roundRect">
            <a:avLst/>
          </a:prstGeom>
          <a:solidFill>
            <a:srgbClr val="E6EAEF"/>
          </a:solidFill>
          <a:ln w="17780">
            <a:solidFill>
              <a:srgbClr val="96A0A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2048256"/>
            <a:ext cx="2971800" cy="3383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GPU server → 2026.9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양산 운영 중 — 처리 구조 + viewer (2025.5~)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DRAM D1a/b/c/d 전제품 분석 파트에서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매일 사용 중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일 2만 wafer 처리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분석 공수 절감과 P3WN 수율 개선 1건을 합산해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정량 산정 기여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를 창출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조회 48매 한계를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대량 조회 viewer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로 확장하고, 검토 방식을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Failbit Map 변환과 검색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 중심으로 재구성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123억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정량 산정 기여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4812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54812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54812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공수 90%↓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54812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검토 시간 절감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2757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2757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2757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수율 +0.02%p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2757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P3WN 1건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63640" y="2633472"/>
            <a:ext cx="5349240" cy="64008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92240" y="2633472"/>
            <a:ext cx="498348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1">
                <a:solidFill>
                  <a:srgbClr val="FFFFFF"/>
                </a:solidFill>
                <a:latin typeface="맑은 고딕"/>
                <a:ea typeface="맑은 고딕"/>
              </a:rPr>
              <a:t>모델 — validation 완료, 서버 배포 준비 단계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63640" y="3273552"/>
            <a:ext cx="5349240" cy="277977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92240" y="3456432"/>
            <a:ext cx="4892040" cy="1536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Known validation 완료(실전 16종/1,500장), Unknown 현업 review 완료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classification model은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2026년 9월 GPU 서버 배포 검증 예정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이며, 서버 성능은 배포 환경에서 별도 검증</a:t>
            </a:r>
          </a:p>
          <a:p>
            <a:pPr marL="274320" indent="-274320">
              <a:lnSpc>
                <a:spcPct val="104000"/>
              </a:lnSpc>
              <a:spcAft>
                <a:spcPts val="400"/>
              </a:spcAft>
            </a:pPr>
            <a:r>
              <a:rPr sz="12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사내 인정: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'25 AI 센터 DS BP Good Challenger 수상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MTC 제안 1등급 확정</a:t>
            </a:r>
            <a:r>
              <a:rPr sz="1250">
                <a:solidFill>
                  <a:srgbClr val="1A1F2E"/>
                </a:solidFill>
                <a:latin typeface="맑은 고딕"/>
                <a:ea typeface="맑은 고딕"/>
              </a:rPr>
              <a:t>,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'26 삼성 논문상 초록 통과</a:t>
            </a:r>
          </a:p>
          <a:p>
            <a:pPr marL="420624" indent="-420624" lvl="1">
              <a:lnSpc>
                <a:spcPct val="104000"/>
              </a:lnSpc>
              <a:spcAft>
                <a:spcPts val="400"/>
              </a:spcAft>
            </a:pPr>
            <a:r>
              <a:rPr sz="1150" b="0">
                <a:solidFill>
                  <a:srgbClr val="6E7B8E"/>
                </a:solidFill>
                <a:latin typeface="맑은 고딕"/>
                <a:ea typeface="맑은 고딕"/>
              </a:rPr>
              <a:t>–  </a:t>
            </a:r>
            <a:r>
              <a:rPr sz="1150">
                <a:solidFill>
                  <a:srgbClr val="4A5666"/>
                </a:solidFill>
                <a:latin typeface="맑은 고딕"/>
                <a:ea typeface="맑은 고딕"/>
              </a:rPr>
              <a:t>Unknown 13→7은 분류 성능 지표가 아니라 현업 후보 검토 결과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92240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492240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validation 완료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Known real data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171688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171688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171688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현업 review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71688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Unknown candidate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51136" y="5212080"/>
            <a:ext cx="1533144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851136" y="5212080"/>
            <a:ext cx="1533144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851136" y="5321808"/>
            <a:ext cx="1533144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2026.09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851136" y="5632704"/>
            <a:ext cx="1533144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GPU 배포 검증 예정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P2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Chip Multi-label
FCM-PM classification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2-combo label 부족 조건에서 single-failure source로 multi-label supervision 구성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발표 구조: 개발배경·문제 → AI 필요성 → 개발내용 → 성과·적용 → 확장·본인기여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2-combo 학습 신호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FCM-PM + val-margin 구성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2-combo GT 부족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FCM-PM·val-margin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bit-F1·FAR·KD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Chip multi-label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single-failure 원천 기반 2-combo 평가셋 구성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1664208"/>
            <a:ext cx="3154680" cy="446227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94360" y="1664208"/>
            <a:ext cx="91440" cy="446227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0392" y="1920240"/>
            <a:ext cx="2651760" cy="4050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Problem</a:t>
            </a:r>
          </a:p>
          <a:p>
            <a:pPr algn="l"/>
            <a:r>
              <a:rPr sz="1380" b="1">
                <a:solidFill>
                  <a:srgbClr val="0F1E3D"/>
                </a:solidFill>
                <a:latin typeface="맑은 고딕"/>
                <a:ea typeface="맑은 고딕"/>
              </a:rPr>
              <a:t>real 2-combo GT 부족
limited supervision / validation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Source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single-failure source만 보유
직접적인 2-combo supervision 없음</a:t>
            </a:r>
          </a:p>
          <a:p>
            <a:pPr algn="l"/>
            <a:r>
              <a:rPr sz="400">
                <a:solidFill>
                  <a:srgbClr val="FFFFFF"/>
                </a:solidFill>
                <a:latin typeface="맑은 고딕"/>
                <a:ea typeface="맑은 고딕"/>
              </a:rPr>
              <a:t> </a:t>
            </a:r>
          </a:p>
          <a:p>
            <a:pPr algn="l"/>
            <a:r>
              <a:rPr sz="1500" b="1">
                <a:solidFill>
                  <a:srgbClr val="0F1E3D"/>
                </a:solidFill>
                <a:latin typeface="맑은 고딕"/>
                <a:ea typeface="맑은 고딕"/>
              </a:rPr>
              <a:t>Eval</a:t>
            </a:r>
          </a:p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3,850-chip benchmark
2-combo/negative tail 포함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4041648" y="1664208"/>
            <a:ext cx="740664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041648" y="1664208"/>
            <a:ext cx="91440" cy="19019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61104" y="1810512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Source bank: single-failure samples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61104" y="2103120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train split 이후 train source 안에서만 synthetic combination을 생성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8056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hip_eval_bank_boundary_selec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36592" y="2414016"/>
            <a:ext cx="768096" cy="7680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51713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ip_eval_fork_select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414016"/>
            <a:ext cx="768096" cy="76809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07161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58952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chip_eval_scratch_select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2414016"/>
            <a:ext cx="768096" cy="7680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62609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0" y="2359152"/>
            <a:ext cx="128016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hip_eval_scratch_rot_select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00032" y="2414016"/>
            <a:ext cx="768096" cy="76809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80576" y="3209544"/>
            <a:ext cx="1207008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24" name="Down Arrow 23"/>
          <p:cNvSpPr/>
          <p:nvPr/>
        </p:nvSpPr>
        <p:spPr>
          <a:xfrm>
            <a:off x="6739128" y="3621024"/>
            <a:ext cx="1463040" cy="256032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57616" y="3611880"/>
            <a:ext cx="24688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evaluation requires combo classes and negative tail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41648" y="3968496"/>
            <a:ext cx="7406640" cy="215798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41648" y="3968496"/>
            <a:ext cx="91440" cy="2157984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61104" y="4114800"/>
            <a:ext cx="6967728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40" b="1">
                <a:solidFill>
                  <a:srgbClr val="0F1E3D"/>
                </a:solidFill>
                <a:latin typeface="맑은 고딕"/>
                <a:ea typeface="맑은 고딕"/>
              </a:rPr>
              <a:t>Eval target: 3,850-chip controlled benchmark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61104" y="4407408"/>
            <a:ext cx="696772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single 4 + 2-combo 6 + Normal/Invalid/OOD negative tail.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120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chip_combo_bb_fork_select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17136" y="4773168"/>
            <a:ext cx="896112" cy="896112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425696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bb+fk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696712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chip_combo_bb_scratch_select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24728" y="4773168"/>
            <a:ext cx="896112" cy="896112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733288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bb+sc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004304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7" name="Picture 36" descr="chip_combo_fork_scratch_rot_select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32320" y="4773168"/>
            <a:ext cx="896112" cy="896112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040880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fk+sr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11896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0" name="Picture 39" descr="chip_eval_normal_select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39912" y="4773168"/>
            <a:ext cx="896112" cy="896112"/>
          </a:xfrm>
          <a:prstGeom prst="rect">
            <a:avLst/>
          </a:prstGeom>
        </p:spPr>
      </p:pic>
      <p:sp>
        <p:nvSpPr>
          <p:cNvPr id="41" name="TextBox 40"/>
          <p:cNvSpPr txBox="1"/>
          <p:nvPr/>
        </p:nvSpPr>
        <p:spPr>
          <a:xfrm>
            <a:off x="8348472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619488" y="4718304"/>
            <a:ext cx="1152144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3" name="Picture 42" descr="chip_eval_invalid_select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747504" y="4773168"/>
            <a:ext cx="896112" cy="896112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9656064" y="5696712"/>
            <a:ext cx="1078992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invalid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50392" y="5321808"/>
            <a:ext cx="2642616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5376672"/>
            <a:ext cx="23317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Design implication: distribution gap requires probability modeling and reject logic.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FCM-PM 원리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FCM-PM: coverage 보존과 loss masking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89888"/>
            <a:ext cx="107442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20">
                <a:solidFill>
                  <a:srgbClr val="1A1F2E"/>
                </a:solidFill>
                <a:latin typeface="맑은 고딕"/>
                <a:ea typeface="맑은 고딕"/>
              </a:rPr>
              <a:t>2-combo GT가 부족한 조건에서 FCM은 failure coverage를 보존하고, Pair Mask는 합성 배경 loss를 분리해 FAR tail을 낮춤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609344"/>
            <a:ext cx="107442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Mixup은 0~7 grade 의미를 흐리고, diffusion은 label 및 compute 부담이 큼. 그래서 원값을 보존하는 CutMix 계열에서 FCM-PM을 설계 (자문: 연세대학교 인공지능학과 박은병 교수)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" y="1810512"/>
            <a:ext cx="10771632" cy="2103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fcm_pm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1345" y="1920240"/>
            <a:ext cx="10155405" cy="1883664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369551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69551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1  (A∪B)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4343" y="1956816"/>
            <a:ext cx="1694200" cy="38404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34343" y="2039112"/>
            <a:ext cx="16942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FCM mixed view 2  (A∪B)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3232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Normal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2-combo pos. prob 낮음
FAR 낮지만 recall 약함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97680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498848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98848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0">
                <a:solidFill>
                  <a:srgbClr val="1A1F2E"/>
                </a:solidFill>
                <a:latin typeface="맑은 고딕"/>
                <a:ea typeface="맑은 고딕"/>
              </a:rPr>
              <a:t>pos. prob 상승
FAR tail 동반 상승 가능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7690104" y="4517135"/>
            <a:ext cx="182880" cy="182880"/>
          </a:xfrm>
          <a:prstGeom prst="rightArrow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82128" y="4133087"/>
            <a:ext cx="338328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8" y="4133087"/>
            <a:ext cx="82296" cy="96012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83296" y="4242815"/>
            <a:ext cx="301752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83296" y="4526279"/>
            <a:ext cx="30175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40" b="1">
                <a:solidFill>
                  <a:srgbClr val="0F1E3D"/>
                </a:solidFill>
                <a:latin typeface="맑은 고딕"/>
                <a:ea typeface="맑은 고딕"/>
              </a:rPr>
              <a:t>2-combo signal 유지
pseudo-background loss 차단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32688" y="5266944"/>
            <a:ext cx="10259568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32688" y="5266944"/>
            <a:ext cx="91440" cy="694944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15568" y="5376672"/>
            <a:ext cx="1426464" cy="1645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Formula + ablation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542032" y="5321808"/>
            <a:ext cx="84124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FCM mixed views: y_mixed = y_A ∪ y_B  (multi-label target)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views: y_masked ∈ {y_A,y_B}; L_total = L_BCE(mixed)+w·L_BCE(masked)</a:t>
            </a:r>
          </a:p>
          <a:p>
            <a:pPr algn="l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Pair Mask reduces synthetic-background FAR; final result is reported on the validation slide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selection + NB reject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val-margin 선택과 negative-tail 제어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627632"/>
            <a:ext cx="91440" cy="45262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val-margin checkpoint selection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" y="2194560"/>
            <a:ext cx="4700016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Consolas"/>
                <a:ea typeface="Consolas"/>
              </a:rPr>
              <a:t>val_margin = mean(p_positive) - max(p_negative)</a:t>
            </a:r>
          </a:p>
        </p:txBody>
      </p:sp>
      <p:sp>
        <p:nvSpPr>
          <p:cNvPr id="9" name="Rectangle 8"/>
          <p:cNvSpPr/>
          <p:nvPr/>
        </p:nvSpPr>
        <p:spPr>
          <a:xfrm>
            <a:off x="1234440" y="2532888"/>
            <a:ext cx="182880" cy="18288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72184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478024" y="2532888"/>
            <a:ext cx="182880" cy="18288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15768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val-margin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21608" y="2532888"/>
            <a:ext cx="182880" cy="182880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959352" y="2500884"/>
            <a:ext cx="932688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F2E"/>
                </a:solidFill>
                <a:latin typeface="맑은 고딕"/>
                <a:ea typeface="맑은 고딕"/>
              </a:rPr>
              <a:t>eval-F1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252728" y="3949843"/>
            <a:ext cx="146304" cy="430133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453896" y="4195633"/>
            <a:ext cx="146304" cy="184343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655064" y="4175151"/>
            <a:ext cx="146304" cy="204825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34440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65960" y="3847430"/>
            <a:ext cx="146304" cy="532546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167128" y="4103462"/>
            <a:ext cx="146304" cy="27651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368296" y="4072738"/>
            <a:ext cx="146304" cy="307238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947672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679192" y="3724535"/>
            <a:ext cx="146304" cy="655441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880360" y="3980567"/>
            <a:ext cx="146304" cy="39940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081528" y="3929360"/>
            <a:ext cx="146304" cy="450616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660904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92424" y="3499226"/>
            <a:ext cx="146304" cy="880750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593592" y="3826947"/>
            <a:ext cx="146304" cy="553029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94760" y="3796224"/>
            <a:ext cx="146304" cy="583752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374136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05656" y="3642604"/>
            <a:ext cx="146304" cy="737372"/>
          </a:xfrm>
          <a:prstGeom prst="rect">
            <a:avLst/>
          </a:prstGeom>
          <a:solidFill>
            <a:srgbClr val="B8C2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306824" y="3540192"/>
            <a:ext cx="146304" cy="839784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07992" y="3519709"/>
            <a:ext cx="146304" cy="860267"/>
          </a:xfrm>
          <a:prstGeom prst="rect">
            <a:avLst/>
          </a:prstGeom>
          <a:solidFill>
            <a:srgbClr val="78B8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087368" y="4443984"/>
            <a:ext cx="530352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 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179576" y="4379976"/>
            <a:ext cx="3730752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72384" y="2743200"/>
            <a:ext cx="78638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val-F1 max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41064" y="2779776"/>
            <a:ext cx="877824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margin max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74720" y="3017520"/>
            <a:ext cx="1499616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margin 선택 시 eval 향상 (illustrative)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6696" y="5029200"/>
            <a:ext cx="4590288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post-hoc check: correlation with held-out eval bit_F1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60120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0120" y="5230368"/>
            <a:ext cx="64008" cy="731520"/>
          </a:xfrm>
          <a:prstGeom prst="rect">
            <a:avLst/>
          </a:prstGeom>
          <a:solidFill>
            <a:srgbClr val="7A85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88136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val_f1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88136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-0.10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295144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7A8596"/>
                </a:solidFill>
                <a:latin typeface="맑은 고딕"/>
                <a:ea typeface="맑은 고딕"/>
              </a:rPr>
              <a:t>weak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401568" y="5230368"/>
            <a:ext cx="2212848" cy="731520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401568" y="5230368"/>
            <a:ext cx="64008" cy="731520"/>
          </a:xfrm>
          <a:prstGeom prst="rect">
            <a:avLst/>
          </a:prstGeom>
          <a:solidFill>
            <a:srgbClr val="2F3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529584" y="5303520"/>
            <a:ext cx="100584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val_margin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29584" y="5596128"/>
            <a:ext cx="118872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Spearman +0.56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36592" y="5541264"/>
            <a:ext cx="749808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3A4F"/>
                </a:solidFill>
                <a:latin typeface="맑은 고딕"/>
                <a:ea typeface="맑은 고딕"/>
              </a:rPr>
              <a:t>selected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63640" y="1627632"/>
            <a:ext cx="5212080" cy="4526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63640" y="1627632"/>
            <a:ext cx="91440" cy="4526280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19672" y="1828800"/>
            <a:ext cx="470001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F1E3D"/>
                </a:solidFill>
                <a:latin typeface="맑은 고딕"/>
                <a:ea typeface="맑은 고딕"/>
              </a:rPr>
              <a:t>NB reject: independent bit-likelihood profile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519672" y="2176272"/>
            <a:ext cx="470001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4 output bits independently checked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19672" y="2432304"/>
            <a:ext cx="4700016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band = 99.7% range per bit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556248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629400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single bb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629400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40296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477963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667792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651882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629400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940296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967179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040514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006681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629400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40296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967179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7040514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015642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629400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940296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967179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7040514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6997720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84264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739128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665976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4 bit profile match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165592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238744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known 2-combo bb+sc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38744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49640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8908084" y="3241548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097914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9064081" y="3232404"/>
            <a:ext cx="82296" cy="82296"/>
          </a:xfrm>
          <a:prstGeom prst="ellipse">
            <a:avLst/>
          </a:prstGeom>
          <a:solidFill>
            <a:srgbClr val="2F67F6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238744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549640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576523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649858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624986" y="3543300"/>
            <a:ext cx="82296" cy="82296"/>
          </a:xfrm>
          <a:prstGeom prst="ellipse">
            <a:avLst/>
          </a:prstGeom>
          <a:solidFill>
            <a:srgbClr val="18A97D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238744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549640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890162" y="3863340"/>
            <a:ext cx="394289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907999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9046159" y="3854196"/>
            <a:ext cx="82296" cy="82296"/>
          </a:xfrm>
          <a:prstGeom prst="ellipse">
            <a:avLst/>
          </a:prstGeom>
          <a:solidFill>
            <a:srgbClr val="F5A623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8238744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549640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576523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649858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616025" y="4165092"/>
            <a:ext cx="82296" cy="82296"/>
          </a:xfrm>
          <a:prstGeom prst="ellipse">
            <a:avLst/>
          </a:prstGeom>
          <a:solidFill>
            <a:srgbClr val="D93A5A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293608" y="4535424"/>
            <a:ext cx="1170432" cy="256032"/>
          </a:xfrm>
          <a:prstGeom prst="rect">
            <a:avLst/>
          </a:prstGeom>
          <a:solidFill>
            <a:srgbClr val="E8F5EE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8348472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ACCEPT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8275320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bit likelihoods align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774936" y="2706624"/>
            <a:ext cx="1426464" cy="2267712"/>
          </a:xfrm>
          <a:prstGeom prst="rect">
            <a:avLst/>
          </a:prstGeom>
          <a:solidFill>
            <a:srgbClr val="F7F9FC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848088" y="2761488"/>
            <a:ext cx="12801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tail/OOD on bb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848088" y="3227832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F67F6"/>
                </a:solidFill>
                <a:latin typeface="맑은 고딕"/>
                <a:ea typeface="맑은 고딕"/>
              </a:rPr>
              <a:t>bb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10158984" y="3273552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10696651" y="3241548"/>
            <a:ext cx="331561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10886480" y="3214116"/>
            <a:ext cx="14630" cy="118872"/>
          </a:xfrm>
          <a:prstGeom prst="rect">
            <a:avLst/>
          </a:prstGeom>
          <a:solidFill>
            <a:srgbClr val="2F67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0297058" y="3232404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9848088" y="3538728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8A97D"/>
                </a:solidFill>
                <a:latin typeface="맑은 고딕"/>
                <a:ea typeface="맑은 고딕"/>
              </a:rPr>
              <a:t>fk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10158984" y="3584448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10185867" y="3552444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10259202" y="3525012"/>
            <a:ext cx="14630" cy="118872"/>
          </a:xfrm>
          <a:prstGeom prst="rect">
            <a:avLst/>
          </a:prstGeom>
          <a:solidFill>
            <a:srgbClr val="18A97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10494203" y="3543300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848088" y="3849624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F5A623"/>
                </a:solidFill>
                <a:latin typeface="맑은 고딕"/>
                <a:ea typeface="맑은 고딕"/>
              </a:rPr>
              <a:t>sc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10158984" y="3895344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185867" y="3863340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259202" y="3835908"/>
            <a:ext cx="14630" cy="118872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10476280" y="3854196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9848088" y="4160520"/>
            <a:ext cx="256032" cy="137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D93A5A"/>
                </a:solidFill>
                <a:latin typeface="맑은 고딕"/>
                <a:ea typeface="맑은 고딕"/>
              </a:rPr>
              <a:t>sr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10158984" y="4206240"/>
            <a:ext cx="896112" cy="12700"/>
          </a:xfrm>
          <a:prstGeom prst="rect">
            <a:avLst/>
          </a:prstGeom>
          <a:solidFill>
            <a:srgbClr val="C7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185867" y="4174236"/>
            <a:ext cx="277794" cy="64008"/>
          </a:xfrm>
          <a:prstGeom prst="rect">
            <a:avLst/>
          </a:prstGeom>
          <a:solidFill>
            <a:srgbClr val="E1E7EF"/>
          </a:solidFill>
          <a:ln w="12700">
            <a:solidFill>
              <a:srgbClr val="C7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259202" y="4146804"/>
            <a:ext cx="14630" cy="118872"/>
          </a:xfrm>
          <a:prstGeom prst="rect">
            <a:avLst/>
          </a:prstGeom>
          <a:solidFill>
            <a:srgbClr val="D93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0458358" y="4165092"/>
            <a:ext cx="82296" cy="82296"/>
          </a:xfrm>
          <a:prstGeom prst="ellipse">
            <a:avLst/>
          </a:prstGeom>
          <a:solidFill>
            <a:srgbClr val="CC3328"/>
          </a:solidFill>
          <a:ln w="889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9902952" y="4535424"/>
            <a:ext cx="1170432" cy="256032"/>
          </a:xfrm>
          <a:prstGeom prst="rect">
            <a:avLst/>
          </a:prstGeom>
          <a:solidFill>
            <a:srgbClr val="FAE8E6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957816" y="4562856"/>
            <a:ext cx="1060704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884664" y="4782312"/>
            <a:ext cx="1207008" cy="128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known-profile mismatch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556248" y="5102352"/>
            <a:ext cx="4626864" cy="530352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665976" y="5175504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One known profile matched → ACCEPT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665976" y="5413247"/>
            <a:ext cx="4407408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No profile matched → REJECT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6537960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6537960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665976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NB profile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665976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10 known classes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91272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2BA66B"/>
                </a:solidFill>
                <a:latin typeface="맑은 고딕"/>
                <a:ea typeface="맑은 고딕"/>
              </a:rPr>
              <a:t>4 single + 6 combo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979408" y="5742432"/>
            <a:ext cx="2212848" cy="402336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8979408" y="5742432"/>
            <a:ext cx="64008" cy="402336"/>
          </a:xfrm>
          <a:prstGeom prst="rect">
            <a:avLst/>
          </a:prstGeom>
          <a:solidFill>
            <a:srgbClr val="2BA6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9107424" y="5779008"/>
            <a:ext cx="960120" cy="1463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reject rule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07424" y="5925312"/>
            <a:ext cx="1207008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 profile passes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10332720" y="5861304"/>
            <a:ext cx="713232" cy="1737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reject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P2 | 검증 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Multi-label recipe 성능 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280160"/>
            <a:ext cx="10972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[controlled synthetic validation] 현업 single-failure 원천에서 생성한 평가셋. 단일 대표 모델은 FCM-PM + val_margin selection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1664208"/>
          <a:ext cx="7589520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6156"/>
                <a:gridCol w="3031382"/>
                <a:gridCol w="774440"/>
                <a:gridCol w="685933"/>
                <a:gridCol w="774440"/>
                <a:gridCol w="641679"/>
                <a:gridCol w="130549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#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Recipe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bit_F1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single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2combo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FAR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Role</a:t>
                      </a:r>
                    </a:p>
                  </a:txBody>
                  <a:tcPr anchor="ctr" marL="27432" marR="27432" marT="9144" marB="9144">
                    <a:solidFill>
                      <a:srgbClr val="0F1E3D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BCE + Label Smoothing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0.1093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0.1896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0.0668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99.47%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baseline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Sigmoid Focal Loss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0.7980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0.8724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0.7050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45.72%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loss trial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3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Asymmetric Loss (ASL)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0.6435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0.5379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0.7320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collapse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(random rectangle)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0.9359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0.9566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0.9070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42.05%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signal cut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5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CutMix + Pair Mask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0.9491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0.9728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0.9281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24.62%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FAR reduced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val_f1 selection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0.9652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0.9517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0.15%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selection ablation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FCM-PM + val_margin selection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0.9927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0.9996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0.9871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selected single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main claim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8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vote_majority_bits Ensemble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0.9956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0.9921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champion</a:t>
                      </a:r>
                    </a:p>
                    <a:p>
                      <a:pPr algn="l"/>
                      <a:r>
                        <a:rPr sz="1100" b="1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cost 5x</a:t>
                      </a:r>
                    </a:p>
                  </a:txBody>
                  <a:tcPr anchor="ctr" marL="27432" marR="27432" marT="9144" marB="9144">
                    <a:solidFill>
                      <a:srgbClr val="FFFFFF"/>
                    </a:solidFill>
                  </a:tcPr>
                </a:tc>
              </a:tr>
              <a:tr h="476504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Knowledge Distillation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0.9799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1.0000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0.9638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0.00%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1A1F2E"/>
                          </a:solidFill>
                          <a:latin typeface="맑은 고딕"/>
                          <a:ea typeface="맑은 고딕"/>
                        </a:rPr>
                        <a:t>1x candidate</a:t>
                      </a:r>
                    </a:p>
                  </a:txBody>
                  <a:tcPr anchor="ctr" marL="27432" marR="27432" marT="9144" marB="9144">
                    <a:solidFill>
                      <a:srgbClr val="F2F5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8412480" y="1664208"/>
            <a:ext cx="3310128" cy="3657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0" y="1664208"/>
            <a:ext cx="3127248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Negative-tail and deployment cost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0" y="2212848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0" y="2212848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77072" y="2304288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FCM-PM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29216" y="2304288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NI/OOD FAR 0.00%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77072" y="2670048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0" y="2670048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selected single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3182112"/>
            <a:ext cx="3310128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12480" y="3182112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77072" y="3273552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Ensemble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29216" y="3273552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best-F1 reference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77072" y="3639312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5x cost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01200" y="3639312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upper-bound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0" y="4151376"/>
            <a:ext cx="3310128" cy="841248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12480" y="4151376"/>
            <a:ext cx="82296" cy="84124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77072" y="4242816"/>
            <a:ext cx="1097280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KD student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29216" y="4242816"/>
            <a:ext cx="1700784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single-student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77072" y="4608576"/>
            <a:ext cx="98755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1x cost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0" y="4608576"/>
            <a:ext cx="1810512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deploy candidate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46120" cy="6858000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0" y="384048"/>
            <a:ext cx="786384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AI Specialist 인증 | 3개 과제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713232"/>
            <a:ext cx="457200" cy="279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877824"/>
            <a:ext cx="2331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96A0AD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170432"/>
            <a:ext cx="2331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문제 → 개발 → 성과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212848"/>
            <a:ext cx="146304" cy="150876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075688"/>
            <a:ext cx="24688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0" b="1">
                <a:solidFill>
                  <a:srgbClr val="96A0AD"/>
                </a:solidFill>
                <a:latin typeface="맑은 고딕"/>
                <a:ea typeface="맑은 고딕"/>
              </a:rPr>
              <a:t>P3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3858767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70432" y="3822191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P1  Failbit Map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4142231"/>
            <a:ext cx="118872" cy="118872"/>
          </a:xfrm>
          <a:prstGeom prst="ellipse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" y="4105655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맑은 고딕"/>
                <a:ea typeface="맑은 고딕"/>
              </a:rPr>
              <a:t>P2  Chip multi-label</a:t>
            </a:r>
          </a:p>
        </p:txBody>
      </p:sp>
      <p:sp>
        <p:nvSpPr>
          <p:cNvPr id="14" name="Oval 13"/>
          <p:cNvSpPr/>
          <p:nvPr/>
        </p:nvSpPr>
        <p:spPr>
          <a:xfrm>
            <a:off x="914400" y="4425695"/>
            <a:ext cx="118872" cy="118872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70432" y="4389119"/>
            <a:ext cx="205740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P3  Trend anomaly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0" y="2697480"/>
            <a:ext cx="7863840" cy="1417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3200" b="1">
                <a:solidFill>
                  <a:srgbClr val="0F1E3D"/>
                </a:solidFill>
                <a:latin typeface="맑은 고딕"/>
                <a:ea typeface="맑은 고딕"/>
              </a:rPr>
              <a:t>Trend Anomaly</a:t>
            </a:r>
          </a:p>
          <a:p>
            <a:pPr algn="l"/>
            <a:r>
              <a:rPr sz="1600">
                <a:solidFill>
                  <a:srgbClr val="556075"/>
                </a:solidFill>
                <a:latin typeface="맑은 고딕"/>
                <a:ea typeface="맑은 고딕"/>
              </a:rPr>
              <a:t>real abnormal label 부족으로 막힌 trend anomaly 검증을 episode generator로 구성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0" y="4187952"/>
            <a:ext cx="7863840" cy="74980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657600" y="4187952"/>
            <a:ext cx="82296" cy="7498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58768" y="4187952"/>
            <a:ext cx="1078992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Rationale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983480" y="4187952"/>
            <a:ext cx="6355080" cy="7498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>
                <a:solidFill>
                  <a:srgbClr val="1A1F2E"/>
                </a:solidFill>
                <a:latin typeface="맑은 고딕"/>
                <a:ea typeface="맑은 고딕"/>
              </a:rPr>
              <a:t>발표 구조: 개발배경·문제 → AI 필요성 → 개발내용 → 성과·적용 → 확장·본인기여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501091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501091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5" y="501091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5742432"/>
            <a:ext cx="2331720" cy="621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22960" y="5742432"/>
            <a:ext cx="82296" cy="62179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42415" y="5742432"/>
            <a:ext cx="2057400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7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  <a:p>
            <a:pPr algn="l"/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5138928"/>
            <a:ext cx="10972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Key Result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1728" y="5138928"/>
            <a:ext cx="685800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50" b="1">
                <a:solidFill>
                  <a:srgbClr val="0F1E3D"/>
                </a:solidFill>
                <a:latin typeface="맑은 고딕"/>
                <a:ea typeface="맑은 고딕"/>
              </a:rPr>
              <a:t>평가축: 기술 전문성 / 기술 리더십 / 기술성과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0" y="5541264"/>
            <a:ext cx="2834640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Before → After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0" y="5815584"/>
            <a:ext cx="3611880" cy="658368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82219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Before  </a:t>
            </a:r>
            <a:r>
              <a:rPr sz="1250" b="1">
                <a:solidFill>
                  <a:srgbClr val="1A1F2E"/>
                </a:solidFill>
                <a:latin typeface="맑은 고딕"/>
                <a:ea typeface="맑은 고딕"/>
              </a:rPr>
              <a:t>abnormal label 부족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09560" y="5815584"/>
            <a:ext cx="3611880" cy="658368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909560" y="5815584"/>
            <a:ext cx="82296" cy="65836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74152" y="5815584"/>
            <a:ext cx="3282696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After  </a:t>
            </a:r>
            <a:r>
              <a:rPr sz="1250" b="1">
                <a:solidFill>
                  <a:srgbClr val="0F1E3D"/>
                </a:solidFill>
                <a:latin typeface="맑은 고딕"/>
                <a:ea typeface="맑은 고딕"/>
              </a:rPr>
              <a:t>generator + binary validation 구성</a:t>
            </a:r>
          </a:p>
        </p:txBody>
      </p:sp>
      <p:sp>
        <p:nvSpPr>
          <p:cNvPr id="35" name="Right Arrow 34"/>
          <p:cNvSpPr/>
          <p:nvPr/>
        </p:nvSpPr>
        <p:spPr>
          <a:xfrm>
            <a:off x="7415784" y="6007608"/>
            <a:ext cx="347472" cy="274320"/>
          </a:xfrm>
          <a:prstGeom prst="rightArrow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1363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91363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1363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문제·AI 필요성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05993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abnormal label 부족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56539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56539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6539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개발내용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1169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episode generator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217152" y="1170432"/>
            <a:ext cx="2395728" cy="1133856"/>
          </a:xfrm>
          <a:prstGeom prst="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217152" y="1170432"/>
            <a:ext cx="2395728" cy="91440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17152" y="1426464"/>
            <a:ext cx="2395728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0F1E3D"/>
                </a:solidFill>
                <a:latin typeface="맑은 고딕"/>
                <a:ea typeface="맑은 고딕"/>
              </a:rPr>
              <a:t>성과·확장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363456" y="1920240"/>
            <a:ext cx="210312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benchmark·binary validation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Trend anomaly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episode 생성과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700784"/>
            <a:ext cx="5321808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Core contribution — 판정 경험을 episode generation rule로 코드화하고, binary validation으로 검증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514600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514600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" y="2587752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현장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95728" y="2514600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BBD / Overlay / CD 10년 trend 판정 경험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82112" y="3118104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300984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3300984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374136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Episode generation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395728" y="3300984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Region 5종 + Noise 3종 + Anomaly 5종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3182112" y="3904488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4087368"/>
            <a:ext cx="4983480" cy="621792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4087368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2416" y="4160520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Synthetic benchmark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395728" y="4087368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0">
                <a:solidFill>
                  <a:srgbClr val="1A1F2E"/>
                </a:solidFill>
                <a:latin typeface="맑은 고딕"/>
                <a:ea typeface="맑은 고딕"/>
              </a:rPr>
              <a:t>normal 3,500 + abnormal 3,500 = 7,000개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3182112" y="4690872"/>
            <a:ext cx="219456" cy="201168"/>
          </a:xfrm>
          <a:prstGeom prst="downArrow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873752"/>
            <a:ext cx="4983480" cy="621792"/>
          </a:xfrm>
          <a:prstGeom prst="rect">
            <a:avLst/>
          </a:prstGeom>
          <a:solidFill>
            <a:srgbClr val="E8ECF2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873752"/>
            <a:ext cx="82296" cy="62179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42416" y="4946904"/>
            <a:ext cx="132588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20" b="1">
                <a:solidFill>
                  <a:srgbClr val="0F1E3D"/>
                </a:solidFill>
                <a:latin typeface="맑은 고딕"/>
                <a:ea typeface="맑은 고딕"/>
              </a:rPr>
              <a:t>Binary validation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95728" y="4873752"/>
            <a:ext cx="3227832" cy="62179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40" b="1">
                <a:solidFill>
                  <a:srgbClr val="0F1E3D"/>
                </a:solidFill>
                <a:latin typeface="맑은 고딕"/>
                <a:ea typeface="맑은 고딕"/>
              </a:rPr>
              <a:t>F1 0.9967 / abnormal recall 0.9987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6364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26364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7336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336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domain coding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7336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region/noise/anomaly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4672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4672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5644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Normal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5644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baseline control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15644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fleet-bound stats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829800" y="1874519"/>
            <a:ext cx="1600200" cy="96012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829800" y="1874519"/>
            <a:ext cx="1600200" cy="73152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939528" y="2002535"/>
            <a:ext cx="138074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0F1E3D"/>
                </a:solidFill>
                <a:latin typeface="맑은 고딕"/>
                <a:ea typeface="맑은 고딕"/>
              </a:rPr>
              <a:t>Robust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939528" y="2313431"/>
            <a:ext cx="1380744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1A1F2E"/>
                </a:solidFill>
                <a:latin typeface="맑은 고딕"/>
                <a:ea typeface="맑은 고딕"/>
              </a:rPr>
              <a:t>shortcut check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39528" y="2532887"/>
            <a:ext cx="1380744" cy="164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color/median/NT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63640" y="3054096"/>
            <a:ext cx="5166360" cy="2907792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3054096"/>
            <a:ext cx="5166360" cy="365760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28232" y="3108960"/>
            <a:ext cx="484632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FFFFFF"/>
                </a:solidFill>
                <a:latin typeface="맑은 고딕"/>
                <a:ea typeface="맑은 고딕"/>
              </a:rPr>
              <a:t>Stabilization and shortcut-control stack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6480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6480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58368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LR sweep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3e-5/3e-4 stable
1e-4/1e-3 collapse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54787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54787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52560" y="361188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Label smoothing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052560" y="378561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0.02 sweet spot
FN 4.6 -&gt; 0.8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6480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6480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58368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Stochastic depth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8368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0.05 regularization
FP 3.8 -&gt; 1.4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933688" y="427939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933688" y="427939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052560" y="434340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Focal + EMA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52560" y="451713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gamma=2.0, EMA 0.95
hard-anomaly stability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46480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46480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58368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Normal ratio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hard-normal 3,300
FP/FN balance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933688" y="5010912"/>
            <a:ext cx="2322576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933688" y="5010912"/>
            <a:ext cx="54864" cy="64008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052560" y="5074920"/>
            <a:ext cx="2139696" cy="155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Color + median + NT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052560" y="5248656"/>
            <a:ext cx="2139696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color/smoothing check
val-F1 median, NT 0.9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episode generation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정상 baseline episode와 측정 noise 샘플링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44168"/>
            <a:ext cx="1060704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80">
                <a:solidFill>
                  <a:srgbClr val="1A1F2E"/>
                </a:solidFill>
                <a:latin typeface="맑은 고딕"/>
                <a:ea typeface="맑은 고딕"/>
              </a:rPr>
              <a:t>정상 trend는 region별 baseline 위에 episode density와 noise family를 분리해 샘플링. anomaly injection은 다음 장에서 분리</a:t>
            </a:r>
          </a:p>
        </p:txBody>
      </p:sp>
      <p:sp>
        <p:nvSpPr>
          <p:cNvPr id="6" name="Rectangle 5"/>
          <p:cNvSpPr/>
          <p:nvPr/>
        </p:nvSpPr>
        <p:spPr>
          <a:xfrm>
            <a:off x="713232" y="1664208"/>
            <a:ext cx="10744200" cy="3493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737360"/>
            <a:ext cx="7859816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60" b="1">
                <a:solidFill>
                  <a:srgbClr val="0F1E3D"/>
                </a:solidFill>
                <a:latin typeface="맑은 고딕"/>
                <a:ea typeface="맑은 고딕"/>
              </a:rPr>
              <a:t>(a) Normal baseline  -  sequential episodes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2048256"/>
            <a:ext cx="785981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fleet/reference     blue = sampled observations</a:t>
            </a:r>
          </a:p>
        </p:txBody>
      </p:sp>
      <p:sp>
        <p:nvSpPr>
          <p:cNvPr id="9" name="Rectangle 8"/>
          <p:cNvSpPr/>
          <p:nvPr/>
        </p:nvSpPr>
        <p:spPr>
          <a:xfrm>
            <a:off x="969264" y="2340864"/>
            <a:ext cx="7530632" cy="2651760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33856" y="4777740"/>
            <a:ext cx="7219736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33856" y="2523744"/>
            <a:ext cx="13716" cy="2267712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88720" y="2596896"/>
            <a:ext cx="1422001" cy="2121408"/>
          </a:xfrm>
          <a:prstGeom prst="rect">
            <a:avLst/>
          </a:prstGeom>
          <a:solidFill>
            <a:srgbClr val="EAF0F8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7008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Dense</a:t>
            </a:r>
          </a:p>
        </p:txBody>
      </p:sp>
      <p:sp>
        <p:nvSpPr>
          <p:cNvPr id="14" name="Oval 13"/>
          <p:cNvSpPr/>
          <p:nvPr/>
        </p:nvSpPr>
        <p:spPr>
          <a:xfrm>
            <a:off x="1658525" y="31423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075808" y="30118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929036" y="34999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19402" y="3735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93246" y="361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334527" y="30422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786970" y="42673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403346" y="32628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2045827" y="44685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981621" y="3551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2490818" y="2968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340558" y="33733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429438" y="3087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638942" y="42495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475965" y="3859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2060472" y="35110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944168" y="2995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321446" y="32340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2113397" y="36029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646169" y="3865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823538" y="3390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2258800" y="40546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1556806" y="3847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1915404" y="43477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2175964" y="337052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2495819" y="30878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1778811" y="41513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1439299" y="37050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1295429" y="40033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2220773" y="38449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2362257" y="3413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2132399" y="38804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985183" y="3650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2316957" y="44634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850218" y="39966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1322808" y="40587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2070953" y="45440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2293939" y="33649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1737565" y="40041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1274196" y="36596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1459791" y="30862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20620" y="4169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1416654" y="33346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1740819" y="39168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1356235" y="35227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1937208" y="39280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2271572" y="390993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1601383" y="349112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1700946" y="39287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2443130" y="32443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1474741" y="331998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1545517" y="35561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86381" y="3348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261458" y="34945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713935" y="363210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2437389" y="37479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1895142" y="36799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2094279" y="315387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2371016" y="38315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2340013" y="384822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1742590" y="34758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1384680" y="369553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1333518" y="31663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1515068" y="325497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1677753" y="315254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1256675" y="32446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1382112" y="34428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1287984" y="39195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2017291" y="32421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1568963" y="34277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1707628" y="32181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2308321" y="40304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1833803" y="355509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1362807" y="31988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1680953" y="3350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2283438" y="325416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1285004" y="399114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1910960" y="32403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1929442" y="31287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1910777" y="40168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2326150" y="37533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1579939" y="34457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1463371" y="382401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1916332" y="38306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1664880" y="33116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2261946" y="402282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2312896" y="385588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2270399" y="379408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1537343" y="358664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1696971" y="31305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1291003" y="33642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1577534" y="374988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2441623" y="352092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2417468" y="402572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2439747" y="34438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529565" y="33152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500128" y="329424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2029679" y="39438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2297787" y="355102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2065504" y="38498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1361436" y="372007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2383709" y="383369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2185900" y="354967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1477596" y="38400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1668415" y="38509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2460386" y="34729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1753752" y="39872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2154499" y="326215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1413801" y="32445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2377607" y="385627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1437513" y="387495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471103" y="371698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690583" y="361560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418690" y="311676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2459436" y="370989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1908883" y="39749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2610721" y="2596896"/>
            <a:ext cx="1422001" cy="2121408"/>
          </a:xfrm>
          <a:prstGeom prst="rect">
            <a:avLst/>
          </a:prstGeom>
          <a:solidFill>
            <a:srgbClr val="FBF4E5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629009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Sparse</a:t>
            </a:r>
          </a:p>
        </p:txBody>
      </p:sp>
      <p:sp>
        <p:nvSpPr>
          <p:cNvPr id="132" name="Oval 131"/>
          <p:cNvSpPr/>
          <p:nvPr/>
        </p:nvSpPr>
        <p:spPr>
          <a:xfrm>
            <a:off x="3220823" y="43420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721337" y="324255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2988678" y="33788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2974269" y="38672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2998284" y="3588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2834624" y="44057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3118735" y="36538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3411590" y="43962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3204008" y="44186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3307366" y="37764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3335249" y="292246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3228880" y="31960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2672430" y="422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2887276" y="36793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3592540" y="38174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3083268" y="37539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75989" y="41965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2802777" y="38237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2984417" y="33521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3652585" y="37362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3384010" y="41561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3831472" y="36289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3448813" y="37326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3320776" y="40441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3244470" y="3778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277243" y="44581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3559404" y="435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3869350" y="33233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3381184" y="44611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3738999" y="31195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2822566" y="36271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2759960" y="32918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2760693" y="40054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3667478" y="43841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2864441" y="40831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3509701" y="31292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3793641" y="45015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2947541" y="447649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3175469" y="3702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3930190" y="427669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2873395" y="36094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3325169" y="345569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2920938" y="360507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573219" y="34528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3364922" y="366715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2700792" y="361167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3451508" y="370371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2758051" y="394444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3655264" y="393762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2808221" y="35781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2727441" y="38395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3013502" y="350886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3201611" y="390693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3693201" y="357456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2863471" y="391088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3385423" y="379950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2789241" y="34721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3531156" y="365944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2768116" y="39206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3464534" y="385103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2782154" y="387883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2760940" y="3882170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3240667" y="361557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3363700" y="3914701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3010297" y="3508693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3331298" y="356429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Rectangle 197"/>
          <p:cNvSpPr/>
          <p:nvPr/>
        </p:nvSpPr>
        <p:spPr>
          <a:xfrm>
            <a:off x="4032722" y="2596896"/>
            <a:ext cx="1422001" cy="2121408"/>
          </a:xfrm>
          <a:prstGeom prst="rect">
            <a:avLst/>
          </a:prstGeom>
          <a:solidFill>
            <a:srgbClr val="F7F0E6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4051010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Very sparse</a:t>
            </a:r>
          </a:p>
        </p:txBody>
      </p:sp>
      <p:sp>
        <p:nvSpPr>
          <p:cNvPr id="200" name="Oval 199"/>
          <p:cNvSpPr/>
          <p:nvPr/>
        </p:nvSpPr>
        <p:spPr>
          <a:xfrm>
            <a:off x="4229041" y="31600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4153684" y="32271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4487422" y="33989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5058304" y="33738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4727376" y="31873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4532083" y="29215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4408911" y="291687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5024603" y="38083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4331104" y="36814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5281736" y="3068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5134108" y="36105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4720887" y="428030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4590873" y="37345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4966765" y="4526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4526602" y="42764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4990982" y="39497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4605686" y="34697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4158798" y="3107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4179635" y="41243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4415475" y="3163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4197192" y="4291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5199957" y="40072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4449076" y="3294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4463268" y="3655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4290379" y="36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4425233" y="449194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5330187" y="3801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4401254" y="44984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4484304" y="34847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4090778" y="35264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4694916" y="37280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4345804" y="37313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4095730" y="333096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4203913" y="35562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4142569" y="29287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4477538" y="32787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4836441" y="377201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5046877" y="39856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5002805" y="43543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4586319" y="3434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5345630" y="31400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5013218" y="39617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4154646" y="368398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5205612" y="36134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5009719" y="3676157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4273006" y="357824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4725364" y="36838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5097480" y="368097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4824110" y="370351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4946577" y="363580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4385312" y="3411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4265306" y="3522904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4230392" y="368416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Rectangle 252"/>
          <p:cNvSpPr/>
          <p:nvPr/>
        </p:nvSpPr>
        <p:spPr>
          <a:xfrm>
            <a:off x="5454723" y="2596896"/>
            <a:ext cx="1422001" cy="2121408"/>
          </a:xfrm>
          <a:prstGeom prst="rect">
            <a:avLst/>
          </a:prstGeom>
          <a:solidFill>
            <a:srgbClr val="F2F4F7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TextBox 253"/>
          <p:cNvSpPr txBox="1"/>
          <p:nvPr/>
        </p:nvSpPr>
        <p:spPr>
          <a:xfrm>
            <a:off x="5473011" y="2615184"/>
            <a:ext cx="1385425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Thin</a:t>
            </a:r>
          </a:p>
        </p:txBody>
      </p:sp>
      <p:sp>
        <p:nvSpPr>
          <p:cNvPr id="255" name="Oval 254"/>
          <p:cNvSpPr/>
          <p:nvPr/>
        </p:nvSpPr>
        <p:spPr>
          <a:xfrm>
            <a:off x="6223927" y="39360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6310291" y="40240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6135607" y="28968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6529036" y="41366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6153054" y="378201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6352482" y="30012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6451334" y="331103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5606391" y="33332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6441826" y="32328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6455213" y="45151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6141544" y="35279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6122487" y="40291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6489837" y="3918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6331386" y="30202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5699485" y="33139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6459536" y="33979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6235707" y="29120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5588801" y="33386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6368686" y="40432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6373414" y="337537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6170359" y="366462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6106323" y="30885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6651459" y="32229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6759208" y="4449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5533746" y="36551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6557357" y="45024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6084779" y="33384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5779104" y="44649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5780216" y="38590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5692234" y="37634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6726823" y="31120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6557764" y="37379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6642783" y="40618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5806591" y="43853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6131584" y="29326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5515996" y="370961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6086449" y="339384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5690915" y="3463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3" name="Oval 292"/>
          <p:cNvSpPr/>
          <p:nvPr/>
        </p:nvSpPr>
        <p:spPr>
          <a:xfrm>
            <a:off x="5914635" y="42896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4" name="Oval 293"/>
          <p:cNvSpPr/>
          <p:nvPr/>
        </p:nvSpPr>
        <p:spPr>
          <a:xfrm>
            <a:off x="5513637" y="41407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5" name="Oval 294"/>
          <p:cNvSpPr/>
          <p:nvPr/>
        </p:nvSpPr>
        <p:spPr>
          <a:xfrm>
            <a:off x="6581867" y="30911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6" name="Oval 295"/>
          <p:cNvSpPr/>
          <p:nvPr/>
        </p:nvSpPr>
        <p:spPr>
          <a:xfrm>
            <a:off x="6693220" y="407795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7" name="Oval 296"/>
          <p:cNvSpPr/>
          <p:nvPr/>
        </p:nvSpPr>
        <p:spPr>
          <a:xfrm>
            <a:off x="6639539" y="3626132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5983617" y="366111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6760013" y="3727736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0" name="Oval 299"/>
          <p:cNvSpPr/>
          <p:nvPr/>
        </p:nvSpPr>
        <p:spPr>
          <a:xfrm>
            <a:off x="5969351" y="367304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1" name="Oval 300"/>
          <p:cNvSpPr/>
          <p:nvPr/>
        </p:nvSpPr>
        <p:spPr>
          <a:xfrm>
            <a:off x="5863339" y="3544139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2" name="Oval 301"/>
          <p:cNvSpPr/>
          <p:nvPr/>
        </p:nvSpPr>
        <p:spPr>
          <a:xfrm>
            <a:off x="5648419" y="3811065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3" name="Oval 302"/>
          <p:cNvSpPr/>
          <p:nvPr/>
        </p:nvSpPr>
        <p:spPr>
          <a:xfrm>
            <a:off x="5876310" y="3845318"/>
            <a:ext cx="47548" cy="47548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4" name="Rectangle 303"/>
          <p:cNvSpPr/>
          <p:nvPr/>
        </p:nvSpPr>
        <p:spPr>
          <a:xfrm>
            <a:off x="6876724" y="2596896"/>
            <a:ext cx="1422004" cy="2121408"/>
          </a:xfrm>
          <a:prstGeom prst="rect">
            <a:avLst/>
          </a:prstGeom>
          <a:solidFill>
            <a:srgbClr val="FBECEA"/>
          </a:solidFill>
          <a:ln w="7620">
            <a:solidFill>
              <a:srgbClr val="E1E6E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TextBox 304"/>
          <p:cNvSpPr txBox="1"/>
          <p:nvPr/>
        </p:nvSpPr>
        <p:spPr>
          <a:xfrm>
            <a:off x="6895012" y="2615184"/>
            <a:ext cx="1385428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06" name="Oval 305"/>
          <p:cNvSpPr/>
          <p:nvPr/>
        </p:nvSpPr>
        <p:spPr>
          <a:xfrm>
            <a:off x="7251480" y="33335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7" name="Oval 306"/>
          <p:cNvSpPr/>
          <p:nvPr/>
        </p:nvSpPr>
        <p:spPr>
          <a:xfrm>
            <a:off x="7585252" y="32072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8" name="Oval 307"/>
          <p:cNvSpPr/>
          <p:nvPr/>
        </p:nvSpPr>
        <p:spPr>
          <a:xfrm>
            <a:off x="7409698" y="448259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8061475" y="42426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Oval 309"/>
          <p:cNvSpPr/>
          <p:nvPr/>
        </p:nvSpPr>
        <p:spPr>
          <a:xfrm>
            <a:off x="7738250" y="44114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1" name="Oval 310"/>
          <p:cNvSpPr/>
          <p:nvPr/>
        </p:nvSpPr>
        <p:spPr>
          <a:xfrm>
            <a:off x="8133467" y="380536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2" name="Oval 311"/>
          <p:cNvSpPr/>
          <p:nvPr/>
        </p:nvSpPr>
        <p:spPr>
          <a:xfrm>
            <a:off x="7851375" y="297367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7867679" y="36416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Oval 313"/>
          <p:cNvSpPr/>
          <p:nvPr/>
        </p:nvSpPr>
        <p:spPr>
          <a:xfrm>
            <a:off x="7893595" y="39638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5" name="Oval 314"/>
          <p:cNvSpPr/>
          <p:nvPr/>
        </p:nvSpPr>
        <p:spPr>
          <a:xfrm>
            <a:off x="7298532" y="29728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6" name="Oval 315"/>
          <p:cNvSpPr/>
          <p:nvPr/>
        </p:nvSpPr>
        <p:spPr>
          <a:xfrm>
            <a:off x="8115706" y="31032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Oval 316"/>
          <p:cNvSpPr/>
          <p:nvPr/>
        </p:nvSpPr>
        <p:spPr>
          <a:xfrm>
            <a:off x="7535782" y="3463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8" name="Oval 317"/>
          <p:cNvSpPr/>
          <p:nvPr/>
        </p:nvSpPr>
        <p:spPr>
          <a:xfrm>
            <a:off x="7313284" y="412123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9" name="Oval 318"/>
          <p:cNvSpPr/>
          <p:nvPr/>
        </p:nvSpPr>
        <p:spPr>
          <a:xfrm>
            <a:off x="8178878" y="33243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0" name="Oval 319"/>
          <p:cNvSpPr/>
          <p:nvPr/>
        </p:nvSpPr>
        <p:spPr>
          <a:xfrm>
            <a:off x="7770270" y="33919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1" name="Oval 320"/>
          <p:cNvSpPr/>
          <p:nvPr/>
        </p:nvSpPr>
        <p:spPr>
          <a:xfrm>
            <a:off x="7644392" y="35476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2" name="Oval 321"/>
          <p:cNvSpPr/>
          <p:nvPr/>
        </p:nvSpPr>
        <p:spPr>
          <a:xfrm>
            <a:off x="7146883" y="31603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3" name="Oval 322"/>
          <p:cNvSpPr/>
          <p:nvPr/>
        </p:nvSpPr>
        <p:spPr>
          <a:xfrm>
            <a:off x="7198599" y="439903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4" name="Oval 323"/>
          <p:cNvSpPr/>
          <p:nvPr/>
        </p:nvSpPr>
        <p:spPr>
          <a:xfrm>
            <a:off x="7567536" y="32575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5" name="Oval 324"/>
          <p:cNvSpPr/>
          <p:nvPr/>
        </p:nvSpPr>
        <p:spPr>
          <a:xfrm>
            <a:off x="8089532" y="45496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6" name="Oval 325"/>
          <p:cNvSpPr/>
          <p:nvPr/>
        </p:nvSpPr>
        <p:spPr>
          <a:xfrm>
            <a:off x="7507431" y="31236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7" name="Oval 326"/>
          <p:cNvSpPr/>
          <p:nvPr/>
        </p:nvSpPr>
        <p:spPr>
          <a:xfrm>
            <a:off x="7178870" y="30423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8" name="Oval 327"/>
          <p:cNvSpPr/>
          <p:nvPr/>
        </p:nvSpPr>
        <p:spPr>
          <a:xfrm>
            <a:off x="7369649" y="30429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9" name="Oval 328"/>
          <p:cNvSpPr/>
          <p:nvPr/>
        </p:nvSpPr>
        <p:spPr>
          <a:xfrm>
            <a:off x="7238470" y="33212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0" name="Oval 329"/>
          <p:cNvSpPr/>
          <p:nvPr/>
        </p:nvSpPr>
        <p:spPr>
          <a:xfrm>
            <a:off x="7660078" y="4367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1" name="Oval 330"/>
          <p:cNvSpPr/>
          <p:nvPr/>
        </p:nvSpPr>
        <p:spPr>
          <a:xfrm>
            <a:off x="7889755" y="35782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2" name="Oval 331"/>
          <p:cNvSpPr/>
          <p:nvPr/>
        </p:nvSpPr>
        <p:spPr>
          <a:xfrm>
            <a:off x="7461408" y="37636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3" name="Oval 332"/>
          <p:cNvSpPr/>
          <p:nvPr/>
        </p:nvSpPr>
        <p:spPr>
          <a:xfrm>
            <a:off x="7414184" y="34541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4" name="Oval 333"/>
          <p:cNvSpPr/>
          <p:nvPr/>
        </p:nvSpPr>
        <p:spPr>
          <a:xfrm>
            <a:off x="7012586" y="335317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5" name="Oval 334"/>
          <p:cNvSpPr/>
          <p:nvPr/>
        </p:nvSpPr>
        <p:spPr>
          <a:xfrm>
            <a:off x="8167893" y="31008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6" name="Oval 335"/>
          <p:cNvSpPr/>
          <p:nvPr/>
        </p:nvSpPr>
        <p:spPr>
          <a:xfrm>
            <a:off x="7575598" y="393916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7" name="Oval 336"/>
          <p:cNvSpPr/>
          <p:nvPr/>
        </p:nvSpPr>
        <p:spPr>
          <a:xfrm>
            <a:off x="8034169" y="325074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8" name="Oval 337"/>
          <p:cNvSpPr/>
          <p:nvPr/>
        </p:nvSpPr>
        <p:spPr>
          <a:xfrm>
            <a:off x="7279158" y="33048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9" name="Oval 338"/>
          <p:cNvSpPr/>
          <p:nvPr/>
        </p:nvSpPr>
        <p:spPr>
          <a:xfrm>
            <a:off x="7443387" y="3633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0" name="Oval 339"/>
          <p:cNvSpPr/>
          <p:nvPr/>
        </p:nvSpPr>
        <p:spPr>
          <a:xfrm>
            <a:off x="8150362" y="4303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1" name="Oval 340"/>
          <p:cNvSpPr/>
          <p:nvPr/>
        </p:nvSpPr>
        <p:spPr>
          <a:xfrm>
            <a:off x="8046964" y="2927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Oval 341"/>
          <p:cNvSpPr/>
          <p:nvPr/>
        </p:nvSpPr>
        <p:spPr>
          <a:xfrm>
            <a:off x="6974550" y="407210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3" name="Oval 342"/>
          <p:cNvSpPr/>
          <p:nvPr/>
        </p:nvSpPr>
        <p:spPr>
          <a:xfrm>
            <a:off x="8076057" y="367894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Oval 343"/>
          <p:cNvSpPr/>
          <p:nvPr/>
        </p:nvSpPr>
        <p:spPr>
          <a:xfrm>
            <a:off x="7682478" y="2891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5" name="Oval 344"/>
          <p:cNvSpPr/>
          <p:nvPr/>
        </p:nvSpPr>
        <p:spPr>
          <a:xfrm>
            <a:off x="7432880" y="44337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Oval 345"/>
          <p:cNvSpPr/>
          <p:nvPr/>
        </p:nvSpPr>
        <p:spPr>
          <a:xfrm>
            <a:off x="7986621" y="431500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7" name="Oval 346"/>
          <p:cNvSpPr/>
          <p:nvPr/>
        </p:nvSpPr>
        <p:spPr>
          <a:xfrm>
            <a:off x="8173704" y="33048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6876724" y="3566160"/>
            <a:ext cx="1422004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CC3328"/>
                </a:solidFill>
                <a:latin typeface="맑은 고딕"/>
                <a:ea typeface="맑은 고딕"/>
              </a:rPr>
              <a:t>missing</a:t>
            </a:r>
          </a:p>
        </p:txBody>
      </p:sp>
      <p:sp>
        <p:nvSpPr>
          <p:cNvPr id="349" name="TextBox 348"/>
          <p:cNvSpPr txBox="1"/>
          <p:nvPr/>
        </p:nvSpPr>
        <p:spPr>
          <a:xfrm>
            <a:off x="8883944" y="1737360"/>
            <a:ext cx="2482048" cy="31089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(b) Measurement noise</a:t>
            </a:r>
          </a:p>
        </p:txBody>
      </p:sp>
      <p:sp>
        <p:nvSpPr>
          <p:cNvPr id="350" name="TextBox 349"/>
          <p:cNvSpPr txBox="1"/>
          <p:nvPr/>
        </p:nvSpPr>
        <p:spPr>
          <a:xfrm>
            <a:off x="8883944" y="2048256"/>
            <a:ext cx="2482048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6B7280"/>
                </a:solidFill>
                <a:latin typeface="맑은 고딕"/>
                <a:ea typeface="맑은 고딕"/>
              </a:rPr>
              <a:t>gray = fleet     color = sampled εₜ</a:t>
            </a:r>
          </a:p>
        </p:txBody>
      </p:sp>
      <p:sp>
        <p:nvSpPr>
          <p:cNvPr id="351" name="Rectangle 350"/>
          <p:cNvSpPr/>
          <p:nvPr/>
        </p:nvSpPr>
        <p:spPr>
          <a:xfrm>
            <a:off x="8883944" y="2304288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8975384" y="2331720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Gaussian iid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0373172" y="2331720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N(0, σ²)</a:t>
            </a:r>
          </a:p>
        </p:txBody>
      </p:sp>
      <p:sp>
        <p:nvSpPr>
          <p:cNvPr id="354" name="Rectangle 353"/>
          <p:cNvSpPr/>
          <p:nvPr/>
        </p:nvSpPr>
        <p:spPr>
          <a:xfrm>
            <a:off x="9085112" y="3031236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5" name="Rectangle 354"/>
          <p:cNvSpPr/>
          <p:nvPr/>
        </p:nvSpPr>
        <p:spPr>
          <a:xfrm>
            <a:off x="9085112" y="2615184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Oval 355"/>
          <p:cNvSpPr/>
          <p:nvPr/>
        </p:nvSpPr>
        <p:spPr>
          <a:xfrm>
            <a:off x="9295437" y="27238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7" name="Oval 356"/>
          <p:cNvSpPr/>
          <p:nvPr/>
        </p:nvSpPr>
        <p:spPr>
          <a:xfrm>
            <a:off x="10155023" y="289802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8" name="Oval 357"/>
          <p:cNvSpPr/>
          <p:nvPr/>
        </p:nvSpPr>
        <p:spPr>
          <a:xfrm>
            <a:off x="11026682" y="29111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9" name="Oval 358"/>
          <p:cNvSpPr/>
          <p:nvPr/>
        </p:nvSpPr>
        <p:spPr>
          <a:xfrm>
            <a:off x="10414950" y="292533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Oval 359"/>
          <p:cNvSpPr/>
          <p:nvPr/>
        </p:nvSpPr>
        <p:spPr>
          <a:xfrm>
            <a:off x="10019757" y="28549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1" name="Oval 360"/>
          <p:cNvSpPr/>
          <p:nvPr/>
        </p:nvSpPr>
        <p:spPr>
          <a:xfrm>
            <a:off x="9150897" y="29311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2" name="Oval 361"/>
          <p:cNvSpPr/>
          <p:nvPr/>
        </p:nvSpPr>
        <p:spPr>
          <a:xfrm>
            <a:off x="9552345" y="29765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3" name="Oval 362"/>
          <p:cNvSpPr/>
          <p:nvPr/>
        </p:nvSpPr>
        <p:spPr>
          <a:xfrm>
            <a:off x="10411119" y="277316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Oval 363"/>
          <p:cNvSpPr/>
          <p:nvPr/>
        </p:nvSpPr>
        <p:spPr>
          <a:xfrm>
            <a:off x="9334787" y="27560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5" name="Oval 364"/>
          <p:cNvSpPr/>
          <p:nvPr/>
        </p:nvSpPr>
        <p:spPr>
          <a:xfrm>
            <a:off x="10391955" y="290347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6" name="Oval 365"/>
          <p:cNvSpPr/>
          <p:nvPr/>
        </p:nvSpPr>
        <p:spPr>
          <a:xfrm>
            <a:off x="9301856" y="269612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7" name="Oval 366"/>
          <p:cNvSpPr/>
          <p:nvPr/>
        </p:nvSpPr>
        <p:spPr>
          <a:xfrm>
            <a:off x="10159330" y="28652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Oval 367"/>
          <p:cNvSpPr/>
          <p:nvPr/>
        </p:nvSpPr>
        <p:spPr>
          <a:xfrm>
            <a:off x="9875751" y="274669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9" name="Oval 368"/>
          <p:cNvSpPr/>
          <p:nvPr/>
        </p:nvSpPr>
        <p:spPr>
          <a:xfrm>
            <a:off x="10318686" y="267635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0" name="Oval 369"/>
          <p:cNvSpPr/>
          <p:nvPr/>
        </p:nvSpPr>
        <p:spPr>
          <a:xfrm>
            <a:off x="9695730" y="28249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1" name="Oval 370"/>
          <p:cNvSpPr/>
          <p:nvPr/>
        </p:nvSpPr>
        <p:spPr>
          <a:xfrm>
            <a:off x="11062971" y="28856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Oval 371"/>
          <p:cNvSpPr/>
          <p:nvPr/>
        </p:nvSpPr>
        <p:spPr>
          <a:xfrm>
            <a:off x="10906648" y="28297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3" name="Oval 372"/>
          <p:cNvSpPr/>
          <p:nvPr/>
        </p:nvSpPr>
        <p:spPr>
          <a:xfrm>
            <a:off x="9556903" y="27544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4" name="Oval 373"/>
          <p:cNvSpPr/>
          <p:nvPr/>
        </p:nvSpPr>
        <p:spPr>
          <a:xfrm>
            <a:off x="11066453" y="29054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5" name="Oval 374"/>
          <p:cNvSpPr/>
          <p:nvPr/>
        </p:nvSpPr>
        <p:spPr>
          <a:xfrm>
            <a:off x="9707951" y="268009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Oval 375"/>
          <p:cNvSpPr/>
          <p:nvPr/>
        </p:nvSpPr>
        <p:spPr>
          <a:xfrm>
            <a:off x="10104994" y="28955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7" name="Oval 376"/>
          <p:cNvSpPr/>
          <p:nvPr/>
        </p:nvSpPr>
        <p:spPr>
          <a:xfrm>
            <a:off x="9942165" y="275781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8" name="Oval 377"/>
          <p:cNvSpPr/>
          <p:nvPr/>
        </p:nvSpPr>
        <p:spPr>
          <a:xfrm>
            <a:off x="10456559" y="297826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9" name="Oval 378"/>
          <p:cNvSpPr/>
          <p:nvPr/>
        </p:nvSpPr>
        <p:spPr>
          <a:xfrm>
            <a:off x="9540302" y="268415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0" name="Oval 379"/>
          <p:cNvSpPr/>
          <p:nvPr/>
        </p:nvSpPr>
        <p:spPr>
          <a:xfrm>
            <a:off x="9771702" y="281171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1" name="Oval 380"/>
          <p:cNvSpPr/>
          <p:nvPr/>
        </p:nvSpPr>
        <p:spPr>
          <a:xfrm>
            <a:off x="10488195" y="273828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2" name="Oval 381"/>
          <p:cNvSpPr/>
          <p:nvPr/>
        </p:nvSpPr>
        <p:spPr>
          <a:xfrm>
            <a:off x="10726317" y="29168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3" name="Oval 382"/>
          <p:cNvSpPr/>
          <p:nvPr/>
        </p:nvSpPr>
        <p:spPr>
          <a:xfrm>
            <a:off x="10118654" y="27406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4" name="Oval 383"/>
          <p:cNvSpPr/>
          <p:nvPr/>
        </p:nvSpPr>
        <p:spPr>
          <a:xfrm>
            <a:off x="11085679" y="277578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5" name="Oval 384"/>
          <p:cNvSpPr/>
          <p:nvPr/>
        </p:nvSpPr>
        <p:spPr>
          <a:xfrm>
            <a:off x="10774026" y="274908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6" name="Oval 385"/>
          <p:cNvSpPr/>
          <p:nvPr/>
        </p:nvSpPr>
        <p:spPr>
          <a:xfrm>
            <a:off x="9529190" y="292390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Oval 386"/>
          <p:cNvSpPr/>
          <p:nvPr/>
        </p:nvSpPr>
        <p:spPr>
          <a:xfrm>
            <a:off x="9682028" y="29870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8" name="Oval 387"/>
          <p:cNvSpPr/>
          <p:nvPr/>
        </p:nvSpPr>
        <p:spPr>
          <a:xfrm>
            <a:off x="9116363" y="28783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Oval 388"/>
          <p:cNvSpPr/>
          <p:nvPr/>
        </p:nvSpPr>
        <p:spPr>
          <a:xfrm>
            <a:off x="9231903" y="282653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0" name="Oval 389"/>
          <p:cNvSpPr/>
          <p:nvPr/>
        </p:nvSpPr>
        <p:spPr>
          <a:xfrm>
            <a:off x="9347442" y="281428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Oval 390"/>
          <p:cNvSpPr/>
          <p:nvPr/>
        </p:nvSpPr>
        <p:spPr>
          <a:xfrm>
            <a:off x="9462982" y="274757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2" name="Oval 391"/>
          <p:cNvSpPr/>
          <p:nvPr/>
        </p:nvSpPr>
        <p:spPr>
          <a:xfrm>
            <a:off x="9578522" y="292484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Oval 392"/>
          <p:cNvSpPr/>
          <p:nvPr/>
        </p:nvSpPr>
        <p:spPr>
          <a:xfrm>
            <a:off x="9694061" y="299253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4" name="Oval 393"/>
          <p:cNvSpPr/>
          <p:nvPr/>
        </p:nvSpPr>
        <p:spPr>
          <a:xfrm>
            <a:off x="9809601" y="278036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Oval 394"/>
          <p:cNvSpPr/>
          <p:nvPr/>
        </p:nvSpPr>
        <p:spPr>
          <a:xfrm>
            <a:off x="9925140" y="276551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6" name="Oval 395"/>
          <p:cNvSpPr/>
          <p:nvPr/>
        </p:nvSpPr>
        <p:spPr>
          <a:xfrm>
            <a:off x="10040680" y="2778983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Oval 396"/>
          <p:cNvSpPr/>
          <p:nvPr/>
        </p:nvSpPr>
        <p:spPr>
          <a:xfrm>
            <a:off x="10156219" y="26319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8" name="Oval 397"/>
          <p:cNvSpPr/>
          <p:nvPr/>
        </p:nvSpPr>
        <p:spPr>
          <a:xfrm>
            <a:off x="10271759" y="2811807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9" name="Oval 398"/>
          <p:cNvSpPr/>
          <p:nvPr/>
        </p:nvSpPr>
        <p:spPr>
          <a:xfrm>
            <a:off x="10387298" y="280797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0" name="Oval 399"/>
          <p:cNvSpPr/>
          <p:nvPr/>
        </p:nvSpPr>
        <p:spPr>
          <a:xfrm>
            <a:off x="10502838" y="2755031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Oval 400"/>
          <p:cNvSpPr/>
          <p:nvPr/>
        </p:nvSpPr>
        <p:spPr>
          <a:xfrm>
            <a:off x="10618378" y="2798962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2" name="Oval 401"/>
          <p:cNvSpPr/>
          <p:nvPr/>
        </p:nvSpPr>
        <p:spPr>
          <a:xfrm>
            <a:off x="10733917" y="2697458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3" name="Oval 402"/>
          <p:cNvSpPr/>
          <p:nvPr/>
        </p:nvSpPr>
        <p:spPr>
          <a:xfrm>
            <a:off x="10849457" y="2924939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4" name="Oval 403"/>
          <p:cNvSpPr/>
          <p:nvPr/>
        </p:nvSpPr>
        <p:spPr>
          <a:xfrm>
            <a:off x="10964996" y="2857300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Oval 404"/>
          <p:cNvSpPr/>
          <p:nvPr/>
        </p:nvSpPr>
        <p:spPr>
          <a:xfrm>
            <a:off x="11080536" y="3023846"/>
            <a:ext cx="53035" cy="53035"/>
          </a:xfrm>
          <a:prstGeom prst="ellipse">
            <a:avLst/>
          </a:prstGeom>
          <a:solidFill>
            <a:srgbClr val="2D6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6" name="Rectangle 405"/>
          <p:cNvSpPr/>
          <p:nvPr/>
        </p:nvSpPr>
        <p:spPr>
          <a:xfrm>
            <a:off x="8883944" y="3255264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7" name="TextBox 406"/>
          <p:cNvSpPr txBox="1"/>
          <p:nvPr/>
        </p:nvSpPr>
        <p:spPr>
          <a:xfrm>
            <a:off x="8975384" y="3282696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Equip. correlated</a:t>
            </a:r>
          </a:p>
        </p:txBody>
      </p:sp>
      <p:sp>
        <p:nvSpPr>
          <p:cNvPr id="408" name="TextBox 407"/>
          <p:cNvSpPr txBox="1"/>
          <p:nvPr/>
        </p:nvSpPr>
        <p:spPr>
          <a:xfrm>
            <a:off x="10373172" y="3282696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= ρεₜ₋₁ + ηₜ</a:t>
            </a:r>
          </a:p>
        </p:txBody>
      </p:sp>
      <p:sp>
        <p:nvSpPr>
          <p:cNvPr id="409" name="Rectangle 408"/>
          <p:cNvSpPr/>
          <p:nvPr/>
        </p:nvSpPr>
        <p:spPr>
          <a:xfrm>
            <a:off x="9085112" y="3982212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0" name="Rectangle 409"/>
          <p:cNvSpPr/>
          <p:nvPr/>
        </p:nvSpPr>
        <p:spPr>
          <a:xfrm>
            <a:off x="9085112" y="3566160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1" name="Oval 410"/>
          <p:cNvSpPr/>
          <p:nvPr/>
        </p:nvSpPr>
        <p:spPr>
          <a:xfrm>
            <a:off x="11006103" y="373254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2" name="Oval 411"/>
          <p:cNvSpPr/>
          <p:nvPr/>
        </p:nvSpPr>
        <p:spPr>
          <a:xfrm>
            <a:off x="9454464" y="393277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Oval 412"/>
          <p:cNvSpPr/>
          <p:nvPr/>
        </p:nvSpPr>
        <p:spPr>
          <a:xfrm>
            <a:off x="10620759" y="363440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4" name="Oval 413"/>
          <p:cNvSpPr/>
          <p:nvPr/>
        </p:nvSpPr>
        <p:spPr>
          <a:xfrm>
            <a:off x="10450475" y="3748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5" name="Oval 414"/>
          <p:cNvSpPr/>
          <p:nvPr/>
        </p:nvSpPr>
        <p:spPr>
          <a:xfrm>
            <a:off x="9846223" y="37333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6" name="Oval 415"/>
          <p:cNvSpPr/>
          <p:nvPr/>
        </p:nvSpPr>
        <p:spPr>
          <a:xfrm>
            <a:off x="9420667" y="36248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7" name="Oval 416"/>
          <p:cNvSpPr/>
          <p:nvPr/>
        </p:nvSpPr>
        <p:spPr>
          <a:xfrm>
            <a:off x="9650569" y="3739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8" name="Oval 417"/>
          <p:cNvSpPr/>
          <p:nvPr/>
        </p:nvSpPr>
        <p:spPr>
          <a:xfrm>
            <a:off x="11055848" y="3664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9" name="Oval 418"/>
          <p:cNvSpPr/>
          <p:nvPr/>
        </p:nvSpPr>
        <p:spPr>
          <a:xfrm>
            <a:off x="11074059" y="369233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0" name="Oval 419"/>
          <p:cNvSpPr/>
          <p:nvPr/>
        </p:nvSpPr>
        <p:spPr>
          <a:xfrm>
            <a:off x="9810339" y="38950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1" name="Oval 420"/>
          <p:cNvSpPr/>
          <p:nvPr/>
        </p:nvSpPr>
        <p:spPr>
          <a:xfrm>
            <a:off x="10778192" y="376661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2" name="Oval 421"/>
          <p:cNvSpPr/>
          <p:nvPr/>
        </p:nvSpPr>
        <p:spPr>
          <a:xfrm>
            <a:off x="9171094" y="37801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3" name="Oval 422"/>
          <p:cNvSpPr/>
          <p:nvPr/>
        </p:nvSpPr>
        <p:spPr>
          <a:xfrm>
            <a:off x="9843791" y="392737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4" name="Oval 423"/>
          <p:cNvSpPr/>
          <p:nvPr/>
        </p:nvSpPr>
        <p:spPr>
          <a:xfrm>
            <a:off x="9470091" y="37441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5" name="Oval 424"/>
          <p:cNvSpPr/>
          <p:nvPr/>
        </p:nvSpPr>
        <p:spPr>
          <a:xfrm>
            <a:off x="10934140" y="363387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6" name="Oval 425"/>
          <p:cNvSpPr/>
          <p:nvPr/>
        </p:nvSpPr>
        <p:spPr>
          <a:xfrm>
            <a:off x="9923002" y="38918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7" name="Oval 426"/>
          <p:cNvSpPr/>
          <p:nvPr/>
        </p:nvSpPr>
        <p:spPr>
          <a:xfrm>
            <a:off x="10663101" y="363729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8" name="Oval 427"/>
          <p:cNvSpPr/>
          <p:nvPr/>
        </p:nvSpPr>
        <p:spPr>
          <a:xfrm>
            <a:off x="9141140" y="364453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9" name="Oval 428"/>
          <p:cNvSpPr/>
          <p:nvPr/>
        </p:nvSpPr>
        <p:spPr>
          <a:xfrm>
            <a:off x="10982147" y="370870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0" name="Oval 429"/>
          <p:cNvSpPr/>
          <p:nvPr/>
        </p:nvSpPr>
        <p:spPr>
          <a:xfrm>
            <a:off x="10622794" y="39204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1" name="Oval 430"/>
          <p:cNvSpPr/>
          <p:nvPr/>
        </p:nvSpPr>
        <p:spPr>
          <a:xfrm>
            <a:off x="9773819" y="371375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2" name="Oval 431"/>
          <p:cNvSpPr/>
          <p:nvPr/>
        </p:nvSpPr>
        <p:spPr>
          <a:xfrm>
            <a:off x="11060371" y="382751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3" name="Oval 432"/>
          <p:cNvSpPr/>
          <p:nvPr/>
        </p:nvSpPr>
        <p:spPr>
          <a:xfrm>
            <a:off x="9613896" y="3860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4" name="Oval 433"/>
          <p:cNvSpPr/>
          <p:nvPr/>
        </p:nvSpPr>
        <p:spPr>
          <a:xfrm>
            <a:off x="9726847" y="37148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5" name="Oval 434"/>
          <p:cNvSpPr/>
          <p:nvPr/>
        </p:nvSpPr>
        <p:spPr>
          <a:xfrm>
            <a:off x="9076496" y="387328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6" name="Oval 435"/>
          <p:cNvSpPr/>
          <p:nvPr/>
        </p:nvSpPr>
        <p:spPr>
          <a:xfrm>
            <a:off x="10974625" y="383312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7" name="Oval 436"/>
          <p:cNvSpPr/>
          <p:nvPr/>
        </p:nvSpPr>
        <p:spPr>
          <a:xfrm>
            <a:off x="11030341" y="363188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8" name="Oval 437"/>
          <p:cNvSpPr/>
          <p:nvPr/>
        </p:nvSpPr>
        <p:spPr>
          <a:xfrm>
            <a:off x="9555027" y="378071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9" name="Oval 438"/>
          <p:cNvSpPr/>
          <p:nvPr/>
        </p:nvSpPr>
        <p:spPr>
          <a:xfrm>
            <a:off x="11058474" y="393872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0" name="Oval 439"/>
          <p:cNvSpPr/>
          <p:nvPr/>
        </p:nvSpPr>
        <p:spPr>
          <a:xfrm>
            <a:off x="9872492" y="370673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1" name="Oval 440"/>
          <p:cNvSpPr/>
          <p:nvPr/>
        </p:nvSpPr>
        <p:spPr>
          <a:xfrm>
            <a:off x="9962800" y="378675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2" name="Oval 441"/>
          <p:cNvSpPr/>
          <p:nvPr/>
        </p:nvSpPr>
        <p:spPr>
          <a:xfrm>
            <a:off x="10998832" y="368425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3" name="Oval 442"/>
          <p:cNvSpPr/>
          <p:nvPr/>
        </p:nvSpPr>
        <p:spPr>
          <a:xfrm>
            <a:off x="9110586" y="3902912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4" name="Oval 443"/>
          <p:cNvSpPr/>
          <p:nvPr/>
        </p:nvSpPr>
        <p:spPr>
          <a:xfrm>
            <a:off x="9214572" y="388699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5" name="Oval 444"/>
          <p:cNvSpPr/>
          <p:nvPr/>
        </p:nvSpPr>
        <p:spPr>
          <a:xfrm>
            <a:off x="9318558" y="383937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6" name="Oval 445"/>
          <p:cNvSpPr/>
          <p:nvPr/>
        </p:nvSpPr>
        <p:spPr>
          <a:xfrm>
            <a:off x="9422543" y="3825071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7" name="Oval 446"/>
          <p:cNvSpPr/>
          <p:nvPr/>
        </p:nvSpPr>
        <p:spPr>
          <a:xfrm>
            <a:off x="9526529" y="3788003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8" name="Oval 447"/>
          <p:cNvSpPr/>
          <p:nvPr/>
        </p:nvSpPr>
        <p:spPr>
          <a:xfrm>
            <a:off x="9630514" y="375604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9" name="Oval 448"/>
          <p:cNvSpPr/>
          <p:nvPr/>
        </p:nvSpPr>
        <p:spPr>
          <a:xfrm>
            <a:off x="9734500" y="372398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0" name="Oval 449"/>
          <p:cNvSpPr/>
          <p:nvPr/>
        </p:nvSpPr>
        <p:spPr>
          <a:xfrm>
            <a:off x="9838486" y="368394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1" name="Oval 450"/>
          <p:cNvSpPr/>
          <p:nvPr/>
        </p:nvSpPr>
        <p:spPr>
          <a:xfrm>
            <a:off x="9942471" y="3685430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2" name="Oval 451"/>
          <p:cNvSpPr/>
          <p:nvPr/>
        </p:nvSpPr>
        <p:spPr>
          <a:xfrm>
            <a:off x="10046457" y="3721896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3" name="Oval 452"/>
          <p:cNvSpPr/>
          <p:nvPr/>
        </p:nvSpPr>
        <p:spPr>
          <a:xfrm>
            <a:off x="10150442" y="37481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4" name="Oval 453"/>
          <p:cNvSpPr/>
          <p:nvPr/>
        </p:nvSpPr>
        <p:spPr>
          <a:xfrm>
            <a:off x="10254428" y="3773621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5" name="Oval 454"/>
          <p:cNvSpPr/>
          <p:nvPr/>
        </p:nvSpPr>
        <p:spPr>
          <a:xfrm>
            <a:off x="10358414" y="3817999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6" name="Oval 455"/>
          <p:cNvSpPr/>
          <p:nvPr/>
        </p:nvSpPr>
        <p:spPr>
          <a:xfrm>
            <a:off x="10462399" y="3848408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7" name="Oval 456"/>
          <p:cNvSpPr/>
          <p:nvPr/>
        </p:nvSpPr>
        <p:spPr>
          <a:xfrm>
            <a:off x="10566385" y="384209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8" name="Oval 457"/>
          <p:cNvSpPr/>
          <p:nvPr/>
        </p:nvSpPr>
        <p:spPr>
          <a:xfrm>
            <a:off x="10670370" y="3820235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9" name="Oval 458"/>
          <p:cNvSpPr/>
          <p:nvPr/>
        </p:nvSpPr>
        <p:spPr>
          <a:xfrm>
            <a:off x="10774356" y="3802558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0" name="Oval 459"/>
          <p:cNvSpPr/>
          <p:nvPr/>
        </p:nvSpPr>
        <p:spPr>
          <a:xfrm>
            <a:off x="10878342" y="3746429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1" name="Oval 460"/>
          <p:cNvSpPr/>
          <p:nvPr/>
        </p:nvSpPr>
        <p:spPr>
          <a:xfrm>
            <a:off x="10982327" y="3719584"/>
            <a:ext cx="53035" cy="53035"/>
          </a:xfrm>
          <a:prstGeom prst="ellipse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2" name="Oval 461"/>
          <p:cNvSpPr/>
          <p:nvPr/>
        </p:nvSpPr>
        <p:spPr>
          <a:xfrm>
            <a:off x="11086313" y="3720980"/>
            <a:ext cx="53035" cy="53035"/>
          </a:xfrm>
          <a:prstGeom prst="ellipse">
            <a:avLst/>
          </a:prstGeom>
          <a:solidFill>
            <a:srgbClr val="12B5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3" name="Rectangle 462"/>
          <p:cNvSpPr/>
          <p:nvPr/>
        </p:nvSpPr>
        <p:spPr>
          <a:xfrm>
            <a:off x="8883944" y="4206240"/>
            <a:ext cx="2482048" cy="859536"/>
          </a:xfrm>
          <a:prstGeom prst="rect">
            <a:avLst/>
          </a:prstGeom>
          <a:solidFill>
            <a:srgbClr val="FCFDFE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4" name="TextBox 463"/>
          <p:cNvSpPr txBox="1"/>
          <p:nvPr/>
        </p:nvSpPr>
        <p:spPr>
          <a:xfrm>
            <a:off x="8975384" y="4233672"/>
            <a:ext cx="1439587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Laplacian</a:t>
            </a:r>
          </a:p>
        </p:txBody>
      </p:sp>
      <p:sp>
        <p:nvSpPr>
          <p:cNvPr id="465" name="TextBox 464"/>
          <p:cNvSpPr txBox="1"/>
          <p:nvPr/>
        </p:nvSpPr>
        <p:spPr>
          <a:xfrm>
            <a:off x="10373172" y="4233672"/>
            <a:ext cx="820386" cy="18288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6B7280"/>
                </a:solidFill>
                <a:latin typeface="Cambria Math"/>
                <a:ea typeface="Cambria Math"/>
              </a:rPr>
              <a:t>εₜ ~ Laplace(0, b)</a:t>
            </a:r>
          </a:p>
        </p:txBody>
      </p:sp>
      <p:sp>
        <p:nvSpPr>
          <p:cNvPr id="466" name="Rectangle 465"/>
          <p:cNvSpPr/>
          <p:nvPr/>
        </p:nvSpPr>
        <p:spPr>
          <a:xfrm>
            <a:off x="9085112" y="4933188"/>
            <a:ext cx="2079712" cy="13716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7" name="Rectangle 466"/>
          <p:cNvSpPr/>
          <p:nvPr/>
        </p:nvSpPr>
        <p:spPr>
          <a:xfrm>
            <a:off x="9085112" y="4517136"/>
            <a:ext cx="13716" cy="429768"/>
          </a:xfrm>
          <a:prstGeom prst="rect">
            <a:avLst/>
          </a:prstGeom>
          <a:solidFill>
            <a:srgbClr val="D4DA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8" name="Oval 467"/>
          <p:cNvSpPr/>
          <p:nvPr/>
        </p:nvSpPr>
        <p:spPr>
          <a:xfrm>
            <a:off x="9619550" y="460260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9" name="Oval 468"/>
          <p:cNvSpPr/>
          <p:nvPr/>
        </p:nvSpPr>
        <p:spPr>
          <a:xfrm>
            <a:off x="9269184" y="473938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Oval 469"/>
          <p:cNvSpPr/>
          <p:nvPr/>
        </p:nvSpPr>
        <p:spPr>
          <a:xfrm>
            <a:off x="10544772" y="47223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1" name="Oval 470"/>
          <p:cNvSpPr/>
          <p:nvPr/>
        </p:nvSpPr>
        <p:spPr>
          <a:xfrm>
            <a:off x="9555713" y="471243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Oval 471"/>
          <p:cNvSpPr/>
          <p:nvPr/>
        </p:nvSpPr>
        <p:spPr>
          <a:xfrm>
            <a:off x="10358714" y="47973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3" name="Oval 472"/>
          <p:cNvSpPr/>
          <p:nvPr/>
        </p:nvSpPr>
        <p:spPr>
          <a:xfrm>
            <a:off x="10624229" y="485441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4" name="Oval 473"/>
          <p:cNvSpPr/>
          <p:nvPr/>
        </p:nvSpPr>
        <p:spPr>
          <a:xfrm>
            <a:off x="10450466" y="461484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5" name="Oval 474"/>
          <p:cNvSpPr/>
          <p:nvPr/>
        </p:nvSpPr>
        <p:spPr>
          <a:xfrm>
            <a:off x="10817422" y="467182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6" name="Oval 475"/>
          <p:cNvSpPr/>
          <p:nvPr/>
        </p:nvSpPr>
        <p:spPr>
          <a:xfrm>
            <a:off x="10247608" y="469795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7" name="Oval 476"/>
          <p:cNvSpPr/>
          <p:nvPr/>
        </p:nvSpPr>
        <p:spPr>
          <a:xfrm>
            <a:off x="10603620" y="46405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8" name="Oval 477"/>
          <p:cNvSpPr/>
          <p:nvPr/>
        </p:nvSpPr>
        <p:spPr>
          <a:xfrm>
            <a:off x="9583234" y="465583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9" name="Oval 478"/>
          <p:cNvSpPr/>
          <p:nvPr/>
        </p:nvSpPr>
        <p:spPr>
          <a:xfrm>
            <a:off x="9387519" y="486668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0" name="Oval 479"/>
          <p:cNvSpPr/>
          <p:nvPr/>
        </p:nvSpPr>
        <p:spPr>
          <a:xfrm>
            <a:off x="10271310" y="468256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1" name="Oval 480"/>
          <p:cNvSpPr/>
          <p:nvPr/>
        </p:nvSpPr>
        <p:spPr>
          <a:xfrm>
            <a:off x="9892363" y="490242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2" name="Oval 481"/>
          <p:cNvSpPr/>
          <p:nvPr/>
        </p:nvSpPr>
        <p:spPr>
          <a:xfrm>
            <a:off x="10123741" y="465122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3" name="Oval 482"/>
          <p:cNvSpPr/>
          <p:nvPr/>
        </p:nvSpPr>
        <p:spPr>
          <a:xfrm>
            <a:off x="10749981" y="4790491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4" name="Oval 483"/>
          <p:cNvSpPr/>
          <p:nvPr/>
        </p:nvSpPr>
        <p:spPr>
          <a:xfrm>
            <a:off x="11129555" y="460863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5" name="Oval 484"/>
          <p:cNvSpPr/>
          <p:nvPr/>
        </p:nvSpPr>
        <p:spPr>
          <a:xfrm>
            <a:off x="10056022" y="484520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6" name="Oval 485"/>
          <p:cNvSpPr/>
          <p:nvPr/>
        </p:nvSpPr>
        <p:spPr>
          <a:xfrm>
            <a:off x="10816768" y="487665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7" name="Oval 486"/>
          <p:cNvSpPr/>
          <p:nvPr/>
        </p:nvSpPr>
        <p:spPr>
          <a:xfrm>
            <a:off x="9152594" y="467178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8" name="Oval 487"/>
          <p:cNvSpPr/>
          <p:nvPr/>
        </p:nvSpPr>
        <p:spPr>
          <a:xfrm>
            <a:off x="9316589" y="463742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9" name="Oval 488"/>
          <p:cNvSpPr/>
          <p:nvPr/>
        </p:nvSpPr>
        <p:spPr>
          <a:xfrm>
            <a:off x="11092140" y="4767343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0" name="Oval 489"/>
          <p:cNvSpPr/>
          <p:nvPr/>
        </p:nvSpPr>
        <p:spPr>
          <a:xfrm>
            <a:off x="11003146" y="4697715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1" name="Oval 490"/>
          <p:cNvSpPr/>
          <p:nvPr/>
        </p:nvSpPr>
        <p:spPr>
          <a:xfrm>
            <a:off x="10869948" y="472308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2" name="Oval 491"/>
          <p:cNvSpPr/>
          <p:nvPr/>
        </p:nvSpPr>
        <p:spPr>
          <a:xfrm>
            <a:off x="9609270" y="4831567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3" name="Oval 492"/>
          <p:cNvSpPr/>
          <p:nvPr/>
        </p:nvSpPr>
        <p:spPr>
          <a:xfrm>
            <a:off x="11035440" y="4609768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4" name="Oval 493"/>
          <p:cNvSpPr/>
          <p:nvPr/>
        </p:nvSpPr>
        <p:spPr>
          <a:xfrm>
            <a:off x="10308467" y="4779474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5" name="Oval 494"/>
          <p:cNvSpPr/>
          <p:nvPr/>
        </p:nvSpPr>
        <p:spPr>
          <a:xfrm>
            <a:off x="9521292" y="4696550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6" name="Oval 495"/>
          <p:cNvSpPr/>
          <p:nvPr/>
        </p:nvSpPr>
        <p:spPr>
          <a:xfrm>
            <a:off x="9362660" y="464217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7" name="Oval 496"/>
          <p:cNvSpPr/>
          <p:nvPr/>
        </p:nvSpPr>
        <p:spPr>
          <a:xfrm>
            <a:off x="9598800" y="4772699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8" name="Oval 497"/>
          <p:cNvSpPr/>
          <p:nvPr/>
        </p:nvSpPr>
        <p:spPr>
          <a:xfrm>
            <a:off x="10423882" y="4642002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9" name="Oval 498"/>
          <p:cNvSpPr/>
          <p:nvPr/>
        </p:nvSpPr>
        <p:spPr>
          <a:xfrm>
            <a:off x="9092319" y="4682866"/>
            <a:ext cx="32918" cy="32918"/>
          </a:xfrm>
          <a:prstGeom prst="ellipse">
            <a:avLst/>
          </a:prstGeom>
          <a:solidFill>
            <a:srgbClr val="A7AD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0" name="Oval 499"/>
          <p:cNvSpPr/>
          <p:nvPr/>
        </p:nvSpPr>
        <p:spPr>
          <a:xfrm>
            <a:off x="9116363" y="473729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1" name="Oval 500"/>
          <p:cNvSpPr/>
          <p:nvPr/>
        </p:nvSpPr>
        <p:spPr>
          <a:xfrm>
            <a:off x="9231903" y="474527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2" name="Oval 501"/>
          <p:cNvSpPr/>
          <p:nvPr/>
        </p:nvSpPr>
        <p:spPr>
          <a:xfrm>
            <a:off x="9347442" y="473671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3" name="Oval 502"/>
          <p:cNvSpPr/>
          <p:nvPr/>
        </p:nvSpPr>
        <p:spPr>
          <a:xfrm>
            <a:off x="9462982" y="4713103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4" name="Oval 503"/>
          <p:cNvSpPr/>
          <p:nvPr/>
        </p:nvSpPr>
        <p:spPr>
          <a:xfrm>
            <a:off x="9578522" y="4720339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5" name="Oval 504"/>
          <p:cNvSpPr/>
          <p:nvPr/>
        </p:nvSpPr>
        <p:spPr>
          <a:xfrm>
            <a:off x="9694061" y="4762264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6" name="Oval 505"/>
          <p:cNvSpPr/>
          <p:nvPr/>
        </p:nvSpPr>
        <p:spPr>
          <a:xfrm>
            <a:off x="9809601" y="4718392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7" name="Oval 506"/>
          <p:cNvSpPr/>
          <p:nvPr/>
        </p:nvSpPr>
        <p:spPr>
          <a:xfrm>
            <a:off x="9925140" y="472502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8" name="Oval 507"/>
          <p:cNvSpPr/>
          <p:nvPr/>
        </p:nvSpPr>
        <p:spPr>
          <a:xfrm>
            <a:off x="10040680" y="4756647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9" name="Oval 508"/>
          <p:cNvSpPr/>
          <p:nvPr/>
        </p:nvSpPr>
        <p:spPr>
          <a:xfrm>
            <a:off x="10156219" y="470910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0" name="Oval 509"/>
          <p:cNvSpPr/>
          <p:nvPr/>
        </p:nvSpPr>
        <p:spPr>
          <a:xfrm>
            <a:off x="10271759" y="4737345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1" name="Oval 510"/>
          <p:cNvSpPr/>
          <p:nvPr/>
        </p:nvSpPr>
        <p:spPr>
          <a:xfrm>
            <a:off x="10387298" y="4738820"/>
            <a:ext cx="53035" cy="53035"/>
          </a:xfrm>
          <a:prstGeom prst="ellipse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2" name="Oval 511"/>
          <p:cNvSpPr/>
          <p:nvPr/>
        </p:nvSpPr>
        <p:spPr>
          <a:xfrm>
            <a:off x="10502838" y="4556544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3" name="Oval 512"/>
          <p:cNvSpPr/>
          <p:nvPr/>
        </p:nvSpPr>
        <p:spPr>
          <a:xfrm>
            <a:off x="10618378" y="4894855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4" name="Oval 513"/>
          <p:cNvSpPr/>
          <p:nvPr/>
        </p:nvSpPr>
        <p:spPr>
          <a:xfrm>
            <a:off x="10733917" y="458129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5" name="Oval 514"/>
          <p:cNvSpPr/>
          <p:nvPr/>
        </p:nvSpPr>
        <p:spPr>
          <a:xfrm>
            <a:off x="10849457" y="4870100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6" name="Oval 515"/>
          <p:cNvSpPr/>
          <p:nvPr/>
        </p:nvSpPr>
        <p:spPr>
          <a:xfrm>
            <a:off x="10964996" y="4544166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7" name="Oval 516"/>
          <p:cNvSpPr/>
          <p:nvPr/>
        </p:nvSpPr>
        <p:spPr>
          <a:xfrm>
            <a:off x="11080536" y="4911358"/>
            <a:ext cx="53035" cy="53035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8" name="Rectangle 517"/>
          <p:cNvSpPr/>
          <p:nvPr/>
        </p:nvSpPr>
        <p:spPr>
          <a:xfrm>
            <a:off x="713232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9" name="Rectangle 518"/>
          <p:cNvSpPr/>
          <p:nvPr/>
        </p:nvSpPr>
        <p:spPr>
          <a:xfrm>
            <a:off x="713232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0" name="TextBox 519"/>
          <p:cNvSpPr txBox="1"/>
          <p:nvPr/>
        </p:nvSpPr>
        <p:spPr>
          <a:xfrm>
            <a:off x="804672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Episode</a:t>
            </a:r>
          </a:p>
        </p:txBody>
      </p:sp>
      <p:sp>
        <p:nvSpPr>
          <p:cNvPr id="521" name="TextBox 520"/>
          <p:cNvSpPr txBox="1"/>
          <p:nvPr/>
        </p:nvSpPr>
        <p:spPr>
          <a:xfrm>
            <a:off x="804672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K ~ U(Kmin,Kmax),  L_k ~ U(Lmin,Lmax)</a:t>
            </a:r>
          </a:p>
        </p:txBody>
      </p:sp>
      <p:sp>
        <p:nvSpPr>
          <p:cNvPr id="522" name="TextBox 521"/>
          <p:cNvSpPr txBox="1"/>
          <p:nvPr/>
        </p:nvSpPr>
        <p:spPr>
          <a:xfrm>
            <a:off x="841248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 개수와 길이를 먼저 결정</a:t>
            </a:r>
          </a:p>
        </p:txBody>
      </p:sp>
      <p:sp>
        <p:nvSpPr>
          <p:cNvPr id="523" name="Rectangle 522"/>
          <p:cNvSpPr/>
          <p:nvPr/>
        </p:nvSpPr>
        <p:spPr>
          <a:xfrm>
            <a:off x="3511296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4" name="Rectangle 523"/>
          <p:cNvSpPr/>
          <p:nvPr/>
        </p:nvSpPr>
        <p:spPr>
          <a:xfrm>
            <a:off x="3511296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5" name="TextBox 524"/>
          <p:cNvSpPr txBox="1"/>
          <p:nvPr/>
        </p:nvSpPr>
        <p:spPr>
          <a:xfrm>
            <a:off x="3602736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Density</a:t>
            </a:r>
          </a:p>
        </p:txBody>
      </p:sp>
      <p:sp>
        <p:nvSpPr>
          <p:cNvPr id="526" name="TextBox 525"/>
          <p:cNvSpPr txBox="1"/>
          <p:nvPr/>
        </p:nvSpPr>
        <p:spPr>
          <a:xfrm>
            <a:off x="3602736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m_k ~ Cat(5 density types)</a:t>
            </a:r>
          </a:p>
        </p:txBody>
      </p:sp>
      <p:sp>
        <p:nvSpPr>
          <p:cNvPr id="527" name="TextBox 526"/>
          <p:cNvSpPr txBox="1"/>
          <p:nvPr/>
        </p:nvSpPr>
        <p:spPr>
          <a:xfrm>
            <a:off x="3639312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구간별 관측 point 수를 결정</a:t>
            </a:r>
          </a:p>
        </p:txBody>
      </p:sp>
      <p:sp>
        <p:nvSpPr>
          <p:cNvPr id="528" name="Rectangle 527"/>
          <p:cNvSpPr/>
          <p:nvPr/>
        </p:nvSpPr>
        <p:spPr>
          <a:xfrm>
            <a:off x="6309360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9" name="Rectangle 528"/>
          <p:cNvSpPr/>
          <p:nvPr/>
        </p:nvSpPr>
        <p:spPr>
          <a:xfrm>
            <a:off x="6309360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0" name="TextBox 529"/>
          <p:cNvSpPr txBox="1"/>
          <p:nvPr/>
        </p:nvSpPr>
        <p:spPr>
          <a:xfrm>
            <a:off x="6400800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Noise</a:t>
            </a:r>
          </a:p>
        </p:txBody>
      </p:sp>
      <p:sp>
        <p:nvSpPr>
          <p:cNvPr id="531" name="TextBox 530"/>
          <p:cNvSpPr txBox="1"/>
          <p:nvPr/>
        </p:nvSpPr>
        <p:spPr>
          <a:xfrm>
            <a:off x="6400800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ε_t ~ N / AR(1) / Laplace</a:t>
            </a:r>
          </a:p>
        </p:txBody>
      </p:sp>
      <p:sp>
        <p:nvSpPr>
          <p:cNvPr id="532" name="TextBox 531"/>
          <p:cNvSpPr txBox="1"/>
          <p:nvPr/>
        </p:nvSpPr>
        <p:spPr>
          <a:xfrm>
            <a:off x="6437376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측정 산포 family를 episode별 부여</a:t>
            </a:r>
          </a:p>
        </p:txBody>
      </p:sp>
      <p:sp>
        <p:nvSpPr>
          <p:cNvPr id="533" name="Rectangle 532"/>
          <p:cNvSpPr/>
          <p:nvPr/>
        </p:nvSpPr>
        <p:spPr>
          <a:xfrm>
            <a:off x="9107424" y="5230368"/>
            <a:ext cx="2633472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4" name="Rectangle 533"/>
          <p:cNvSpPr/>
          <p:nvPr/>
        </p:nvSpPr>
        <p:spPr>
          <a:xfrm>
            <a:off x="9107424" y="5230368"/>
            <a:ext cx="2633472" cy="237744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5" name="TextBox 534"/>
          <p:cNvSpPr txBox="1"/>
          <p:nvPr/>
        </p:nvSpPr>
        <p:spPr>
          <a:xfrm>
            <a:off x="9198864" y="5230368"/>
            <a:ext cx="2450592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  <a:ea typeface="맑은 고딕"/>
              </a:rPr>
              <a:t>Output</a:t>
            </a:r>
          </a:p>
        </p:txBody>
      </p:sp>
      <p:sp>
        <p:nvSpPr>
          <p:cNvPr id="536" name="TextBox 535"/>
          <p:cNvSpPr txBox="1"/>
          <p:nvPr/>
        </p:nvSpPr>
        <p:spPr>
          <a:xfrm>
            <a:off x="9198864" y="5541264"/>
            <a:ext cx="2450592" cy="2194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Cambria Math"/>
                <a:ea typeface="Cambria Math"/>
              </a:rPr>
              <a:t>y_t = μ_region(t) + ε_t</a:t>
            </a:r>
          </a:p>
        </p:txBody>
      </p:sp>
      <p:sp>
        <p:nvSpPr>
          <p:cNvPr id="537" name="TextBox 536"/>
          <p:cNvSpPr txBox="1"/>
          <p:nvPr/>
        </p:nvSpPr>
        <p:spPr>
          <a:xfrm>
            <a:off x="9235440" y="5797296"/>
            <a:ext cx="23774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1A1F2E"/>
                </a:solidFill>
                <a:latin typeface="맑은 고딕"/>
                <a:ea typeface="맑은 고딕"/>
              </a:rPr>
              <a:t>active 구간만 연결</a:t>
            </a:r>
          </a:p>
        </p:txBody>
      </p:sp>
      <p:sp>
        <p:nvSpPr>
          <p:cNvPr id="538" name="TextBox 537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539" name="TextBox 538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475488"/>
            <a:ext cx="109728" cy="658368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438912"/>
            <a:ext cx="108813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8A929E"/>
                </a:solidFill>
                <a:latin typeface="맑은 고딕"/>
                <a:ea typeface="맑은 고딕"/>
              </a:rPr>
              <a:t>P3 | binary validation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58368"/>
            <a:ext cx="10881360" cy="5120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50" b="1">
                <a:solidFill>
                  <a:srgbClr val="0F1E3D"/>
                </a:solidFill>
                <a:latin typeface="맑은 고딕"/>
                <a:ea typeface="맑은 고딕"/>
              </a:rPr>
              <a:t>anomaly 주입 규칙과 binary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1051560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20">
                <a:solidFill>
                  <a:srgbClr val="1A1F2E"/>
                </a:solidFill>
                <a:latin typeface="맑은 고딕"/>
                <a:ea typeface="맑은 고딕"/>
              </a:rPr>
              <a:t>Normal baseline에 5가지 anomaly injection rule을 더해 normal/abnormal binary validation을 수행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1560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trend_mean_shift_view.png"/>
          <p:cNvPicPr>
            <a:picLocks noChangeAspect="1"/>
          </p:cNvPicPr>
          <p:nvPr/>
        </p:nvPicPr>
        <p:blipFill>
          <a:blip r:embed="rId2"/>
          <a:srcRect t="18971" b="18971"/>
          <a:stretch>
            <a:fillRect/>
          </a:stretch>
        </p:blipFill>
        <p:spPr>
          <a:xfrm>
            <a:off x="1106424" y="1755648"/>
            <a:ext cx="3136392" cy="1627632"/>
          </a:xfrm>
          <a:prstGeom prst="rect">
            <a:avLst/>
          </a:prstGeom>
          <a:effectLst/>
        </p:spPr>
      </p:pic>
      <p:sp>
        <p:nvSpPr>
          <p:cNvPr id="8" name="Rectangle 7"/>
          <p:cNvSpPr/>
          <p:nvPr/>
        </p:nvSpPr>
        <p:spPr>
          <a:xfrm>
            <a:off x="1161288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97864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Mean shift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62272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trend_standard_deviation_view.png"/>
          <p:cNvPicPr>
            <a:picLocks noChangeAspect="1"/>
          </p:cNvPicPr>
          <p:nvPr/>
        </p:nvPicPr>
        <p:blipFill>
          <a:blip r:embed="rId3"/>
          <a:srcRect t="18971" b="18971"/>
          <a:stretch>
            <a:fillRect/>
          </a:stretch>
        </p:blipFill>
        <p:spPr>
          <a:xfrm>
            <a:off x="4517136" y="1755648"/>
            <a:ext cx="3136392" cy="1627632"/>
          </a:xfrm>
          <a:prstGeom prst="rect">
            <a:avLst/>
          </a:prstGeom>
          <a:effectLst/>
        </p:spPr>
      </p:pic>
      <p:sp>
        <p:nvSpPr>
          <p:cNvPr id="12" name="Rectangle 11"/>
          <p:cNvSpPr/>
          <p:nvPr/>
        </p:nvSpPr>
        <p:spPr>
          <a:xfrm>
            <a:off x="4572000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08576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Std change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72984" y="1700784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end_spike_view.png"/>
          <p:cNvPicPr>
            <a:picLocks noChangeAspect="1"/>
          </p:cNvPicPr>
          <p:nvPr/>
        </p:nvPicPr>
        <p:blipFill>
          <a:blip r:embed="rId4"/>
          <a:srcRect t="18971" b="18971"/>
          <a:stretch>
            <a:fillRect/>
          </a:stretch>
        </p:blipFill>
        <p:spPr>
          <a:xfrm>
            <a:off x="7927848" y="1755648"/>
            <a:ext cx="3136392" cy="1627632"/>
          </a:xfrm>
          <a:prstGeom prst="rect">
            <a:avLst/>
          </a:prstGeom>
          <a:effectLst/>
        </p:spPr>
      </p:pic>
      <p:sp>
        <p:nvSpPr>
          <p:cNvPr id="16" name="Rectangle 15"/>
          <p:cNvSpPr/>
          <p:nvPr/>
        </p:nvSpPr>
        <p:spPr>
          <a:xfrm>
            <a:off x="7982712" y="1810512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19288" y="1819656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Spike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51560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trend_drift_view.png"/>
          <p:cNvPicPr>
            <a:picLocks noChangeAspect="1"/>
          </p:cNvPicPr>
          <p:nvPr/>
        </p:nvPicPr>
        <p:blipFill>
          <a:blip r:embed="rId5"/>
          <a:srcRect t="18971" b="18971"/>
          <a:stretch>
            <a:fillRect/>
          </a:stretch>
        </p:blipFill>
        <p:spPr>
          <a:xfrm>
            <a:off x="1106424" y="3621024"/>
            <a:ext cx="3136392" cy="1627632"/>
          </a:xfrm>
          <a:prstGeom prst="rect">
            <a:avLst/>
          </a:prstGeom>
          <a:effectLst/>
        </p:spPr>
      </p:pic>
      <p:sp>
        <p:nvSpPr>
          <p:cNvPr id="20" name="Rectangle 19"/>
          <p:cNvSpPr/>
          <p:nvPr/>
        </p:nvSpPr>
        <p:spPr>
          <a:xfrm>
            <a:off x="1161288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97864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Drift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62272" y="3566160"/>
            <a:ext cx="324612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trend_context_view.png"/>
          <p:cNvPicPr>
            <a:picLocks noChangeAspect="1"/>
          </p:cNvPicPr>
          <p:nvPr/>
        </p:nvPicPr>
        <p:blipFill>
          <a:blip r:embed="rId6"/>
          <a:srcRect t="18971" b="18971"/>
          <a:stretch>
            <a:fillRect/>
          </a:stretch>
        </p:blipFill>
        <p:spPr>
          <a:xfrm>
            <a:off x="4517136" y="3621024"/>
            <a:ext cx="3136392" cy="1627632"/>
          </a:xfrm>
          <a:prstGeom prst="rect">
            <a:avLst/>
          </a:prstGeom>
          <a:effectLst/>
        </p:spPr>
      </p:pic>
      <p:sp>
        <p:nvSpPr>
          <p:cNvPr id="24" name="Rectangle 23"/>
          <p:cNvSpPr/>
          <p:nvPr/>
        </p:nvSpPr>
        <p:spPr>
          <a:xfrm>
            <a:off x="4572000" y="3675888"/>
            <a:ext cx="1078992" cy="22860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08576" y="3685032"/>
            <a:ext cx="1005840" cy="2011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Context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872984" y="3566160"/>
            <a:ext cx="3246120" cy="173736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7872984" y="3566160"/>
            <a:ext cx="91440" cy="1737360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92440" y="3712464"/>
            <a:ext cx="2862072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Injection equations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10728" y="4005072"/>
            <a:ext cx="2770632" cy="12070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mean:  y_t = x_t + δ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scale: y_t = μ + A(x_t - μ)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spike: y_t = x_t + Σ A_i 1(t=t_i)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drift: y_t = x_t + r(t-s)</a:t>
            </a:r>
          </a:p>
          <a:p>
            <a:pPr algn="l"/>
            <a:r>
              <a:rPr sz="1100">
                <a:solidFill>
                  <a:srgbClr val="1A1F2E"/>
                </a:solidFill>
                <a:latin typeface="Consolas"/>
                <a:ea typeface="Consolas"/>
              </a:rPr>
              <a:t>context: fleet/reference-relative shift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5321808"/>
            <a:ext cx="10561320" cy="640080"/>
          </a:xfrm>
          <a:prstGeom prst="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Test 1,500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96112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normal 750 / abnormal 750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35224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08376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F1 0.9967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008376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TN746 / FP4 / FN1 / TP749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47488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120640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Recall 0.9987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120640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abnormal class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159752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32904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2BA66B"/>
                </a:solidFill>
                <a:latin typeface="맑은 고딕"/>
                <a:ea typeface="맑은 고딕"/>
              </a:rPr>
              <a:t>5-seed best 0.9987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32904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TN748 / FP2 / FN0 / TP750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272016" y="5404104"/>
            <a:ext cx="12700" cy="475488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345168" y="5431536"/>
            <a:ext cx="19659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threshold 0.9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345168" y="5687568"/>
            <a:ext cx="1965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p(normal) ≥ 0.9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P3 | robustness 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robustness와 입력 민감도 점검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28800"/>
            <a:ext cx="10972800" cy="420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145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450">
                <a:solidFill>
                  <a:srgbClr val="1A1F2E"/>
                </a:solidFill>
                <a:latin typeface="맑은 고딕"/>
                <a:ea typeface="맑은 고딕"/>
              </a:rPr>
              <a:t>입력 표현과 checkpoint 선택 민감도 확인 장. main claim은 binary-F1 0.9967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7904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263640" y="23774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517904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263640" y="4434840"/>
            <a:ext cx="4471416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9344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Validation option ablation — binary F1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04060" y="3443370"/>
            <a:ext cx="713232" cy="113646"/>
          </a:xfrm>
          <a:prstGeom prst="rect">
            <a:avLst/>
          </a:prstGeom>
          <a:solidFill>
            <a:srgbClr val="AEB4B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64208" y="3205626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0.9967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Main claim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64208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96996" y="3329723"/>
            <a:ext cx="713232" cy="227293"/>
          </a:xfrm>
          <a:prstGeom prst="rect">
            <a:avLst/>
          </a:prstGeom>
          <a:solidFill>
            <a:srgbClr val="3A6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57144" y="3091979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0.9971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57144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Base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7144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57144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9932" y="2875135"/>
            <a:ext cx="713232" cy="681881"/>
          </a:xfrm>
          <a:prstGeom prst="rect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50080" y="2637391"/>
            <a:ext cx="13929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0.9987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50080" y="3584448"/>
            <a:ext cx="13929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5-seed best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50080" y="3785616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FN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50080" y="3959352"/>
            <a:ext cx="1392936" cy="17373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6B7280"/>
                </a:solidFill>
                <a:latin typeface="맑은 고딕"/>
                <a:ea typeface="맑은 고딕"/>
              </a:rPr>
              <a:t>FP 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664208" y="3557016"/>
            <a:ext cx="4178808" cy="0"/>
          </a:xfrm>
          <a:prstGeom prst="line">
            <a:avLst/>
          </a:prstGeom>
          <a:ln w="1397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6355080" y="2432304"/>
            <a:ext cx="4288536" cy="27432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5-seed robustness — summary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9944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5-seed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일관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mean 0.9967 / best 0.9987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54212" y="2944368"/>
            <a:ext cx="2034540" cy="1115568"/>
          </a:xfrm>
          <a:prstGeom prst="rect">
            <a:avLst/>
          </a:prstGeom>
          <a:solidFill>
            <a:srgbClr val="F4F7FB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27364" y="3072384"/>
            <a:ext cx="188823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50" b="1">
                <a:solidFill>
                  <a:srgbClr val="6B7280"/>
                </a:solidFill>
                <a:latin typeface="맑은 고딕"/>
                <a:ea typeface="맑은 고딕"/>
              </a:rPr>
              <a:t>Test split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27364" y="3328416"/>
            <a:ext cx="1888236" cy="34747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800" b="1">
                <a:solidFill>
                  <a:srgbClr val="0F1E3D"/>
                </a:solidFill>
                <a:latin typeface="맑은 고딕"/>
                <a:ea typeface="맑은 고딕"/>
              </a:rPr>
              <a:t>1,500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27364" y="3703320"/>
            <a:ext cx="18882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750 / 750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9344" y="4489704"/>
            <a:ext cx="4288536" cy="25603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Smoothing — 후속 3-epoch median best 선택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09344" y="4727448"/>
            <a:ext cx="1097280" cy="164592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val F1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929384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249771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306605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634388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4202723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4771057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>
            <a:off x="5339392" y="4892040"/>
            <a:ext cx="0" cy="868680"/>
          </a:xfrm>
          <a:prstGeom prst="line">
            <a:avLst/>
          </a:prstGeom>
          <a:ln w="10160">
            <a:solidFill>
              <a:srgbClr val="ECEFF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/>
          <p:nvPr/>
        </p:nvCxnSpPr>
        <p:spPr>
          <a:xfrm flipV="1">
            <a:off x="1929384" y="5471159"/>
            <a:ext cx="284167" cy="12409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213551" y="5388428"/>
            <a:ext cx="284167" cy="8273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2497718" y="5326380"/>
            <a:ext cx="284168" cy="62048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2781886" y="4954088"/>
            <a:ext cx="284167" cy="37229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3066053" y="4954088"/>
            <a:ext cx="284167" cy="49638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3350220" y="5305697"/>
            <a:ext cx="284168" cy="144780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3634388" y="5243648"/>
            <a:ext cx="284167" cy="62049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 flipV="1">
            <a:off x="3918555" y="5202282"/>
            <a:ext cx="284168" cy="41366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4202723" y="5160917"/>
            <a:ext cx="284167" cy="41365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/>
          <p:nvPr/>
        </p:nvCxnSpPr>
        <p:spPr>
          <a:xfrm flipV="1">
            <a:off x="4486890" y="5150575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/>
          <p:nvPr/>
        </p:nvCxnSpPr>
        <p:spPr>
          <a:xfrm flipV="1">
            <a:off x="4771057" y="5140234"/>
            <a:ext cx="284168" cy="10341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 flipV="1">
            <a:off x="5055225" y="5129892"/>
            <a:ext cx="284167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5339392" y="5129892"/>
            <a:ext cx="284168" cy="10342"/>
          </a:xfrm>
          <a:prstGeom prst="line">
            <a:avLst/>
          </a:prstGeom>
          <a:ln w="19050">
            <a:solidFill>
              <a:srgbClr val="AEB4BD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/>
          <p:nvPr/>
        </p:nvCxnSpPr>
        <p:spPr>
          <a:xfrm flipV="1">
            <a:off x="1929384" y="5388428"/>
            <a:ext cx="284167" cy="8273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2213551" y="5326380"/>
            <a:ext cx="284167" cy="62048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>
            <a:off x="2497718" y="5326380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2781886" y="5305697"/>
            <a:ext cx="284167" cy="20683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>
            <a:off x="3066053" y="5305697"/>
            <a:ext cx="284167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 flipV="1">
            <a:off x="3350220" y="5243648"/>
            <a:ext cx="284168" cy="62049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V="1">
            <a:off x="3634388" y="5202282"/>
            <a:ext cx="284167" cy="41366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V="1">
            <a:off x="3918555" y="5160917"/>
            <a:ext cx="284168" cy="41365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6" name="Connector 65"/>
          <p:cNvCxnSpPr/>
          <p:nvPr/>
        </p:nvCxnSpPr>
        <p:spPr>
          <a:xfrm flipV="1">
            <a:off x="4202723" y="5150575"/>
            <a:ext cx="284167" cy="10342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7" name="Connector 66"/>
          <p:cNvCxnSpPr/>
          <p:nvPr/>
        </p:nvCxnSpPr>
        <p:spPr>
          <a:xfrm flipV="1">
            <a:off x="4486890" y="5140234"/>
            <a:ext cx="284167" cy="10341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Connector 67"/>
          <p:cNvCxnSpPr/>
          <p:nvPr/>
        </p:nvCxnSpPr>
        <p:spPr>
          <a:xfrm>
            <a:off x="4771057" y="5140234"/>
            <a:ext cx="284168" cy="0"/>
          </a:xfrm>
          <a:prstGeom prst="line">
            <a:avLst/>
          </a:prstGeom>
          <a:ln w="35560">
            <a:solidFill>
              <a:srgbClr val="3A6FD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Oval 68"/>
          <p:cNvSpPr/>
          <p:nvPr/>
        </p:nvSpPr>
        <p:spPr>
          <a:xfrm>
            <a:off x="3015761" y="4903796"/>
            <a:ext cx="100584" cy="100584"/>
          </a:xfrm>
          <a:prstGeom prst="ellipse">
            <a:avLst/>
          </a:prstGeom>
          <a:solidFill>
            <a:srgbClr val="CC3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iamond 69"/>
          <p:cNvSpPr/>
          <p:nvPr/>
        </p:nvSpPr>
        <p:spPr>
          <a:xfrm>
            <a:off x="4702477" y="5071654"/>
            <a:ext cx="137160" cy="137160"/>
          </a:xfrm>
          <a:prstGeom prst="diamond">
            <a:avLst/>
          </a:prstGeom>
          <a:solidFill>
            <a:srgbClr val="0F1E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1929384" y="5760720"/>
            <a:ext cx="3694176" cy="0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>
            <a:off x="1929384" y="4855464"/>
            <a:ext cx="0" cy="90525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>
            <a:off x="1929384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728216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249771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229655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3</a:t>
            </a:r>
          </a:p>
        </p:txBody>
      </p:sp>
      <p:cxnSp>
        <p:nvCxnSpPr>
          <p:cNvPr id="77" name="Connector 76"/>
          <p:cNvCxnSpPr/>
          <p:nvPr/>
        </p:nvCxnSpPr>
        <p:spPr>
          <a:xfrm>
            <a:off x="306605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286488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5</a:t>
            </a:r>
          </a:p>
        </p:txBody>
      </p:sp>
      <p:cxnSp>
        <p:nvCxnSpPr>
          <p:cNvPr id="79" name="Connector 78"/>
          <p:cNvCxnSpPr/>
          <p:nvPr/>
        </p:nvCxnSpPr>
        <p:spPr>
          <a:xfrm>
            <a:off x="3634388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3433220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7</a:t>
            </a:r>
          </a:p>
        </p:txBody>
      </p:sp>
      <p:cxnSp>
        <p:nvCxnSpPr>
          <p:cNvPr id="81" name="Connector 80"/>
          <p:cNvCxnSpPr/>
          <p:nvPr/>
        </p:nvCxnSpPr>
        <p:spPr>
          <a:xfrm>
            <a:off x="4202723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4001555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9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4771057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4569889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11</a:t>
            </a:r>
          </a:p>
        </p:txBody>
      </p:sp>
      <p:cxnSp>
        <p:nvCxnSpPr>
          <p:cNvPr id="85" name="Connector 84"/>
          <p:cNvCxnSpPr/>
          <p:nvPr/>
        </p:nvCxnSpPr>
        <p:spPr>
          <a:xfrm>
            <a:off x="5339392" y="5760720"/>
            <a:ext cx="0" cy="36576"/>
          </a:xfrm>
          <a:prstGeom prst="line">
            <a:avLst/>
          </a:prstGeom>
          <a:ln w="12700">
            <a:solidFill>
              <a:srgbClr val="C7CDD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6" name="TextBox 85"/>
          <p:cNvSpPr txBox="1"/>
          <p:nvPr/>
        </p:nvSpPr>
        <p:spPr>
          <a:xfrm>
            <a:off x="5138224" y="5797296"/>
            <a:ext cx="402336" cy="137160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00784" y="5934456"/>
            <a:ext cx="4151376" cy="12801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epoch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609344" y="6067044"/>
            <a:ext cx="4288536" cy="15544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>
                <a:solidFill>
                  <a:srgbClr val="CC3328"/>
                </a:solidFill>
                <a:latin typeface="맑은 고딕"/>
                <a:ea typeface="맑은 고딕"/>
              </a:rPr>
              <a:t>● single-epoch spike    </a:t>
            </a:r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◆ median best → test 0.9987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55080" y="4480560"/>
            <a:ext cx="4288536" cy="237744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Rendering sensitivity check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355080" y="4718304"/>
            <a:ext cx="4288536" cy="219456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same train/val/test color policy; label-independent</a:t>
            </a:r>
          </a:p>
        </p:txBody>
      </p:sp>
      <p:pic>
        <p:nvPicPr>
          <p:cNvPr id="91" name="Picture 90" descr="p3r_color_bas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92340" y="4965192"/>
            <a:ext cx="996696" cy="996696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15518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Before (파랑)</a:t>
            </a:r>
          </a:p>
        </p:txBody>
      </p:sp>
      <p:pic>
        <p:nvPicPr>
          <p:cNvPr id="93" name="Picture 92" descr="p3r_color_c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9660" y="4965192"/>
            <a:ext cx="996696" cy="996696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8572500" y="5989320"/>
            <a:ext cx="1271016" cy="201168"/>
          </a:xfrm>
          <a:prstGeom prst="rect">
            <a:avLst/>
          </a:prstGeom>
          <a:noFill/>
        </p:spPr>
        <p:txBody>
          <a:bodyPr wrap="none" anchor="ctr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0F1E3D"/>
                </a:solidFill>
                <a:latin typeface="맑은 고딕"/>
                <a:ea typeface="맑은 고딕"/>
              </a:rPr>
              <a:t>After (빨강)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502920"/>
            <a:ext cx="123444" cy="768096"/>
          </a:xfrm>
          <a:prstGeom prst="rect">
            <a:avLst/>
          </a:prstGeom>
          <a:solidFill>
            <a:srgbClr val="CFD4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448056"/>
            <a:ext cx="1088136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A929E"/>
                </a:solidFill>
                <a:latin typeface="맑은 고딕"/>
                <a:ea typeface="맑은 고딕"/>
              </a:rPr>
              <a:t>로드맵 | 완료 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32688" y="704088"/>
            <a:ext cx="10881360" cy="603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완료 시기 및 현장 적용 로드맵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41080" y="603504"/>
            <a:ext cx="1325880" cy="402336"/>
          </a:xfrm>
          <a:prstGeom prst="round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0F1E3D"/>
                </a:solidFill>
                <a:latin typeface="맑은 고딕"/>
                <a:ea typeface="맑은 고딕"/>
              </a:rPr>
              <a:t>완료 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104120" y="603504"/>
            <a:ext cx="1325880" cy="402336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300" b="1">
                <a:solidFill>
                  <a:srgbClr val="6B7280"/>
                </a:solidFill>
                <a:latin typeface="맑은 고딕"/>
                <a:ea typeface="맑은 고딕"/>
              </a:rPr>
              <a:t>예정 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3730752"/>
            <a:ext cx="9902952" cy="381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3157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669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7432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2024.10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착수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파이프라인과 viewer 설계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1216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7728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98059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98059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07203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2025.03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P2 모델 개발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FCM-PM, val-margin 검증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9275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95787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961180" y="2084831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961180" y="2084831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5262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2025.05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P1 viewer 양산 개시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DRAM 전제품, 일 2만 wafer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07334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938466" y="3603498"/>
            <a:ext cx="292608" cy="292608"/>
          </a:xfrm>
          <a:prstGeom prst="ellipse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5941770" y="4206240"/>
            <a:ext cx="2286000" cy="1060704"/>
          </a:xfrm>
          <a:prstGeom prst="round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1770" y="4206240"/>
            <a:ext cx="2286000" cy="6400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33210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2026.01</a:t>
            </a:r>
          </a:p>
          <a:p>
            <a:pPr algn="ctr"/>
            <a:r>
              <a:rPr sz="1150" b="1">
                <a:solidFill>
                  <a:srgbClr val="0F1E3D"/>
                </a:solidFill>
                <a:latin typeface="맑은 고딕"/>
                <a:ea typeface="맑은 고딕"/>
              </a:rPr>
              <a:t>P3 Trend anomaly PoC</a:t>
            </a:r>
          </a:p>
          <a:p>
            <a:pPr algn="ct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episode generation, binary validation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053930" y="3127248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91905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922360" y="2084831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22360" y="2084831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13800" y="2084831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2026.09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P1/P2 모델 배포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GPU 할당 후 양산 적용 검증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034520" y="3877056"/>
            <a:ext cx="22860" cy="457200"/>
          </a:xfrm>
          <a:prstGeom prst="rect">
            <a:avLst/>
          </a:prstGeom>
          <a:solidFill>
            <a:srgbClr val="C7CF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0899646" y="3603498"/>
            <a:ext cx="292608" cy="292608"/>
          </a:xfrm>
          <a:prstGeom prst="ellipse">
            <a:avLst/>
          </a:prstGeom>
          <a:solidFill>
            <a:srgbClr val="FFFFFF"/>
          </a:solidFill>
          <a:ln w="28575">
            <a:solidFill>
              <a:srgbClr val="96A0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9400032" y="4206240"/>
            <a:ext cx="2286000" cy="1060704"/>
          </a:xfrm>
          <a:prstGeom prst="roundRect">
            <a:avLst/>
          </a:prstGeom>
          <a:solidFill>
            <a:srgbClr val="F2F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400032" y="4206240"/>
            <a:ext cx="2286000" cy="64008"/>
          </a:xfrm>
          <a:prstGeom prst="rect">
            <a:avLst/>
          </a:prstGeom>
          <a:solidFill>
            <a:srgbClr val="C2C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91472" y="4206240"/>
            <a:ext cx="2103120" cy="10607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50" b="1">
                <a:solidFill>
                  <a:srgbClr val="6B7280"/>
                </a:solidFill>
                <a:latin typeface="맑은 고딕"/>
                <a:ea typeface="맑은 고딕"/>
              </a:rPr>
              <a:t>2026.12</a:t>
            </a:r>
          </a:p>
          <a:p>
            <a:pPr algn="ctr"/>
            <a:r>
              <a:rPr sz="1150" b="1">
                <a:solidFill>
                  <a:srgbClr val="5A6474"/>
                </a:solidFill>
                <a:latin typeface="맑은 고딕"/>
                <a:ea typeface="맑은 고딕"/>
              </a:rPr>
              <a:t>P3 Trend anomaly 현업 검증</a:t>
            </a:r>
          </a:p>
          <a:p>
            <a:pPr algn="ctr"/>
            <a:r>
              <a:rPr sz="1100">
                <a:solidFill>
                  <a:srgbClr val="737D8C"/>
                </a:solidFill>
                <a:latin typeface="맑은 고딕"/>
                <a:ea typeface="맑은 고딕"/>
              </a:rPr>
              <a:t>real trend 기준 검증 완료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5440680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운영 유지보수 (재학습/모니터링)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현업 CSV predict-검토-fine-tune 재학습 wrapper (P3), NT sweep FN/FP 모니터링, viewer label-retrain 루프 (P1)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" y="5769864"/>
            <a:ext cx="11091672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0F1E3D"/>
                </a:solidFill>
                <a:latin typeface="맑은 고딕"/>
                <a:ea typeface="맑은 고딕"/>
              </a:rPr>
              <a:t>확장 계획 (타 공정/제품) — </a:t>
            </a:r>
            <a:r>
              <a:rPr sz="1100">
                <a:solidFill>
                  <a:srgbClr val="3A485C"/>
                </a:solidFill>
                <a:latin typeface="맑은 고딕"/>
                <a:ea typeface="맑은 고딕"/>
              </a:rPr>
              <a:t>episode generator config 재현으로 타 공정 복제 (P3), obj-id map Stage-2 [개발 중], image+measure multimodal (P1)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144768"/>
            <a:ext cx="11091672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P1/P2 = 2026.09 GPU 배포 검증, P3 = 2026.12 현업 검증 예정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40080" y="658368"/>
            <a:ext cx="100584" cy="25603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640080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>
                <a:solidFill>
                  <a:srgbClr val="96A0AD"/>
                </a:solidFill>
                <a:latin typeface="맑은 고딕"/>
                <a:ea typeface="맑은 고딕"/>
              </a:rPr>
              <a:t>결론 | 평가 항목 대응 summary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24128"/>
            <a:ext cx="123444" cy="768096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32688" y="1060704"/>
            <a:ext cx="10515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100" b="1">
                <a:solidFill>
                  <a:srgbClr val="0F1E3D"/>
                </a:solidFill>
                <a:latin typeface="맑은 고딕"/>
                <a:ea typeface="맑은 고딕"/>
              </a:rPr>
              <a:t>기술 전문성, 기술 리더십, 기술성과를 증거로 정리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847088"/>
            <a:ext cx="3444240" cy="109728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전문성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96A0AD"/>
                </a:solidFill>
                <a:latin typeface="맑은 고딕"/>
                <a:ea typeface="맑은 고딕"/>
              </a:rPr>
              <a:t>AI 문제정의, 모델/실험, 데이터 pipeline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backbone scan에서 ROI cascade로 F1 0.95, FCM-PM bit-F1 0.9927, episode-gen binary-F1 0.9967 — 기법 선택과 설계, 실험으로 성능 개선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P1: wafer 약 1,000만 value, 일 2만 wafer 조건에서 Cython 100배 가속, palette PNG 75% 절감, viewer 설계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 Known/Unknown: CNN+ROI cascade F1 0.78→0.95, contrastive+MoCo+NeCo noise 15.78%→0.00%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P2/P3: FCM-PM, val-margin, NB reject로 bit_F1 0.9927 / FAR 0.00%, episode generator로 binary-F1 0.9967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6928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76928" y="1847088"/>
            <a:ext cx="3444240" cy="109728"/>
          </a:xfrm>
          <a:prstGeom prst="rect">
            <a:avLst/>
          </a:prstGeom>
          <a:solidFill>
            <a:srgbClr val="4B63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96384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 리더십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96384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4B6388"/>
                </a:solidFill>
                <a:latin typeface="맑은 고딕"/>
                <a:ea typeface="맑은 고딕"/>
              </a:rPr>
              <a:t>협업, 기술 의사결정, 조직 확산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96384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96384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DRAM 전제품 분석 파트 일 2만 wafer 매일 운영, 교수 자문 기반 기법 선정, BBD/Overlay/CD 도메인 경험을 generator 규칙으로 코드화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현업 엔지니어, 관리자, AI 센터와 협업하며 P1/P2/P3 데이터, 모델, 검증 구조를 직접 주도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ConvNeXtV2, ROI-YOLO, object-id map, FCM-PM, NeCo 선택 이유를 반도체 데이터 특성과 연결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Confluence, GitHub, 사내 세미나, 동료 코드 교육으로 모델 선택, fine-tuning, 학습 안정화 노하우 공유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0624" y="1847088"/>
            <a:ext cx="3444240" cy="3986784"/>
          </a:xfrm>
          <a:prstGeom prst="roundRect">
            <a:avLst/>
          </a:prstGeom>
          <a:solidFill>
            <a:srgbClr val="F2F5FA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0624" y="1847088"/>
            <a:ext cx="3444240" cy="109728"/>
          </a:xfrm>
          <a:prstGeom prst="rect">
            <a:avLst/>
          </a:prstGeom>
          <a:solidFill>
            <a:srgbClr val="2E7D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0080" y="2084832"/>
            <a:ext cx="3005328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600" b="1">
                <a:solidFill>
                  <a:srgbClr val="0F1E3D"/>
                </a:solidFill>
                <a:latin typeface="맑은 고딕"/>
                <a:ea typeface="맑은 고딕"/>
              </a:rPr>
              <a:t>기술성과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0080" y="2487168"/>
            <a:ext cx="3005328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2E7D66"/>
                </a:solidFill>
                <a:latin typeface="맑은 고딕"/>
                <a:ea typeface="맑은 고딕"/>
              </a:rPr>
              <a:t>양산 적용, KPI 개선, 확장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60080" y="2990088"/>
            <a:ext cx="3005328" cy="12700"/>
          </a:xfrm>
          <a:prstGeom prst="rect">
            <a:avLst/>
          </a:prstGeom>
          <a:solidFill>
            <a:srgbClr val="D7DE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0080" y="3163824"/>
            <a:ext cx="3005328" cy="2450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양산 적용 공수 90% 감소와 P3WN 수율 +0.02%p, 수상 3건, 타 제품과 multimodal 확장 로드맵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P1 viewer는 DRAM D1a/b/c/d 분석 파트에서 매일 사용 중, 48매 조회 한계를 대량 조회/검토 구조로 확장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Known/Unknown 모델은 GPU 배포 대기, object-id map은 detector cost를 줄이는 차세대 Stage-2</a:t>
            </a:r>
          </a:p>
          <a:p>
            <a:pPr marL="274320" indent="-274320">
              <a:lnSpc>
                <a:spcPct val="107000"/>
              </a:lnSpc>
              <a:spcAft>
                <a:spcPts val="700"/>
              </a:spcAft>
            </a:pPr>
            <a:r>
              <a:rPr sz="1160" b="0">
                <a:solidFill>
                  <a:srgbClr val="96A0AD"/>
                </a:solidFill>
                <a:latin typeface="맑은 고딕"/>
                <a:ea typeface="맑은 고딕"/>
              </a:rPr>
              <a:t>●  </a:t>
            </a:r>
            <a:r>
              <a:rPr sz="1160">
                <a:solidFill>
                  <a:srgbClr val="1A1F2E"/>
                </a:solidFill>
                <a:latin typeface="맑은 고딕"/>
                <a:ea typeface="맑은 고딕"/>
              </a:rPr>
              <a:t>P2/P3는 label 부족 문제를 synthetic validation으로 확장해 타 제품/공정 적용 기반 확보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5980176"/>
            <a:ext cx="10771632" cy="438912"/>
          </a:xfrm>
          <a:prstGeom prst="roundRect">
            <a:avLst/>
          </a:prstGeom>
          <a:solidFill>
            <a:srgbClr val="ECF1F7"/>
          </a:solidFill>
          <a:ln w="12700">
            <a:solidFill>
              <a:srgbClr val="D7DE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5980176"/>
            <a:ext cx="91440" cy="438912"/>
          </a:xfrm>
          <a:prstGeom prst="rect">
            <a:avLst/>
          </a:prstGeom>
          <a:solidFill>
            <a:srgbClr val="96A0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5980176"/>
            <a:ext cx="10314432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220" b="1">
                <a:solidFill>
                  <a:srgbClr val="0F1E3D"/>
                </a:solidFill>
                <a:latin typeface="맑은 고딕"/>
                <a:ea typeface="맑은 고딕"/>
              </a:rPr>
              <a:t>본인 기여 — P1 60%, P2 80%, P3 70%를 직접 설계하고 구현, 제조품질 문제를 AI 관점으로 재정의해 데이터 처리부터 모델 설계, 검증, 현업 확산까지 연결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37376"/>
            <a:ext cx="8229600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최호길 | QIE Data Science | AI Specialist 인증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0" y="6437376"/>
            <a:ext cx="758952" cy="2926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  <a:latin typeface="맑은 고딕"/>
                <a:ea typeface="맑은 고딕"/>
              </a:rPr>
              <a:t>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